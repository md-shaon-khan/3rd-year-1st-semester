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82"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4" d="100"/>
          <a:sy n="44" d="100"/>
        </p:scale>
        <p:origin x="62" y="3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39C8F-FFE6-4BD0-9F89-35D144D64C1D}"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4881ED-8B56-4F3A-B7C8-BF3376E5B8F4}" type="slidenum">
              <a:rPr lang="en-US" smtClean="0"/>
              <a:t>‹#›</a:t>
            </a:fld>
            <a:endParaRPr lang="en-US"/>
          </a:p>
        </p:txBody>
      </p:sp>
    </p:spTree>
    <p:extLst>
      <p:ext uri="{BB962C8B-B14F-4D97-AF65-F5344CB8AC3E}">
        <p14:creationId xmlns:p14="http://schemas.microsoft.com/office/powerpoint/2010/main" val="419849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4881ED-8B56-4F3A-B7C8-BF3376E5B8F4}" type="slidenum">
              <a:rPr lang="en-US" smtClean="0"/>
              <a:t>18</a:t>
            </a:fld>
            <a:endParaRPr lang="en-US"/>
          </a:p>
        </p:txBody>
      </p:sp>
    </p:spTree>
    <p:extLst>
      <p:ext uri="{BB962C8B-B14F-4D97-AF65-F5344CB8AC3E}">
        <p14:creationId xmlns:p14="http://schemas.microsoft.com/office/powerpoint/2010/main" val="4175157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792268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987213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1344537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3E482CB-BE0E-45A2-A8F9-AF0B7F554A3D}"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13192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3E482CB-BE0E-45A2-A8F9-AF0B7F554A3D}"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190043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3E482CB-BE0E-45A2-A8F9-AF0B7F554A3D}"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25899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E482CB-BE0E-45A2-A8F9-AF0B7F554A3D}"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8766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622874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5753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645177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315667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482CB-BE0E-45A2-A8F9-AF0B7F554A3D}" type="datetimeFigureOut">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2E4543-BE62-4DF3-B067-5185159305E6}" type="slidenum">
              <a:rPr lang="en-US" smtClean="0"/>
              <a:t>‹#›</a:t>
            </a:fld>
            <a:endParaRPr lang="en-US"/>
          </a:p>
        </p:txBody>
      </p:sp>
    </p:spTree>
    <p:extLst>
      <p:ext uri="{BB962C8B-B14F-4D97-AF65-F5344CB8AC3E}">
        <p14:creationId xmlns:p14="http://schemas.microsoft.com/office/powerpoint/2010/main" val="3297116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3544" y="315575"/>
            <a:ext cx="10341864" cy="1200329"/>
          </a:xfrm>
          <a:prstGeom prst="rect">
            <a:avLst/>
          </a:prstGeom>
        </p:spPr>
        <p:txBody>
          <a:bodyPr wrap="square">
            <a:spAutoFit/>
          </a:bodyPr>
          <a:lstStyle/>
          <a:p>
            <a:pPr algn="just"/>
            <a:r>
              <a:rPr lang="en-US" sz="2400" b="1" dirty="0">
                <a:solidFill>
                  <a:schemeClr val="accent6">
                    <a:lumMod val="75000"/>
                  </a:schemeClr>
                </a:solidFill>
              </a:rPr>
              <a:t>Big Data </a:t>
            </a:r>
            <a:r>
              <a:rPr lang="en-US" sz="2400" dirty="0"/>
              <a:t>is an all-inclusive term that refers to </a:t>
            </a:r>
            <a:r>
              <a:rPr lang="en-US" sz="2400" b="1" dirty="0">
                <a:solidFill>
                  <a:srgbClr val="FF0000"/>
                </a:solidFill>
                <a:effectLst>
                  <a:outerShdw blurRad="38100" dist="38100" dir="2700000" algn="tl">
                    <a:srgbClr val="000000">
                      <a:alpha val="43137"/>
                    </a:srgbClr>
                  </a:outerShdw>
                </a:effectLst>
              </a:rPr>
              <a:t>extremely large, very fast, highly diverse, and complex data </a:t>
            </a:r>
            <a:r>
              <a:rPr lang="en-US" sz="2400" dirty="0"/>
              <a:t>that cannot be managed with traditional data management tools. </a:t>
            </a:r>
          </a:p>
        </p:txBody>
      </p:sp>
      <p:pic>
        <p:nvPicPr>
          <p:cNvPr id="3" name="Picture 2"/>
          <p:cNvPicPr>
            <a:picLocks noChangeAspect="1"/>
          </p:cNvPicPr>
          <p:nvPr/>
        </p:nvPicPr>
        <p:blipFill>
          <a:blip r:embed="rId2"/>
          <a:stretch>
            <a:fillRect/>
          </a:stretch>
        </p:blipFill>
        <p:spPr>
          <a:xfrm>
            <a:off x="3886200" y="1217866"/>
            <a:ext cx="4535430" cy="3291840"/>
          </a:xfrm>
          <a:prstGeom prst="rect">
            <a:avLst/>
          </a:prstGeom>
        </p:spPr>
      </p:pic>
      <p:sp>
        <p:nvSpPr>
          <p:cNvPr id="4" name="Rectangle 3"/>
          <p:cNvSpPr/>
          <p:nvPr/>
        </p:nvSpPr>
        <p:spPr>
          <a:xfrm>
            <a:off x="950976" y="4546282"/>
            <a:ext cx="10341864" cy="1938992"/>
          </a:xfrm>
          <a:prstGeom prst="rect">
            <a:avLst/>
          </a:prstGeom>
        </p:spPr>
        <p:txBody>
          <a:bodyPr wrap="square">
            <a:spAutoFit/>
          </a:bodyPr>
          <a:lstStyle/>
          <a:p>
            <a:pPr algn="just"/>
            <a:r>
              <a:rPr lang="en-US" sz="2400" dirty="0"/>
              <a:t>Ideally, </a:t>
            </a:r>
            <a:r>
              <a:rPr lang="en-US" sz="2400" b="1" dirty="0">
                <a:solidFill>
                  <a:srgbClr val="FF0000"/>
                </a:solidFill>
              </a:rPr>
              <a:t>Big Data</a:t>
            </a:r>
            <a:r>
              <a:rPr lang="en-US" sz="2400" dirty="0"/>
              <a:t> includes all kinds of data, which helps deliver the </a:t>
            </a:r>
            <a:r>
              <a:rPr lang="en-US" sz="2400" b="1" dirty="0">
                <a:solidFill>
                  <a:schemeClr val="accent6">
                    <a:lumMod val="75000"/>
                  </a:schemeClr>
                </a:solidFill>
              </a:rPr>
              <a:t>right information</a:t>
            </a:r>
            <a:r>
              <a:rPr lang="en-US" sz="2400" dirty="0"/>
              <a:t>, to the </a:t>
            </a:r>
            <a:r>
              <a:rPr lang="en-US" sz="2400" b="1" dirty="0">
                <a:solidFill>
                  <a:srgbClr val="FFC000"/>
                </a:solidFill>
              </a:rPr>
              <a:t>right person</a:t>
            </a:r>
            <a:r>
              <a:rPr lang="en-US" sz="2400" dirty="0"/>
              <a:t>, in the </a:t>
            </a:r>
            <a:r>
              <a:rPr lang="en-US" sz="2400" b="1" dirty="0">
                <a:solidFill>
                  <a:schemeClr val="accent1"/>
                </a:solidFill>
              </a:rPr>
              <a:t>right quantity</a:t>
            </a:r>
            <a:r>
              <a:rPr lang="en-US" sz="2400" dirty="0"/>
              <a:t>, at the </a:t>
            </a:r>
            <a:r>
              <a:rPr lang="en-US" sz="2400" b="1" dirty="0">
                <a:solidFill>
                  <a:schemeClr val="bg1">
                    <a:lumMod val="50000"/>
                  </a:schemeClr>
                </a:solidFill>
              </a:rPr>
              <a:t>right time</a:t>
            </a:r>
            <a:r>
              <a:rPr lang="en-US" sz="2400" dirty="0"/>
              <a:t>, to help make the </a:t>
            </a:r>
            <a:r>
              <a:rPr lang="en-US" sz="2400" b="1" dirty="0">
                <a:solidFill>
                  <a:srgbClr val="7030A0"/>
                </a:solidFill>
              </a:rPr>
              <a:t>right decisions</a:t>
            </a:r>
            <a:r>
              <a:rPr lang="en-US" sz="2400" dirty="0"/>
              <a:t>. Big Data can be harnessed (bound) by developing infinitely </a:t>
            </a:r>
            <a:r>
              <a:rPr lang="en-US" sz="2400" i="1" u="sng" dirty="0">
                <a:latin typeface="Arial" panose="020B0604020202020204" pitchFamily="34" charset="0"/>
                <a:cs typeface="Arial" panose="020B0604020202020204" pitchFamily="34" charset="0"/>
              </a:rPr>
              <a:t>scalable, flexible, and evolutionary data architectures</a:t>
            </a:r>
            <a:r>
              <a:rPr lang="en-US" sz="2400" dirty="0"/>
              <a:t>, coupled with the use of cost-effective computing machines.</a:t>
            </a:r>
          </a:p>
        </p:txBody>
      </p:sp>
    </p:spTree>
    <p:extLst>
      <p:ext uri="{BB962C8B-B14F-4D97-AF65-F5344CB8AC3E}">
        <p14:creationId xmlns:p14="http://schemas.microsoft.com/office/powerpoint/2010/main" val="1489548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148143" y="264222"/>
            <a:ext cx="9710375" cy="6400800"/>
          </a:xfrm>
          <a:prstGeom prst="rect">
            <a:avLst/>
          </a:prstGeom>
        </p:spPr>
      </p:pic>
    </p:spTree>
    <p:extLst>
      <p:ext uri="{BB962C8B-B14F-4D97-AF65-F5344CB8AC3E}">
        <p14:creationId xmlns:p14="http://schemas.microsoft.com/office/powerpoint/2010/main" val="1079013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3816" y="497116"/>
            <a:ext cx="10735056" cy="6124754"/>
          </a:xfrm>
          <a:prstGeom prst="rect">
            <a:avLst/>
          </a:prstGeom>
        </p:spPr>
        <p:txBody>
          <a:bodyPr wrap="square">
            <a:spAutoFit/>
          </a:bodyPr>
          <a:lstStyle/>
          <a:p>
            <a:pPr algn="just"/>
            <a:r>
              <a:rPr lang="en-US" sz="2400" dirty="0"/>
              <a:t>If data were only growing too large, or only moving too fast, or only becoming too diverse, it would have been relatively easy. However, when </a:t>
            </a:r>
            <a:r>
              <a:rPr lang="en-US" sz="2400" b="1" dirty="0">
                <a:solidFill>
                  <a:srgbClr val="FF0000"/>
                </a:solidFill>
              </a:rPr>
              <a:t>three Vs </a:t>
            </a:r>
            <a:r>
              <a:rPr lang="en-US" sz="2400" dirty="0"/>
              <a:t>(</a:t>
            </a:r>
            <a:r>
              <a:rPr lang="en-US" sz="2400" b="1" dirty="0">
                <a:solidFill>
                  <a:srgbClr val="7030A0"/>
                </a:solidFill>
                <a:effectLst>
                  <a:outerShdw blurRad="38100" dist="38100" dir="2700000" algn="tl">
                    <a:srgbClr val="000000">
                      <a:alpha val="43137"/>
                    </a:srgbClr>
                  </a:outerShdw>
                </a:effectLst>
              </a:rPr>
              <a:t>Volume</a:t>
            </a:r>
            <a:r>
              <a:rPr lang="en-US" sz="2400" b="1" dirty="0">
                <a:effectLst>
                  <a:outerShdw blurRad="38100" dist="38100" dir="2700000" algn="tl">
                    <a:srgbClr val="000000">
                      <a:alpha val="43137"/>
                    </a:srgbClr>
                  </a:outerShdw>
                </a:effectLst>
              </a:rPr>
              <a:t>, </a:t>
            </a:r>
            <a:r>
              <a:rPr lang="en-US" sz="2400" b="1" dirty="0">
                <a:solidFill>
                  <a:schemeClr val="accent5"/>
                </a:solidFill>
                <a:effectLst>
                  <a:outerShdw blurRad="38100" dist="38100" dir="2700000" algn="tl">
                    <a:srgbClr val="000000">
                      <a:alpha val="43137"/>
                    </a:srgbClr>
                  </a:outerShdw>
                </a:effectLst>
              </a:rPr>
              <a:t>Velocity</a:t>
            </a:r>
            <a:r>
              <a:rPr lang="en-US" sz="2400" b="1" dirty="0">
                <a:effectLst>
                  <a:outerShdw blurRad="38100" dist="38100" dir="2700000" algn="tl">
                    <a:srgbClr val="000000">
                      <a:alpha val="43137"/>
                    </a:srgbClr>
                  </a:outerShdw>
                </a:effectLst>
              </a:rPr>
              <a:t>, </a:t>
            </a:r>
            <a:r>
              <a:rPr lang="en-US" sz="2400" b="1" dirty="0">
                <a:solidFill>
                  <a:schemeClr val="accent6">
                    <a:lumMod val="75000"/>
                  </a:schemeClr>
                </a:solidFill>
                <a:effectLst>
                  <a:outerShdw blurRad="38100" dist="38100" dir="2700000" algn="tl">
                    <a:srgbClr val="000000">
                      <a:alpha val="43137"/>
                    </a:srgbClr>
                  </a:outerShdw>
                </a:effectLst>
              </a:rPr>
              <a:t>Variety</a:t>
            </a:r>
            <a:r>
              <a:rPr lang="en-US" sz="2400" dirty="0"/>
              <a:t>) arrive together in an interactive manner, it creates a perfect storm</a:t>
            </a:r>
          </a:p>
          <a:p>
            <a:pPr algn="just"/>
            <a:endParaRPr lang="en-US" sz="600" dirty="0"/>
          </a:p>
          <a:p>
            <a:pPr algn="ctr"/>
            <a:r>
              <a:rPr lang="en-US" sz="3200" b="1" dirty="0">
                <a:solidFill>
                  <a:srgbClr val="7030A0"/>
                </a:solidFill>
                <a:effectLst>
                  <a:outerShdw blurRad="38100" dist="38100" dir="2700000" algn="tl">
                    <a:srgbClr val="000000">
                      <a:alpha val="43137"/>
                    </a:srgbClr>
                  </a:outerShdw>
                </a:effectLst>
              </a:rPr>
              <a:t>Volume of the Data</a:t>
            </a:r>
          </a:p>
          <a:p>
            <a:pPr algn="ctr"/>
            <a:endParaRPr lang="en-US" sz="1200" b="1" dirty="0">
              <a:solidFill>
                <a:srgbClr val="7030A0"/>
              </a:solidFill>
              <a:effectLst>
                <a:outerShdw blurRad="38100" dist="38100" dir="2700000" algn="tl">
                  <a:srgbClr val="000000">
                    <a:alpha val="43137"/>
                  </a:srgbClr>
                </a:outerShdw>
              </a:effectLst>
            </a:endParaRPr>
          </a:p>
          <a:p>
            <a:pPr algn="just"/>
            <a:r>
              <a:rPr lang="en-US" sz="2400" dirty="0"/>
              <a:t>The quantity of data generated in the world has been relentlessly doubling every 12–18 months. </a:t>
            </a:r>
          </a:p>
          <a:p>
            <a:pPr marL="342900" indent="-342900" algn="just">
              <a:buFont typeface="Wingdings" panose="05000000000000000000" pitchFamily="2" charset="2"/>
              <a:buChar char="à"/>
            </a:pPr>
            <a:r>
              <a:rPr lang="en-US" sz="2400" dirty="0"/>
              <a:t>Traditional data is measured in Gigabytes (GB) and Terabytes (TB), but Big Data is measured in Petabytes (PB) and </a:t>
            </a:r>
            <a:r>
              <a:rPr lang="en-US" sz="2400" dirty="0" err="1"/>
              <a:t>Exabytes</a:t>
            </a:r>
            <a:r>
              <a:rPr lang="en-US" sz="2400" dirty="0"/>
              <a:t> (1 Exabyte = 1 Million TB). </a:t>
            </a:r>
          </a:p>
          <a:p>
            <a:pPr marL="342900" indent="-342900" algn="just">
              <a:buFont typeface="Wingdings" panose="05000000000000000000" pitchFamily="2" charset="2"/>
              <a:buChar char="à"/>
            </a:pPr>
            <a:r>
              <a:rPr lang="en-US" sz="2400" dirty="0"/>
              <a:t>This data is so huge that it is almost a miracle that one can find any specific thing in it, in a reasonable period of time.</a:t>
            </a:r>
          </a:p>
          <a:p>
            <a:pPr algn="just"/>
            <a:endParaRPr lang="en-US" sz="1200" dirty="0"/>
          </a:p>
          <a:p>
            <a:pPr algn="just"/>
            <a:endParaRPr lang="en-US" sz="600" dirty="0"/>
          </a:p>
          <a:p>
            <a:pPr algn="just"/>
            <a:r>
              <a:rPr lang="en-US" sz="2400" b="1" dirty="0">
                <a:solidFill>
                  <a:srgbClr val="FF0000"/>
                </a:solidFill>
              </a:rPr>
              <a:t>Reason:</a:t>
            </a:r>
          </a:p>
          <a:p>
            <a:pPr algn="just"/>
            <a:r>
              <a:rPr lang="en-US" sz="2400" dirty="0">
                <a:sym typeface="Wingdings" panose="05000000000000000000" pitchFamily="2" charset="2"/>
              </a:rPr>
              <a:t> D</a:t>
            </a:r>
            <a:r>
              <a:rPr lang="en-US" sz="2400" dirty="0"/>
              <a:t>ramatic reduction in the cost of storing data. The costs of storing data have decreased by 30–40 per cent every year. Therefore, there is an incentive to record everything that can be observed. It is called ‘</a:t>
            </a:r>
            <a:r>
              <a:rPr lang="en-US" sz="2400" b="1" u="sng" dirty="0" err="1">
                <a:solidFill>
                  <a:schemeClr val="accent6">
                    <a:lumMod val="75000"/>
                  </a:schemeClr>
                </a:solidFill>
                <a:effectLst>
                  <a:outerShdw blurRad="38100" dist="38100" dir="2700000" algn="tl">
                    <a:srgbClr val="000000">
                      <a:alpha val="43137"/>
                    </a:srgbClr>
                  </a:outerShdw>
                </a:effectLst>
              </a:rPr>
              <a:t>datafication</a:t>
            </a:r>
            <a:r>
              <a:rPr lang="en-US" sz="2400" dirty="0"/>
              <a:t>’ of the world.</a:t>
            </a:r>
            <a:endParaRPr lang="en-US" sz="2400" b="1" dirty="0">
              <a:solidFill>
                <a:srgbClr val="FF0000"/>
              </a:solidFill>
            </a:endParaRPr>
          </a:p>
        </p:txBody>
      </p:sp>
    </p:spTree>
    <p:extLst>
      <p:ext uri="{BB962C8B-B14F-4D97-AF65-F5344CB8AC3E}">
        <p14:creationId xmlns:p14="http://schemas.microsoft.com/office/powerpoint/2010/main" val="3243420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8448" y="597700"/>
            <a:ext cx="9646920" cy="5570756"/>
          </a:xfrm>
          <a:prstGeom prst="rect">
            <a:avLst/>
          </a:prstGeom>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rPr>
              <a:t>Velocity of Data</a:t>
            </a:r>
          </a:p>
          <a:p>
            <a:pPr algn="ctr"/>
            <a:endParaRPr lang="en-US" sz="1200" b="1" dirty="0">
              <a:solidFill>
                <a:srgbClr val="0070C0"/>
              </a:solidFill>
              <a:effectLst>
                <a:outerShdw blurRad="38100" dist="38100" dir="2700000" algn="tl">
                  <a:srgbClr val="000000">
                    <a:alpha val="43137"/>
                  </a:srgbClr>
                </a:outerShdw>
              </a:effectLst>
            </a:endParaRPr>
          </a:p>
          <a:p>
            <a:pPr algn="just"/>
            <a:r>
              <a:rPr lang="en-US" sz="2400" dirty="0"/>
              <a:t>If traditional data is </a:t>
            </a:r>
            <a:r>
              <a:rPr lang="en-US" sz="2400" b="1" dirty="0">
                <a:solidFill>
                  <a:srgbClr val="FF0000"/>
                </a:solidFill>
              </a:rPr>
              <a:t>like a lake</a:t>
            </a:r>
            <a:r>
              <a:rPr lang="en-US" sz="2400" dirty="0"/>
              <a:t>, Big Data is like a </a:t>
            </a:r>
            <a:r>
              <a:rPr lang="en-US" sz="2400" b="1" u="sng" dirty="0">
                <a:solidFill>
                  <a:schemeClr val="accent6">
                    <a:lumMod val="75000"/>
                  </a:schemeClr>
                </a:solidFill>
              </a:rPr>
              <a:t>fast-flowing river</a:t>
            </a:r>
            <a:r>
              <a:rPr lang="en-US" sz="2400" dirty="0"/>
              <a:t>. Big Data is being generated by </a:t>
            </a:r>
            <a:r>
              <a:rPr lang="en-US" sz="2400" i="1" u="sng" dirty="0">
                <a:solidFill>
                  <a:srgbClr val="7030A0"/>
                </a:solidFill>
                <a:effectLst>
                  <a:outerShdw blurRad="38100" dist="38100" dir="2700000" algn="tl">
                    <a:srgbClr val="000000">
                      <a:alpha val="43137"/>
                    </a:srgbClr>
                  </a:outerShdw>
                </a:effectLst>
              </a:rPr>
              <a:t>billions of devices, and communicated at the speed of the light, through the internet</a:t>
            </a:r>
            <a:r>
              <a:rPr lang="en-US" sz="2400" dirty="0"/>
              <a:t>. Ingesting (feeding) all this data is like drinking from a fire hose. </a:t>
            </a:r>
          </a:p>
          <a:p>
            <a:pPr algn="just"/>
            <a:r>
              <a:rPr lang="en-US" sz="2400" dirty="0"/>
              <a:t>One does not have any control over how fast the data will come. A huge unpredictable data-stream is the new </a:t>
            </a:r>
            <a:r>
              <a:rPr lang="en-US" sz="2400" b="1" dirty="0">
                <a:solidFill>
                  <a:srgbClr val="FF0000"/>
                </a:solidFill>
                <a:effectLst>
                  <a:outerShdw blurRad="38100" dist="38100" dir="2700000" algn="tl">
                    <a:srgbClr val="000000">
                      <a:alpha val="43137"/>
                    </a:srgbClr>
                  </a:outerShdw>
                </a:effectLst>
              </a:rPr>
              <a:t>metaphor </a:t>
            </a:r>
            <a:r>
              <a:rPr lang="en-US" sz="2400" dirty="0"/>
              <a:t>(symbol) for thinking about Big Data.</a:t>
            </a:r>
          </a:p>
          <a:p>
            <a:pPr algn="just"/>
            <a:endParaRPr lang="en-US" sz="1200" dirty="0"/>
          </a:p>
          <a:p>
            <a:pPr algn="just"/>
            <a:r>
              <a:rPr lang="en-US" sz="2400" b="1" dirty="0">
                <a:solidFill>
                  <a:srgbClr val="FF0000"/>
                </a:solidFill>
              </a:rPr>
              <a:t>Reasons:</a:t>
            </a:r>
          </a:p>
          <a:p>
            <a:pPr algn="just"/>
            <a:endParaRPr lang="en-US" sz="1200" b="1" dirty="0">
              <a:solidFill>
                <a:srgbClr val="FF0000"/>
              </a:solidFill>
            </a:endParaRPr>
          </a:p>
          <a:p>
            <a:pPr marL="342900" indent="-342900" algn="just">
              <a:buFont typeface="Wingdings" panose="05000000000000000000" pitchFamily="2" charset="2"/>
              <a:buChar char="à"/>
            </a:pPr>
            <a:r>
              <a:rPr lang="en-US" sz="2400" dirty="0"/>
              <a:t>The primary reason for the increased velocity of data is the increase in internet speed. </a:t>
            </a:r>
          </a:p>
          <a:p>
            <a:pPr algn="just"/>
            <a:r>
              <a:rPr lang="en-US" sz="2400" dirty="0"/>
              <a:t>     </a:t>
            </a:r>
            <a:r>
              <a:rPr lang="en-US" sz="2400" b="1" i="1" u="sng" dirty="0">
                <a:solidFill>
                  <a:schemeClr val="bg1">
                    <a:lumMod val="50000"/>
                  </a:schemeClr>
                </a:solidFill>
                <a:effectLst>
                  <a:outerShdw blurRad="38100" dist="38100" dir="2700000" algn="tl">
                    <a:srgbClr val="000000">
                      <a:alpha val="43137"/>
                    </a:srgbClr>
                  </a:outerShdw>
                </a:effectLst>
              </a:rPr>
              <a:t>For example</a:t>
            </a:r>
            <a:r>
              <a:rPr lang="en-US" sz="2400" dirty="0"/>
              <a:t>, Internet speeds available to homes and offices are now</a:t>
            </a:r>
          </a:p>
          <a:p>
            <a:pPr algn="just"/>
            <a:r>
              <a:rPr lang="en-US" sz="2400" dirty="0"/>
              <a:t>     increasing from 10 MB/s to 1 GB/s (100 times faster).</a:t>
            </a:r>
            <a:endParaRPr lang="en-US" sz="2400" b="1" dirty="0">
              <a:solidFill>
                <a:srgbClr val="FF0000"/>
              </a:solidFill>
            </a:endParaRPr>
          </a:p>
        </p:txBody>
      </p:sp>
    </p:spTree>
    <p:extLst>
      <p:ext uri="{BB962C8B-B14F-4D97-AF65-F5344CB8AC3E}">
        <p14:creationId xmlns:p14="http://schemas.microsoft.com/office/powerpoint/2010/main" val="4181697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832" y="303752"/>
            <a:ext cx="10323576" cy="6093976"/>
          </a:xfrm>
          <a:prstGeom prst="rect">
            <a:avLst/>
          </a:prstGeom>
        </p:spPr>
        <p:txBody>
          <a:bodyPr wrap="square">
            <a:spAutoFit/>
          </a:bodyPr>
          <a:lstStyle/>
          <a:p>
            <a:pPr algn="ctr"/>
            <a:r>
              <a:rPr lang="en-US" sz="3200" b="1" dirty="0">
                <a:solidFill>
                  <a:schemeClr val="accent6">
                    <a:lumMod val="75000"/>
                  </a:schemeClr>
                </a:solidFill>
                <a:effectLst>
                  <a:outerShdw blurRad="38100" dist="38100" dir="2700000" algn="tl">
                    <a:srgbClr val="000000">
                      <a:alpha val="43137"/>
                    </a:srgbClr>
                  </a:outerShdw>
                </a:effectLst>
              </a:rPr>
              <a:t>Variety of Data</a:t>
            </a:r>
          </a:p>
          <a:p>
            <a:pPr algn="ctr"/>
            <a:endParaRPr lang="en-US" sz="1200" b="1" dirty="0">
              <a:solidFill>
                <a:schemeClr val="accent6">
                  <a:lumMod val="75000"/>
                </a:schemeClr>
              </a:solidFill>
              <a:effectLst>
                <a:outerShdw blurRad="38100" dist="38100" dir="2700000" algn="tl">
                  <a:srgbClr val="000000">
                    <a:alpha val="43137"/>
                  </a:srgbClr>
                </a:outerShdw>
              </a:effectLst>
            </a:endParaRPr>
          </a:p>
          <a:p>
            <a:pPr algn="just"/>
            <a:r>
              <a:rPr lang="en-US" sz="2400" dirty="0"/>
              <a:t>Big Data is inclusive of </a:t>
            </a:r>
            <a:r>
              <a:rPr lang="en-US" sz="2400" b="1" dirty="0">
                <a:solidFill>
                  <a:srgbClr val="FF0000"/>
                </a:solidFill>
                <a:effectLst>
                  <a:outerShdw blurRad="38100" dist="38100" dir="2700000" algn="tl">
                    <a:srgbClr val="000000">
                      <a:alpha val="43137"/>
                    </a:srgbClr>
                  </a:outerShdw>
                </a:effectLst>
              </a:rPr>
              <a:t>all forms of d</a:t>
            </a:r>
            <a:r>
              <a:rPr lang="en-US" sz="2400" b="1" dirty="0">
                <a:solidFill>
                  <a:srgbClr val="FF0000"/>
                </a:solidFill>
              </a:rPr>
              <a:t>ata</a:t>
            </a:r>
            <a:r>
              <a:rPr lang="en-US" sz="2400" dirty="0"/>
              <a:t>, for </a:t>
            </a:r>
            <a:r>
              <a:rPr lang="en-US" sz="2400" b="1" dirty="0">
                <a:solidFill>
                  <a:schemeClr val="accent2">
                    <a:lumMod val="75000"/>
                  </a:schemeClr>
                </a:solidFill>
                <a:effectLst>
                  <a:outerShdw blurRad="38100" dist="38100" dir="2700000" algn="tl">
                    <a:srgbClr val="000000">
                      <a:alpha val="43137"/>
                    </a:srgbClr>
                  </a:outerShdw>
                </a:effectLst>
              </a:rPr>
              <a:t>all kinds of functions</a:t>
            </a:r>
            <a:r>
              <a:rPr lang="en-US" sz="2400" dirty="0"/>
              <a:t>, from </a:t>
            </a:r>
            <a:r>
              <a:rPr lang="en-US" sz="2400" b="1" dirty="0">
                <a:solidFill>
                  <a:schemeClr val="accent4">
                    <a:lumMod val="75000"/>
                  </a:schemeClr>
                </a:solidFill>
                <a:effectLst>
                  <a:outerShdw blurRad="38100" dist="38100" dir="2700000" algn="tl">
                    <a:srgbClr val="000000">
                      <a:alpha val="43137"/>
                    </a:srgbClr>
                  </a:outerShdw>
                </a:effectLst>
              </a:rPr>
              <a:t>all sources and devices</a:t>
            </a:r>
            <a:r>
              <a:rPr lang="en-US" sz="2400" dirty="0"/>
              <a:t>. For example, Big Data is the biggest imaginable shopping mall that offers unlimited variety. </a:t>
            </a:r>
            <a:r>
              <a:rPr lang="en-US" sz="2400" u="sng" dirty="0"/>
              <a:t>There are three major kinds of variety of data</a:t>
            </a:r>
            <a:r>
              <a:rPr lang="en-US" sz="2400" dirty="0"/>
              <a:t>:</a:t>
            </a:r>
          </a:p>
          <a:p>
            <a:pPr algn="just"/>
            <a:endParaRPr lang="en-US" sz="1000" dirty="0"/>
          </a:p>
          <a:p>
            <a:pPr marL="342900" indent="-342900" algn="just">
              <a:buFont typeface="Wingdings" panose="05000000000000000000" pitchFamily="2" charset="2"/>
              <a:buChar char="Ø"/>
            </a:pPr>
            <a:r>
              <a:rPr lang="en-US" sz="2400" dirty="0"/>
              <a:t>The first aspect of variety is the </a:t>
            </a:r>
            <a:r>
              <a:rPr lang="en-US" sz="2400" b="1" dirty="0">
                <a:solidFill>
                  <a:srgbClr val="FF0000"/>
                </a:solidFill>
              </a:rPr>
              <a:t>Form of data</a:t>
            </a:r>
            <a:r>
              <a:rPr lang="en-US" sz="2400" b="1" dirty="0">
                <a:solidFill>
                  <a:srgbClr val="FF0000"/>
                </a:solidFill>
                <a:sym typeface="Wingdings" panose="05000000000000000000" pitchFamily="2" charset="2"/>
              </a:rPr>
              <a:t> </a:t>
            </a:r>
            <a:r>
              <a:rPr lang="en-US" sz="2400" dirty="0"/>
              <a:t>Data types range in variety from numbers to </a:t>
            </a:r>
            <a:r>
              <a:rPr lang="en-US" sz="2400" b="1" u="sng" dirty="0">
                <a:effectLst>
                  <a:outerShdw blurRad="38100" dist="38100" dir="2700000" algn="tl">
                    <a:srgbClr val="000000">
                      <a:alpha val="43137"/>
                    </a:srgbClr>
                  </a:outerShdw>
                </a:effectLst>
              </a:rPr>
              <a:t>text, graph, map, audio, video, and others</a:t>
            </a:r>
            <a:r>
              <a:rPr lang="en-US" sz="2400" dirty="0"/>
              <a:t>, with some being simple and others being very complex.</a:t>
            </a:r>
          </a:p>
          <a:p>
            <a:pPr algn="just"/>
            <a:endParaRPr lang="en-US" sz="1200" dirty="0"/>
          </a:p>
          <a:p>
            <a:pPr marL="342900" indent="-342900" algn="just">
              <a:buFont typeface="Wingdings" panose="05000000000000000000" pitchFamily="2" charset="2"/>
              <a:buChar char="Ø"/>
            </a:pPr>
            <a:r>
              <a:rPr lang="en-US" sz="2400" dirty="0"/>
              <a:t>The second aspect of variety is the </a:t>
            </a:r>
            <a:r>
              <a:rPr lang="en-US" sz="2400" b="1" dirty="0">
                <a:solidFill>
                  <a:srgbClr val="FF0000"/>
                </a:solidFill>
              </a:rPr>
              <a:t>Function of data</a:t>
            </a:r>
            <a:r>
              <a:rPr lang="en-US" sz="2400" dirty="0">
                <a:solidFill>
                  <a:srgbClr val="FF0000"/>
                </a:solidFill>
                <a:sym typeface="Wingdings" panose="05000000000000000000" pitchFamily="2" charset="2"/>
              </a:rPr>
              <a:t></a:t>
            </a:r>
            <a:r>
              <a:rPr lang="en-US" sz="2400" dirty="0"/>
              <a:t> There is data from </a:t>
            </a:r>
            <a:r>
              <a:rPr lang="en-US" sz="2400" b="1" u="sng" dirty="0"/>
              <a:t>human conversations, songs and movies, business transaction records, machine operations performance data, new product design data, old archived data</a:t>
            </a:r>
            <a:r>
              <a:rPr lang="en-US" sz="2400" dirty="0"/>
              <a:t>, etc. </a:t>
            </a:r>
          </a:p>
          <a:p>
            <a:pPr algn="just"/>
            <a:endParaRPr lang="en-US" sz="1200" dirty="0"/>
          </a:p>
          <a:p>
            <a:pPr marL="342900" indent="-342900" algn="just">
              <a:buFont typeface="Wingdings" panose="05000000000000000000" pitchFamily="2" charset="2"/>
              <a:buChar char="Ø"/>
            </a:pPr>
            <a:r>
              <a:rPr lang="en-US" sz="2400" dirty="0"/>
              <a:t>The third aspect of variety is the </a:t>
            </a:r>
            <a:r>
              <a:rPr lang="en-US" sz="2400" b="1" dirty="0">
                <a:solidFill>
                  <a:srgbClr val="FF0000"/>
                </a:solidFill>
              </a:rPr>
              <a:t>Source of data</a:t>
            </a:r>
            <a:r>
              <a:rPr lang="en-US" sz="2400" b="1" dirty="0">
                <a:solidFill>
                  <a:srgbClr val="FF0000"/>
                </a:solidFill>
                <a:sym typeface="Wingdings" panose="05000000000000000000" pitchFamily="2" charset="2"/>
              </a:rPr>
              <a:t></a:t>
            </a:r>
            <a:r>
              <a:rPr lang="en-US" sz="2400" dirty="0"/>
              <a:t> </a:t>
            </a:r>
            <a:r>
              <a:rPr lang="en-US" sz="2400" b="1" u="sng" dirty="0"/>
              <a:t>Mobile phone and tablet devices enable a wide series of applications (or apps)</a:t>
            </a:r>
            <a:r>
              <a:rPr lang="en-US" sz="2400" dirty="0"/>
              <a:t>. Web access and search logs are another new and huge source of data.</a:t>
            </a:r>
          </a:p>
        </p:txBody>
      </p:sp>
    </p:spTree>
    <p:extLst>
      <p:ext uri="{BB962C8B-B14F-4D97-AF65-F5344CB8AC3E}">
        <p14:creationId xmlns:p14="http://schemas.microsoft.com/office/powerpoint/2010/main" val="2713790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8448" y="1318736"/>
            <a:ext cx="9500616" cy="4154984"/>
          </a:xfrm>
          <a:prstGeom prst="rect">
            <a:avLst/>
          </a:prstGeom>
        </p:spPr>
        <p:txBody>
          <a:bodyPr wrap="square">
            <a:spAutoFit/>
          </a:bodyPr>
          <a:lstStyle/>
          <a:p>
            <a:pPr algn="ctr"/>
            <a:r>
              <a:rPr lang="en-US" sz="2800" b="1" dirty="0">
                <a:solidFill>
                  <a:srgbClr val="FF0000"/>
                </a:solidFill>
              </a:rPr>
              <a:t>Collection of three V’s, there is another term “V” has been generated.</a:t>
            </a:r>
          </a:p>
          <a:p>
            <a:pPr algn="ctr"/>
            <a:endParaRPr lang="en-US" sz="1200" b="1" dirty="0">
              <a:solidFill>
                <a:srgbClr val="FF0000"/>
              </a:solidFill>
            </a:endParaRPr>
          </a:p>
          <a:p>
            <a:pPr algn="ctr"/>
            <a:r>
              <a:rPr lang="en-US" sz="2800" b="1" u="sng" dirty="0">
                <a:solidFill>
                  <a:srgbClr val="7030A0"/>
                </a:solidFill>
                <a:effectLst>
                  <a:outerShdw blurRad="38100" dist="38100" dir="2700000" algn="tl">
                    <a:srgbClr val="000000">
                      <a:alpha val="43137"/>
                    </a:srgbClr>
                  </a:outerShdw>
                </a:effectLst>
              </a:rPr>
              <a:t>“V” for Veracity of Data</a:t>
            </a:r>
          </a:p>
          <a:p>
            <a:pPr algn="ctr"/>
            <a:endParaRPr lang="en-US" sz="1200" b="1" u="sng" dirty="0">
              <a:solidFill>
                <a:srgbClr val="7030A0"/>
              </a:solidFill>
              <a:effectLst>
                <a:outerShdw blurRad="38100" dist="38100" dir="2700000" algn="tl">
                  <a:srgbClr val="000000">
                    <a:alpha val="43137"/>
                  </a:srgbClr>
                </a:outerShdw>
              </a:effectLst>
            </a:endParaRPr>
          </a:p>
          <a:p>
            <a:pPr algn="just"/>
            <a:r>
              <a:rPr lang="en-US" sz="2400" b="1" dirty="0">
                <a:solidFill>
                  <a:srgbClr val="7030A0"/>
                </a:solidFill>
              </a:rPr>
              <a:t>Veracity of Data</a:t>
            </a:r>
            <a:r>
              <a:rPr lang="en-US" sz="2400" dirty="0"/>
              <a:t> relates to the </a:t>
            </a:r>
            <a:r>
              <a:rPr lang="en-US" sz="2400" b="1" dirty="0">
                <a:solidFill>
                  <a:srgbClr val="FF0000"/>
                </a:solidFill>
                <a:effectLst>
                  <a:outerShdw blurRad="38100" dist="38100" dir="2700000" algn="tl">
                    <a:srgbClr val="000000">
                      <a:alpha val="43137"/>
                    </a:srgbClr>
                  </a:outerShdw>
                </a:effectLst>
              </a:rPr>
              <a:t>truthfulness</a:t>
            </a:r>
            <a:r>
              <a:rPr lang="en-US" sz="2400" dirty="0"/>
              <a:t>, </a:t>
            </a:r>
            <a:r>
              <a:rPr lang="en-US" sz="2400" b="1" dirty="0">
                <a:solidFill>
                  <a:schemeClr val="accent1">
                    <a:lumMod val="75000"/>
                  </a:schemeClr>
                </a:solidFill>
                <a:effectLst>
                  <a:outerShdw blurRad="38100" dist="38100" dir="2700000" algn="tl">
                    <a:srgbClr val="000000">
                      <a:alpha val="43137"/>
                    </a:srgbClr>
                  </a:outerShdw>
                </a:effectLst>
              </a:rPr>
              <a:t>believability</a:t>
            </a:r>
            <a:r>
              <a:rPr lang="en-US" sz="2400" dirty="0"/>
              <a:t>, and </a:t>
            </a:r>
            <a:r>
              <a:rPr lang="en-US" sz="2400" b="1" dirty="0">
                <a:solidFill>
                  <a:schemeClr val="accent6">
                    <a:lumMod val="75000"/>
                  </a:schemeClr>
                </a:solidFill>
                <a:effectLst>
                  <a:outerShdw blurRad="38100" dist="38100" dir="2700000" algn="tl">
                    <a:srgbClr val="000000">
                      <a:alpha val="43137"/>
                    </a:srgbClr>
                  </a:outerShdw>
                </a:effectLst>
              </a:rPr>
              <a:t>quality of data</a:t>
            </a:r>
            <a:r>
              <a:rPr lang="en-US" sz="2400" dirty="0"/>
              <a:t>. Big Data is messy and there is considerable misinformation and disinformation out there. </a:t>
            </a:r>
          </a:p>
          <a:p>
            <a:pPr algn="just"/>
            <a:endParaRPr lang="en-US" sz="1200" dirty="0"/>
          </a:p>
          <a:p>
            <a:pPr algn="just"/>
            <a:r>
              <a:rPr lang="en-US" sz="2400" b="1" dirty="0">
                <a:solidFill>
                  <a:srgbClr val="FF0000"/>
                </a:solidFill>
              </a:rPr>
              <a:t>Impact:</a:t>
            </a:r>
          </a:p>
          <a:p>
            <a:pPr algn="just"/>
            <a:r>
              <a:rPr lang="en-US" sz="2400" dirty="0"/>
              <a:t>The reasons for poor quality of data can range from technical error, to human error, to malicious intent. </a:t>
            </a:r>
          </a:p>
        </p:txBody>
      </p:sp>
    </p:spTree>
    <p:extLst>
      <p:ext uri="{BB962C8B-B14F-4D97-AF65-F5344CB8AC3E}">
        <p14:creationId xmlns:p14="http://schemas.microsoft.com/office/powerpoint/2010/main" val="2187068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6152" y="846803"/>
            <a:ext cx="9784080" cy="5201424"/>
          </a:xfrm>
          <a:prstGeom prst="rect">
            <a:avLst/>
          </a:prstGeom>
        </p:spPr>
        <p:txBody>
          <a:bodyPr wrap="square">
            <a:spAutoFit/>
          </a:bodyPr>
          <a:lstStyle/>
          <a:p>
            <a:pPr algn="ctr"/>
            <a:r>
              <a:rPr lang="en-US" sz="3200" b="1" u="sng" dirty="0">
                <a:solidFill>
                  <a:srgbClr val="7030A0"/>
                </a:solidFill>
                <a:effectLst>
                  <a:outerShdw blurRad="38100" dist="38100" dir="2700000" algn="tl">
                    <a:srgbClr val="000000">
                      <a:alpha val="43137"/>
                    </a:srgbClr>
                  </a:outerShdw>
                </a:effectLst>
              </a:rPr>
              <a:t>Why Veracity of Data?</a:t>
            </a:r>
          </a:p>
          <a:p>
            <a:pPr algn="ctr"/>
            <a:endParaRPr lang="en-US" sz="1200" b="1" u="sng" dirty="0">
              <a:solidFill>
                <a:srgbClr val="7030A0"/>
              </a:solidFill>
              <a:effectLst>
                <a:outerShdw blurRad="38100" dist="38100" dir="2700000" algn="tl">
                  <a:srgbClr val="000000">
                    <a:alpha val="43137"/>
                  </a:srgbClr>
                </a:outerShdw>
              </a:effectLst>
            </a:endParaRPr>
          </a:p>
          <a:p>
            <a:pPr marL="342900" indent="-342900" algn="just">
              <a:buAutoNum type="arabicPeriod"/>
            </a:pPr>
            <a:r>
              <a:rPr lang="en-US" sz="2400" dirty="0"/>
              <a:t>The source of information may not be authoritative. For example, all websites are not equally trustworthy. Any information from whitehouse.gov or from </a:t>
            </a:r>
            <a:r>
              <a:rPr lang="en-US" sz="2400" dirty="0" err="1"/>
              <a:t>nytimes</a:t>
            </a:r>
            <a:r>
              <a:rPr lang="en-US" sz="2400" dirty="0"/>
              <a:t>. com is more likely to be authentic and complete. What about “</a:t>
            </a:r>
            <a:r>
              <a:rPr lang="en-US" sz="2400" b="1" dirty="0">
                <a:solidFill>
                  <a:srgbClr val="FF0000"/>
                </a:solidFill>
              </a:rPr>
              <a:t>Wikipedia</a:t>
            </a:r>
            <a:r>
              <a:rPr lang="en-US" sz="2400" dirty="0"/>
              <a:t>”?</a:t>
            </a:r>
          </a:p>
          <a:p>
            <a:pPr marL="342900" indent="-342900" algn="just">
              <a:buAutoNum type="arabicPeriod"/>
            </a:pPr>
            <a:endParaRPr lang="en-US" sz="1200" dirty="0"/>
          </a:p>
          <a:p>
            <a:pPr marL="342900" indent="-342900" algn="just">
              <a:buAutoNum type="arabicPeriod"/>
            </a:pPr>
            <a:r>
              <a:rPr lang="en-US" sz="2400" dirty="0"/>
              <a:t>The data may not be communicated and received correctly because of human or technical failure. </a:t>
            </a:r>
            <a:r>
              <a:rPr lang="en-US" sz="2400" b="1" u="sng" dirty="0">
                <a:solidFill>
                  <a:srgbClr val="FF0000"/>
                </a:solidFill>
              </a:rPr>
              <a:t>Sensors and machines for gathering and communicating data may malfunction </a:t>
            </a:r>
            <a:r>
              <a:rPr lang="en-US" sz="2400" dirty="0"/>
              <a:t>and may record and transmit incorrect data. </a:t>
            </a:r>
          </a:p>
          <a:p>
            <a:pPr marL="342900" indent="-342900" algn="just">
              <a:buAutoNum type="arabicPeriod"/>
            </a:pPr>
            <a:endParaRPr lang="en-US" sz="1200" dirty="0"/>
          </a:p>
          <a:p>
            <a:pPr marL="342900" indent="-342900" algn="just">
              <a:buAutoNum type="arabicPeriod"/>
            </a:pPr>
            <a:r>
              <a:rPr lang="en-US" sz="2400" dirty="0"/>
              <a:t>The data provided and received may, however, also be </a:t>
            </a:r>
            <a:r>
              <a:rPr lang="en-US" sz="2400" b="1" i="1" dirty="0">
                <a:solidFill>
                  <a:srgbClr val="FF0000"/>
                </a:solidFill>
              </a:rPr>
              <a:t>intentionally wrong for competitive or security reasons. There could be disinformation and malicious information spread for strategic reasons</a:t>
            </a:r>
            <a:r>
              <a:rPr lang="en-US" sz="2400" dirty="0"/>
              <a:t>.</a:t>
            </a:r>
          </a:p>
        </p:txBody>
      </p:sp>
    </p:spTree>
    <p:extLst>
      <p:ext uri="{BB962C8B-B14F-4D97-AF65-F5344CB8AC3E}">
        <p14:creationId xmlns:p14="http://schemas.microsoft.com/office/powerpoint/2010/main" val="232649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6780" y="363974"/>
            <a:ext cx="10378440" cy="2739211"/>
          </a:xfrm>
          <a:prstGeom prst="rect">
            <a:avLst/>
          </a:prstGeom>
        </p:spPr>
        <p:txBody>
          <a:bodyPr wrap="square">
            <a:spAutoFit/>
          </a:bodyPr>
          <a:lstStyle/>
          <a:p>
            <a:pPr marL="457200" indent="-457200">
              <a:buFont typeface="Wingdings" panose="05000000000000000000" pitchFamily="2" charset="2"/>
              <a:buChar char="Ø"/>
            </a:pPr>
            <a:r>
              <a:rPr lang="en-US" sz="2800" b="1" dirty="0">
                <a:solidFill>
                  <a:srgbClr val="FF0000"/>
                </a:solidFill>
              </a:rPr>
              <a:t>ORGANIZING BIG DATA</a:t>
            </a:r>
          </a:p>
          <a:p>
            <a:endParaRPr lang="en-US" sz="800" b="1" dirty="0">
              <a:solidFill>
                <a:srgbClr val="FF0000"/>
              </a:solidFill>
            </a:endParaRPr>
          </a:p>
          <a:p>
            <a:pPr marL="457200" indent="-457200">
              <a:buFont typeface="Wingdings" panose="05000000000000000000" pitchFamily="2" charset="2"/>
              <a:buChar char="Ø"/>
            </a:pPr>
            <a:r>
              <a:rPr lang="en-US" sz="2800" b="1" dirty="0">
                <a:solidFill>
                  <a:srgbClr val="FF0000"/>
                </a:solidFill>
              </a:rPr>
              <a:t>ANALYZING BIG DATA</a:t>
            </a:r>
          </a:p>
          <a:p>
            <a:endParaRPr lang="en-US" sz="1200" b="1" dirty="0">
              <a:solidFill>
                <a:srgbClr val="FF0000"/>
              </a:solidFill>
            </a:endParaRPr>
          </a:p>
          <a:p>
            <a:pPr algn="just"/>
            <a:r>
              <a:rPr lang="en-US" sz="2400" dirty="0"/>
              <a:t>First way is to process the incoming stream of data in real time for quick and effective statistics about the data. </a:t>
            </a:r>
          </a:p>
          <a:p>
            <a:pPr algn="just"/>
            <a:r>
              <a:rPr lang="en-US" sz="2400" dirty="0"/>
              <a:t>The second way is to store and structure batches of data and apply standard analytical techniques on for generating insights.</a:t>
            </a:r>
          </a:p>
        </p:txBody>
      </p:sp>
      <p:pic>
        <p:nvPicPr>
          <p:cNvPr id="3" name="Picture 2"/>
          <p:cNvPicPr>
            <a:picLocks noChangeAspect="1"/>
          </p:cNvPicPr>
          <p:nvPr/>
        </p:nvPicPr>
        <p:blipFill>
          <a:blip r:embed="rId2"/>
          <a:stretch>
            <a:fillRect/>
          </a:stretch>
        </p:blipFill>
        <p:spPr>
          <a:xfrm>
            <a:off x="3006280" y="3242119"/>
            <a:ext cx="6858000" cy="3320072"/>
          </a:xfrm>
          <a:prstGeom prst="rect">
            <a:avLst/>
          </a:prstGeom>
        </p:spPr>
      </p:pic>
      <p:sp>
        <p:nvSpPr>
          <p:cNvPr id="4" name="Rectangle 3"/>
          <p:cNvSpPr/>
          <p:nvPr/>
        </p:nvSpPr>
        <p:spPr>
          <a:xfrm>
            <a:off x="2334213" y="3415362"/>
            <a:ext cx="553998" cy="2973586"/>
          </a:xfrm>
          <a:prstGeom prst="rect">
            <a:avLst/>
          </a:prstGeom>
        </p:spPr>
        <p:txBody>
          <a:bodyPr vert="vert270" wrap="square">
            <a:spAutoFit/>
          </a:bodyPr>
          <a:lstStyle/>
          <a:p>
            <a:pPr algn="ctr"/>
            <a:r>
              <a:rPr lang="en-US" sz="2400" b="1" dirty="0"/>
              <a:t>Big data architecture</a:t>
            </a:r>
          </a:p>
        </p:txBody>
      </p:sp>
    </p:spTree>
    <p:extLst>
      <p:ext uri="{BB962C8B-B14F-4D97-AF65-F5344CB8AC3E}">
        <p14:creationId xmlns:p14="http://schemas.microsoft.com/office/powerpoint/2010/main" val="2641534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94074" y="562926"/>
            <a:ext cx="9507200" cy="4937760"/>
          </a:xfrm>
          <a:prstGeom prst="rect">
            <a:avLst/>
          </a:prstGeom>
        </p:spPr>
      </p:pic>
      <p:sp>
        <p:nvSpPr>
          <p:cNvPr id="3" name="Rectangle 2"/>
          <p:cNvSpPr/>
          <p:nvPr/>
        </p:nvSpPr>
        <p:spPr>
          <a:xfrm>
            <a:off x="2262754" y="5657011"/>
            <a:ext cx="7548758" cy="830997"/>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Real-time dashboard for website performance for the author’s blog</a:t>
            </a:r>
          </a:p>
        </p:txBody>
      </p:sp>
    </p:spTree>
    <p:extLst>
      <p:ext uri="{BB962C8B-B14F-4D97-AF65-F5344CB8AC3E}">
        <p14:creationId xmlns:p14="http://schemas.microsoft.com/office/powerpoint/2010/main" val="1232435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44172" y="455296"/>
            <a:ext cx="5852160" cy="5339958"/>
          </a:xfrm>
          <a:prstGeom prst="rect">
            <a:avLst/>
          </a:prstGeom>
        </p:spPr>
      </p:pic>
      <p:sp>
        <p:nvSpPr>
          <p:cNvPr id="3" name="Rectangle 2"/>
          <p:cNvSpPr/>
          <p:nvPr/>
        </p:nvSpPr>
        <p:spPr>
          <a:xfrm>
            <a:off x="1730107" y="5941814"/>
            <a:ext cx="8709307" cy="461665"/>
          </a:xfrm>
          <a:prstGeom prst="rect">
            <a:avLst/>
          </a:prstGeom>
        </p:spPr>
        <p:txBody>
          <a:bodyPr wrap="none">
            <a:spAutoFit/>
          </a:bodyPr>
          <a:lstStyle/>
          <a:p>
            <a:r>
              <a:rPr lang="en-US" sz="2400" b="1" dirty="0"/>
              <a:t>A </a:t>
            </a:r>
            <a:r>
              <a:rPr lang="en-US" sz="2400" b="1" dirty="0" err="1"/>
              <a:t>wordcloud</a:t>
            </a:r>
            <a:r>
              <a:rPr lang="en-US" sz="2400" b="1" dirty="0"/>
              <a:t> of Hillary Clinton’s and Donald Trump’s tweets  (2016)</a:t>
            </a:r>
          </a:p>
        </p:txBody>
      </p:sp>
    </p:spTree>
    <p:extLst>
      <p:ext uri="{BB962C8B-B14F-4D97-AF65-F5344CB8AC3E}">
        <p14:creationId xmlns:p14="http://schemas.microsoft.com/office/powerpoint/2010/main" val="2178167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2137" y="464558"/>
            <a:ext cx="7267439" cy="584775"/>
          </a:xfrm>
          <a:prstGeom prst="rect">
            <a:avLst/>
          </a:prstGeom>
        </p:spPr>
        <p:txBody>
          <a:bodyPr wrap="none">
            <a:spAutoFit/>
          </a:bodyPr>
          <a:lstStyle/>
          <a:p>
            <a:pPr algn="ctr"/>
            <a:r>
              <a:rPr lang="en-US" sz="3200" b="1" dirty="0">
                <a:solidFill>
                  <a:srgbClr val="FF0000"/>
                </a:solidFill>
                <a:effectLst>
                  <a:outerShdw blurRad="38100" dist="38100" dir="2700000" algn="tl">
                    <a:srgbClr val="000000">
                      <a:alpha val="43137"/>
                    </a:srgbClr>
                  </a:outerShdw>
                </a:effectLst>
              </a:rPr>
              <a:t>TECHNOLOGY CHALLENGES FOR BIG DATA</a:t>
            </a:r>
          </a:p>
        </p:txBody>
      </p:sp>
      <p:sp>
        <p:nvSpPr>
          <p:cNvPr id="3" name="Rectangle 2"/>
          <p:cNvSpPr/>
          <p:nvPr/>
        </p:nvSpPr>
        <p:spPr>
          <a:xfrm>
            <a:off x="1289304" y="1049775"/>
            <a:ext cx="6922007" cy="1752403"/>
          </a:xfrm>
          <a:prstGeom prst="rect">
            <a:avLst/>
          </a:prstGeom>
        </p:spPr>
        <p:txBody>
          <a:bodyPr wrap="square">
            <a:spAutoFit/>
          </a:bodyPr>
          <a:lstStyle/>
          <a:p>
            <a:pPr marL="342900" indent="-342900">
              <a:lnSpc>
                <a:spcPct val="114000"/>
              </a:lnSpc>
              <a:buFont typeface="Wingdings" panose="05000000000000000000" pitchFamily="2" charset="2"/>
              <a:buChar char="Ø"/>
            </a:pPr>
            <a:r>
              <a:rPr lang="en-US" sz="2400" dirty="0"/>
              <a:t> Storing Huge Volumes</a:t>
            </a:r>
          </a:p>
          <a:p>
            <a:pPr marL="342900" indent="-342900">
              <a:lnSpc>
                <a:spcPct val="114000"/>
              </a:lnSpc>
              <a:buFont typeface="Wingdings" panose="05000000000000000000" pitchFamily="2" charset="2"/>
              <a:buChar char="Ø"/>
            </a:pPr>
            <a:r>
              <a:rPr lang="en-US" sz="2400" dirty="0"/>
              <a:t> Ingesting Streams at an Extremely  Fast Pace</a:t>
            </a:r>
          </a:p>
          <a:p>
            <a:pPr marL="342900" indent="-342900">
              <a:lnSpc>
                <a:spcPct val="114000"/>
              </a:lnSpc>
              <a:buFont typeface="Wingdings" panose="05000000000000000000" pitchFamily="2" charset="2"/>
              <a:buChar char="Ø"/>
            </a:pPr>
            <a:r>
              <a:rPr lang="en-US" sz="2400" dirty="0"/>
              <a:t> Handling a Variety of Forms and Functions of Data</a:t>
            </a:r>
          </a:p>
          <a:p>
            <a:pPr marL="342900" indent="-342900">
              <a:lnSpc>
                <a:spcPct val="114000"/>
              </a:lnSpc>
              <a:buFont typeface="Wingdings" panose="05000000000000000000" pitchFamily="2" charset="2"/>
              <a:buChar char="Ø"/>
            </a:pPr>
            <a:r>
              <a:rPr lang="en-US" sz="2400" dirty="0"/>
              <a:t> Processing Data at Huge Speeds</a:t>
            </a:r>
          </a:p>
        </p:txBody>
      </p:sp>
      <p:pic>
        <p:nvPicPr>
          <p:cNvPr id="4" name="Picture 3"/>
          <p:cNvPicPr>
            <a:picLocks noChangeAspect="1"/>
          </p:cNvPicPr>
          <p:nvPr/>
        </p:nvPicPr>
        <p:blipFill>
          <a:blip r:embed="rId2"/>
          <a:stretch>
            <a:fillRect/>
          </a:stretch>
        </p:blipFill>
        <p:spPr>
          <a:xfrm>
            <a:off x="2040446" y="2895792"/>
            <a:ext cx="8138160" cy="3770472"/>
          </a:xfrm>
          <a:prstGeom prst="rect">
            <a:avLst/>
          </a:prstGeom>
        </p:spPr>
      </p:pic>
      <p:sp>
        <p:nvSpPr>
          <p:cNvPr id="5" name="Rectangle 4"/>
          <p:cNvSpPr/>
          <p:nvPr/>
        </p:nvSpPr>
        <p:spPr>
          <a:xfrm>
            <a:off x="8495982" y="3774686"/>
            <a:ext cx="2938625" cy="307777"/>
          </a:xfrm>
          <a:prstGeom prst="rect">
            <a:avLst/>
          </a:prstGeom>
        </p:spPr>
        <p:txBody>
          <a:bodyPr wrap="none">
            <a:spAutoFit/>
          </a:bodyPr>
          <a:lstStyle/>
          <a:p>
            <a:r>
              <a:rPr lang="en-US" sz="1400" b="1" dirty="0">
                <a:solidFill>
                  <a:srgbClr val="1F1F1F"/>
                </a:solidFill>
                <a:latin typeface="Google Sans"/>
              </a:rPr>
              <a:t> </a:t>
            </a:r>
            <a:r>
              <a:rPr lang="en-US" sz="1400" b="1" u="sng" dirty="0">
                <a:solidFill>
                  <a:srgbClr val="1F1F1F"/>
                </a:solidFill>
                <a:latin typeface="Google Sans"/>
              </a:rPr>
              <a:t>Hadoop Distributed File System</a:t>
            </a:r>
            <a:endParaRPr lang="en-US" sz="1400" b="1" u="sng" dirty="0"/>
          </a:p>
        </p:txBody>
      </p:sp>
    </p:spTree>
    <p:extLst>
      <p:ext uri="{BB962C8B-B14F-4D97-AF65-F5344CB8AC3E}">
        <p14:creationId xmlns:p14="http://schemas.microsoft.com/office/powerpoint/2010/main" val="4115534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18651" y="922971"/>
            <a:ext cx="9326221" cy="5669280"/>
          </a:xfrm>
          <a:prstGeom prst="rect">
            <a:avLst/>
          </a:prstGeom>
        </p:spPr>
      </p:pic>
      <p:sp>
        <p:nvSpPr>
          <p:cNvPr id="3" name="Rectangle 2"/>
          <p:cNvSpPr/>
          <p:nvPr/>
        </p:nvSpPr>
        <p:spPr>
          <a:xfrm>
            <a:off x="2788323" y="318254"/>
            <a:ext cx="6660028" cy="553998"/>
          </a:xfrm>
          <a:prstGeom prst="rect">
            <a:avLst/>
          </a:prstGeom>
        </p:spPr>
        <p:txBody>
          <a:bodyPr wrap="none">
            <a:spAutoFit/>
          </a:bodyPr>
          <a:lstStyle/>
          <a:p>
            <a:pPr algn="ctr"/>
            <a:r>
              <a:rPr lang="en-US" sz="3000" b="1" dirty="0">
                <a:solidFill>
                  <a:schemeClr val="accent5">
                    <a:lumMod val="75000"/>
                  </a:schemeClr>
                </a:solidFill>
                <a:effectLst>
                  <a:outerShdw blurRad="38100" dist="38100" dir="2700000" algn="tl">
                    <a:srgbClr val="000000">
                      <a:alpha val="43137"/>
                    </a:srgbClr>
                  </a:outerShdw>
                </a:effectLst>
              </a:rPr>
              <a:t>Comparing big data with traditional data</a:t>
            </a:r>
          </a:p>
        </p:txBody>
      </p:sp>
    </p:spTree>
    <p:extLst>
      <p:ext uri="{BB962C8B-B14F-4D97-AF65-F5344CB8AC3E}">
        <p14:creationId xmlns:p14="http://schemas.microsoft.com/office/powerpoint/2010/main" val="2573726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18710" y="2320790"/>
            <a:ext cx="6010877" cy="1569660"/>
          </a:xfrm>
          <a:prstGeom prst="rect">
            <a:avLst/>
          </a:prstGeom>
        </p:spPr>
        <p:txBody>
          <a:bodyPr wrap="none">
            <a:spAutoFit/>
          </a:bodyPr>
          <a:lstStyle/>
          <a:p>
            <a:pPr algn="ctr"/>
            <a:r>
              <a:rPr lang="en-US" sz="4800" b="1" dirty="0">
                <a:solidFill>
                  <a:srgbClr val="FF0000"/>
                </a:solidFill>
                <a:effectLst>
                  <a:outerShdw blurRad="38100" dist="38100" dir="2700000" algn="tl">
                    <a:srgbClr val="000000">
                      <a:alpha val="43137"/>
                    </a:srgbClr>
                  </a:outerShdw>
                </a:effectLst>
              </a:rPr>
              <a:t>Case study page no. 22</a:t>
            </a:r>
          </a:p>
          <a:p>
            <a:pPr algn="ctr"/>
            <a:r>
              <a:rPr lang="en-US" sz="4800" b="1" dirty="0">
                <a:solidFill>
                  <a:srgbClr val="FF0000"/>
                </a:solidFill>
                <a:effectLst>
                  <a:outerShdw blurRad="38100" dist="38100" dir="2700000" algn="tl">
                    <a:srgbClr val="000000">
                      <a:alpha val="43137"/>
                    </a:srgbClr>
                  </a:outerShdw>
                </a:effectLst>
              </a:rPr>
              <a:t>Fig. 2.2</a:t>
            </a:r>
          </a:p>
        </p:txBody>
      </p:sp>
    </p:spTree>
    <p:extLst>
      <p:ext uri="{BB962C8B-B14F-4D97-AF65-F5344CB8AC3E}">
        <p14:creationId xmlns:p14="http://schemas.microsoft.com/office/powerpoint/2010/main" val="4269279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2768" y="1250942"/>
            <a:ext cx="9107424" cy="4089154"/>
          </a:xfrm>
          <a:prstGeom prst="rect">
            <a:avLst/>
          </a:prstGeom>
        </p:spPr>
        <p:txBody>
          <a:bodyPr wrap="square">
            <a:spAutoFit/>
          </a:bodyPr>
          <a:lstStyle/>
          <a:p>
            <a:pPr algn="ctr"/>
            <a:r>
              <a:rPr lang="en-US" sz="3200" b="1" dirty="0">
                <a:solidFill>
                  <a:srgbClr val="7030A0"/>
                </a:solidFill>
                <a:effectLst>
                  <a:outerShdw blurRad="38100" dist="38100" dir="2700000" algn="tl">
                    <a:srgbClr val="000000">
                      <a:alpha val="43137"/>
                    </a:srgbClr>
                  </a:outerShdw>
                </a:effectLst>
              </a:rPr>
              <a:t>BIG DATA SOURCES</a:t>
            </a:r>
          </a:p>
          <a:p>
            <a:pPr algn="ctr"/>
            <a:endParaRPr lang="en-US" sz="1200" dirty="0"/>
          </a:p>
          <a:p>
            <a:pPr>
              <a:lnSpc>
                <a:spcPct val="150000"/>
              </a:lnSpc>
            </a:pPr>
            <a:r>
              <a:rPr lang="en-US" sz="2400" dirty="0" err="1"/>
              <a:t>i</a:t>
            </a:r>
            <a:r>
              <a:rPr lang="en-US" sz="2400" dirty="0"/>
              <a:t>.   People-to-People Communications</a:t>
            </a:r>
          </a:p>
          <a:p>
            <a:pPr>
              <a:lnSpc>
                <a:spcPct val="150000"/>
              </a:lnSpc>
            </a:pPr>
            <a:r>
              <a:rPr lang="en-US" sz="2400" dirty="0"/>
              <a:t>      example. Social Media</a:t>
            </a:r>
          </a:p>
          <a:p>
            <a:pPr>
              <a:lnSpc>
                <a:spcPct val="150000"/>
              </a:lnSpc>
            </a:pPr>
            <a:r>
              <a:rPr lang="en-US" sz="2400" dirty="0"/>
              <a:t>ii.  People-to-Machine Communications</a:t>
            </a:r>
          </a:p>
          <a:p>
            <a:pPr>
              <a:lnSpc>
                <a:spcPct val="150000"/>
              </a:lnSpc>
            </a:pPr>
            <a:r>
              <a:rPr lang="en-US" sz="2400" dirty="0"/>
              <a:t>      example. Smart watch, </a:t>
            </a:r>
            <a:r>
              <a:rPr lang="en-US" sz="2400" dirty="0" err="1"/>
              <a:t>IoT</a:t>
            </a:r>
            <a:r>
              <a:rPr lang="en-US" sz="2400" dirty="0"/>
              <a:t> based medical equipment, web-address</a:t>
            </a:r>
          </a:p>
          <a:p>
            <a:pPr>
              <a:lnSpc>
                <a:spcPct val="150000"/>
              </a:lnSpc>
            </a:pPr>
            <a:r>
              <a:rPr lang="en-US" sz="2400" dirty="0"/>
              <a:t>iii. Machine-to-Machine Communications</a:t>
            </a:r>
          </a:p>
          <a:p>
            <a:pPr>
              <a:lnSpc>
                <a:spcPct val="150000"/>
              </a:lnSpc>
            </a:pPr>
            <a:r>
              <a:rPr lang="en-US" sz="2400" dirty="0"/>
              <a:t>     example. RFID tag, sensors</a:t>
            </a:r>
          </a:p>
        </p:txBody>
      </p:sp>
    </p:spTree>
    <p:extLst>
      <p:ext uri="{BB962C8B-B14F-4D97-AF65-F5344CB8AC3E}">
        <p14:creationId xmlns:p14="http://schemas.microsoft.com/office/powerpoint/2010/main" val="1593360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14692" y="336542"/>
            <a:ext cx="4208588" cy="584775"/>
          </a:xfrm>
          <a:prstGeom prst="rect">
            <a:avLst/>
          </a:prstGeom>
        </p:spPr>
        <p:txBody>
          <a:bodyPr wrap="none">
            <a:spAutoFit/>
          </a:bodyPr>
          <a:lstStyle/>
          <a:p>
            <a:r>
              <a:rPr lang="en-US" sz="3200" dirty="0">
                <a:solidFill>
                  <a:srgbClr val="FF0000"/>
                </a:solidFill>
                <a:effectLst>
                  <a:outerShdw blurRad="38100" dist="38100" dir="2700000" algn="tl">
                    <a:srgbClr val="000000">
                      <a:alpha val="43137"/>
                    </a:srgbClr>
                  </a:outerShdw>
                </a:effectLst>
              </a:rPr>
              <a:t>BIG DATA APPLICATIONS</a:t>
            </a:r>
          </a:p>
        </p:txBody>
      </p:sp>
      <p:sp>
        <p:nvSpPr>
          <p:cNvPr id="3" name="Rectangle 2"/>
          <p:cNvSpPr/>
          <p:nvPr/>
        </p:nvSpPr>
        <p:spPr>
          <a:xfrm>
            <a:off x="644706" y="1140773"/>
            <a:ext cx="7755649" cy="2462213"/>
          </a:xfrm>
          <a:prstGeom prst="rect">
            <a:avLst/>
          </a:prstGeom>
        </p:spPr>
        <p:txBody>
          <a:bodyPr wrap="none">
            <a:spAutoFit/>
          </a:bodyPr>
          <a:lstStyle/>
          <a:p>
            <a:pPr marL="342900" indent="-342900">
              <a:buFont typeface="Wingdings" panose="05000000000000000000" pitchFamily="2" charset="2"/>
              <a:buChar char="à"/>
            </a:pPr>
            <a:r>
              <a:rPr lang="en-US" sz="2200" dirty="0"/>
              <a:t>Monitoring and Tracking Applications (vehicle tracking system)</a:t>
            </a:r>
          </a:p>
          <a:p>
            <a:pPr marL="342900" indent="-342900">
              <a:buFont typeface="Wingdings" panose="05000000000000000000" pitchFamily="2" charset="2"/>
              <a:buChar char="à"/>
            </a:pPr>
            <a:r>
              <a:rPr lang="en-US" sz="2200" dirty="0"/>
              <a:t>Public Health Monitoring</a:t>
            </a:r>
          </a:p>
          <a:p>
            <a:pPr marL="342900" indent="-342900">
              <a:buFont typeface="Wingdings" panose="05000000000000000000" pitchFamily="2" charset="2"/>
              <a:buChar char="à"/>
            </a:pPr>
            <a:r>
              <a:rPr lang="en-US" sz="2200" dirty="0"/>
              <a:t>Consumer Sentiment Monitoring (Social media based business)</a:t>
            </a:r>
          </a:p>
          <a:p>
            <a:pPr marL="342900" indent="-342900">
              <a:buFont typeface="Wingdings" panose="05000000000000000000" pitchFamily="2" charset="2"/>
              <a:buChar char="à"/>
            </a:pPr>
            <a:r>
              <a:rPr lang="en-US" sz="2200" dirty="0"/>
              <a:t>Asset Tracking (airplane black box recording)</a:t>
            </a:r>
          </a:p>
          <a:p>
            <a:pPr marL="342900" indent="-342900">
              <a:buFont typeface="Wingdings" panose="05000000000000000000" pitchFamily="2" charset="2"/>
              <a:buChar char="à"/>
            </a:pPr>
            <a:r>
              <a:rPr lang="en-US" sz="2200" dirty="0"/>
              <a:t>Supply Chain Monitoring</a:t>
            </a:r>
          </a:p>
          <a:p>
            <a:pPr marL="342900" indent="-342900">
              <a:buFont typeface="Wingdings" panose="05000000000000000000" pitchFamily="2" charset="2"/>
              <a:buChar char="à"/>
            </a:pPr>
            <a:r>
              <a:rPr lang="en-US" sz="2200" dirty="0"/>
              <a:t>Electricity Consumption Tracking</a:t>
            </a:r>
          </a:p>
          <a:p>
            <a:pPr marL="342900" indent="-342900">
              <a:buFont typeface="Wingdings" panose="05000000000000000000" pitchFamily="2" charset="2"/>
              <a:buChar char="à"/>
            </a:pPr>
            <a:r>
              <a:rPr lang="en-US" sz="2200" dirty="0"/>
              <a:t>Preventive Machine Maintenance, </a:t>
            </a:r>
            <a:r>
              <a:rPr lang="en-US" sz="2200" dirty="0" err="1"/>
              <a:t>etc</a:t>
            </a:r>
            <a:endParaRPr lang="en-US" sz="2200" dirty="0"/>
          </a:p>
        </p:txBody>
      </p:sp>
      <p:pic>
        <p:nvPicPr>
          <p:cNvPr id="4" name="Picture 3"/>
          <p:cNvPicPr>
            <a:picLocks noChangeAspect="1"/>
          </p:cNvPicPr>
          <p:nvPr/>
        </p:nvPicPr>
        <p:blipFill>
          <a:blip r:embed="rId2"/>
          <a:stretch>
            <a:fillRect/>
          </a:stretch>
        </p:blipFill>
        <p:spPr>
          <a:xfrm>
            <a:off x="5677668" y="2689098"/>
            <a:ext cx="6023515" cy="3566160"/>
          </a:xfrm>
          <a:prstGeom prst="rect">
            <a:avLst/>
          </a:prstGeom>
        </p:spPr>
      </p:pic>
    </p:spTree>
    <p:extLst>
      <p:ext uri="{BB962C8B-B14F-4D97-AF65-F5344CB8AC3E}">
        <p14:creationId xmlns:p14="http://schemas.microsoft.com/office/powerpoint/2010/main" val="3132039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21039" y="162806"/>
            <a:ext cx="5745675" cy="584775"/>
          </a:xfrm>
          <a:prstGeom prst="rect">
            <a:avLst/>
          </a:prstGeom>
        </p:spPr>
        <p:txBody>
          <a:bodyPr wrap="none">
            <a:spAutoFit/>
          </a:bodyPr>
          <a:lstStyle/>
          <a:p>
            <a:r>
              <a:rPr lang="en-US" sz="3200" b="1" dirty="0">
                <a:solidFill>
                  <a:srgbClr val="7030A0"/>
                </a:solidFill>
                <a:effectLst>
                  <a:outerShdw blurRad="38100" dist="38100" dir="2700000" algn="tl">
                    <a:srgbClr val="000000">
                      <a:alpha val="43137"/>
                    </a:srgbClr>
                  </a:outerShdw>
                </a:effectLst>
              </a:rPr>
              <a:t>Analysis and Insight Applications</a:t>
            </a:r>
          </a:p>
        </p:txBody>
      </p:sp>
      <p:sp>
        <p:nvSpPr>
          <p:cNvPr id="4" name="Rectangle 3"/>
          <p:cNvSpPr/>
          <p:nvPr/>
        </p:nvSpPr>
        <p:spPr>
          <a:xfrm>
            <a:off x="1033272" y="747581"/>
            <a:ext cx="10250424" cy="5890715"/>
          </a:xfrm>
          <a:prstGeom prst="rect">
            <a:avLst/>
          </a:prstGeom>
        </p:spPr>
        <p:txBody>
          <a:bodyPr wrap="square">
            <a:spAutoFit/>
          </a:bodyPr>
          <a:lstStyle/>
          <a:p>
            <a:pPr marL="457200" indent="-457200">
              <a:buFont typeface="Wingdings" panose="05000000000000000000" pitchFamily="2" charset="2"/>
              <a:buChar char="à"/>
            </a:pPr>
            <a:r>
              <a:rPr lang="en-US" sz="2400" b="1" dirty="0">
                <a:solidFill>
                  <a:srgbClr val="FF0000"/>
                </a:solidFill>
                <a:effectLst>
                  <a:outerShdw blurRad="38100" dist="38100" dir="2700000" algn="tl">
                    <a:srgbClr val="000000">
                      <a:alpha val="43137"/>
                    </a:srgbClr>
                  </a:outerShdw>
                </a:effectLst>
              </a:rPr>
              <a:t>Predictive Policing</a:t>
            </a:r>
          </a:p>
          <a:p>
            <a:r>
              <a:rPr lang="en-US" sz="2400" dirty="0"/>
              <a:t>       </a:t>
            </a:r>
            <a:r>
              <a:rPr lang="en-US" sz="2400" dirty="0" err="1"/>
              <a:t>exmpl</a:t>
            </a:r>
            <a:r>
              <a:rPr lang="en-US" sz="2400" dirty="0"/>
              <a:t>. The Los Angeles Police Department (LAPD) invented the concept of</a:t>
            </a:r>
          </a:p>
          <a:p>
            <a:r>
              <a:rPr lang="en-US" sz="2400" dirty="0"/>
              <a:t>                    Predictive Policing</a:t>
            </a:r>
          </a:p>
          <a:p>
            <a:endParaRPr lang="en-US" sz="1200" dirty="0"/>
          </a:p>
          <a:p>
            <a:pPr marL="342900" indent="-342900">
              <a:buFont typeface="Wingdings" panose="05000000000000000000" pitchFamily="2" charset="2"/>
              <a:buChar char="à"/>
            </a:pPr>
            <a:r>
              <a:rPr lang="en-US" sz="2400" b="1" dirty="0">
                <a:solidFill>
                  <a:srgbClr val="FF0000"/>
                </a:solidFill>
                <a:effectLst>
                  <a:outerShdw blurRad="38100" dist="38100" dir="2700000" algn="tl">
                    <a:srgbClr val="000000">
                      <a:alpha val="43137"/>
                    </a:srgbClr>
                  </a:outerShdw>
                </a:effectLst>
              </a:rPr>
              <a:t> Winning Political Elections</a:t>
            </a:r>
          </a:p>
          <a:p>
            <a:pPr algn="just"/>
            <a:r>
              <a:rPr lang="en-US" sz="2400" dirty="0"/>
              <a:t>       </a:t>
            </a:r>
            <a:r>
              <a:rPr lang="en-US" sz="2400" dirty="0" err="1"/>
              <a:t>exmpl</a:t>
            </a:r>
            <a:r>
              <a:rPr lang="en-US" sz="2400" dirty="0"/>
              <a:t>. The US President, Barack Obama, was the first major political candidate to use Big Data in a significant way, in the 2008 elections. He is the first Big Data president. His campaign gathered data about millions of people, including supporters. They invented the mechanism to obtain small campaign contributions from millions of supporters.</a:t>
            </a:r>
          </a:p>
          <a:p>
            <a:pPr algn="just"/>
            <a:endParaRPr lang="en-US" sz="1200" dirty="0"/>
          </a:p>
          <a:p>
            <a:pPr marL="342900" indent="-342900" algn="just">
              <a:lnSpc>
                <a:spcPct val="114000"/>
              </a:lnSpc>
              <a:buFont typeface="Wingdings" panose="05000000000000000000" pitchFamily="2" charset="2"/>
              <a:buChar char="à"/>
            </a:pPr>
            <a:r>
              <a:rPr lang="en-US" sz="2400" dirty="0">
                <a:sym typeface="Wingdings" panose="05000000000000000000" pitchFamily="2" charset="2"/>
              </a:rPr>
              <a:t>P</a:t>
            </a:r>
            <a:r>
              <a:rPr lang="en-US" sz="2400" dirty="0"/>
              <a:t>ersonal Health</a:t>
            </a:r>
          </a:p>
          <a:p>
            <a:pPr marL="342900" indent="-342900" algn="just">
              <a:lnSpc>
                <a:spcPct val="114000"/>
              </a:lnSpc>
              <a:buFont typeface="Wingdings" panose="05000000000000000000" pitchFamily="2" charset="2"/>
              <a:buChar char="à"/>
            </a:pPr>
            <a:r>
              <a:rPr lang="en-US" sz="2400" dirty="0"/>
              <a:t>New Product Development</a:t>
            </a:r>
          </a:p>
          <a:p>
            <a:pPr marL="342900" indent="-342900" algn="just">
              <a:lnSpc>
                <a:spcPct val="114000"/>
              </a:lnSpc>
              <a:buFont typeface="Wingdings" panose="05000000000000000000" pitchFamily="2" charset="2"/>
              <a:buChar char="à"/>
            </a:pPr>
            <a:r>
              <a:rPr lang="en-US" sz="2400" dirty="0"/>
              <a:t>Flexible Auto Insurance</a:t>
            </a:r>
          </a:p>
          <a:p>
            <a:pPr marL="342900" indent="-342900" algn="just">
              <a:lnSpc>
                <a:spcPct val="114000"/>
              </a:lnSpc>
              <a:buFont typeface="Wingdings" panose="05000000000000000000" pitchFamily="2" charset="2"/>
              <a:buChar char="à"/>
            </a:pPr>
            <a:r>
              <a:rPr lang="en-US" sz="2400" dirty="0"/>
              <a:t>Location-based Retail Promotion</a:t>
            </a:r>
          </a:p>
          <a:p>
            <a:pPr marL="342900" indent="-342900" algn="just">
              <a:lnSpc>
                <a:spcPct val="114000"/>
              </a:lnSpc>
              <a:buFont typeface="Wingdings" panose="05000000000000000000" pitchFamily="2" charset="2"/>
              <a:buChar char="à"/>
            </a:pPr>
            <a:r>
              <a:rPr lang="en-US" sz="2400" dirty="0"/>
              <a:t>Recommendation Service</a:t>
            </a:r>
          </a:p>
        </p:txBody>
      </p:sp>
    </p:spTree>
    <p:extLst>
      <p:ext uri="{BB962C8B-B14F-4D97-AF65-F5344CB8AC3E}">
        <p14:creationId xmlns:p14="http://schemas.microsoft.com/office/powerpoint/2010/main" val="379738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9089" y="647438"/>
            <a:ext cx="3593612" cy="1200329"/>
          </a:xfrm>
          <a:prstGeom prst="rect">
            <a:avLst/>
          </a:prstGeom>
        </p:spPr>
        <p:txBody>
          <a:bodyPr wrap="none">
            <a:spAutoFit/>
          </a:bodyPr>
          <a:lstStyle/>
          <a:p>
            <a:r>
              <a:rPr lang="en-US" sz="2400" b="1" dirty="0"/>
              <a:t>Case Study</a:t>
            </a:r>
          </a:p>
          <a:p>
            <a:r>
              <a:rPr lang="en-US" sz="2400" b="1" dirty="0"/>
              <a:t>Page 34</a:t>
            </a:r>
          </a:p>
          <a:p>
            <a:r>
              <a:rPr lang="en-US" sz="2400" b="1" dirty="0"/>
              <a:t>Google Query Architecture</a:t>
            </a:r>
          </a:p>
        </p:txBody>
      </p:sp>
    </p:spTree>
    <p:extLst>
      <p:ext uri="{BB962C8B-B14F-4D97-AF65-F5344CB8AC3E}">
        <p14:creationId xmlns:p14="http://schemas.microsoft.com/office/powerpoint/2010/main" val="1742741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71665" y="394716"/>
            <a:ext cx="5760720" cy="2731442"/>
          </a:xfrm>
          <a:prstGeom prst="rect">
            <a:avLst/>
          </a:prstGeom>
        </p:spPr>
      </p:pic>
      <p:sp>
        <p:nvSpPr>
          <p:cNvPr id="3" name="Rectangle 2"/>
          <p:cNvSpPr/>
          <p:nvPr/>
        </p:nvSpPr>
        <p:spPr>
          <a:xfrm>
            <a:off x="6348984" y="394716"/>
            <a:ext cx="5309616" cy="1754326"/>
          </a:xfrm>
          <a:prstGeom prst="rect">
            <a:avLst/>
          </a:prstGeom>
        </p:spPr>
        <p:txBody>
          <a:bodyPr wrap="square">
            <a:spAutoFit/>
          </a:bodyPr>
          <a:lstStyle/>
          <a:p>
            <a:pPr algn="just"/>
            <a:r>
              <a:rPr lang="en-US" b="1" dirty="0">
                <a:solidFill>
                  <a:srgbClr val="FF0000"/>
                </a:solidFill>
              </a:rPr>
              <a:t>Data Ingest layer </a:t>
            </a:r>
          </a:p>
          <a:p>
            <a:pPr marL="285750" indent="-285750" algn="just">
              <a:buFont typeface="Wingdings" panose="05000000000000000000" pitchFamily="2" charset="2"/>
              <a:buChar char="à"/>
            </a:pPr>
            <a:r>
              <a:rPr lang="en-US" dirty="0"/>
              <a:t>This layer is responsible for acquiring data from the various data sources. </a:t>
            </a:r>
          </a:p>
          <a:p>
            <a:pPr marL="285750" indent="-285750" algn="just">
              <a:buFont typeface="Wingdings" panose="05000000000000000000" pitchFamily="2" charset="2"/>
              <a:buChar char="à"/>
            </a:pPr>
            <a:r>
              <a:rPr lang="en-US" dirty="0"/>
              <a:t>Incoming data is received through a scalable number of input points, that can acquire data at various speeds and in various quantities. </a:t>
            </a:r>
          </a:p>
        </p:txBody>
      </p:sp>
      <p:sp>
        <p:nvSpPr>
          <p:cNvPr id="4" name="Rectangle 3"/>
          <p:cNvSpPr/>
          <p:nvPr/>
        </p:nvSpPr>
        <p:spPr>
          <a:xfrm>
            <a:off x="6348984" y="2203906"/>
            <a:ext cx="5309616" cy="1754326"/>
          </a:xfrm>
          <a:prstGeom prst="rect">
            <a:avLst/>
          </a:prstGeom>
        </p:spPr>
        <p:txBody>
          <a:bodyPr wrap="square">
            <a:spAutoFit/>
          </a:bodyPr>
          <a:lstStyle/>
          <a:p>
            <a:r>
              <a:rPr lang="en-US" b="1" dirty="0">
                <a:solidFill>
                  <a:srgbClr val="FF0000"/>
                </a:solidFill>
              </a:rPr>
              <a:t>Batch Processing layer </a:t>
            </a:r>
          </a:p>
          <a:p>
            <a:pPr marL="285750" indent="-285750" algn="just">
              <a:buFont typeface="Wingdings" panose="05000000000000000000" pitchFamily="2" charset="2"/>
              <a:buChar char="à"/>
            </a:pPr>
            <a:r>
              <a:rPr lang="en-US" dirty="0">
                <a:sym typeface="Wingdings" panose="05000000000000000000" pitchFamily="2" charset="2"/>
              </a:rPr>
              <a:t>This</a:t>
            </a:r>
            <a:r>
              <a:rPr lang="en-US" b="1" dirty="0">
                <a:solidFill>
                  <a:srgbClr val="FF0000"/>
                </a:solidFill>
                <a:sym typeface="Wingdings" panose="05000000000000000000" pitchFamily="2" charset="2"/>
              </a:rPr>
              <a:t> </a:t>
            </a:r>
            <a:r>
              <a:rPr lang="en-US" dirty="0"/>
              <a:t>layer receives data from the ingest point or from the file system or from the NoSQL databases. </a:t>
            </a:r>
          </a:p>
          <a:p>
            <a:pPr marL="285750" indent="-285750" algn="just">
              <a:buFont typeface="Wingdings" panose="05000000000000000000" pitchFamily="2" charset="2"/>
              <a:buChar char="à"/>
            </a:pPr>
            <a:r>
              <a:rPr lang="en-US" dirty="0"/>
              <a:t>Data is processed using parallel programming techniques (such as MapReduce) to process it and produce the desired results.</a:t>
            </a:r>
          </a:p>
        </p:txBody>
      </p:sp>
      <p:sp>
        <p:nvSpPr>
          <p:cNvPr id="5" name="Rectangle 4"/>
          <p:cNvSpPr/>
          <p:nvPr/>
        </p:nvSpPr>
        <p:spPr>
          <a:xfrm>
            <a:off x="633793" y="3366992"/>
            <a:ext cx="5236464" cy="1754326"/>
          </a:xfrm>
          <a:prstGeom prst="rect">
            <a:avLst/>
          </a:prstGeom>
        </p:spPr>
        <p:txBody>
          <a:bodyPr wrap="square">
            <a:spAutoFit/>
          </a:bodyPr>
          <a:lstStyle/>
          <a:p>
            <a:pPr algn="just"/>
            <a:r>
              <a:rPr lang="en-US" b="1" dirty="0">
                <a:solidFill>
                  <a:srgbClr val="FF0000"/>
                </a:solidFill>
              </a:rPr>
              <a:t>Stream Processing </a:t>
            </a:r>
          </a:p>
          <a:p>
            <a:pPr marL="285750" indent="-285750" algn="just">
              <a:buFont typeface="Wingdings" panose="05000000000000000000" pitchFamily="2" charset="2"/>
              <a:buChar char="à"/>
            </a:pPr>
            <a:r>
              <a:rPr lang="en-US" dirty="0"/>
              <a:t>This layer receives data directly from the ingest point. </a:t>
            </a:r>
          </a:p>
          <a:p>
            <a:pPr marL="285750" indent="-285750" algn="just">
              <a:buFont typeface="Wingdings" panose="05000000000000000000" pitchFamily="2" charset="2"/>
              <a:buChar char="à"/>
            </a:pPr>
            <a:r>
              <a:rPr lang="en-US" dirty="0"/>
              <a:t>Data is processed using parallel programming techniques (such as MapReduce) to process it in real time, and produce the desired results.</a:t>
            </a:r>
          </a:p>
        </p:txBody>
      </p:sp>
      <p:sp>
        <p:nvSpPr>
          <p:cNvPr id="6" name="Rectangle 5"/>
          <p:cNvSpPr/>
          <p:nvPr/>
        </p:nvSpPr>
        <p:spPr>
          <a:xfrm>
            <a:off x="6412991" y="4095392"/>
            <a:ext cx="5090159" cy="923330"/>
          </a:xfrm>
          <a:prstGeom prst="rect">
            <a:avLst/>
          </a:prstGeom>
        </p:spPr>
        <p:txBody>
          <a:bodyPr wrap="square">
            <a:spAutoFit/>
          </a:bodyPr>
          <a:lstStyle/>
          <a:p>
            <a:pPr algn="just"/>
            <a:r>
              <a:rPr lang="en-US" b="1" dirty="0">
                <a:solidFill>
                  <a:srgbClr val="FF0000"/>
                </a:solidFill>
              </a:rPr>
              <a:t>Data Organizing Layer </a:t>
            </a:r>
            <a:r>
              <a:rPr lang="en-US" dirty="0"/>
              <a:t>This layer receives data from both the batch and stream processing layers. Its objective is to organize the data for easy access.</a:t>
            </a:r>
          </a:p>
        </p:txBody>
      </p:sp>
      <p:sp>
        <p:nvSpPr>
          <p:cNvPr id="7" name="Rectangle 6"/>
          <p:cNvSpPr/>
          <p:nvPr/>
        </p:nvSpPr>
        <p:spPr>
          <a:xfrm>
            <a:off x="562164" y="5541489"/>
            <a:ext cx="10940987" cy="923330"/>
          </a:xfrm>
          <a:prstGeom prst="rect">
            <a:avLst/>
          </a:prstGeom>
        </p:spPr>
        <p:txBody>
          <a:bodyPr wrap="square">
            <a:spAutoFit/>
          </a:bodyPr>
          <a:lstStyle/>
          <a:p>
            <a:pPr algn="just"/>
            <a:r>
              <a:rPr lang="en-US" b="1" dirty="0">
                <a:solidFill>
                  <a:srgbClr val="FF0000"/>
                </a:solidFill>
              </a:rPr>
              <a:t>Distributed File System Layer </a:t>
            </a:r>
            <a:r>
              <a:rPr lang="en-US" dirty="0"/>
              <a:t>This is the heart of a Big Data system. It would store huge quantities of data and make it quickly and securely available and accessible to the other layers. Hadoop Distributed File System (HDFS) is the primary technology in this layer.</a:t>
            </a:r>
          </a:p>
        </p:txBody>
      </p:sp>
    </p:spTree>
    <p:extLst>
      <p:ext uri="{BB962C8B-B14F-4D97-AF65-F5344CB8AC3E}">
        <p14:creationId xmlns:p14="http://schemas.microsoft.com/office/powerpoint/2010/main" val="3500872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1590</TotalTime>
  <Words>1300</Words>
  <Application>Microsoft Office PowerPoint</Application>
  <PresentationFormat>Widescreen</PresentationFormat>
  <Paragraphs>109</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Google Sans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MN</dc:creator>
  <cp:lastModifiedBy>Shaon Khan</cp:lastModifiedBy>
  <cp:revision>21</cp:revision>
  <dcterms:created xsi:type="dcterms:W3CDTF">2024-09-10T14:03:28Z</dcterms:created>
  <dcterms:modified xsi:type="dcterms:W3CDTF">2026-04-20T15:42:29Z</dcterms:modified>
</cp:coreProperties>
</file>