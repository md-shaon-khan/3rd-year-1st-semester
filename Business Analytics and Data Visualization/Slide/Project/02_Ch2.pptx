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3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4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909" r:id="rId2"/>
  </p:sldMasterIdLst>
  <p:notesMasterIdLst>
    <p:notesMasterId r:id="rId39"/>
  </p:notesMasterIdLst>
  <p:handoutMasterIdLst>
    <p:handoutMasterId r:id="rId40"/>
  </p:handoutMasterIdLst>
  <p:sldIdLst>
    <p:sldId id="397" r:id="rId3"/>
    <p:sldId id="351" r:id="rId4"/>
    <p:sldId id="352" r:id="rId5"/>
    <p:sldId id="353" r:id="rId6"/>
    <p:sldId id="411" r:id="rId7"/>
    <p:sldId id="410" r:id="rId8"/>
    <p:sldId id="356" r:id="rId9"/>
    <p:sldId id="357" r:id="rId10"/>
    <p:sldId id="407" r:id="rId11"/>
    <p:sldId id="362" r:id="rId12"/>
    <p:sldId id="359" r:id="rId13"/>
    <p:sldId id="361" r:id="rId14"/>
    <p:sldId id="406" r:id="rId15"/>
    <p:sldId id="381" r:id="rId16"/>
    <p:sldId id="364" r:id="rId17"/>
    <p:sldId id="402" r:id="rId18"/>
    <p:sldId id="378" r:id="rId19"/>
    <p:sldId id="368" r:id="rId20"/>
    <p:sldId id="370" r:id="rId21"/>
    <p:sldId id="371" r:id="rId22"/>
    <p:sldId id="372" r:id="rId23"/>
    <p:sldId id="383" r:id="rId24"/>
    <p:sldId id="374" r:id="rId25"/>
    <p:sldId id="375" r:id="rId26"/>
    <p:sldId id="376" r:id="rId27"/>
    <p:sldId id="409" r:id="rId28"/>
    <p:sldId id="399" r:id="rId29"/>
    <p:sldId id="401" r:id="rId30"/>
    <p:sldId id="404" r:id="rId31"/>
    <p:sldId id="384" r:id="rId32"/>
    <p:sldId id="385" r:id="rId33"/>
    <p:sldId id="386" r:id="rId34"/>
    <p:sldId id="387" r:id="rId35"/>
    <p:sldId id="405" r:id="rId36"/>
    <p:sldId id="377" r:id="rId37"/>
    <p:sldId id="408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99"/>
    <a:srgbClr val="5B5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608" autoAdjust="0"/>
  </p:normalViewPr>
  <p:slideViewPr>
    <p:cSldViewPr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190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471A8CE-0E72-460B-898D-9FCAF66DD7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777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4:10.2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1345 24575,'0'0'0,"4"0"0,13 10 0,9 5 0,4 6 0,2 3 0,1-3 0,-2 1 0,-2-6 0,-1 2 0,-6 0 0,-2-4 0,1-2 0,0-5 0,6-2 0,1-3 0,1-1 0,5-7 0,5-9 0,4-7 0,3-8 0,3-8 0,7-16 0,11-15 0,5-7 0,0-5 0,-9 3 0,-4-3 0,5-1 0,3-3 0,-2 0 0,3 2 0,7-4 0,13-8 0,1 6 0,1 7 0,-3 4 0,3 8 0,-8 17 0,-13 11 0,-8 9 0,-1 10 0,-15 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4:16.19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114.43848"/>
      <inkml:brushProperty name="anchorY" value="328.43491"/>
      <inkml:brushProperty name="scaleFactor" value="0.5"/>
    </inkml:brush>
  </inkml:definitions>
  <inkml:trace contextRef="#ctx0" brushRef="#br0">0 1530 24575,'0'0'0,"9"0"0,18-5 0,15-10 0,33-26 0,62-45 0,54-50 0,53-48-2975,9-10 3825,7-3-1275,-34 17 425,-43 31 0,-48 30 0,-42 36 707,-33 27-909,-22 19 303,-13 16-101,-7 7 0,-2 6 0,1 4 2268,2 3-2916,6 2 972,3 0-324,6 0 0,-5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4:34.2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14.60107"/>
      <inkml:brushProperty name="anchorY" value="838.19482"/>
      <inkml:brushProperty name="scaleFactor" value="0.5"/>
    </inkml:brush>
  </inkml:definitions>
  <inkml:trace contextRef="#ctx0" brushRef="#br0">1 1594 24575,'0'0'0,"8"0"0,24 15 0,25 21 0,29 21 0,10 8 0,8 8 0,-6-2 0,-10-2 0,-6-11 0,-5 1 0,-13-13 0,-11-3 0,-6-6 0,-7-5 0,-6-8 0,-5-2 0,3-2 0,-1 0 0,-2-3 0,-5 0 0,-2-4 0,-1-3 0,1-3 0,0-3 0,1-3 0,12-10 0,15-13 0,21-19 0,20-30 0,16-27 0,6-18 0,2-6 0,-12-6 0,-13 9 0,-13 9 0,-16 16 0,-8 15 0,-11 7 0,-2 8 0,-5 6 0,7-6 0,2-8 0,9 1 0,7-7 0,6-2 0,0 5 0,9-5 0,1 1 0,2 5 0,-4 10 0,-10 2 0,-2 10 0,-9 2 0,-8 12 0,-3-3 0,-5 9 0,1 2 0,-7 4 0,1 1 0,-2 1 0,-1 5 0,-6 0 0,-2 5 0,0 3 0,0 0 0,2 2 0,-5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06:24:55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858.55566"/>
      <inkml:brushProperty name="anchorY" value="1415.38135"/>
      <inkml:brushProperty name="scaleFactor" value="0.5"/>
    </inkml:brush>
  </inkml:definitions>
  <inkml:trace contextRef="#ctx0" brushRef="#br0">1 778 24575,'0'0'0,"4"4"0,17 12 0,15 10 0,20 15 0,7 7 0,2 0 0,4 7 0,-7-5 0,-9-4 0,-9-7 0,-7 0 0,-6-4 0,-4-2 0,-2-9 0,-1-1 0,-1-2 0,1 0 0,0-5 0,6-3 0,5-10 0,16-13 0,24-24 0,15-11 0,16-19 0,5-14 0,-8 0 0,-2-8 0,-12 0 0,-1 6 0,-14 7 0,-14 8 0,2 6 0,-4 4 0,-2-1 0,-1 5 0,-2-3 0,13-5 0,-4 0 0,9 1 0,-8 7 0,-7 11 0,-5 8 0,-12 4 0,-7 9 0,-5 7 0,-3 4 0,-7 0 0,1 2 0,0-3 0,1 0 0,-3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E39DB59F-DBFB-47E5-BFE8-743E119724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7895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EC327F-7E80-4D08-B8B0-0F574A3B94BC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95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195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071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68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60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682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9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2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28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9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25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79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101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76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40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2783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83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01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825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7820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7729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33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2339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3011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516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353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63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5095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303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255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3630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726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DB59F-DBFB-47E5-BFE8-743E11972470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50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EDAA1-AB8B-4818-B524-3A50969A2F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7053E-F83E-4271-AA08-D5C8F0521D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9E4DD-5D64-4A63-89E9-4C623F7791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5B2B2-4C46-45EE-BEF1-8C3D9FBA39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8515F-EAA7-497F-A8F6-4CE386C3FA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3A7672-6F35-4B80-8974-351A77EC4C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9E3D6-3C62-42FF-A07A-362FC34BCC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19A391-6174-4976-A8AD-AEA04E6879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DDE7D-2F39-4F2E-B126-93BFCEB7FB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141E6-86B5-4F33-80CE-1E6AB03295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DBA7C-0D50-4EB9-909A-D860461C6E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24474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474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F9D3B-BD25-4DCF-AF32-D3854EEF4F1D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554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276A5-8D43-491D-83BE-00FCABAA151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453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B78CB-3422-490B-B33A-0EFCD59A8AA8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024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20D06-D837-4474-A924-C0EEF7F6304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399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7087B-5585-4BF4-877F-DCE878DD0A5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214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27A9B-B1EF-4088-9195-D95AFC8BA39B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19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A033E-8EDD-4339-B466-9532F96458E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803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969FD-CB8E-48F9-A41B-0AACA2151B8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595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40E53-27DF-44E5-9BF4-BA90E52A753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6704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33165-E992-4DBA-A9ED-59178CD6CF3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0456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F0DD1-7F29-40C4-B5F0-16CFC2F162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89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F0DB9A2-6BF9-4BB6-B94C-EBCA491697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3721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4372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  <a:latin typeface="Times New Roman" pitchFamily="18" charset="0"/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43723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2F11DC2A-2F4E-4F79-A3F5-88DB509F96F8}" type="slidenum">
              <a:rPr lang="en-US" smtClean="0">
                <a:solidFill>
                  <a:prstClr val="black"/>
                </a:solidFill>
                <a:latin typeface="Times New Roman" pitchFamily="18" charset="0"/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92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pts.ttu.edu/infotech/pmguide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customXml" Target="../ink/ink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mi.org/Certification/New-PMI-Agile-Certification.aspx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4114800"/>
            <a:ext cx="7772400" cy="1349375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sz="40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Project Management</a:t>
            </a:r>
            <a:r>
              <a:rPr lang="en-US" sz="40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 &amp; Information Technology</a:t>
            </a:r>
            <a:endParaRPr sz="4000" dirty="0">
              <a:effectLst>
                <a:outerShdw blurRad="38100" dist="38100" dir="2700000" algn="tl">
                  <a:srgbClr val="FFFFFF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5943600" y="6177451"/>
            <a:ext cx="2971800" cy="67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rgbClr val="676A55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Information Technology Project Management, Seventh Edition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676400"/>
            <a:ext cx="4267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kern="0" dirty="0">
                <a:solidFill>
                  <a:srgbClr val="676A55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Chapter 2	</a:t>
            </a:r>
            <a:endParaRPr lang="en-US" sz="2800" dirty="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109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8534400" cy="4876800"/>
          </a:xfrm>
        </p:spPr>
        <p:txBody>
          <a:bodyPr/>
          <a:lstStyle/>
          <a:p>
            <a:r>
              <a:rPr lang="en-US" dirty="0"/>
              <a:t>Describe the systems view of project management and how it applies to information technology (IT) projects</a:t>
            </a:r>
          </a:p>
          <a:p>
            <a:r>
              <a:rPr lang="en-US" dirty="0"/>
              <a:t>Understand organizations, including the four frames, organizational structures, and organizational culture</a:t>
            </a:r>
          </a:p>
          <a:p>
            <a:r>
              <a:rPr lang="en-US" dirty="0"/>
              <a:t>Explain why stakeholder management and top management commitment are critical for a project’s success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Information Technology Project Management, Seventh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6FA929-6FB7-45E1-AD52-83E4868EF495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concept of a project phase and the project life cycle, and distinguish between project development and product development</a:t>
            </a:r>
          </a:p>
          <a:p>
            <a:r>
              <a:rPr lang="en-US" dirty="0"/>
              <a:t>Discuss the unique attributes and diverse nature of IT projects</a:t>
            </a:r>
          </a:p>
          <a:p>
            <a:r>
              <a:rPr lang="en-US" dirty="0"/>
              <a:t>Describe recent trends affecting IT project management, including globalization, outsourcing, virtual teams, and agile project management</a:t>
            </a:r>
          </a:p>
          <a:p>
            <a:endParaRPr lang="en-US" dirty="0"/>
          </a:p>
        </p:txBody>
      </p:sp>
      <p:sp>
        <p:nvSpPr>
          <p:cNvPr id="1126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F6AAD2-4971-4595-8E55-186EFA782765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839200" cy="1143000"/>
          </a:xfrm>
        </p:spPr>
        <p:txBody>
          <a:bodyPr>
            <a:normAutofit/>
          </a:bodyPr>
          <a:lstStyle/>
          <a:p>
            <a:r>
              <a:rPr lang="en-US" dirty="0"/>
              <a:t>Projects Cannot Be Run In Isolation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r>
              <a:rPr lang="en-US" dirty="0"/>
              <a:t>Projects must operate in a broad organizational environment</a:t>
            </a:r>
          </a:p>
          <a:p>
            <a:endParaRPr lang="en-US" dirty="0"/>
          </a:p>
          <a:p>
            <a:r>
              <a:rPr lang="en-US" dirty="0"/>
              <a:t>Project managers need to use </a:t>
            </a:r>
            <a:r>
              <a:rPr lang="en-US" b="1" dirty="0"/>
              <a:t>systems thinking</a:t>
            </a:r>
          </a:p>
          <a:p>
            <a:endParaRPr lang="en-US" dirty="0"/>
          </a:p>
          <a:p>
            <a:r>
              <a:rPr lang="en-US" dirty="0"/>
              <a:t>Senior managers must make sure projects continue to support current business needs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3A963B-2A76-42DC-B4A5-25130FB0888A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 Systems View of Project Management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>
          <a:xfrm>
            <a:off x="674427" y="1600200"/>
            <a:ext cx="84582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/>
              <a:t>systems approach </a:t>
            </a:r>
            <a:r>
              <a:rPr lang="en-US" dirty="0"/>
              <a:t>emerged in the 1950s to describe a more analytical approach to management and problem solving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Includes: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Systems philosophy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b="1" dirty="0"/>
              <a:t>Systems analysis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Systems management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C533D4-6C77-4C28-9310-1A48D750367A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Information Technology Project Management, Seventh Edition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8276A5-8D43-491D-83BE-00FCABAA151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" y="428179"/>
            <a:ext cx="8595360" cy="5134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85D314E-233B-F3DC-04BA-EC6A5339A70E}"/>
                  </a:ext>
                </a:extLst>
              </p14:cNvPr>
              <p14:cNvContentPartPr/>
              <p14:nvPr/>
            </p14:nvContentPartPr>
            <p14:xfrm>
              <a:off x="493632" y="366336"/>
              <a:ext cx="755640" cy="558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85D314E-233B-F3DC-04BA-EC6A5339A7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632" y="357336"/>
                <a:ext cx="773280" cy="57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Sphere Model for Systems Management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D84499-56DB-4FF3-8D99-174F9EB9754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52600"/>
            <a:ext cx="6781800" cy="48306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2313FE-D795-DE64-583B-F7608C4122A5}"/>
                  </a:ext>
                </a:extLst>
              </p14:cNvPr>
              <p14:cNvContentPartPr/>
              <p14:nvPr/>
            </p14:nvContentPartPr>
            <p14:xfrm>
              <a:off x="1087992" y="16056"/>
              <a:ext cx="786600" cy="551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2313FE-D795-DE64-583B-F7608C4122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8992" y="7056"/>
                <a:ext cx="804240" cy="56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8915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Perspectives on Organizations</a:t>
            </a:r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D9EE01-122A-4F6B-878B-46264A60159F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872485"/>
            <a:ext cx="8456096" cy="49855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/>
              <a:t>What Went Wrong?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D84499-56DB-4FF3-8D99-174F9EB9754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577755" y="1752600"/>
            <a:ext cx="85344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In a paper titled “A Study in Project Failure,” two researchers examined the success and failure of 214 IT projects over an eight-year period in several European countries.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The researchers found that only one in eight (12.5 percent) were considered successful in terms of meeting scope, time, and cost goals.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The authors said that the culture within many organizations is often to blame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cs typeface="Times New Roman" pitchFamily="18" charset="0"/>
              </a:rPr>
              <a:t>Among other things, people often do not discuss important leadership, stakeholder, and risk management issues</a:t>
            </a:r>
          </a:p>
        </p:txBody>
      </p:sp>
    </p:spTree>
    <p:extLst>
      <p:ext uri="{BB962C8B-B14F-4D97-AF65-F5344CB8AC3E}">
        <p14:creationId xmlns:p14="http://schemas.microsoft.com/office/powerpoint/2010/main" val="1379430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Factors Influencing IT Project Management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Organizational Structure</a:t>
            </a:r>
          </a:p>
          <a:p>
            <a:r>
              <a:rPr lang="en-US" sz="2400" b="1" dirty="0"/>
              <a:t>Organizational Culture</a:t>
            </a:r>
          </a:p>
          <a:p>
            <a:r>
              <a:rPr lang="en-US" sz="2400" b="1" dirty="0"/>
              <a:t>Top Management Commitment</a:t>
            </a:r>
          </a:p>
          <a:p>
            <a:r>
              <a:rPr lang="en-US" sz="2400" b="1" dirty="0"/>
              <a:t>Stakeholder Management</a:t>
            </a:r>
          </a:p>
          <a:p>
            <a:r>
              <a:rPr lang="en-US" sz="2400" b="1" dirty="0"/>
              <a:t>Commitment to IT</a:t>
            </a:r>
          </a:p>
          <a:p>
            <a:r>
              <a:rPr lang="en-US" sz="2400" b="1" dirty="0"/>
              <a:t>IT Governance/Organizational Standards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8CAC95-EB76-4381-B468-1459D202A00B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Structures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basic organization structures</a:t>
            </a:r>
          </a:p>
          <a:p>
            <a:pPr lvl="1"/>
            <a:r>
              <a:rPr lang="en-US" sz="2800" b="1" dirty="0"/>
              <a:t>Functional</a:t>
            </a:r>
            <a:endParaRPr lang="en-US" sz="2800" dirty="0"/>
          </a:p>
          <a:p>
            <a:pPr lvl="1"/>
            <a:r>
              <a:rPr lang="en-US" sz="2800" b="1" dirty="0"/>
              <a:t>Project</a:t>
            </a:r>
          </a:p>
          <a:p>
            <a:pPr lvl="1"/>
            <a:r>
              <a:rPr lang="en-US" sz="2800" b="1" dirty="0"/>
              <a:t>Matrix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723D0A-DC20-4FDC-880A-596289672AA3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286000"/>
            <a:ext cx="4191000" cy="4274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820003" y="152400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Organizational Structure Influences on Projects</a:t>
            </a:r>
            <a:endParaRPr lang="en-US" sz="4400" dirty="0"/>
          </a:p>
        </p:txBody>
      </p:sp>
      <p:sp>
        <p:nvSpPr>
          <p:cNvPr id="1027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1097B-8DCA-4F4B-82F9-5CA08C941AAF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00200"/>
            <a:ext cx="7357110" cy="50736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Culture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Organizational culture</a:t>
            </a:r>
            <a:r>
              <a:rPr lang="en-US" sz="2400" dirty="0"/>
              <a:t> is a set of shared assumptions, values, and behaviors that characterize the functioning of an organization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u="sng" dirty="0"/>
              <a:t>Characteristics of Org. Culture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8CAC95-EB76-4381-B468-1459D202A00B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1066800" y="3851275"/>
            <a:ext cx="77724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Member identity*</a:t>
            </a:r>
          </a:p>
          <a:p>
            <a:r>
              <a:rPr lang="en-US" sz="2400" kern="0" dirty="0"/>
              <a:t>Group emphasis*</a:t>
            </a:r>
          </a:p>
          <a:p>
            <a:r>
              <a:rPr lang="en-US" sz="2400" kern="0" dirty="0"/>
              <a:t>People focus</a:t>
            </a:r>
          </a:p>
          <a:p>
            <a:r>
              <a:rPr lang="en-US" sz="2400" kern="0" dirty="0"/>
              <a:t>Unit integration*</a:t>
            </a:r>
          </a:p>
          <a:p>
            <a:r>
              <a:rPr lang="en-US" sz="2400" kern="0" dirty="0"/>
              <a:t>Control</a:t>
            </a: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5105400" y="3822700"/>
            <a:ext cx="40386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Risk tolerance*</a:t>
            </a:r>
          </a:p>
          <a:p>
            <a:r>
              <a:rPr lang="en-US" sz="2400" kern="0" dirty="0"/>
              <a:t>Reward criteria*</a:t>
            </a:r>
          </a:p>
          <a:p>
            <a:r>
              <a:rPr lang="en-US" sz="2400" kern="0" dirty="0"/>
              <a:t>Conflict tolerance*</a:t>
            </a:r>
          </a:p>
          <a:p>
            <a:r>
              <a:rPr lang="en-US" sz="2400" kern="0" dirty="0"/>
              <a:t>Means-ends orientation</a:t>
            </a:r>
          </a:p>
          <a:p>
            <a:r>
              <a:rPr lang="en-US" sz="2400" kern="0" dirty="0"/>
              <a:t>Open-systems focus*</a:t>
            </a:r>
          </a:p>
        </p:txBody>
      </p:sp>
    </p:spTree>
    <p:extLst>
      <p:ext uri="{BB962C8B-B14F-4D97-AF65-F5344CB8AC3E}">
        <p14:creationId xmlns:p14="http://schemas.microsoft.com/office/powerpoint/2010/main" val="4215707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 Management Commitment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46238"/>
            <a:ext cx="8077200" cy="4525962"/>
          </a:xfrm>
        </p:spPr>
        <p:txBody>
          <a:bodyPr/>
          <a:lstStyle/>
          <a:p>
            <a:r>
              <a:rPr lang="en-US" dirty="0"/>
              <a:t>People in top management positions are key stakeholders in projects</a:t>
            </a:r>
          </a:p>
          <a:p>
            <a:endParaRPr lang="en-US" dirty="0"/>
          </a:p>
          <a:p>
            <a:r>
              <a:rPr lang="en-US" dirty="0"/>
              <a:t>A very important factor in helping project managers successfully lead projects is the level of commitment and support they receive from top management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How does Top Management help a project?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855260" y="228600"/>
            <a:ext cx="8305800" cy="868362"/>
          </a:xfrm>
        </p:spPr>
        <p:txBody>
          <a:bodyPr/>
          <a:lstStyle/>
          <a:p>
            <a:r>
              <a:rPr lang="en-US" dirty="0"/>
              <a:t>Stakeholder Management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186738" cy="4791075"/>
          </a:xfrm>
        </p:spPr>
        <p:txBody>
          <a:bodyPr/>
          <a:lstStyle/>
          <a:p>
            <a:r>
              <a:rPr lang="en-US" dirty="0"/>
              <a:t>Project managers must take time to identify, understand, and manage relationships with all project stakeholders</a:t>
            </a:r>
          </a:p>
          <a:p>
            <a:endParaRPr lang="en-US" dirty="0"/>
          </a:p>
          <a:p>
            <a:r>
              <a:rPr lang="en-US" dirty="0"/>
              <a:t>Using the four frames of organizations can help meet stakeholder needs and expectations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Who is often considered one of the most important stakeholders?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03C56F-5C73-4B50-B727-45D4BBD1A5BA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33938E-3670-9136-F49D-CF5DA1723F6C}"/>
                  </a:ext>
                </a:extLst>
              </p14:cNvPr>
              <p14:cNvContentPartPr/>
              <p14:nvPr/>
            </p14:nvContentPartPr>
            <p14:xfrm>
              <a:off x="557712" y="450216"/>
              <a:ext cx="1270440" cy="867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33938E-3670-9136-F49D-CF5DA1723F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9072" y="441576"/>
                <a:ext cx="1288080" cy="88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Organizational Commitment to IT</a:t>
            </a:r>
            <a:endParaRPr lang="en-US" dirty="0"/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52600"/>
            <a:ext cx="7772400" cy="4530725"/>
          </a:xfrm>
        </p:spPr>
        <p:txBody>
          <a:bodyPr/>
          <a:lstStyle/>
          <a:p>
            <a:r>
              <a:rPr lang="en-US" dirty="0"/>
              <a:t>If the organization has a negative attitude toward IT, it will be difficult for an IT project to succeed</a:t>
            </a:r>
          </a:p>
          <a:p>
            <a:r>
              <a:rPr lang="en-US" dirty="0"/>
              <a:t>Having a Chief Information Officer (CIO) at a high level in the organization helps IT projects</a:t>
            </a:r>
          </a:p>
          <a:p>
            <a:r>
              <a:rPr lang="en-US" dirty="0"/>
              <a:t>Assigning non-IT people to IT projects also encourage more commitment</a:t>
            </a:r>
          </a:p>
        </p:txBody>
      </p:sp>
      <p:sp>
        <p:nvSpPr>
          <p:cNvPr id="2457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3C14C8-748D-45F4-A615-C9B861DBA90E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691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Governance / Standards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 governance </a:t>
            </a:r>
            <a:r>
              <a:rPr lang="en-US" dirty="0"/>
              <a:t>addresses the authority and control for key IT activities in organizations,  including IT infrastructure, IT use, and project management</a:t>
            </a:r>
          </a:p>
          <a:p>
            <a:endParaRPr lang="en-US" dirty="0"/>
          </a:p>
          <a:p>
            <a:r>
              <a:rPr lang="en-US" b="1" dirty="0"/>
              <a:t>Standards</a:t>
            </a:r>
          </a:p>
          <a:p>
            <a:pPr lvl="1"/>
            <a:r>
              <a:rPr lang="en-US" dirty="0"/>
              <a:t>PMO or simply having templates/forms</a:t>
            </a:r>
          </a:p>
          <a:p>
            <a:pPr lvl="1"/>
            <a:r>
              <a:rPr lang="en-US" dirty="0"/>
              <a:t>Example:  </a:t>
            </a:r>
            <a:r>
              <a:rPr lang="en-US" dirty="0">
                <a:hlinkClick r:id="rId3"/>
              </a:rPr>
              <a:t>Texas Tech IT PM Standards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2EF594-0173-4A44-8AC4-5B30AA86934E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Phases and the Project Life Cycle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/>
              <a:t>project life cycle</a:t>
            </a:r>
            <a:r>
              <a:rPr lang="en-US" dirty="0"/>
              <a:t> is a collection of project phases that defines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what work will be performed in each phase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what deliverables will be produced and when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who is involved in each phase, and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how management will control and approve work produced in each phase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/>
              <a:t>deliverable</a:t>
            </a:r>
            <a:r>
              <a:rPr lang="en-US" dirty="0"/>
              <a:t> is a product or service produced or provided as part of a project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662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96721C-6BC0-4C07-9A39-4E0D16EE6CE8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Phases of the Traditional Project Life Cycle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DC9D79A6-F114-4CB1-8985-7DBC117EBAC0}" type="slidenum">
              <a:rPr lang="en-US" smtClean="0"/>
              <a:pPr>
                <a:buFontTx/>
                <a:buNone/>
                <a:defRPr/>
              </a:pPr>
              <a:t>19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05000"/>
            <a:ext cx="8265203" cy="4495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A4F2091-F8F5-0391-E8BF-CCE707164819}"/>
                  </a:ext>
                </a:extLst>
              </p14:cNvPr>
              <p14:cNvContentPartPr/>
              <p14:nvPr/>
            </p14:nvContentPartPr>
            <p14:xfrm>
              <a:off x="905112" y="195336"/>
              <a:ext cx="923760" cy="496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A4F2091-F8F5-0391-E8BF-CCE7071648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6472" y="186336"/>
                <a:ext cx="941400" cy="51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849573" y="533400"/>
            <a:ext cx="83058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Life Cycles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8305800" cy="4572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Systems Development Life Cycle (SDLC)</a:t>
            </a:r>
            <a:r>
              <a:rPr lang="en-US" dirty="0"/>
              <a:t> is a framework for describing the phases involved in developing and maintaining information systems</a:t>
            </a:r>
          </a:p>
          <a:p>
            <a:endParaRPr lang="en-US" dirty="0"/>
          </a:p>
          <a:p>
            <a:r>
              <a:rPr lang="en-US" dirty="0"/>
              <a:t>Systems development projects can follow </a:t>
            </a:r>
          </a:p>
          <a:p>
            <a:pPr lvl="1"/>
            <a:r>
              <a:rPr lang="en-US" b="1" dirty="0"/>
              <a:t>Predictive life cycle</a:t>
            </a:r>
          </a:p>
          <a:p>
            <a:pPr lvl="1"/>
            <a:r>
              <a:rPr lang="en-US" b="1" dirty="0"/>
              <a:t>Adaptive Software Development (ASD)</a:t>
            </a:r>
            <a:r>
              <a:rPr lang="en-US" dirty="0"/>
              <a:t> </a:t>
            </a:r>
            <a:r>
              <a:rPr lang="en-US" b="1" dirty="0"/>
              <a:t>life cycle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965920-7E31-46B5-8B7E-9CD60737DC3C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229600" cy="1143000"/>
          </a:xfrm>
        </p:spPr>
        <p:txBody>
          <a:bodyPr/>
          <a:lstStyle/>
          <a:p>
            <a:r>
              <a:rPr lang="en-US" dirty="0"/>
              <a:t>Examples of Predictive Life Cycle Models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Waterfall model</a:t>
            </a:r>
          </a:p>
          <a:p>
            <a:pPr>
              <a:lnSpc>
                <a:spcPct val="90000"/>
              </a:lnSpc>
            </a:pPr>
            <a:r>
              <a:rPr lang="en-US" dirty="0"/>
              <a:t>Spiral model</a:t>
            </a:r>
          </a:p>
          <a:p>
            <a:pPr>
              <a:lnSpc>
                <a:spcPct val="90000"/>
              </a:lnSpc>
            </a:pPr>
            <a:r>
              <a:rPr lang="en-US" dirty="0"/>
              <a:t>Incremental build model</a:t>
            </a:r>
          </a:p>
          <a:p>
            <a:pPr>
              <a:lnSpc>
                <a:spcPct val="90000"/>
              </a:lnSpc>
            </a:pPr>
            <a:r>
              <a:rPr lang="en-US" dirty="0"/>
              <a:t>Prototyping model</a:t>
            </a:r>
          </a:p>
          <a:p>
            <a:pPr>
              <a:lnSpc>
                <a:spcPct val="90000"/>
              </a:lnSpc>
            </a:pPr>
            <a:r>
              <a:rPr lang="en-US" dirty="0"/>
              <a:t>Rapid Application Development (RAD) model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5B79B3-05A3-4B8C-B607-F4486E5A67C2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977604"/>
            <a:ext cx="4572000" cy="2880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Software Development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Agile software development has become popular to describe new approaches that focus on close collaboration between programming teams and business experts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Importance of Project Phases and Management Reviews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project should successfully pass through each of the project phases in order to continue on to the next</a:t>
            </a:r>
          </a:p>
          <a:p>
            <a:endParaRPr lang="en-US" dirty="0"/>
          </a:p>
          <a:p>
            <a:r>
              <a:rPr lang="en-US" dirty="0"/>
              <a:t>Management reviews, also called </a:t>
            </a:r>
            <a:r>
              <a:rPr lang="en-US" b="1" dirty="0"/>
              <a:t>phase exits</a:t>
            </a:r>
            <a:r>
              <a:rPr lang="en-US" dirty="0"/>
              <a:t> or </a:t>
            </a:r>
            <a:r>
              <a:rPr lang="en-US" b="1" dirty="0"/>
              <a:t>kill points</a:t>
            </a:r>
            <a:r>
              <a:rPr lang="en-US" dirty="0"/>
              <a:t>, should occur after each phase to evaluate the project’s progress, likely success, and continued compatibility with organizational goals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3665F-2A2C-41B7-B054-D29178245054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8229600" cy="563562"/>
          </a:xfrm>
        </p:spPr>
        <p:txBody>
          <a:bodyPr>
            <a:noAutofit/>
          </a:bodyPr>
          <a:lstStyle/>
          <a:p>
            <a:r>
              <a:rPr lang="en-US" sz="4000" dirty="0"/>
              <a:t>What Went Right?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1AF0F430-F011-4912-B9D3-C4249B695EFA}" type="slidenum">
              <a:rPr lang="en-US" smtClean="0"/>
              <a:pPr>
                <a:buFontTx/>
                <a:buNone/>
                <a:defRPr/>
              </a:pPr>
              <a:t>24</a:t>
            </a:fld>
            <a:endParaRPr lang="en-US" dirty="0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609600" y="1524000"/>
            <a:ext cx="8382000" cy="504753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dirty="0"/>
              <a:t>"The real improvement that I saw was in our ability to</a:t>
            </a:r>
            <a:r>
              <a:rPr lang="en-US" dirty="0">
                <a:sym typeface="Symbol" pitchFamily="18" charset="2"/>
              </a:rPr>
              <a:t></a:t>
            </a:r>
            <a:r>
              <a:rPr lang="en-US" dirty="0"/>
              <a:t>in the words of Thomas Edison</a:t>
            </a:r>
            <a:r>
              <a:rPr lang="en-US" dirty="0">
                <a:sym typeface="Symbol" pitchFamily="18" charset="2"/>
              </a:rPr>
              <a:t></a:t>
            </a:r>
            <a:r>
              <a:rPr lang="en-US" dirty="0"/>
              <a:t>know when to stop beating a dead horse.…Edison's key to success was that he failed fairly often; but as he said, </a:t>
            </a:r>
            <a:r>
              <a:rPr lang="en-US" b="1" i="1" dirty="0"/>
              <a:t>he could recognize a dead horse before it started to smell...In information technology we ride dead horses</a:t>
            </a:r>
            <a:r>
              <a:rPr lang="en-US" b="1" i="1" dirty="0">
                <a:sym typeface="Symbol" pitchFamily="18" charset="2"/>
              </a:rPr>
              <a:t></a:t>
            </a:r>
            <a:r>
              <a:rPr lang="en-US" b="1" i="1" dirty="0"/>
              <a:t>failing projects</a:t>
            </a:r>
            <a:r>
              <a:rPr lang="en-US" b="1" i="1" dirty="0">
                <a:sym typeface="Symbol" pitchFamily="18" charset="2"/>
              </a:rPr>
              <a:t></a:t>
            </a:r>
            <a:r>
              <a:rPr lang="en-US" b="1" i="1" dirty="0"/>
              <a:t>a long time before we give up</a:t>
            </a:r>
            <a:r>
              <a:rPr lang="en-US" dirty="0"/>
              <a:t>.  But what we are seeing now is that we are able to get off them; able to reduce cost overrun and time overrun.  That's where the major impact came on the success rate.”*</a:t>
            </a:r>
          </a:p>
          <a:p>
            <a:pPr eaLnBrk="0" hangingPunct="0"/>
            <a:endParaRPr lang="en-US" dirty="0"/>
          </a:p>
          <a:p>
            <a:pPr eaLnBrk="0" hangingPunct="0"/>
            <a:r>
              <a:rPr lang="en-US" dirty="0"/>
              <a:t>Many organizations, like Huntington Bancshares, Inc., use an </a:t>
            </a:r>
            <a:r>
              <a:rPr lang="en-US" b="1" dirty="0"/>
              <a:t>executive steering committee</a:t>
            </a:r>
            <a:r>
              <a:rPr lang="en-US" dirty="0"/>
              <a:t> to help keep projects on track.</a:t>
            </a:r>
          </a:p>
          <a:p>
            <a:pPr eaLnBrk="0" hangingPunct="0"/>
            <a:endParaRPr lang="en-US" dirty="0"/>
          </a:p>
          <a:p>
            <a:pPr eaLnBrk="0" hangingPunct="0"/>
            <a:r>
              <a:rPr lang="en-US" sz="1800" dirty="0"/>
              <a:t>*Cabanis, Jeannette, "'A Major Impact': The Standish Group's Jim Johnson On Project Management and IT Project Success," PM Network, PMI, Sep.1998, p. 7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Context of IT Projects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8800"/>
            <a:ext cx="7772400" cy="4530725"/>
          </a:xfrm>
        </p:spPr>
        <p:txBody>
          <a:bodyPr/>
          <a:lstStyle/>
          <a:p>
            <a:r>
              <a:rPr lang="en-US" dirty="0"/>
              <a:t>Diverse in terms of size,  complexity, products produced, application area, and resource requirements</a:t>
            </a:r>
          </a:p>
          <a:p>
            <a:r>
              <a:rPr lang="en-US" dirty="0"/>
              <a:t>Diverse IT Project Team Members</a:t>
            </a:r>
          </a:p>
          <a:p>
            <a:r>
              <a:rPr lang="en-US" dirty="0"/>
              <a:t>Diverse Technologies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7AAFB9-DD0E-414F-9474-EA0B471D20ED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Article</a:t>
            </a:r>
            <a:r>
              <a:rPr lang="en-US" dirty="0"/>
              <a:t>: Tech Project and Direction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8800"/>
            <a:ext cx="7772400" cy="4530725"/>
          </a:xfrm>
        </p:spPr>
        <p:txBody>
          <a:bodyPr/>
          <a:lstStyle/>
          <a:p>
            <a:r>
              <a:rPr lang="en-US" dirty="0"/>
              <a:t>What have they been doing due to the recession and what direction are the moving into?</a:t>
            </a:r>
          </a:p>
          <a:p>
            <a:endParaRPr lang="en-US" dirty="0"/>
          </a:p>
          <a:p>
            <a:r>
              <a:rPr lang="en-US" dirty="0"/>
              <a:t>What are some of the top projects?</a:t>
            </a:r>
          </a:p>
          <a:p>
            <a:endParaRPr lang="en-US" dirty="0"/>
          </a:p>
          <a:p>
            <a:r>
              <a:rPr lang="en-US" dirty="0"/>
              <a:t>What industries are seeing growth in major IT projects?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7AAFB9-DD0E-414F-9474-EA0B471D20ED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013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Article</a:t>
            </a:r>
            <a:r>
              <a:rPr lang="en-US" dirty="0"/>
              <a:t>: Project Management &amp; Software Development 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development projects have distinct characteristics not found in other projects</a:t>
            </a:r>
          </a:p>
          <a:p>
            <a:endParaRPr lang="en-US" dirty="0"/>
          </a:p>
          <a:p>
            <a:r>
              <a:rPr lang="en-US" dirty="0"/>
              <a:t>Based on the article, what are some of these characteristics?</a:t>
            </a:r>
          </a:p>
          <a:p>
            <a:endParaRPr lang="en-US" dirty="0"/>
          </a:p>
          <a:p>
            <a:r>
              <a:rPr lang="en-US" dirty="0"/>
              <a:t>Which did you feel was the number one mistake a PM could do in software development projects?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7AAFB9-DD0E-414F-9474-EA0B471D20ED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04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34872" y="228600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/>
              <a:t>Closer to home….State Projects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D84499-56DB-4FF3-8D99-174F9EB9754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577755" y="1752600"/>
            <a:ext cx="85344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Were state IT projects considered to be successful?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What were some of the main issues with state IT projects?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What are the recommendations for the review board?</a:t>
            </a:r>
          </a:p>
          <a:p>
            <a:pPr marL="800100" lvl="1" indent="-342900">
              <a:buFont typeface="Arial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/>
              <a:t>Do you feel these are sufficient to fix the issues?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24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29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34872" y="228600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Likelihood of Success </a:t>
            </a:r>
            <a:br>
              <a:rPr lang="en-US" dirty="0"/>
            </a:br>
            <a:r>
              <a:rPr lang="en-US" dirty="0"/>
              <a:t>for IT Projects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D84499-56DB-4FF3-8D99-174F9EB9754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577755" y="1752600"/>
            <a:ext cx="85344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Value-Driven Approach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Socio-Technical Approach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Commit to Project Management Principles (Chaos Report)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Knowledge-Management Approach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9034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Recent Trends Affecting IT Project Management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87400" y="1828800"/>
            <a:ext cx="8382000" cy="4525962"/>
          </a:xfrm>
        </p:spPr>
        <p:txBody>
          <a:bodyPr/>
          <a:lstStyle/>
          <a:p>
            <a:r>
              <a:rPr lang="en-US" sz="2800" dirty="0"/>
              <a:t>Globalization</a:t>
            </a:r>
          </a:p>
          <a:p>
            <a:r>
              <a:rPr lang="en-US" sz="2800" dirty="0"/>
              <a:t>Outsourcing</a:t>
            </a:r>
          </a:p>
          <a:p>
            <a:r>
              <a:rPr lang="en-US" sz="2800" dirty="0"/>
              <a:t>Virtual teams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Issues and Suggestions Related to Globalization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  <a:p>
            <a:pPr lvl="1"/>
            <a:r>
              <a:rPr lang="en-US" dirty="0"/>
              <a:t>Communications</a:t>
            </a:r>
          </a:p>
          <a:p>
            <a:pPr lvl="1"/>
            <a:r>
              <a:rPr lang="en-US" dirty="0"/>
              <a:t>Trust</a:t>
            </a:r>
          </a:p>
          <a:p>
            <a:pPr lvl="1"/>
            <a:r>
              <a:rPr lang="en-US" dirty="0"/>
              <a:t>Common work practices</a:t>
            </a:r>
          </a:p>
          <a:p>
            <a:pPr lvl="1"/>
            <a:r>
              <a:rPr lang="en-US" dirty="0"/>
              <a:t>Tools</a:t>
            </a:r>
          </a:p>
          <a:p>
            <a:r>
              <a:rPr lang="en-US" dirty="0"/>
              <a:t>Suggestions</a:t>
            </a:r>
          </a:p>
          <a:p>
            <a:pPr lvl="1"/>
            <a:r>
              <a:rPr lang="en-US" dirty="0"/>
              <a:t>Employ greater project discipline</a:t>
            </a:r>
          </a:p>
          <a:p>
            <a:pPr lvl="1"/>
            <a:r>
              <a:rPr lang="en-US" dirty="0"/>
              <a:t>Think global but act local</a:t>
            </a:r>
          </a:p>
          <a:p>
            <a:pPr lvl="1"/>
            <a:r>
              <a:rPr lang="en-US" dirty="0"/>
              <a:t>Keep project momentum going</a:t>
            </a:r>
          </a:p>
          <a:p>
            <a:pPr lvl="1"/>
            <a:r>
              <a:rPr lang="en-US" dirty="0"/>
              <a:t>Use newer tools and technology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Outsourcing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676400"/>
            <a:ext cx="8458200" cy="4525962"/>
          </a:xfrm>
        </p:spPr>
        <p:txBody>
          <a:bodyPr/>
          <a:lstStyle/>
          <a:p>
            <a:r>
              <a:rPr lang="en-US" dirty="0"/>
              <a:t>Organizations remain competitive by using outsourcing to their advantage, such as finding ways to reduce costs</a:t>
            </a:r>
          </a:p>
          <a:p>
            <a:r>
              <a:rPr lang="en-US" dirty="0"/>
              <a:t>Their next challenge is to make strategic IT investments with outsourcing by improving their enterprise architecture to ensure that IT infrastructure and business processes are integrated and standardized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77813"/>
            <a:ext cx="8458200" cy="1143000"/>
          </a:xfrm>
        </p:spPr>
        <p:txBody>
          <a:bodyPr/>
          <a:lstStyle/>
          <a:p>
            <a:r>
              <a:rPr lang="en-US" sz="3600" dirty="0"/>
              <a:t>Virtual Teams: Advantages/Disadvantages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493838"/>
            <a:ext cx="8229600" cy="4525962"/>
          </a:xfrm>
        </p:spPr>
        <p:txBody>
          <a:bodyPr/>
          <a:lstStyle/>
          <a:p>
            <a:r>
              <a:rPr lang="en-US" sz="2800" dirty="0"/>
              <a:t>Advantages:</a:t>
            </a:r>
          </a:p>
          <a:p>
            <a:pPr lvl="1"/>
            <a:r>
              <a:rPr lang="en-US" sz="2600" dirty="0"/>
              <a:t>Increasing competiveness and responsiveness</a:t>
            </a:r>
          </a:p>
          <a:p>
            <a:pPr lvl="1"/>
            <a:r>
              <a:rPr lang="en-US" sz="2600" dirty="0"/>
              <a:t>Lowering costs </a:t>
            </a:r>
          </a:p>
          <a:p>
            <a:pPr lvl="1"/>
            <a:r>
              <a:rPr lang="en-US" dirty="0"/>
              <a:t>Increased </a:t>
            </a:r>
            <a:r>
              <a:rPr lang="en-US" sz="2600" dirty="0"/>
              <a:t>expertise and flexibility</a:t>
            </a:r>
          </a:p>
          <a:p>
            <a:pPr lvl="1"/>
            <a:r>
              <a:rPr lang="en-US" sz="2600" dirty="0"/>
              <a:t>Increased work/life balance</a:t>
            </a:r>
          </a:p>
          <a:p>
            <a:endParaRPr lang="en-US" dirty="0"/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Isolation &amp;Interpersonal Relationships</a:t>
            </a:r>
          </a:p>
          <a:p>
            <a:pPr lvl="1"/>
            <a:r>
              <a:rPr lang="en-US" dirty="0"/>
              <a:t>Communication Problems</a:t>
            </a:r>
          </a:p>
          <a:p>
            <a:pPr lvl="1"/>
            <a:r>
              <a:rPr lang="en-US" dirty="0"/>
              <a:t>Dependence on Technology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Approaches and Philosophy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1752600"/>
            <a:ext cx="8382000" cy="4525962"/>
          </a:xfrm>
        </p:spPr>
        <p:txBody>
          <a:bodyPr/>
          <a:lstStyle/>
          <a:p>
            <a:r>
              <a:rPr lang="en-US" sz="2800" dirty="0" err="1"/>
              <a:t>eXtreme</a:t>
            </a:r>
            <a:r>
              <a:rPr lang="en-US" sz="2800" dirty="0"/>
              <a:t> Project Management (XPM)</a:t>
            </a:r>
          </a:p>
          <a:p>
            <a:pPr lvl="1"/>
            <a:r>
              <a:rPr lang="en-US" sz="2400" dirty="0"/>
              <a:t>Holistic </a:t>
            </a:r>
            <a:r>
              <a:rPr lang="en-US" sz="2400" dirty="0" err="1"/>
              <a:t>veiw</a:t>
            </a:r>
            <a:r>
              <a:rPr lang="en-US" sz="2400" dirty="0"/>
              <a:t> of planning and managing</a:t>
            </a:r>
          </a:p>
          <a:p>
            <a:pPr lvl="1"/>
            <a:r>
              <a:rPr lang="en-US" sz="2400" dirty="0"/>
              <a:t>Projects don’t always fit traditional scheduling and formal techniques (they are chaotic)</a:t>
            </a:r>
          </a:p>
          <a:p>
            <a:pPr lvl="1"/>
            <a:r>
              <a:rPr lang="en-US" sz="2400" dirty="0"/>
              <a:t>Focuses on the “human side” of PM</a:t>
            </a:r>
          </a:p>
          <a:p>
            <a:endParaRPr lang="en-US" dirty="0"/>
          </a:p>
          <a:p>
            <a:r>
              <a:rPr lang="en-US" sz="2800" dirty="0"/>
              <a:t>Agile Project Management</a:t>
            </a:r>
          </a:p>
          <a:p>
            <a:pPr lvl="1"/>
            <a:r>
              <a:rPr lang="en-US" sz="2400" dirty="0"/>
              <a:t>Iterative, incremental approach </a:t>
            </a:r>
          </a:p>
          <a:p>
            <a:pPr lvl="1"/>
            <a:r>
              <a:rPr lang="en-US" sz="2400" dirty="0"/>
              <a:t>Popular</a:t>
            </a:r>
          </a:p>
          <a:p>
            <a:pPr lvl="2"/>
            <a:r>
              <a:rPr lang="en-US" sz="2000" dirty="0">
                <a:hlinkClick r:id="rId3"/>
              </a:rPr>
              <a:t>http://www.pmi.org/Certification/New-PMI-Agile-Certification.aspx</a:t>
            </a:r>
            <a:endParaRPr lang="en-US" sz="21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536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Discussion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76962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Given our past two lectures, do you feel it is harder to manage an IT project compared to a traditional project?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Name a few approaches you would use to manage stakeholders.</a:t>
            </a:r>
          </a:p>
        </p:txBody>
      </p:sp>
      <p:sp>
        <p:nvSpPr>
          <p:cNvPr id="3481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E4E808-D5A2-4270-948F-25CED7EF1363}" type="slidenum">
              <a:rPr lang="en-US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Chapter Summary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7630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Systems approach when working on projects</a:t>
            </a:r>
          </a:p>
          <a:p>
            <a:pPr>
              <a:lnSpc>
                <a:spcPct val="90000"/>
              </a:lnSpc>
            </a:pPr>
            <a:r>
              <a:rPr lang="en-US" dirty="0"/>
              <a:t>Organization frames: structural, human resources, political, and symbolic</a:t>
            </a:r>
          </a:p>
          <a:p>
            <a:pPr>
              <a:lnSpc>
                <a:spcPct val="90000"/>
              </a:lnSpc>
            </a:pPr>
            <a:r>
              <a:rPr lang="en-US" dirty="0"/>
              <a:t>Project managers need to consider several factors due to the unique context of information technology projects</a:t>
            </a:r>
          </a:p>
          <a:p>
            <a:pPr>
              <a:lnSpc>
                <a:spcPct val="90000"/>
              </a:lnSpc>
            </a:pPr>
            <a:r>
              <a:rPr lang="en-US" dirty="0"/>
              <a:t>Recent trends affecting IT project management include globalization, outsourcing, virtual teams, and Agile</a:t>
            </a:r>
          </a:p>
        </p:txBody>
      </p:sp>
      <p:sp>
        <p:nvSpPr>
          <p:cNvPr id="3481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Information Technology Project Management, Seventh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E4E808-D5A2-4270-948F-25CED7EF1363}" type="slidenum">
              <a:rPr lang="en-US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0489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002060"/>
      </a:hlink>
      <a:folHlink>
        <a:srgbClr val="903638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2862</TotalTime>
  <Words>1564</Words>
  <Application>Microsoft Office PowerPoint</Application>
  <PresentationFormat>On-screen Show (4:3)</PresentationFormat>
  <Paragraphs>281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Arial Rounded MT Bold</vt:lpstr>
      <vt:lpstr>Calibri</vt:lpstr>
      <vt:lpstr>Symbol</vt:lpstr>
      <vt:lpstr>Times New Roman</vt:lpstr>
      <vt:lpstr>Wingdings</vt:lpstr>
      <vt:lpstr>Custom Design</vt:lpstr>
      <vt:lpstr>Theme1</vt:lpstr>
      <vt:lpstr>Project Management &amp; Information Technology</vt:lpstr>
      <vt:lpstr>Learning Objectives</vt:lpstr>
      <vt:lpstr>Learning Objectives</vt:lpstr>
      <vt:lpstr>Projects Cannot Be Run In Isolation</vt:lpstr>
      <vt:lpstr>A Systems View of Project Management</vt:lpstr>
      <vt:lpstr>PowerPoint Presentation</vt:lpstr>
      <vt:lpstr>Three Sphere Model for Systems Management</vt:lpstr>
      <vt:lpstr>Perspectives on Organizations</vt:lpstr>
      <vt:lpstr>What Went Wrong?</vt:lpstr>
      <vt:lpstr>Factors Influencing IT Project Management</vt:lpstr>
      <vt:lpstr>Organizational Structures</vt:lpstr>
      <vt:lpstr>Organizational Structure Influences on Projects</vt:lpstr>
      <vt:lpstr>Organizational Culture</vt:lpstr>
      <vt:lpstr>Top Management Commitment</vt:lpstr>
      <vt:lpstr>Stakeholder Management</vt:lpstr>
      <vt:lpstr>Organizational Commitment to IT</vt:lpstr>
      <vt:lpstr>IT Governance / Standards</vt:lpstr>
      <vt:lpstr>Project Phases and the Project Life Cycle</vt:lpstr>
      <vt:lpstr>Phases of the Traditional Project Life Cycle</vt:lpstr>
      <vt:lpstr>Product Life Cycles</vt:lpstr>
      <vt:lpstr>Examples of Predictive Life Cycle Models</vt:lpstr>
      <vt:lpstr>Agile Software Development</vt:lpstr>
      <vt:lpstr>The Importance of Project Phases and Management Reviews</vt:lpstr>
      <vt:lpstr>What Went Right?</vt:lpstr>
      <vt:lpstr>The Context of IT Projects</vt:lpstr>
      <vt:lpstr>Article: Tech Project and Direction</vt:lpstr>
      <vt:lpstr>Article: Project Management &amp; Software Development </vt:lpstr>
      <vt:lpstr>Closer to home….State Projects</vt:lpstr>
      <vt:lpstr>Improving Likelihood of Success  for IT Projects</vt:lpstr>
      <vt:lpstr>Recent Trends Affecting IT Project Management</vt:lpstr>
      <vt:lpstr>Important Issues and Suggestions Related to Globalization</vt:lpstr>
      <vt:lpstr>Outsourcing</vt:lpstr>
      <vt:lpstr>Virtual Teams: Advantages/Disadvantages</vt:lpstr>
      <vt:lpstr>Approaches and Philosophy</vt:lpstr>
      <vt:lpstr>Discussion</vt:lpstr>
      <vt:lpstr>Chapter Summary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Shaon Khan</cp:lastModifiedBy>
  <cp:revision>181</cp:revision>
  <dcterms:created xsi:type="dcterms:W3CDTF">2001-07-05T23:10:12Z</dcterms:created>
  <dcterms:modified xsi:type="dcterms:W3CDTF">2026-07-08T06:28:08Z</dcterms:modified>
</cp:coreProperties>
</file>