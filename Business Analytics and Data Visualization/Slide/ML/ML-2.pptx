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7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288" r:id="rId42"/>
    <p:sldId id="318" r:id="rId43"/>
    <p:sldId id="319" r:id="rId44"/>
    <p:sldId id="320" r:id="rId45"/>
    <p:sldId id="321" r:id="rId46"/>
    <p:sldId id="322" r:id="rId47"/>
    <p:sldId id="323" r:id="rId48"/>
    <p:sldId id="324" r:id="rId49"/>
    <p:sldId id="326" r:id="rId50"/>
    <p:sldId id="325" r:id="rId51"/>
    <p:sldId id="327" r:id="rId52"/>
    <p:sldId id="328" r:id="rId53"/>
    <p:sldId id="329" r:id="rId54"/>
    <p:sldId id="294" r:id="rId55"/>
    <p:sldId id="295"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 id="297" r:id="rId72"/>
  </p:sldIdLst>
  <p:sldSz cx="12192000" cy="6858000"/>
  <p:notesSz cx="6858000" cy="9313863"/>
  <p:embeddedFontLst>
    <p:embeddedFont>
      <p:font typeface="Gill Sans" panose="020B0604020202020204" charset="0"/>
      <p:regular r:id="rId74"/>
      <p:bold r:id="rId75"/>
    </p:embeddedFont>
    <p:embeddedFont>
      <p:font typeface="Calibri" panose="020F0502020204030204" pitchFamily="34" charset="0"/>
      <p:regular r:id="rId76"/>
      <p:bold r:id="rId77"/>
      <p:italic r:id="rId78"/>
      <p:boldItalic r:id="rId79"/>
    </p:embeddedFont>
    <p:embeddedFont>
      <p:font typeface="Georgia" panose="02040502050405020303" pitchFamily="18" charset="0"/>
      <p:regular r:id="rId80"/>
      <p:bold r:id="rId81"/>
      <p:italic r:id="rId82"/>
      <p:boldItalic r:id="rId83"/>
    </p:embeddedFont>
    <p:embeddedFont>
      <p:font typeface="Lato" panose="020B0604020202020204" charset="0"/>
      <p:regular r:id="rId84"/>
      <p:bold r:id="rId85"/>
      <p:italic r:id="rId86"/>
      <p:boldItalic r:id="rId8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A90A565A-6A04-4658-AE75-2FE14F07983A}">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288"/>
            <p14:sldId id="318"/>
            <p14:sldId id="319"/>
            <p14:sldId id="320"/>
            <p14:sldId id="321"/>
            <p14:sldId id="322"/>
            <p14:sldId id="323"/>
            <p14:sldId id="324"/>
            <p14:sldId id="326"/>
            <p14:sldId id="325"/>
            <p14:sldId id="327"/>
            <p14:sldId id="328"/>
            <p14:sldId id="329"/>
            <p14:sldId id="294"/>
            <p14:sldId id="295"/>
            <p14:sldId id="330"/>
            <p14:sldId id="331"/>
            <p14:sldId id="332"/>
            <p14:sldId id="333"/>
            <p14:sldId id="334"/>
            <p14:sldId id="335"/>
            <p14:sldId id="336"/>
            <p14:sldId id="337"/>
            <p14:sldId id="338"/>
            <p14:sldId id="339"/>
            <p14:sldId id="340"/>
            <p14:sldId id="341"/>
            <p14:sldId id="342"/>
            <p14:sldId id="343"/>
            <p14:sldId id="344"/>
          </p14:sldIdLst>
        </p14:section>
        <p14:section name="Untitled Section" id="{27551739-33D2-4105-B969-D18EC45DC582}">
          <p14:sldIdLst>
            <p14:sldId id="297"/>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guide id="3" pos="192">
          <p15:clr>
            <a:srgbClr val="A4A3A4"/>
          </p15:clr>
        </p15:guide>
        <p15:guide id="4" pos="7488">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8" roundtripDataSignature="AMtx7mj5tsvz1F4HjlS3TZZ3NDcYg7XhM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0EADF8-C6FE-4350-8109-FAF98E0F2A46}">
  <a:tblStyle styleId="{030EADF8-C6FE-4350-8109-FAF98E0F2A46}" styleName="Table_0">
    <a:wholeTbl>
      <a:tcTxStyle b="off" i="off">
        <a:font>
          <a:latin typeface="Calibri"/>
          <a:ea typeface="Calibri"/>
          <a:cs typeface="Calibri"/>
        </a:font>
        <a:schemeClr val="dk1"/>
      </a:tcTxStyle>
      <a:tcStyle>
        <a:tcBdr>
          <a:left>
            <a:ln w="9525" cap="flat" cmpd="sng">
              <a:solidFill>
                <a:schemeClr val="dk1"/>
              </a:solidFill>
              <a:prstDash val="solid"/>
              <a:round/>
              <a:headEnd type="none" w="sm" len="sm"/>
              <a:tailEnd type="none" w="sm" len="sm"/>
            </a:ln>
          </a:left>
          <a:right>
            <a:ln w="9525" cap="flat" cmpd="sng">
              <a:solidFill>
                <a:schemeClr val="dk1"/>
              </a:solidFill>
              <a:prstDash val="solid"/>
              <a:round/>
              <a:headEnd type="none" w="sm" len="sm"/>
              <a:tailEnd type="none" w="sm" len="sm"/>
            </a:ln>
          </a:right>
          <a:top>
            <a:ln w="9525" cap="flat" cmpd="sng">
              <a:solidFill>
                <a:schemeClr val="dk1"/>
              </a:solidFill>
              <a:prstDash val="solid"/>
              <a:round/>
              <a:headEnd type="none" w="sm" len="sm"/>
              <a:tailEnd type="none" w="sm" len="sm"/>
            </a:ln>
          </a:top>
          <a:bottom>
            <a:ln w="9525"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dk1"/>
              </a:solidFill>
              <a:prstDash val="solid"/>
              <a:round/>
              <a:headEnd type="none" w="sm" len="sm"/>
              <a:tailEnd type="none" w="sm" len="sm"/>
            </a:ln>
          </a:top>
          <a:bottom>
            <a:ln w="9525" cap="flat" cmpd="sng">
              <a:solidFill>
                <a:schemeClr val="dk1"/>
              </a:solidFill>
              <a:prstDash val="solid"/>
              <a:round/>
              <a:headEnd type="none" w="sm" len="sm"/>
              <a:tailEnd type="none" w="sm" len="sm"/>
            </a:ln>
          </a:bottom>
        </a:tcBdr>
      </a:tcStyle>
    </a:band1H>
    <a:band2H>
      <a:tcTxStyle/>
      <a:tcStyle>
        <a:tcBdr/>
      </a:tcStyle>
    </a:band2H>
    <a:band1V>
      <a:tcTxStyle/>
      <a:tcStyle>
        <a:tcBdr>
          <a:left>
            <a:ln w="9525" cap="flat" cmpd="sng">
              <a:solidFill>
                <a:schemeClr val="dk1"/>
              </a:solidFill>
              <a:prstDash val="solid"/>
              <a:round/>
              <a:headEnd type="none" w="sm" len="sm"/>
              <a:tailEnd type="none" w="sm" len="sm"/>
            </a:ln>
          </a:left>
          <a:right>
            <a:ln w="9525" cap="flat" cmpd="sng">
              <a:solidFill>
                <a:schemeClr val="dk1"/>
              </a:solidFill>
              <a:prstDash val="solid"/>
              <a:round/>
              <a:headEnd type="none" w="sm" len="sm"/>
              <a:tailEnd type="none" w="sm" len="sm"/>
            </a:ln>
          </a:right>
        </a:tcBdr>
      </a:tcStyle>
    </a:band1V>
    <a:band2V>
      <a:tcTxStyle/>
      <a:tcStyle>
        <a:tcBdr>
          <a:left>
            <a:ln w="9525" cap="flat" cmpd="sng">
              <a:solidFill>
                <a:schemeClr val="dk1"/>
              </a:solidFill>
              <a:prstDash val="solid"/>
              <a:round/>
              <a:headEnd type="none" w="sm" len="sm"/>
              <a:tailEnd type="none" w="sm" len="sm"/>
            </a:ln>
          </a:left>
          <a:right>
            <a:ln w="9525" cap="flat" cmpd="sng">
              <a:solidFill>
                <a:schemeClr val="dk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dk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dk1"/>
          </a:solidFill>
        </a:fill>
      </a:tcStyle>
    </a:firstRow>
    <a:neCell>
      <a:tcTxStyle/>
      <a:tcStyle>
        <a:tcBdr/>
      </a:tcStyle>
    </a:neCell>
    <a:nwCell>
      <a:tcTxStyle/>
      <a:tcStyle>
        <a:tcBdr/>
      </a:tcStyle>
    </a:nwCell>
  </a:tblStyle>
  <a:tblStyle styleId="{7D11E329-8FCB-4199-8E9B-1B7DA4D669ED}" styleName="Table_1">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guide orient="horz" pos="2160"/>
        <p:guide pos="3840"/>
        <p:guide pos="192"/>
        <p:guide pos="74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1.fntdata"/><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fntdata"/><Relationship Id="rId79" Type="http://schemas.openxmlformats.org/officeDocument/2006/relationships/font" Target="fonts/font6.fntdata"/><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7.fntdata"/><Relationship Id="rId85"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2.fntdata"/><Relationship Id="rId83" Type="http://schemas.openxmlformats.org/officeDocument/2006/relationships/font" Target="fonts/font10.fntdata"/><Relationship Id="rId88" Type="http://customschemas.google.com/relationships/presentationmetadata" Target="meta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4.fntdata"/><Relationship Id="rId61" Type="http://schemas.openxmlformats.org/officeDocument/2006/relationships/slide" Target="slides/slide60.xml"/><Relationship Id="rId82" Type="http://schemas.openxmlformats.org/officeDocument/2006/relationships/font" Target="fonts/font9.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5"/>
            <a:ext cx="2971799" cy="465693"/>
          </a:xfrm>
          <a:prstGeom prst="rect">
            <a:avLst/>
          </a:prstGeom>
          <a:noFill/>
          <a:ln>
            <a:noFill/>
          </a:ln>
        </p:spPr>
        <p:txBody>
          <a:bodyPr spcFirstLastPara="1" wrap="square" lIns="88625" tIns="44300" rIns="88625" bIns="443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9" y="5"/>
            <a:ext cx="2971799" cy="465693"/>
          </a:xfrm>
          <a:prstGeom prst="rect">
            <a:avLst/>
          </a:prstGeom>
          <a:noFill/>
          <a:ln>
            <a:noFill/>
          </a:ln>
        </p:spPr>
        <p:txBody>
          <a:bodyPr spcFirstLastPara="1" wrap="square" lIns="88625" tIns="44300" rIns="88625" bIns="443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5" y="8846557"/>
            <a:ext cx="2971799" cy="465693"/>
          </a:xfrm>
          <a:prstGeom prst="rect">
            <a:avLst/>
          </a:prstGeom>
          <a:noFill/>
          <a:ln>
            <a:noFill/>
          </a:ln>
        </p:spPr>
        <p:txBody>
          <a:bodyPr spcFirstLastPara="1" wrap="square" lIns="88625" tIns="44300" rIns="88625" bIns="443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7133384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2: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lvl="0" indent="0" algn="l" rtl="0">
              <a:spcBef>
                <a:spcPts val="0"/>
              </a:spcBef>
              <a:spcAft>
                <a:spcPts val="0"/>
              </a:spcAft>
              <a:buNone/>
            </a:pPr>
            <a:r>
              <a:rPr lang="en-US"/>
              <a:t>More Supervised - Adaboost Gradient boosting Xgboost</a:t>
            </a:r>
            <a:endParaRPr/>
          </a:p>
        </p:txBody>
      </p:sp>
      <p:sp>
        <p:nvSpPr>
          <p:cNvPr id="95" name="Google Shape;95;p2: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22583822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572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4: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marR="0" lvl="1" indent="0" algn="l" rtl="0">
              <a:lnSpc>
                <a:spcPct val="100000"/>
              </a:lnSpc>
              <a:spcBef>
                <a:spcPts val="0"/>
              </a:spcBef>
              <a:spcAft>
                <a:spcPts val="0"/>
              </a:spcAft>
              <a:buClr>
                <a:schemeClr val="dk1"/>
              </a:buClr>
              <a:buSzPts val="1200"/>
              <a:buFont typeface="Calibri"/>
              <a:buNone/>
            </a:pPr>
            <a:r>
              <a:rPr lang="en-US"/>
              <a:t>Exploratory Data Analysis (EDA) examines and visualizes data to understand its main characteristics, identify patterns, spot anomalies, and test hypotheses. </a:t>
            </a:r>
            <a:endParaRPr/>
          </a:p>
          <a:p>
            <a:pPr marL="0" lvl="0" indent="0" algn="l" rtl="0">
              <a:spcBef>
                <a:spcPts val="0"/>
              </a:spcBef>
              <a:spcAft>
                <a:spcPts val="0"/>
              </a:spcAft>
              <a:buNone/>
            </a:pPr>
            <a:endParaRPr/>
          </a:p>
        </p:txBody>
      </p:sp>
      <p:sp>
        <p:nvSpPr>
          <p:cNvPr id="108" name="Google Shape;108;p4: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756397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14" name="Google Shape;114;p5: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1825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2631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34" name="Google Shape;134;p7: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181780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41" name="Google Shape;141;p8: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4248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9: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48" name="Google Shape;148;p9: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02453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0: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marR="0" lvl="1" indent="0" algn="l" rtl="0">
              <a:lnSpc>
                <a:spcPct val="100000"/>
              </a:lnSpc>
              <a:spcBef>
                <a:spcPts val="0"/>
              </a:spcBef>
              <a:spcAft>
                <a:spcPts val="0"/>
              </a:spcAft>
              <a:buClr>
                <a:schemeClr val="dk1"/>
              </a:buClr>
              <a:buSzPts val="1200"/>
              <a:buFont typeface="Calibri"/>
              <a:buNone/>
            </a:pPr>
            <a:r>
              <a:rPr lang="en-US"/>
              <a:t>In this algorithm, data is divided into a specific number of groups or clusters. It is achieved by minimizing the total squared distances between the data points and the centers of each cluster.</a:t>
            </a:r>
            <a:endParaRPr/>
          </a:p>
          <a:p>
            <a:pPr marL="0" lvl="0" indent="0" algn="l" rtl="0">
              <a:spcBef>
                <a:spcPts val="0"/>
              </a:spcBef>
              <a:spcAft>
                <a:spcPts val="0"/>
              </a:spcAft>
              <a:buNone/>
            </a:pPr>
            <a:endParaRPr/>
          </a:p>
        </p:txBody>
      </p:sp>
      <p:sp>
        <p:nvSpPr>
          <p:cNvPr id="156" name="Google Shape;156;p10: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3521873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1: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64" name="Google Shape;164;p11: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59501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2: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72" name="Google Shape;172;p12: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512559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5368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51576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5: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194" name="Google Shape;194;p15: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9398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6:notes"/>
          <p:cNvSpPr txBox="1">
            <a:spLocks noGrp="1"/>
          </p:cNvSpPr>
          <p:nvPr>
            <p:ph type="body" idx="1"/>
          </p:nvPr>
        </p:nvSpPr>
        <p:spPr>
          <a:xfrm>
            <a:off x="685801" y="4424095"/>
            <a:ext cx="5486400" cy="4191237"/>
          </a:xfrm>
          <a:prstGeom prst="rect">
            <a:avLst/>
          </a:prstGeom>
          <a:noFill/>
          <a:ln>
            <a:noFill/>
          </a:ln>
        </p:spPr>
        <p:txBody>
          <a:bodyPr spcFirstLastPara="1" wrap="square" lIns="88625" tIns="44300" rIns="88625" bIns="443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This model learns as it goes by using trial and error. </a:t>
            </a:r>
            <a:endParaRPr/>
          </a:p>
          <a:p>
            <a:pPr marL="0" lvl="0" indent="0" algn="l" rtl="0">
              <a:spcBef>
                <a:spcPts val="0"/>
              </a:spcBef>
              <a:spcAft>
                <a:spcPts val="0"/>
              </a:spcAft>
              <a:buNone/>
            </a:pPr>
            <a:endParaRPr/>
          </a:p>
        </p:txBody>
      </p:sp>
      <p:sp>
        <p:nvSpPr>
          <p:cNvPr id="201" name="Google Shape;201;p16:notes"/>
          <p:cNvSpPr txBox="1">
            <a:spLocks noGrp="1"/>
          </p:cNvSpPr>
          <p:nvPr>
            <p:ph type="sldNum" idx="12"/>
          </p:nvPr>
        </p:nvSpPr>
        <p:spPr>
          <a:xfrm>
            <a:off x="3884619" y="8846557"/>
            <a:ext cx="2971799" cy="465693"/>
          </a:xfrm>
          <a:prstGeom prst="rect">
            <a:avLst/>
          </a:prstGeom>
          <a:noFill/>
          <a:ln>
            <a:noFill/>
          </a:ln>
        </p:spPr>
        <p:txBody>
          <a:bodyPr spcFirstLastPara="1" wrap="square" lIns="88625" tIns="44300" rIns="88625" bIns="443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642911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7: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09" name="Google Shape;209;p17: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2405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8: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17" name="Google Shape;217;p18: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7987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9: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24" name="Google Shape;224;p19: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322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0: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31" name="Google Shape;231;p20: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0302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1: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237" name="Google Shape;237;p21: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65405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3: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333" name="Google Shape;333;p33: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04092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9: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377" name="Google Shape;377;p39: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5572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40: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385" name="Google Shape;385;p40: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39241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2:notes"/>
          <p:cNvSpPr txBox="1">
            <a:spLocks noGrp="1"/>
          </p:cNvSpPr>
          <p:nvPr>
            <p:ph type="body" idx="1"/>
          </p:nvPr>
        </p:nvSpPr>
        <p:spPr>
          <a:xfrm>
            <a:off x="685801" y="4424095"/>
            <a:ext cx="5486400" cy="4191237"/>
          </a:xfrm>
          <a:prstGeom prst="rect">
            <a:avLst/>
          </a:prstGeom>
        </p:spPr>
        <p:txBody>
          <a:bodyPr spcFirstLastPara="1" wrap="square" lIns="88625" tIns="44300" rIns="88625" bIns="44300" anchor="t" anchorCtr="0">
            <a:noAutofit/>
          </a:bodyPr>
          <a:lstStyle/>
          <a:p>
            <a:pPr marL="0" lvl="0" indent="0" algn="l" rtl="0">
              <a:spcBef>
                <a:spcPts val="0"/>
              </a:spcBef>
              <a:spcAft>
                <a:spcPts val="0"/>
              </a:spcAft>
              <a:buNone/>
            </a:pPr>
            <a:endParaRPr/>
          </a:p>
        </p:txBody>
      </p:sp>
      <p:sp>
        <p:nvSpPr>
          <p:cNvPr id="406" name="Google Shape;406;p42:notes"/>
          <p:cNvSpPr>
            <a:spLocks noGrp="1" noRot="1" noChangeAspect="1"/>
          </p:cNvSpPr>
          <p:nvPr>
            <p:ph type="sldImg" idx="2"/>
          </p:nvPr>
        </p:nvSpPr>
        <p:spPr>
          <a:xfrm>
            <a:off x="327025" y="700088"/>
            <a:ext cx="6203950" cy="34909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0791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4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000"/>
              <a:buFont typeface="Gill Sans"/>
              <a:buNone/>
              <a:defRPr sz="400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5"/>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55600" algn="l">
              <a:spcBef>
                <a:spcPts val="400"/>
              </a:spcBef>
              <a:spcAft>
                <a:spcPts val="0"/>
              </a:spcAft>
              <a:buClr>
                <a:schemeClr val="dk1"/>
              </a:buClr>
              <a:buSzPts val="2000"/>
              <a:buFont typeface="Noto Sans Symbols"/>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4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48"/>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7" name="Google Shape;37;p4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8" name="Google Shape;38;p4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4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49"/>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4" name="Google Shape;44;p4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5" name="Google Shape;45;p49"/>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6" name="Google Shape;46;p4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7" name="Google Shape;47;p4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5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5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51"/>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 name="Google Shape;57;p51"/>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8" name="Google Shape;58;p51"/>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9" name="Google Shape;59;p5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5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2"/>
        <p:cNvGrpSpPr/>
        <p:nvPr/>
      </p:nvGrpSpPr>
      <p:grpSpPr>
        <a:xfrm>
          <a:off x="0" y="0"/>
          <a:ext cx="0" cy="0"/>
          <a:chOff x="0" y="0"/>
          <a:chExt cx="0" cy="0"/>
        </a:xfrm>
      </p:grpSpPr>
      <p:sp>
        <p:nvSpPr>
          <p:cNvPr id="63" name="Google Shape;63;p52"/>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4" name="Google Shape;64;p52"/>
          <p:cNvSpPr>
            <a:spLocks noGrp="1"/>
          </p:cNvSpPr>
          <p:nvPr>
            <p:ph type="pic" idx="2"/>
          </p:nvPr>
        </p:nvSpPr>
        <p:spPr>
          <a:xfrm>
            <a:off x="2389717" y="612775"/>
            <a:ext cx="7315200" cy="4114800"/>
          </a:xfrm>
          <a:prstGeom prst="rect">
            <a:avLst/>
          </a:prstGeom>
          <a:noFill/>
          <a:ln>
            <a:noFill/>
          </a:ln>
        </p:spPr>
      </p:sp>
      <p:sp>
        <p:nvSpPr>
          <p:cNvPr id="65" name="Google Shape;65;p52"/>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6" name="Google Shape;66;p5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9"/>
        <p:cNvGrpSpPr/>
        <p:nvPr/>
      </p:nvGrpSpPr>
      <p:grpSpPr>
        <a:xfrm>
          <a:off x="0" y="0"/>
          <a:ext cx="0" cy="0"/>
          <a:chOff x="0" y="0"/>
          <a:chExt cx="0" cy="0"/>
        </a:xfrm>
      </p:grpSpPr>
      <p:sp>
        <p:nvSpPr>
          <p:cNvPr id="70" name="Google Shape;70;p5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1" name="Google Shape;71;p53"/>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5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5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5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5"/>
        <p:cNvGrpSpPr/>
        <p:nvPr/>
      </p:nvGrpSpPr>
      <p:grpSpPr>
        <a:xfrm>
          <a:off x="0" y="0"/>
          <a:ext cx="0" cy="0"/>
          <a:chOff x="0" y="0"/>
          <a:chExt cx="0" cy="0"/>
        </a:xfrm>
      </p:grpSpPr>
      <p:sp>
        <p:nvSpPr>
          <p:cNvPr id="76" name="Google Shape;76;p54"/>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7" name="Google Shape;77;p54"/>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8" name="Google Shape;78;p5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5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1"/>
        <p:cNvGrpSpPr/>
        <p:nvPr/>
      </p:nvGrpSpPr>
      <p:grpSpPr>
        <a:xfrm>
          <a:off x="0" y="0"/>
          <a:ext cx="0" cy="0"/>
          <a:chOff x="0" y="0"/>
          <a:chExt cx="0" cy="0"/>
        </a:xfrm>
      </p:grpSpPr>
      <p:sp>
        <p:nvSpPr>
          <p:cNvPr id="82" name="Google Shape;82;p55"/>
          <p:cNvSpPr txBox="1">
            <a:spLocks noGrp="1"/>
          </p:cNvSpPr>
          <p:nvPr>
            <p:ph type="title"/>
          </p:nvPr>
        </p:nvSpPr>
        <p:spPr>
          <a:xfrm>
            <a:off x="304800" y="76200"/>
            <a:ext cx="103632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 name="Google Shape;83;p5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5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E482CB-BE0E-45A2-A8F9-AF0B7F554A3D}" type="datetimeFigureOut">
              <a:rPr lang="en-US" smtClean="0"/>
              <a:t>5/9/2026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F2E4543-BE62-4DF3-B067-5185159305E6}" type="slidenum">
              <a:rPr lang="en-US" smtClean="0"/>
              <a:t>‹#›</a:t>
            </a:fld>
            <a:endParaRPr lang="en-US" dirty="0"/>
          </a:p>
        </p:txBody>
      </p:sp>
    </p:spTree>
    <p:extLst>
      <p:ext uri="{BB962C8B-B14F-4D97-AF65-F5344CB8AC3E}">
        <p14:creationId xmlns:p14="http://schemas.microsoft.com/office/powerpoint/2010/main" val="40348680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Gill Sans"/>
                <a:ea typeface="Gill Sans"/>
                <a:cs typeface="Gill Sans"/>
                <a:sym typeface="Gill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 name="Google Shape;11;p4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4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0.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0.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5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 Id="rId4" Type="http://schemas.openxmlformats.org/officeDocument/2006/relationships/image" Target="../media/image91.png"/></Relationships>
</file>

<file path=ppt/slides/_rels/slide6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609600" y="152400"/>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Gill Sans"/>
              <a:buNone/>
            </a:pPr>
            <a:r>
              <a:rPr lang="en-US">
                <a:latin typeface="Gill Sans"/>
                <a:ea typeface="Gill Sans"/>
                <a:cs typeface="Gill Sans"/>
                <a:sym typeface="Gill Sans"/>
              </a:rPr>
              <a:t>Contents</a:t>
            </a:r>
            <a:endParaRPr>
              <a:latin typeface="Gill Sans"/>
              <a:ea typeface="Gill Sans"/>
              <a:cs typeface="Gill Sans"/>
              <a:sym typeface="Gill Sans"/>
            </a:endParaRPr>
          </a:p>
        </p:txBody>
      </p:sp>
      <p:sp>
        <p:nvSpPr>
          <p:cNvPr id="98" name="Google Shape;98;p2"/>
          <p:cNvSpPr txBox="1">
            <a:spLocks noGrp="1"/>
          </p:cNvSpPr>
          <p:nvPr>
            <p:ph type="body" idx="1"/>
          </p:nvPr>
        </p:nvSpPr>
        <p:spPr>
          <a:xfrm>
            <a:off x="609600" y="1066800"/>
            <a:ext cx="10972800" cy="5791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700"/>
              <a:buNone/>
            </a:pPr>
            <a:r>
              <a:rPr lang="en-US" sz="1700" b="1"/>
              <a:t>The course will mainly cover the following topics:</a:t>
            </a:r>
            <a:endParaRPr/>
          </a:p>
          <a:p>
            <a:pPr marL="342900" lvl="0" indent="-342900" algn="l" rtl="0">
              <a:spcBef>
                <a:spcPts val="360"/>
              </a:spcBef>
              <a:spcAft>
                <a:spcPts val="0"/>
              </a:spcAft>
              <a:buClr>
                <a:schemeClr val="dk1"/>
              </a:buClr>
              <a:buSzPts val="1800"/>
              <a:buFont typeface="Noto Sans Symbols"/>
              <a:buChar char="✔"/>
            </a:pPr>
            <a:r>
              <a:rPr lang="en-US" sz="1800"/>
              <a:t>A Gentle Introduction to Machine Learning</a:t>
            </a:r>
            <a:endParaRPr/>
          </a:p>
          <a:p>
            <a:pPr marL="342900" lvl="0" indent="-342900" algn="l" rtl="0">
              <a:spcBef>
                <a:spcPts val="360"/>
              </a:spcBef>
              <a:spcAft>
                <a:spcPts val="0"/>
              </a:spcAft>
              <a:buClr>
                <a:schemeClr val="dk1"/>
              </a:buClr>
              <a:buSzPts val="1800"/>
              <a:buFont typeface="Noto Sans Symbols"/>
              <a:buChar char="✔"/>
            </a:pPr>
            <a:r>
              <a:rPr lang="en-US" sz="1800"/>
              <a:t>Linear Regression</a:t>
            </a:r>
            <a:endParaRPr/>
          </a:p>
          <a:p>
            <a:pPr marL="342900" lvl="0" indent="-342900" algn="l" rtl="0">
              <a:spcBef>
                <a:spcPts val="360"/>
              </a:spcBef>
              <a:spcAft>
                <a:spcPts val="0"/>
              </a:spcAft>
              <a:buClr>
                <a:schemeClr val="dk1"/>
              </a:buClr>
              <a:buSzPts val="1800"/>
              <a:buFont typeface="Noto Sans Symbols"/>
              <a:buChar char="✔"/>
            </a:pPr>
            <a:r>
              <a:rPr lang="en-US" sz="1800"/>
              <a:t>Logistic Regression</a:t>
            </a:r>
            <a:endParaRPr sz="1800"/>
          </a:p>
          <a:p>
            <a:pPr marL="342900" lvl="0" indent="-342900" algn="l" rtl="0">
              <a:spcBef>
                <a:spcPts val="360"/>
              </a:spcBef>
              <a:spcAft>
                <a:spcPts val="0"/>
              </a:spcAft>
              <a:buClr>
                <a:schemeClr val="dk1"/>
              </a:buClr>
              <a:buSzPts val="1800"/>
              <a:buFont typeface="Noto Sans Symbols"/>
              <a:buChar char="✔"/>
            </a:pPr>
            <a:r>
              <a:rPr lang="en-US" sz="1800"/>
              <a:t>Naive Bayes</a:t>
            </a:r>
            <a:endParaRPr/>
          </a:p>
          <a:p>
            <a:pPr marL="342900" lvl="0" indent="-342900" algn="l" rtl="0">
              <a:spcBef>
                <a:spcPts val="360"/>
              </a:spcBef>
              <a:spcAft>
                <a:spcPts val="0"/>
              </a:spcAft>
              <a:buClr>
                <a:schemeClr val="dk1"/>
              </a:buClr>
              <a:buSzPts val="1800"/>
              <a:buFont typeface="Noto Sans Symbols"/>
              <a:buChar char="✔"/>
            </a:pPr>
            <a:r>
              <a:rPr lang="en-US" sz="1800"/>
              <a:t>Support Vector Machines</a:t>
            </a:r>
            <a:endParaRPr sz="1800"/>
          </a:p>
          <a:p>
            <a:pPr marL="342900" lvl="0" indent="-342900" algn="l" rtl="0">
              <a:spcBef>
                <a:spcPts val="360"/>
              </a:spcBef>
              <a:spcAft>
                <a:spcPts val="0"/>
              </a:spcAft>
              <a:buClr>
                <a:schemeClr val="dk1"/>
              </a:buClr>
              <a:buSzPts val="1800"/>
              <a:buFont typeface="Noto Sans Symbols"/>
              <a:buChar char="✔"/>
            </a:pPr>
            <a:r>
              <a:rPr lang="en-US" sz="1800"/>
              <a:t>Decision Trees and Ensemble Learning</a:t>
            </a:r>
            <a:endParaRPr/>
          </a:p>
          <a:p>
            <a:pPr marL="342900" lvl="0" indent="-342900" algn="l" rtl="0">
              <a:spcBef>
                <a:spcPts val="360"/>
              </a:spcBef>
              <a:spcAft>
                <a:spcPts val="0"/>
              </a:spcAft>
              <a:buClr>
                <a:schemeClr val="dk1"/>
              </a:buClr>
              <a:buSzPts val="1800"/>
              <a:buFont typeface="Noto Sans Symbols"/>
              <a:buChar char="✔"/>
            </a:pPr>
            <a:r>
              <a:rPr lang="en-US" sz="1800"/>
              <a:t>Clustering Fundamentals</a:t>
            </a:r>
            <a:endParaRPr/>
          </a:p>
          <a:p>
            <a:pPr marL="342900" lvl="0" indent="-342900" algn="l" rtl="0">
              <a:spcBef>
                <a:spcPts val="360"/>
              </a:spcBef>
              <a:spcAft>
                <a:spcPts val="0"/>
              </a:spcAft>
              <a:buClr>
                <a:schemeClr val="dk1"/>
              </a:buClr>
              <a:buSzPts val="1800"/>
              <a:buFont typeface="Noto Sans Symbols"/>
              <a:buChar char="✔"/>
            </a:pPr>
            <a:r>
              <a:rPr lang="en-US" sz="1800"/>
              <a:t>Hierarchical Clustering</a:t>
            </a:r>
            <a:endParaRPr sz="1800"/>
          </a:p>
          <a:p>
            <a:pPr marL="342900" lvl="0" indent="-342900" algn="l" rtl="0">
              <a:spcBef>
                <a:spcPts val="360"/>
              </a:spcBef>
              <a:spcAft>
                <a:spcPts val="0"/>
              </a:spcAft>
              <a:buClr>
                <a:schemeClr val="dk1"/>
              </a:buClr>
              <a:buSzPts val="1800"/>
              <a:buFont typeface="Noto Sans Symbols"/>
              <a:buChar char="✔"/>
            </a:pPr>
            <a:r>
              <a:rPr lang="en-US" sz="1800"/>
              <a:t>Neural Networks and Deep Learning</a:t>
            </a:r>
            <a:endParaRPr/>
          </a:p>
          <a:p>
            <a:pPr marL="342900" lvl="0" indent="-342900" algn="l" rtl="0">
              <a:spcBef>
                <a:spcPts val="360"/>
              </a:spcBef>
              <a:spcAft>
                <a:spcPts val="0"/>
              </a:spcAft>
              <a:buClr>
                <a:schemeClr val="dk1"/>
              </a:buClr>
              <a:buSzPts val="1800"/>
              <a:buFont typeface="Noto Sans Symbols"/>
              <a:buChar char="✔"/>
            </a:pPr>
            <a:r>
              <a:rPr lang="en-US" sz="1800"/>
              <a:t>Unsupervised Learning……</a:t>
            </a:r>
            <a:endParaRPr sz="1700"/>
          </a:p>
          <a:p>
            <a:pPr marL="742950" lvl="1" indent="-177800" algn="l" rtl="0">
              <a:spcBef>
                <a:spcPts val="340"/>
              </a:spcBef>
              <a:spcAft>
                <a:spcPts val="0"/>
              </a:spcAft>
              <a:buClr>
                <a:schemeClr val="dk1"/>
              </a:buClr>
              <a:buSzPts val="1700"/>
              <a:buFont typeface="Gill Sans"/>
              <a:buNone/>
            </a:pP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3"/>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Gill Sans"/>
              <a:buNone/>
            </a:pPr>
            <a:r>
              <a:rPr lang="en-US" b="1"/>
              <a:t>Outline</a:t>
            </a:r>
            <a:endParaRPr/>
          </a:p>
        </p:txBody>
      </p:sp>
      <p:sp>
        <p:nvSpPr>
          <p:cNvPr id="104" name="Google Shape;104;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Noto Sans Symbols"/>
              <a:buChar char="✔"/>
            </a:pPr>
            <a:r>
              <a:rPr lang="en-US" sz="2400"/>
              <a:t>A Gentle Introduction to Machine Learning</a:t>
            </a:r>
            <a:endParaRPr/>
          </a:p>
          <a:p>
            <a:pPr marL="742950" lvl="1" indent="-285750" algn="l" rtl="0">
              <a:spcBef>
                <a:spcPts val="400"/>
              </a:spcBef>
              <a:spcAft>
                <a:spcPts val="0"/>
              </a:spcAft>
              <a:buClr>
                <a:schemeClr val="dk1"/>
              </a:buClr>
              <a:buSzPts val="2000"/>
              <a:buChar char="–"/>
            </a:pPr>
            <a:r>
              <a:rPr lang="en-US"/>
              <a:t>Unsupervised learning</a:t>
            </a:r>
            <a:endParaRPr/>
          </a:p>
          <a:p>
            <a:pPr marL="742950" lvl="1" indent="-285750" algn="l" rtl="0">
              <a:spcBef>
                <a:spcPts val="400"/>
              </a:spcBef>
              <a:spcAft>
                <a:spcPts val="0"/>
              </a:spcAft>
              <a:buClr>
                <a:schemeClr val="dk1"/>
              </a:buClr>
              <a:buSzPts val="2000"/>
              <a:buChar char="–"/>
            </a:pPr>
            <a:r>
              <a:rPr lang="en-US"/>
              <a:t>Reinforcement learning</a:t>
            </a:r>
            <a:endParaRPr/>
          </a:p>
          <a:p>
            <a:pPr marL="342900" lvl="0" indent="-342900" algn="l" rtl="0">
              <a:spcBef>
                <a:spcPts val="480"/>
              </a:spcBef>
              <a:spcAft>
                <a:spcPts val="0"/>
              </a:spcAft>
              <a:buClr>
                <a:schemeClr val="dk1"/>
              </a:buClr>
              <a:buSzPts val="2400"/>
              <a:buFont typeface="Noto Sans Symbols"/>
              <a:buChar char="✔"/>
            </a:pPr>
            <a:r>
              <a:rPr lang="en-US" sz="2400"/>
              <a:t>Linear Regression</a:t>
            </a:r>
            <a:endParaRPr/>
          </a:p>
          <a:p>
            <a:pPr marL="742950" lvl="1" indent="-285750" algn="l" rtl="0">
              <a:spcBef>
                <a:spcPts val="400"/>
              </a:spcBef>
              <a:spcAft>
                <a:spcPts val="0"/>
              </a:spcAft>
              <a:buClr>
                <a:schemeClr val="dk1"/>
              </a:buClr>
              <a:buSzPts val="2000"/>
              <a:buChar char="–"/>
            </a:pPr>
            <a:r>
              <a:rPr lang="en-US"/>
              <a:t>Linear models</a:t>
            </a:r>
            <a:endParaRPr/>
          </a:p>
          <a:p>
            <a:pPr marL="742950" lvl="1" indent="-285750" algn="l" rtl="0">
              <a:spcBef>
                <a:spcPts val="400"/>
              </a:spcBef>
              <a:spcAft>
                <a:spcPts val="0"/>
              </a:spcAft>
              <a:buClr>
                <a:schemeClr val="dk1"/>
              </a:buClr>
              <a:buSzPts val="2000"/>
              <a:buChar char="–"/>
            </a:pPr>
            <a:r>
              <a:rPr lang="en-US" b="1"/>
              <a:t>Hypothesis function for Linear Regression</a:t>
            </a:r>
            <a:endParaRPr/>
          </a:p>
          <a:p>
            <a:pPr marL="742950" lvl="1" indent="-285750" algn="l" rtl="0">
              <a:spcBef>
                <a:spcPts val="400"/>
              </a:spcBef>
              <a:spcAft>
                <a:spcPts val="0"/>
              </a:spcAft>
              <a:buClr>
                <a:schemeClr val="dk1"/>
              </a:buClr>
              <a:buSzPts val="2000"/>
              <a:buChar char="–"/>
            </a:pPr>
            <a:r>
              <a:rPr lang="en-US" b="1"/>
              <a:t>Cost function</a:t>
            </a:r>
            <a:r>
              <a:rPr lang="en-US"/>
              <a:t> </a:t>
            </a:r>
            <a:endParaRPr/>
          </a:p>
          <a:p>
            <a:pPr marL="742950" lvl="1" indent="-285750" algn="l" rtl="0">
              <a:spcBef>
                <a:spcPts val="400"/>
              </a:spcBef>
              <a:spcAft>
                <a:spcPts val="0"/>
              </a:spcAft>
              <a:buClr>
                <a:schemeClr val="dk1"/>
              </a:buClr>
              <a:buSzPts val="2000"/>
              <a:buChar char="–"/>
            </a:pPr>
            <a:r>
              <a:rPr lang="en-US"/>
              <a:t>Gradient descent algorithm</a:t>
            </a:r>
            <a:endParaRPr/>
          </a:p>
          <a:p>
            <a:pPr marL="742950" lvl="1" indent="-285750" algn="l" rtl="0">
              <a:spcBef>
                <a:spcPts val="400"/>
              </a:spcBef>
              <a:spcAft>
                <a:spcPts val="0"/>
              </a:spcAft>
              <a:buClr>
                <a:schemeClr val="dk1"/>
              </a:buClr>
              <a:buSzPts val="2000"/>
              <a:buChar char="–"/>
            </a:pPr>
            <a:r>
              <a:rPr lang="en-US"/>
              <a:t>Polynomial regression</a:t>
            </a:r>
            <a:endParaRPr/>
          </a:p>
          <a:p>
            <a:pPr marL="742950" lvl="1" indent="-133350" algn="l" rtl="0">
              <a:spcBef>
                <a:spcPts val="480"/>
              </a:spcBef>
              <a:spcAft>
                <a:spcPts val="0"/>
              </a:spcAft>
              <a:buClr>
                <a:schemeClr val="dk1"/>
              </a:buClr>
              <a:buSzPts val="2400"/>
              <a:buNone/>
            </a:pPr>
            <a:endParaRPr sz="2400"/>
          </a:p>
          <a:p>
            <a:pPr marL="1143000" lvl="2" indent="-101600" algn="l" rtl="0">
              <a:spcBef>
                <a:spcPts val="400"/>
              </a:spcBef>
              <a:spcAft>
                <a:spcPts val="0"/>
              </a:spcAft>
              <a:buClr>
                <a:schemeClr val="dk1"/>
              </a:buClr>
              <a:buSzPts val="2000"/>
              <a:buNone/>
            </a:pPr>
            <a:endParaRPr/>
          </a:p>
          <a:p>
            <a:pPr marL="457200" lvl="1" indent="0" algn="l" rtl="0">
              <a:spcBef>
                <a:spcPts val="400"/>
              </a:spcBef>
              <a:spcAft>
                <a:spcPts val="0"/>
              </a:spcAft>
              <a:buClr>
                <a:schemeClr val="dk1"/>
              </a:buClr>
              <a:buSzPts val="20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09600" y="5334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600"/>
              <a:buFont typeface="Gill Sans"/>
              <a:buNone/>
            </a:pPr>
            <a:r>
              <a:rPr lang="en-US" sz="3600" b="1">
                <a:latin typeface="Gill Sans"/>
                <a:ea typeface="Gill Sans"/>
                <a:cs typeface="Gill Sans"/>
                <a:sym typeface="Gill Sans"/>
              </a:rPr>
              <a:t>Unsupervised machine learning</a:t>
            </a:r>
            <a:br>
              <a:rPr lang="en-US" sz="3600" b="1">
                <a:latin typeface="Gill Sans"/>
                <a:ea typeface="Gill Sans"/>
                <a:cs typeface="Gill Sans"/>
                <a:sym typeface="Gill Sans"/>
              </a:rPr>
            </a:br>
            <a:endParaRPr sz="3600">
              <a:latin typeface="Gill Sans"/>
              <a:ea typeface="Gill Sans"/>
              <a:cs typeface="Gill Sans"/>
              <a:sym typeface="Gill Sans"/>
            </a:endParaRPr>
          </a:p>
        </p:txBody>
      </p:sp>
      <p:sp>
        <p:nvSpPr>
          <p:cNvPr id="111" name="Google Shape;111;p4"/>
          <p:cNvSpPr txBox="1">
            <a:spLocks noGrp="1"/>
          </p:cNvSpPr>
          <p:nvPr>
            <p:ph type="body" idx="1"/>
          </p:nvPr>
        </p:nvSpPr>
        <p:spPr>
          <a:xfrm>
            <a:off x="914400" y="1874837"/>
            <a:ext cx="10210800" cy="42973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Font typeface="Noto Sans Symbols"/>
              <a:buChar char="✔"/>
            </a:pPr>
            <a:r>
              <a:rPr lang="en-US" b="1"/>
              <a:t>Unsupervised learning </a:t>
            </a:r>
            <a:r>
              <a:rPr lang="en-US"/>
              <a:t>is a type of machine learning where the algorithm learns from </a:t>
            </a:r>
            <a:r>
              <a:rPr lang="en-US" b="1"/>
              <a:t>unlabeled data </a:t>
            </a:r>
            <a:r>
              <a:rPr lang="en-US"/>
              <a:t>without any predefined outputs or target variables. </a:t>
            </a:r>
            <a:endParaRPr/>
          </a:p>
          <a:p>
            <a:pPr marL="342900" lvl="0" indent="-342900" algn="just" rtl="0">
              <a:spcBef>
                <a:spcPts val="400"/>
              </a:spcBef>
              <a:spcAft>
                <a:spcPts val="0"/>
              </a:spcAft>
              <a:buClr>
                <a:schemeClr val="dk1"/>
              </a:buClr>
              <a:buSzPts val="2000"/>
              <a:buChar char="✔"/>
            </a:pPr>
            <a:r>
              <a:rPr lang="en-US"/>
              <a:t>It finds </a:t>
            </a:r>
            <a:r>
              <a:rPr lang="en-US" b="1"/>
              <a:t>hidden patterns, similarities, or groupings </a:t>
            </a:r>
            <a:r>
              <a:rPr lang="en-US"/>
              <a:t>within the data to get insights and make data-driven decisions without the need for human intervention.. </a:t>
            </a:r>
            <a:endParaRPr/>
          </a:p>
          <a:p>
            <a:pPr marL="342900" lvl="0" indent="-342900" algn="just" rtl="0">
              <a:spcBef>
                <a:spcPts val="400"/>
              </a:spcBef>
              <a:spcAft>
                <a:spcPts val="0"/>
              </a:spcAft>
              <a:buClr>
                <a:schemeClr val="dk1"/>
              </a:buClr>
              <a:buSzPts val="2000"/>
              <a:buFont typeface="Noto Sans Symbols"/>
              <a:buChar char="✔"/>
            </a:pPr>
            <a:r>
              <a:rPr lang="en-US"/>
              <a:t>It is particularly </a:t>
            </a:r>
            <a:r>
              <a:rPr lang="en-US" b="1"/>
              <a:t>useful when dealing with large datasets</a:t>
            </a:r>
            <a:r>
              <a:rPr lang="en-US"/>
              <a:t> where </a:t>
            </a:r>
            <a:r>
              <a:rPr lang="en-US" b="1"/>
              <a:t>manual labeling would be impractical or costly</a:t>
            </a:r>
            <a:r>
              <a:rPr lang="en-US"/>
              <a:t>.</a:t>
            </a:r>
            <a:endParaRPr/>
          </a:p>
          <a:p>
            <a:pPr marL="342900" lvl="0" indent="-342900" algn="just" rtl="0">
              <a:spcBef>
                <a:spcPts val="400"/>
              </a:spcBef>
              <a:spcAft>
                <a:spcPts val="0"/>
              </a:spcAft>
              <a:buClr>
                <a:schemeClr val="dk1"/>
              </a:buClr>
              <a:buSzPts val="2000"/>
              <a:buChar char="✔"/>
            </a:pPr>
            <a:r>
              <a:rPr lang="en-US"/>
              <a:t>This method’s ability to discover similarities and differences in information make it ideal for </a:t>
            </a:r>
            <a:r>
              <a:rPr lang="en-US" b="1"/>
              <a:t>exploratory data analysis, cross-selling strategies, customer segmentation, and image and pattern recognition</a:t>
            </a:r>
            <a:r>
              <a:rPr lang="en-US"/>
              <a:t>. </a:t>
            </a:r>
            <a:endParaRPr/>
          </a:p>
          <a:p>
            <a:pPr marL="742950" lvl="1" indent="-285750" algn="just" rtl="0">
              <a:spcBef>
                <a:spcPts val="400"/>
              </a:spcBef>
              <a:spcAft>
                <a:spcPts val="0"/>
              </a:spcAft>
              <a:buClr>
                <a:schemeClr val="dk1"/>
              </a:buClr>
              <a:buSzPts val="2000"/>
              <a:buChar char="–"/>
            </a:pPr>
            <a:r>
              <a:rPr lang="en-US"/>
              <a:t>Cross-selling is the process of offering a customer products that are compatible with the ones they're purchasing</a:t>
            </a:r>
            <a:endParaRPr/>
          </a:p>
          <a:p>
            <a:pPr marL="342900" lvl="0" indent="-215900" algn="just" rtl="0">
              <a:spcBef>
                <a:spcPts val="400"/>
              </a:spcBef>
              <a:spcAft>
                <a:spcPts val="0"/>
              </a:spcAft>
              <a:buClr>
                <a:schemeClr val="dk1"/>
              </a:buClr>
              <a:buSzPts val="2000"/>
              <a:buFont typeface="Noto Sans Symbols"/>
              <a:buNone/>
            </a:pPr>
            <a:endParaRPr b="1"/>
          </a:p>
          <a:p>
            <a:pPr marL="0" lvl="0" indent="0" algn="just" rtl="0">
              <a:spcBef>
                <a:spcPts val="400"/>
              </a:spcBef>
              <a:spcAft>
                <a:spcPts val="0"/>
              </a:spcAft>
              <a:buClr>
                <a:schemeClr val="dk1"/>
              </a:buClr>
              <a:buSzPts val="20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7" name="Google Shape;117;p5"/>
          <p:cNvSpPr txBox="1">
            <a:spLocks noGrp="1"/>
          </p:cNvSpPr>
          <p:nvPr>
            <p:ph type="body" idx="1"/>
          </p:nvPr>
        </p:nvSpPr>
        <p:spPr>
          <a:xfrm>
            <a:off x="609600" y="1117110"/>
            <a:ext cx="109728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Font typeface="Noto Sans Symbols"/>
              <a:buChar char="✔"/>
            </a:pPr>
            <a:r>
              <a:rPr lang="en-US" dirty="0"/>
              <a:t>Customer segmentation is the process by which you divide your customers based on common characteristics – such as demographics or </a:t>
            </a:r>
            <a:r>
              <a:rPr lang="en-US" dirty="0" err="1"/>
              <a:t>behaviours</a:t>
            </a:r>
            <a:r>
              <a:rPr lang="en-US" dirty="0"/>
              <a:t>, so your marketing team or sales team can reach out to those customers more effectively.</a:t>
            </a:r>
            <a:endParaRPr dirty="0"/>
          </a:p>
        </p:txBody>
      </p:sp>
      <p:pic>
        <p:nvPicPr>
          <p:cNvPr id="118" name="Google Shape;118;p5"/>
          <p:cNvPicPr preferRelativeResize="0"/>
          <p:nvPr/>
        </p:nvPicPr>
        <p:blipFill rotWithShape="1">
          <a:blip r:embed="rId3">
            <a:alphaModFix/>
          </a:blip>
          <a:srcRect/>
          <a:stretch/>
        </p:blipFill>
        <p:spPr>
          <a:xfrm>
            <a:off x="951897" y="2819400"/>
            <a:ext cx="4575173" cy="2962902"/>
          </a:xfrm>
          <a:prstGeom prst="rect">
            <a:avLst/>
          </a:prstGeom>
          <a:noFill/>
          <a:ln>
            <a:noFill/>
          </a:ln>
        </p:spPr>
      </p:pic>
      <p:pic>
        <p:nvPicPr>
          <p:cNvPr id="119" name="Google Shape;119;p5"/>
          <p:cNvPicPr preferRelativeResize="0"/>
          <p:nvPr/>
        </p:nvPicPr>
        <p:blipFill rotWithShape="1">
          <a:blip r:embed="rId4">
            <a:alphaModFix/>
          </a:blip>
          <a:srcRect/>
          <a:stretch/>
        </p:blipFill>
        <p:spPr>
          <a:xfrm>
            <a:off x="6858000" y="2451345"/>
            <a:ext cx="4581469" cy="3608692"/>
          </a:xfrm>
          <a:prstGeom prst="rect">
            <a:avLst/>
          </a:prstGeom>
          <a:noFill/>
          <a:ln w="9525" cap="flat" cmpd="sng">
            <a:solidFill>
              <a:schemeClr val="dk1"/>
            </a:solidFill>
            <a:prstDash val="solid"/>
            <a:round/>
            <a:headEnd type="none" w="sm" len="sm"/>
            <a:tailEnd type="none" w="sm" len="sm"/>
          </a:ln>
        </p:spPr>
      </p:pic>
      <p:sp>
        <p:nvSpPr>
          <p:cNvPr id="120" name="Google Shape;120;p5"/>
          <p:cNvSpPr txBox="1"/>
          <p:nvPr/>
        </p:nvSpPr>
        <p:spPr>
          <a:xfrm>
            <a:off x="5943600" y="4191000"/>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Income</a:t>
            </a:r>
            <a:endParaRPr sz="1800">
              <a:solidFill>
                <a:schemeClr val="dk1"/>
              </a:solidFill>
              <a:latin typeface="Calibri"/>
              <a:ea typeface="Calibri"/>
              <a:cs typeface="Calibri"/>
              <a:sym typeface="Calibri"/>
            </a:endParaRPr>
          </a:p>
        </p:txBody>
      </p:sp>
      <p:sp>
        <p:nvSpPr>
          <p:cNvPr id="121" name="Google Shape;121;p5"/>
          <p:cNvSpPr txBox="1"/>
          <p:nvPr/>
        </p:nvSpPr>
        <p:spPr>
          <a:xfrm>
            <a:off x="9148734" y="6060037"/>
            <a:ext cx="9144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Age</a:t>
            </a:r>
            <a:endParaRPr sz="18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a:t>How does Unsupervised Learning Work?</a:t>
            </a:r>
            <a:endParaRPr/>
          </a:p>
        </p:txBody>
      </p:sp>
      <p:sp>
        <p:nvSpPr>
          <p:cNvPr id="127" name="Google Shape;127;p6"/>
          <p:cNvSpPr txBox="1">
            <a:spLocks noGrp="1"/>
          </p:cNvSpPr>
          <p:nvPr>
            <p:ph type="body" idx="1"/>
          </p:nvPr>
        </p:nvSpPr>
        <p:spPr>
          <a:xfrm>
            <a:off x="762000" y="1417638"/>
            <a:ext cx="10515600" cy="5364161"/>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1800"/>
              <a:buChar char="✔"/>
            </a:pPr>
            <a:r>
              <a:rPr lang="en-US" sz="1800"/>
              <a:t>Suppose an input dataset containing images of different types of cats and dogs. Here, we have taken an unlabeled input data, which means it is not categorized and corresponding outputs are not given. </a:t>
            </a:r>
            <a:endParaRPr sz="1800"/>
          </a:p>
          <a:p>
            <a:pPr marL="342900" lvl="1" indent="-342900" algn="just" rtl="0">
              <a:spcBef>
                <a:spcPts val="360"/>
              </a:spcBef>
              <a:spcAft>
                <a:spcPts val="0"/>
              </a:spcAft>
              <a:buClr>
                <a:schemeClr val="dk1"/>
              </a:buClr>
              <a:buSzPts val="1800"/>
              <a:buFont typeface="Noto Sans Symbols"/>
              <a:buChar char="✔"/>
            </a:pPr>
            <a:r>
              <a:rPr lang="en-US" sz="1800"/>
              <a:t>Now, this unlabeled input data is fed to the machine learning model in order to train it. </a:t>
            </a:r>
            <a:endParaRPr sz="1800"/>
          </a:p>
          <a:p>
            <a:pPr marL="342900" lvl="1" indent="-342900" algn="just" rtl="0">
              <a:spcBef>
                <a:spcPts val="360"/>
              </a:spcBef>
              <a:spcAft>
                <a:spcPts val="0"/>
              </a:spcAft>
              <a:buClr>
                <a:schemeClr val="dk1"/>
              </a:buClr>
              <a:buSzPts val="1800"/>
              <a:buFont typeface="Noto Sans Symbols"/>
              <a:buChar char="✔"/>
            </a:pPr>
            <a:r>
              <a:rPr lang="en-US" sz="1800"/>
              <a:t>Firstly, it will interpret the raw data to find the hidden patterns from the data and then will apply suitable algorithms such as K-means clustering algorithms.</a:t>
            </a:r>
            <a:endParaRPr sz="1800"/>
          </a:p>
          <a:p>
            <a:pPr marL="342900" lvl="0" indent="-342900" algn="just" rtl="0">
              <a:spcBef>
                <a:spcPts val="360"/>
              </a:spcBef>
              <a:spcAft>
                <a:spcPts val="0"/>
              </a:spcAft>
              <a:buClr>
                <a:schemeClr val="dk1"/>
              </a:buClr>
              <a:buSzPts val="1800"/>
              <a:buChar char="✔"/>
            </a:pPr>
            <a:r>
              <a:rPr lang="en-US" sz="1800"/>
              <a:t>Once it applies the suitable algorithm, the algorithm divides the data objects into groups according to the similarities and difference between the objects.</a:t>
            </a:r>
            <a:endParaRPr/>
          </a:p>
          <a:p>
            <a:pPr marL="0" lvl="0" indent="0" algn="just" rtl="0">
              <a:spcBef>
                <a:spcPts val="360"/>
              </a:spcBef>
              <a:spcAft>
                <a:spcPts val="0"/>
              </a:spcAft>
              <a:buClr>
                <a:schemeClr val="dk1"/>
              </a:buClr>
              <a:buSzPts val="1800"/>
              <a:buNone/>
            </a:pPr>
            <a:endParaRPr sz="1800"/>
          </a:p>
        </p:txBody>
      </p:sp>
      <p:grpSp>
        <p:nvGrpSpPr>
          <p:cNvPr id="128" name="Google Shape;128;p6"/>
          <p:cNvGrpSpPr/>
          <p:nvPr/>
        </p:nvGrpSpPr>
        <p:grpSpPr>
          <a:xfrm>
            <a:off x="2604765" y="3961802"/>
            <a:ext cx="6830070" cy="2801336"/>
            <a:chOff x="1475730" y="675891"/>
            <a:chExt cx="9240540" cy="5506218"/>
          </a:xfrm>
        </p:grpSpPr>
        <p:pic>
          <p:nvPicPr>
            <p:cNvPr id="129" name="Google Shape;129;p6"/>
            <p:cNvPicPr preferRelativeResize="0"/>
            <p:nvPr/>
          </p:nvPicPr>
          <p:blipFill rotWithShape="1">
            <a:blip r:embed="rId3">
              <a:alphaModFix/>
            </a:blip>
            <a:srcRect/>
            <a:stretch/>
          </p:blipFill>
          <p:spPr>
            <a:xfrm>
              <a:off x="1475730" y="675891"/>
              <a:ext cx="9240540" cy="5506218"/>
            </a:xfrm>
            <a:prstGeom prst="rect">
              <a:avLst/>
            </a:prstGeom>
            <a:noFill/>
            <a:ln>
              <a:noFill/>
            </a:ln>
          </p:spPr>
        </p:pic>
        <p:sp>
          <p:nvSpPr>
            <p:cNvPr id="130" name="Google Shape;130;p6"/>
            <p:cNvSpPr/>
            <p:nvPr/>
          </p:nvSpPr>
          <p:spPr>
            <a:xfrm>
              <a:off x="5334000" y="4114800"/>
              <a:ext cx="1981200" cy="1600200"/>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7"/>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37" name="Google Shape;137;p7"/>
          <p:cNvSpPr txBox="1">
            <a:spLocks noGrp="1"/>
          </p:cNvSpPr>
          <p:nvPr>
            <p:ph type="body" idx="1"/>
          </p:nvPr>
        </p:nvSpPr>
        <p:spPr>
          <a:xfrm>
            <a:off x="381000" y="1447800"/>
            <a:ext cx="11201400" cy="5334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200"/>
              <a:buFont typeface="Noto Sans Symbols"/>
              <a:buChar char="✔"/>
            </a:pPr>
            <a:r>
              <a:rPr lang="en-US" sz="2200"/>
              <a:t> </a:t>
            </a:r>
            <a:r>
              <a:rPr lang="en-US" sz="2200" b="1"/>
              <a:t>Unsupervised</a:t>
            </a:r>
            <a:r>
              <a:rPr lang="en-US" sz="2200"/>
              <a:t> learning can be broken down into three main tasks: </a:t>
            </a:r>
            <a:endParaRPr/>
          </a:p>
          <a:p>
            <a:pPr marL="742950" lvl="1" indent="-285750" algn="l" rtl="0">
              <a:spcBef>
                <a:spcPts val="440"/>
              </a:spcBef>
              <a:spcAft>
                <a:spcPts val="0"/>
              </a:spcAft>
              <a:buClr>
                <a:schemeClr val="dk1"/>
              </a:buClr>
              <a:buSzPts val="2200"/>
              <a:buChar char="–"/>
            </a:pPr>
            <a:r>
              <a:rPr lang="en-US" sz="2200"/>
              <a:t>Clustering</a:t>
            </a:r>
            <a:endParaRPr/>
          </a:p>
          <a:p>
            <a:pPr marL="742950" lvl="1" indent="-285750" algn="l" rtl="0">
              <a:spcBef>
                <a:spcPts val="440"/>
              </a:spcBef>
              <a:spcAft>
                <a:spcPts val="0"/>
              </a:spcAft>
              <a:buClr>
                <a:schemeClr val="dk1"/>
              </a:buClr>
              <a:buSzPts val="2200"/>
              <a:buChar char="–"/>
            </a:pPr>
            <a:r>
              <a:rPr lang="en-US" sz="2200"/>
              <a:t>Association rules</a:t>
            </a:r>
            <a:endParaRPr/>
          </a:p>
          <a:p>
            <a:pPr marL="742950" lvl="1" indent="-285750" algn="l" rtl="0">
              <a:spcBef>
                <a:spcPts val="440"/>
              </a:spcBef>
              <a:spcAft>
                <a:spcPts val="0"/>
              </a:spcAft>
              <a:buClr>
                <a:schemeClr val="dk1"/>
              </a:buClr>
              <a:buSzPts val="2200"/>
              <a:buChar char="–"/>
            </a:pPr>
            <a:r>
              <a:rPr lang="en-US" sz="2200"/>
              <a:t>Dimensionality reduction. </a:t>
            </a:r>
            <a:endParaRPr/>
          </a:p>
          <a:p>
            <a:pPr marL="342900" lvl="0" indent="-203200" algn="l" rtl="0">
              <a:spcBef>
                <a:spcPts val="440"/>
              </a:spcBef>
              <a:spcAft>
                <a:spcPts val="0"/>
              </a:spcAft>
              <a:buClr>
                <a:schemeClr val="dk1"/>
              </a:buClr>
              <a:buSzPts val="2200"/>
              <a:buFont typeface="Noto Sans Symbols"/>
              <a:buNone/>
            </a:pPr>
            <a:endParaRPr sz="2200"/>
          </a:p>
        </p:txBody>
      </p:sp>
      <p:pic>
        <p:nvPicPr>
          <p:cNvPr id="138" name="Google Shape;138;p7"/>
          <p:cNvPicPr preferRelativeResize="0"/>
          <p:nvPr/>
        </p:nvPicPr>
        <p:blipFill rotWithShape="1">
          <a:blip r:embed="rId3">
            <a:alphaModFix/>
          </a:blip>
          <a:srcRect/>
          <a:stretch/>
        </p:blipFill>
        <p:spPr>
          <a:xfrm>
            <a:off x="668041" y="3124200"/>
            <a:ext cx="4361159" cy="373380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44" name="Google Shape;144;p8"/>
          <p:cNvSpPr txBox="1">
            <a:spLocks noGrp="1"/>
          </p:cNvSpPr>
          <p:nvPr>
            <p:ph type="body" idx="1"/>
          </p:nvPr>
        </p:nvSpPr>
        <p:spPr>
          <a:xfrm>
            <a:off x="381000" y="1371600"/>
            <a:ext cx="11277600" cy="55626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1800"/>
              <a:buNone/>
            </a:pPr>
            <a:r>
              <a:rPr lang="en-US" sz="1800" b="1"/>
              <a:t>Clustering Algorithms</a:t>
            </a:r>
            <a:endParaRPr/>
          </a:p>
          <a:p>
            <a:pPr marL="342900" lvl="0" indent="-342900" algn="l" rtl="0">
              <a:spcBef>
                <a:spcPts val="360"/>
              </a:spcBef>
              <a:spcAft>
                <a:spcPts val="0"/>
              </a:spcAft>
              <a:buClr>
                <a:schemeClr val="dk1"/>
              </a:buClr>
              <a:buSzPts val="1800"/>
              <a:buFont typeface="Noto Sans Symbols"/>
              <a:buChar char="✔"/>
            </a:pPr>
            <a:r>
              <a:rPr lang="en-US" sz="1800"/>
              <a:t>Clustering algorithms only interpret the input data and find natural groups or clusters in feature space</a:t>
            </a: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228600" algn="l" rtl="0">
              <a:spcBef>
                <a:spcPts val="360"/>
              </a:spcBef>
              <a:spcAft>
                <a:spcPts val="0"/>
              </a:spcAft>
              <a:buClr>
                <a:schemeClr val="dk1"/>
              </a:buClr>
              <a:buSzPts val="1800"/>
              <a:buFont typeface="Noto Sans Symbols"/>
              <a:buNone/>
            </a:pPr>
            <a:endParaRPr sz="1800"/>
          </a:p>
          <a:p>
            <a:pPr marL="342900" lvl="0" indent="-342900" algn="l" rtl="0">
              <a:spcBef>
                <a:spcPts val="360"/>
              </a:spcBef>
              <a:spcAft>
                <a:spcPts val="0"/>
              </a:spcAft>
              <a:buClr>
                <a:schemeClr val="dk1"/>
              </a:buClr>
              <a:buSzPts val="1800"/>
              <a:buFont typeface="Noto Sans Symbols"/>
              <a:buChar char="✔"/>
            </a:pPr>
            <a:r>
              <a:rPr lang="en-US" sz="1800"/>
              <a:t>Clustering is a popular type of unsupervised learning approach. You can even break it down further into different types of clustering; for example: </a:t>
            </a:r>
            <a:endParaRPr/>
          </a:p>
          <a:p>
            <a:pPr marL="742950" lvl="1" indent="-285750" algn="l" rtl="0">
              <a:spcBef>
                <a:spcPts val="360"/>
              </a:spcBef>
              <a:spcAft>
                <a:spcPts val="0"/>
              </a:spcAft>
              <a:buClr>
                <a:schemeClr val="dk1"/>
              </a:buClr>
              <a:buSzPts val="1800"/>
              <a:buChar char="–"/>
            </a:pPr>
            <a:r>
              <a:rPr lang="en-US" sz="1800" b="1"/>
              <a:t>Exlcusive clustering</a:t>
            </a:r>
            <a:r>
              <a:rPr lang="en-US" sz="1800"/>
              <a:t>: or “hard” clustering </a:t>
            </a:r>
            <a:endParaRPr sz="1800"/>
          </a:p>
          <a:p>
            <a:pPr marL="1143000" lvl="2" indent="-228600" algn="l" rtl="0">
              <a:spcBef>
                <a:spcPts val="360"/>
              </a:spcBef>
              <a:spcAft>
                <a:spcPts val="0"/>
              </a:spcAft>
              <a:buClr>
                <a:schemeClr val="dk1"/>
              </a:buClr>
              <a:buSzPts val="1800"/>
              <a:buChar char="•"/>
            </a:pPr>
            <a:r>
              <a:rPr lang="en-US" sz="1800"/>
              <a:t>It is the kind of grouping in which one piece of data can belong only to one cluster.</a:t>
            </a:r>
            <a:endParaRPr/>
          </a:p>
          <a:p>
            <a:pPr marL="742950" lvl="1" indent="-285750" algn="l" rtl="0">
              <a:spcBef>
                <a:spcPts val="360"/>
              </a:spcBef>
              <a:spcAft>
                <a:spcPts val="0"/>
              </a:spcAft>
              <a:buClr>
                <a:schemeClr val="dk1"/>
              </a:buClr>
              <a:buSzPts val="1800"/>
              <a:buChar char="–"/>
            </a:pPr>
            <a:r>
              <a:rPr lang="en-US" sz="1800" b="1"/>
              <a:t>Overlapping clustering</a:t>
            </a:r>
            <a:r>
              <a:rPr lang="en-US" sz="1800"/>
              <a:t>: </a:t>
            </a:r>
            <a:endParaRPr sz="1800"/>
          </a:p>
          <a:p>
            <a:pPr marL="1143000" lvl="2" indent="-228600" algn="l" rtl="0">
              <a:spcBef>
                <a:spcPts val="360"/>
              </a:spcBef>
              <a:spcAft>
                <a:spcPts val="0"/>
              </a:spcAft>
              <a:buClr>
                <a:schemeClr val="dk1"/>
              </a:buClr>
              <a:buSzPts val="1800"/>
              <a:buChar char="•"/>
            </a:pPr>
            <a:r>
              <a:rPr lang="en-US" sz="1800"/>
              <a:t>A soft cluster in which a single data point may belong to multiple clusters with varying degrees of membership. </a:t>
            </a:r>
            <a:endParaRPr sz="1800"/>
          </a:p>
        </p:txBody>
      </p:sp>
      <p:pic>
        <p:nvPicPr>
          <p:cNvPr id="145" name="Google Shape;145;p8"/>
          <p:cNvPicPr preferRelativeResize="0"/>
          <p:nvPr/>
        </p:nvPicPr>
        <p:blipFill rotWithShape="1">
          <a:blip r:embed="rId3">
            <a:alphaModFix/>
          </a:blip>
          <a:srcRect/>
          <a:stretch/>
        </p:blipFill>
        <p:spPr>
          <a:xfrm>
            <a:off x="2698776" y="2105608"/>
            <a:ext cx="5073624" cy="2542592"/>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9"/>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51" name="Google Shape;151;p9"/>
          <p:cNvSpPr txBox="1">
            <a:spLocks noGrp="1"/>
          </p:cNvSpPr>
          <p:nvPr>
            <p:ph type="body" idx="1"/>
          </p:nvPr>
        </p:nvSpPr>
        <p:spPr>
          <a:xfrm>
            <a:off x="0" y="1371600"/>
            <a:ext cx="6858000" cy="52578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1800"/>
              <a:buChar char="✔"/>
            </a:pPr>
            <a:r>
              <a:rPr lang="en-US" sz="1800" b="1"/>
              <a:t>Clustering Algorithms</a:t>
            </a:r>
            <a:endParaRPr/>
          </a:p>
          <a:p>
            <a:pPr marL="742950" lvl="1" indent="-285750" algn="just" rtl="0">
              <a:spcBef>
                <a:spcPts val="360"/>
              </a:spcBef>
              <a:spcAft>
                <a:spcPts val="0"/>
              </a:spcAft>
              <a:buClr>
                <a:schemeClr val="dk1"/>
              </a:buClr>
              <a:buSzPts val="1800"/>
              <a:buChar char="–"/>
            </a:pPr>
            <a:r>
              <a:rPr lang="en-US" sz="1800" b="1"/>
              <a:t>Hierarchical Clustering:</a:t>
            </a:r>
            <a:r>
              <a:rPr lang="en-US" sz="1800"/>
              <a:t> </a:t>
            </a:r>
            <a:endParaRPr sz="1800"/>
          </a:p>
          <a:p>
            <a:pPr marL="1143000" lvl="2" indent="-228600" algn="just" rtl="0">
              <a:spcBef>
                <a:spcPts val="360"/>
              </a:spcBef>
              <a:spcAft>
                <a:spcPts val="0"/>
              </a:spcAft>
              <a:buClr>
                <a:schemeClr val="dk1"/>
              </a:buClr>
              <a:buSzPts val="1800"/>
              <a:buChar char="•"/>
            </a:pPr>
            <a:r>
              <a:rPr lang="en-US" sz="1800"/>
              <a:t>Hierarchical clustering develops a hierarchy of clusters by merging or splitting them depending on their similarity. Here, two close cluster are going to be in the same cluster. </a:t>
            </a:r>
            <a:endParaRPr sz="1800"/>
          </a:p>
          <a:p>
            <a:pPr marL="1143000" lvl="2" indent="-228600" algn="just" rtl="0">
              <a:spcBef>
                <a:spcPts val="360"/>
              </a:spcBef>
              <a:spcAft>
                <a:spcPts val="0"/>
              </a:spcAft>
              <a:buClr>
                <a:schemeClr val="dk1"/>
              </a:buClr>
              <a:buSzPts val="1800"/>
              <a:buChar char="•"/>
            </a:pPr>
            <a:r>
              <a:rPr lang="en-US" sz="1800"/>
              <a:t>In case you start with all data items attached to the same cluster and then </a:t>
            </a:r>
            <a:r>
              <a:rPr lang="en-US" sz="1800" b="1"/>
              <a:t>perform splits </a:t>
            </a:r>
            <a:r>
              <a:rPr lang="en-US" sz="1800"/>
              <a:t>until each data item is set as a separate cluster, the approach will be called </a:t>
            </a:r>
            <a:r>
              <a:rPr lang="en-US" sz="1800" b="1"/>
              <a:t>top-down or </a:t>
            </a:r>
            <a:r>
              <a:rPr lang="en-US" sz="1800" b="1" i="1"/>
              <a:t>divisive</a:t>
            </a:r>
            <a:r>
              <a:rPr lang="en-US" sz="1800" b="1"/>
              <a:t> hierarchical clustering.</a:t>
            </a:r>
            <a:endParaRPr/>
          </a:p>
          <a:p>
            <a:pPr marL="1143000" lvl="2" indent="-228600" algn="just" rtl="0">
              <a:spcBef>
                <a:spcPts val="360"/>
              </a:spcBef>
              <a:spcAft>
                <a:spcPts val="0"/>
              </a:spcAft>
              <a:buClr>
                <a:schemeClr val="dk1"/>
              </a:buClr>
              <a:buSzPts val="1800"/>
              <a:buChar char="•"/>
            </a:pPr>
            <a:r>
              <a:rPr lang="en-US" sz="1800"/>
              <a:t>Two clusters that are closest to one another are then </a:t>
            </a:r>
            <a:r>
              <a:rPr lang="en-US" sz="1800" b="1"/>
              <a:t>merged</a:t>
            </a:r>
            <a:r>
              <a:rPr lang="en-US" sz="1800"/>
              <a:t> into a single cluster. The merging goes on iteratively till there's only one cluster left at the top. Such an approach is known </a:t>
            </a:r>
            <a:r>
              <a:rPr lang="en-US" sz="1800" b="1"/>
              <a:t>as bottom-up or </a:t>
            </a:r>
            <a:r>
              <a:rPr lang="en-US" sz="1800" b="1" i="1"/>
              <a:t>agglomerative</a:t>
            </a:r>
            <a:r>
              <a:rPr lang="en-US" sz="1800"/>
              <a:t>.</a:t>
            </a:r>
            <a:endParaRPr/>
          </a:p>
          <a:p>
            <a:pPr marL="1143000" lvl="2" indent="-228600" algn="just" rtl="0">
              <a:spcBef>
                <a:spcPts val="360"/>
              </a:spcBef>
              <a:spcAft>
                <a:spcPts val="0"/>
              </a:spcAft>
              <a:buClr>
                <a:schemeClr val="dk1"/>
              </a:buClr>
              <a:buSzPts val="1800"/>
              <a:buChar char="•"/>
            </a:pPr>
            <a:r>
              <a:rPr lang="en-US" sz="1800"/>
              <a:t>The example shows how seven different clusters (data points) are merged step by step based on distance until they all create one large cluster.</a:t>
            </a:r>
            <a:endParaRPr/>
          </a:p>
          <a:p>
            <a:pPr marL="742950" lvl="1" indent="-171450" algn="just" rtl="0">
              <a:spcBef>
                <a:spcPts val="360"/>
              </a:spcBef>
              <a:spcAft>
                <a:spcPts val="0"/>
              </a:spcAft>
              <a:buClr>
                <a:schemeClr val="dk1"/>
              </a:buClr>
              <a:buSzPts val="1800"/>
              <a:buNone/>
            </a:pPr>
            <a:endParaRPr sz="1800"/>
          </a:p>
          <a:p>
            <a:pPr marL="342900" lvl="0" indent="-228600" algn="just" rtl="0">
              <a:spcBef>
                <a:spcPts val="360"/>
              </a:spcBef>
              <a:spcAft>
                <a:spcPts val="0"/>
              </a:spcAft>
              <a:buClr>
                <a:schemeClr val="dk1"/>
              </a:buClr>
              <a:buSzPts val="1800"/>
              <a:buNone/>
            </a:pPr>
            <a:endParaRPr sz="1800"/>
          </a:p>
        </p:txBody>
      </p:sp>
      <p:pic>
        <p:nvPicPr>
          <p:cNvPr id="152" name="Google Shape;152;p9"/>
          <p:cNvPicPr preferRelativeResize="0"/>
          <p:nvPr/>
        </p:nvPicPr>
        <p:blipFill rotWithShape="1">
          <a:blip r:embed="rId3">
            <a:alphaModFix/>
          </a:blip>
          <a:srcRect/>
          <a:stretch/>
        </p:blipFill>
        <p:spPr>
          <a:xfrm>
            <a:off x="6948420" y="2362200"/>
            <a:ext cx="5167380" cy="3200400"/>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59" name="Google Shape;159;p10"/>
          <p:cNvSpPr txBox="1">
            <a:spLocks noGrp="1"/>
          </p:cNvSpPr>
          <p:nvPr>
            <p:ph type="body" idx="1"/>
          </p:nvPr>
        </p:nvSpPr>
        <p:spPr>
          <a:xfrm>
            <a:off x="-76200" y="1295400"/>
            <a:ext cx="7391400" cy="49530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b="1"/>
              <a:t>Clustering Algorithms</a:t>
            </a:r>
            <a:endParaRPr/>
          </a:p>
          <a:p>
            <a:pPr marL="742950" lvl="1" indent="-285750" algn="just" rtl="0">
              <a:spcBef>
                <a:spcPts val="400"/>
              </a:spcBef>
              <a:spcAft>
                <a:spcPts val="0"/>
              </a:spcAft>
              <a:buClr>
                <a:schemeClr val="dk1"/>
              </a:buClr>
              <a:buSzPts val="2000"/>
              <a:buChar char="–"/>
            </a:pPr>
            <a:r>
              <a:rPr lang="en-US" b="1"/>
              <a:t>K-Means Clustering </a:t>
            </a:r>
            <a:endParaRPr b="1"/>
          </a:p>
          <a:p>
            <a:pPr marL="1143000" lvl="2" indent="-228600" algn="just" rtl="0">
              <a:spcBef>
                <a:spcPts val="400"/>
              </a:spcBef>
              <a:spcAft>
                <a:spcPts val="0"/>
              </a:spcAft>
              <a:buClr>
                <a:schemeClr val="dk1"/>
              </a:buClr>
              <a:buSzPts val="2000"/>
              <a:buChar char="•"/>
            </a:pPr>
            <a:r>
              <a:rPr lang="en-US"/>
              <a:t>In K-means clustering, data is grouped in terms of characteristics and similarities. </a:t>
            </a:r>
            <a:endParaRPr/>
          </a:p>
          <a:p>
            <a:pPr marL="1143000" lvl="2" indent="-228600" algn="just" rtl="0">
              <a:spcBef>
                <a:spcPts val="400"/>
              </a:spcBef>
              <a:spcAft>
                <a:spcPts val="0"/>
              </a:spcAft>
              <a:buClr>
                <a:schemeClr val="dk1"/>
              </a:buClr>
              <a:buSzPts val="2000"/>
              <a:buChar char="•"/>
            </a:pPr>
            <a:r>
              <a:rPr lang="en-US"/>
              <a:t>K is a letter that represents the number of clusters. For example, if K=3, then the number of desired clusters is 3. If K=10, then the number of desired clusters is 10.</a:t>
            </a:r>
            <a:endParaRPr b="1"/>
          </a:p>
          <a:p>
            <a:pPr marL="1143000" lvl="2" indent="-228600" algn="just" rtl="0">
              <a:spcBef>
                <a:spcPts val="400"/>
              </a:spcBef>
              <a:spcAft>
                <a:spcPts val="0"/>
              </a:spcAft>
              <a:buClr>
                <a:schemeClr val="dk1"/>
              </a:buClr>
              <a:buSzPts val="2000"/>
              <a:buChar char="•"/>
            </a:pPr>
            <a:r>
              <a:rPr lang="en-US"/>
              <a:t>It puts the data points into the predefined number of clusters </a:t>
            </a:r>
            <a:r>
              <a:rPr lang="en-US" i="1"/>
              <a:t>K</a:t>
            </a:r>
            <a:r>
              <a:rPr lang="en-US"/>
              <a:t>. </a:t>
            </a:r>
            <a:endParaRPr/>
          </a:p>
          <a:p>
            <a:pPr marL="1143000" lvl="2" indent="-228600" algn="just" rtl="0">
              <a:spcBef>
                <a:spcPts val="400"/>
              </a:spcBef>
              <a:spcAft>
                <a:spcPts val="0"/>
              </a:spcAft>
              <a:buClr>
                <a:schemeClr val="dk1"/>
              </a:buClr>
              <a:buSzPts val="2000"/>
              <a:buChar char="•"/>
            </a:pPr>
            <a:r>
              <a:rPr lang="en-US"/>
              <a:t>Each data item then gets assigned to the nearest cluster center, called </a:t>
            </a:r>
            <a:r>
              <a:rPr lang="en-US" i="1"/>
              <a:t>centroids </a:t>
            </a:r>
            <a:r>
              <a:rPr lang="en-US"/>
              <a:t>(black dots in the picture). The latter act as data accumulation areas.</a:t>
            </a:r>
            <a:endParaRPr/>
          </a:p>
          <a:p>
            <a:pPr marL="1143000" lvl="2" indent="-228600" algn="just" rtl="0">
              <a:spcBef>
                <a:spcPts val="400"/>
              </a:spcBef>
              <a:spcAft>
                <a:spcPts val="0"/>
              </a:spcAft>
              <a:buClr>
                <a:schemeClr val="dk1"/>
              </a:buClr>
              <a:buSzPts val="2000"/>
              <a:buChar char="•"/>
            </a:pPr>
            <a:r>
              <a:rPr lang="en-US"/>
              <a:t>The procedure of clustering may be repeated several times until the clusters are well-defined.</a:t>
            </a:r>
            <a:endParaRPr/>
          </a:p>
          <a:p>
            <a:pPr marL="342900" lvl="0" indent="-215900" algn="just" rtl="0">
              <a:spcBef>
                <a:spcPts val="400"/>
              </a:spcBef>
              <a:spcAft>
                <a:spcPts val="0"/>
              </a:spcAft>
              <a:buClr>
                <a:schemeClr val="dk1"/>
              </a:buClr>
              <a:buSzPts val="2000"/>
              <a:buNone/>
            </a:pPr>
            <a:endParaRPr/>
          </a:p>
        </p:txBody>
      </p:sp>
      <p:pic>
        <p:nvPicPr>
          <p:cNvPr id="160" name="Google Shape;160;p10"/>
          <p:cNvPicPr preferRelativeResize="0"/>
          <p:nvPr/>
        </p:nvPicPr>
        <p:blipFill rotWithShape="1">
          <a:blip r:embed="rId3">
            <a:alphaModFix/>
          </a:blip>
          <a:srcRect/>
          <a:stretch/>
        </p:blipFill>
        <p:spPr>
          <a:xfrm>
            <a:off x="7315200" y="2129934"/>
            <a:ext cx="4663440" cy="3291840"/>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1"/>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67" name="Google Shape;167;p11"/>
          <p:cNvSpPr txBox="1">
            <a:spLocks noGrp="1"/>
          </p:cNvSpPr>
          <p:nvPr>
            <p:ph type="body" idx="1"/>
          </p:nvPr>
        </p:nvSpPr>
        <p:spPr>
          <a:xfrm>
            <a:off x="228600" y="1295400"/>
            <a:ext cx="11353800" cy="50292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1800"/>
              <a:buFont typeface="Noto Sans Symbols"/>
              <a:buChar char="✔"/>
            </a:pPr>
            <a:r>
              <a:rPr lang="en-US" sz="1800" b="1" dirty="0"/>
              <a:t>Clustering Algorithms</a:t>
            </a:r>
            <a:endParaRPr dirty="0"/>
          </a:p>
          <a:p>
            <a:pPr marL="742950" lvl="1" indent="-285750" algn="l" rtl="0">
              <a:spcBef>
                <a:spcPts val="360"/>
              </a:spcBef>
              <a:spcAft>
                <a:spcPts val="0"/>
              </a:spcAft>
              <a:buClr>
                <a:schemeClr val="dk1"/>
              </a:buClr>
              <a:buSzPts val="1800"/>
              <a:buChar char="–"/>
            </a:pPr>
            <a:r>
              <a:rPr lang="en-US" sz="1800" b="1" dirty="0"/>
              <a:t>Fuzzy K-means</a:t>
            </a:r>
            <a:r>
              <a:rPr lang="en-US" sz="1800" dirty="0"/>
              <a:t> </a:t>
            </a:r>
            <a:endParaRPr sz="1800" dirty="0"/>
          </a:p>
          <a:p>
            <a:pPr marL="1143000" lvl="2" indent="-228600" algn="l" rtl="0">
              <a:spcBef>
                <a:spcPts val="360"/>
              </a:spcBef>
              <a:spcAft>
                <a:spcPts val="0"/>
              </a:spcAft>
              <a:buClr>
                <a:schemeClr val="dk1"/>
              </a:buClr>
              <a:buSzPts val="1800"/>
              <a:buChar char="•"/>
            </a:pPr>
            <a:r>
              <a:rPr lang="en-US" sz="1800" dirty="0"/>
              <a:t>It is an extension of the K-means algorithm used to perform overlapping clustering. Unlike the K-means algorithm, </a:t>
            </a:r>
            <a:r>
              <a:rPr lang="en-US" sz="1800" b="1" dirty="0">
                <a:solidFill>
                  <a:srgbClr val="FF0000"/>
                </a:solidFill>
              </a:rPr>
              <a:t>fuzzy K-means implies that data points can belong to more than one cluster with a certain level of closeness towards each</a:t>
            </a:r>
            <a:r>
              <a:rPr lang="en-US" sz="1800" dirty="0"/>
              <a:t>.</a:t>
            </a:r>
            <a:endParaRPr dirty="0"/>
          </a:p>
          <a:p>
            <a:pPr marL="1143000" lvl="2" indent="-228600" algn="l" rtl="0">
              <a:spcBef>
                <a:spcPts val="360"/>
              </a:spcBef>
              <a:spcAft>
                <a:spcPts val="0"/>
              </a:spcAft>
              <a:buClr>
                <a:schemeClr val="dk1"/>
              </a:buClr>
              <a:buSzPts val="1800"/>
              <a:buChar char="•"/>
            </a:pPr>
            <a:r>
              <a:rPr lang="en-US" sz="1800" dirty="0"/>
              <a:t>The closeness is measured by the distance from a data point to the centroid of the cluster. So, sometimes there may be an overlap between different clusters.</a:t>
            </a:r>
            <a:endParaRPr dirty="0"/>
          </a:p>
          <a:p>
            <a:pPr marL="1143000" lvl="2" indent="-11430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171450" algn="l" rtl="0">
              <a:spcBef>
                <a:spcPts val="360"/>
              </a:spcBef>
              <a:spcAft>
                <a:spcPts val="0"/>
              </a:spcAft>
              <a:buClr>
                <a:schemeClr val="dk1"/>
              </a:buClr>
              <a:buSzPts val="1800"/>
              <a:buNone/>
            </a:pPr>
            <a:endParaRPr sz="1800" dirty="0"/>
          </a:p>
          <a:p>
            <a:pPr marL="742950" lvl="1" indent="-285750" algn="l" rtl="0">
              <a:spcBef>
                <a:spcPts val="360"/>
              </a:spcBef>
              <a:spcAft>
                <a:spcPts val="0"/>
              </a:spcAft>
              <a:buClr>
                <a:schemeClr val="dk1"/>
              </a:buClr>
              <a:buSzPts val="1800"/>
              <a:buChar char="–"/>
            </a:pPr>
            <a:r>
              <a:rPr lang="en-US" sz="1800" dirty="0"/>
              <a:t/>
            </a:r>
            <a:br>
              <a:rPr lang="en-US" sz="1800" dirty="0"/>
            </a:br>
            <a:endParaRPr sz="1800" dirty="0"/>
          </a:p>
          <a:p>
            <a:pPr marL="342900" lvl="0" indent="-228600" algn="l" rtl="0">
              <a:spcBef>
                <a:spcPts val="360"/>
              </a:spcBef>
              <a:spcAft>
                <a:spcPts val="0"/>
              </a:spcAft>
              <a:buClr>
                <a:schemeClr val="dk1"/>
              </a:buClr>
              <a:buSzPts val="1800"/>
              <a:buFont typeface="Noto Sans Symbols"/>
              <a:buNone/>
            </a:pPr>
            <a:endParaRPr sz="1800" dirty="0"/>
          </a:p>
        </p:txBody>
      </p:sp>
      <p:pic>
        <p:nvPicPr>
          <p:cNvPr id="168" name="Google Shape;168;p11"/>
          <p:cNvPicPr preferRelativeResize="0"/>
          <p:nvPr/>
        </p:nvPicPr>
        <p:blipFill rotWithShape="1">
          <a:blip r:embed="rId3">
            <a:alphaModFix/>
          </a:blip>
          <a:srcRect/>
          <a:stretch/>
        </p:blipFill>
        <p:spPr>
          <a:xfrm>
            <a:off x="3124200" y="3810000"/>
            <a:ext cx="5486795" cy="2667000"/>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2"/>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75" name="Google Shape;175;p12"/>
          <p:cNvSpPr txBox="1">
            <a:spLocks noGrp="1"/>
          </p:cNvSpPr>
          <p:nvPr>
            <p:ph type="body" idx="1"/>
          </p:nvPr>
        </p:nvSpPr>
        <p:spPr>
          <a:xfrm>
            <a:off x="381000" y="1524000"/>
            <a:ext cx="7086600" cy="49530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Font typeface="Noto Sans Symbols"/>
              <a:buChar char="✔"/>
            </a:pPr>
            <a:r>
              <a:rPr lang="en-US" b="1" dirty="0"/>
              <a:t>Clustering Algorithms</a:t>
            </a:r>
            <a:endParaRPr dirty="0"/>
          </a:p>
          <a:p>
            <a:pPr marL="742950" lvl="1" indent="-285750" algn="l" rtl="0">
              <a:spcBef>
                <a:spcPts val="360"/>
              </a:spcBef>
              <a:spcAft>
                <a:spcPts val="0"/>
              </a:spcAft>
              <a:buClr>
                <a:schemeClr val="dk1"/>
              </a:buClr>
              <a:buSzPts val="1800"/>
              <a:buChar char="–"/>
            </a:pPr>
            <a:r>
              <a:rPr lang="en-US" sz="1800" b="1" dirty="0"/>
              <a:t>Gaussian Mixture Models</a:t>
            </a:r>
            <a:r>
              <a:rPr lang="en-US" sz="1800" dirty="0"/>
              <a:t> (GMMs) is an algorithm used in probabilistic clustering. </a:t>
            </a:r>
            <a:endParaRPr dirty="0"/>
          </a:p>
          <a:p>
            <a:pPr marL="1143000" lvl="2" indent="-228600" algn="l" rtl="0">
              <a:spcBef>
                <a:spcPts val="360"/>
              </a:spcBef>
              <a:spcAft>
                <a:spcPts val="0"/>
              </a:spcAft>
              <a:buClr>
                <a:schemeClr val="dk1"/>
              </a:buClr>
              <a:buSzPts val="1800"/>
              <a:buChar char="•"/>
            </a:pPr>
            <a:r>
              <a:rPr lang="en-US" sz="1800" dirty="0"/>
              <a:t>Models assume that there is a certain number of Gaussian distributions, each representing a separate cluster. </a:t>
            </a:r>
            <a:endParaRPr dirty="0"/>
          </a:p>
          <a:p>
            <a:pPr marL="1143000" lvl="2" indent="-228600" algn="l" rtl="0">
              <a:spcBef>
                <a:spcPts val="360"/>
              </a:spcBef>
              <a:spcAft>
                <a:spcPts val="0"/>
              </a:spcAft>
              <a:buClr>
                <a:schemeClr val="dk1"/>
              </a:buClr>
              <a:buSzPts val="1800"/>
              <a:buChar char="•"/>
            </a:pPr>
            <a:r>
              <a:rPr lang="en-US" sz="1800" dirty="0"/>
              <a:t>The algorithm is basically utilized to decide which cluster a particular data point belongs to.</a:t>
            </a:r>
            <a:endParaRPr dirty="0"/>
          </a:p>
          <a:p>
            <a:pPr marL="1143000" lvl="2" indent="-114300" algn="l" rtl="0">
              <a:spcBef>
                <a:spcPts val="360"/>
              </a:spcBef>
              <a:spcAft>
                <a:spcPts val="0"/>
              </a:spcAft>
              <a:buClr>
                <a:schemeClr val="dk1"/>
              </a:buClr>
              <a:buSzPts val="1800"/>
              <a:buNone/>
            </a:pPr>
            <a:endParaRPr sz="1800" dirty="0"/>
          </a:p>
          <a:p>
            <a:pPr marL="1143000" lvl="2" indent="-114300" algn="l" rtl="0">
              <a:spcBef>
                <a:spcPts val="360"/>
              </a:spcBef>
              <a:spcAft>
                <a:spcPts val="0"/>
              </a:spcAft>
              <a:buClr>
                <a:schemeClr val="dk1"/>
              </a:buClr>
              <a:buSzPts val="1800"/>
              <a:buNone/>
            </a:pPr>
            <a:endParaRPr sz="1800" dirty="0"/>
          </a:p>
          <a:p>
            <a:pPr marL="742950" lvl="1" indent="-285750" algn="just" rtl="0">
              <a:spcBef>
                <a:spcPts val="400"/>
              </a:spcBef>
              <a:spcAft>
                <a:spcPts val="0"/>
              </a:spcAft>
              <a:buClr>
                <a:schemeClr val="dk1"/>
              </a:buClr>
              <a:buSzPts val="2000"/>
              <a:buChar char="–"/>
            </a:pPr>
            <a:r>
              <a:rPr lang="en-US" b="1" dirty="0"/>
              <a:t>DBSCAN (Density-Based Spatial Clustering of Applications with Noise):</a:t>
            </a:r>
            <a:r>
              <a:rPr lang="en-US" dirty="0"/>
              <a:t> DBSCAN  groups data points based on their density, identifying clusters of high-density regions and classifying outliers as noise.</a:t>
            </a:r>
            <a:endParaRPr dirty="0"/>
          </a:p>
        </p:txBody>
      </p:sp>
      <p:pic>
        <p:nvPicPr>
          <p:cNvPr id="176" name="Google Shape;176;p12"/>
          <p:cNvPicPr preferRelativeResize="0"/>
          <p:nvPr/>
        </p:nvPicPr>
        <p:blipFill rotWithShape="1">
          <a:blip r:embed="rId3">
            <a:alphaModFix/>
          </a:blip>
          <a:srcRect/>
          <a:stretch/>
        </p:blipFill>
        <p:spPr>
          <a:xfrm>
            <a:off x="7315200" y="1447800"/>
            <a:ext cx="4850979" cy="1877069"/>
          </a:xfrm>
          <a:prstGeom prst="rect">
            <a:avLst/>
          </a:prstGeom>
          <a:noFill/>
          <a:ln>
            <a:noFill/>
          </a:ln>
        </p:spPr>
      </p:pic>
      <p:pic>
        <p:nvPicPr>
          <p:cNvPr id="177" name="Google Shape;177;p12"/>
          <p:cNvPicPr preferRelativeResize="0"/>
          <p:nvPr/>
        </p:nvPicPr>
        <p:blipFill rotWithShape="1">
          <a:blip r:embed="rId4">
            <a:alphaModFix/>
          </a:blip>
          <a:srcRect/>
          <a:stretch/>
        </p:blipFill>
        <p:spPr>
          <a:xfrm>
            <a:off x="8686800" y="4191000"/>
            <a:ext cx="2250112" cy="2354932"/>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3"/>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83" name="Google Shape;183;p13"/>
          <p:cNvSpPr txBox="1">
            <a:spLocks noGrp="1"/>
          </p:cNvSpPr>
          <p:nvPr>
            <p:ph type="body" idx="1"/>
          </p:nvPr>
        </p:nvSpPr>
        <p:spPr>
          <a:xfrm>
            <a:off x="0" y="1646237"/>
            <a:ext cx="7924800" cy="46783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b="1" dirty="0"/>
              <a:t>Association Rule Mining</a:t>
            </a:r>
            <a:endParaRPr dirty="0"/>
          </a:p>
          <a:p>
            <a:pPr marL="742950" lvl="1" indent="-285750" algn="just" rtl="0">
              <a:spcBef>
                <a:spcPts val="400"/>
              </a:spcBef>
              <a:spcAft>
                <a:spcPts val="0"/>
              </a:spcAft>
              <a:buClr>
                <a:schemeClr val="dk1"/>
              </a:buClr>
              <a:buSzPts val="2000"/>
              <a:buChar char="–"/>
            </a:pPr>
            <a:r>
              <a:rPr lang="en-US" dirty="0"/>
              <a:t>Association rule mining focuses on discovering interesting relationships or patterns between variables in the large database. It determines the </a:t>
            </a:r>
            <a:r>
              <a:rPr lang="en-US" b="1" dirty="0"/>
              <a:t>set of items that occurs together in the dataset</a:t>
            </a:r>
            <a:r>
              <a:rPr lang="en-US" dirty="0"/>
              <a:t>. Association rule makes marketing strategy more effective. Such as people who buy X (suppose a bread) also tend purchase Y (Butter/Jam) item. The widely used algorithm for association rule mining is the </a:t>
            </a:r>
            <a:r>
              <a:rPr lang="en-US" b="1" dirty="0" err="1"/>
              <a:t>Apriori</a:t>
            </a:r>
            <a:r>
              <a:rPr lang="en-US" dirty="0"/>
              <a:t> algorithm.</a:t>
            </a:r>
            <a:endParaRPr dirty="0"/>
          </a:p>
          <a:p>
            <a:pPr marL="742950" lvl="1" indent="-196850" algn="just" rtl="0">
              <a:spcBef>
                <a:spcPts val="280"/>
              </a:spcBef>
              <a:spcAft>
                <a:spcPts val="0"/>
              </a:spcAft>
              <a:buClr>
                <a:schemeClr val="dk1"/>
              </a:buClr>
              <a:buSzPts val="1400"/>
              <a:buNone/>
            </a:pPr>
            <a:endParaRPr sz="1400" dirty="0"/>
          </a:p>
          <a:p>
            <a:pPr marL="1143000" lvl="2" indent="-228600" algn="just" rtl="0">
              <a:spcBef>
                <a:spcPts val="400"/>
              </a:spcBef>
              <a:spcAft>
                <a:spcPts val="0"/>
              </a:spcAft>
              <a:buClr>
                <a:schemeClr val="dk1"/>
              </a:buClr>
              <a:buSzPts val="2000"/>
              <a:buChar char="•"/>
            </a:pPr>
            <a:r>
              <a:rPr lang="en-US" b="1" dirty="0">
                <a:effectLst>
                  <a:outerShdw blurRad="38100" dist="38100" dir="2700000" algn="tl">
                    <a:srgbClr val="000000">
                      <a:alpha val="43137"/>
                    </a:srgbClr>
                  </a:outerShdw>
                </a:effectLst>
              </a:rPr>
              <a:t>A real-life example of this is market basket analysis</a:t>
            </a:r>
            <a:r>
              <a:rPr lang="en-US" dirty="0"/>
              <a:t>, where retailers analyze customer purchase data to identify relationships between products frequently bought together. For instance, this analysis might reveal that customers who purchase diapers also tend to buy baby wipes</a:t>
            </a:r>
            <a:endParaRPr dirty="0"/>
          </a:p>
        </p:txBody>
      </p:sp>
      <p:pic>
        <p:nvPicPr>
          <p:cNvPr id="184" name="Google Shape;184;p13"/>
          <p:cNvPicPr preferRelativeResize="0"/>
          <p:nvPr/>
        </p:nvPicPr>
        <p:blipFill rotWithShape="1">
          <a:blip r:embed="rId3">
            <a:alphaModFix/>
          </a:blip>
          <a:srcRect/>
          <a:stretch/>
        </p:blipFill>
        <p:spPr>
          <a:xfrm>
            <a:off x="8001000" y="2133600"/>
            <a:ext cx="4175154" cy="2886361"/>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4"/>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Types of Unsupervised Learning</a:t>
            </a:r>
            <a:br>
              <a:rPr lang="en-US" b="1"/>
            </a:br>
            <a:endParaRPr/>
          </a:p>
        </p:txBody>
      </p:sp>
      <p:sp>
        <p:nvSpPr>
          <p:cNvPr id="190" name="Google Shape;190;p14"/>
          <p:cNvSpPr txBox="1">
            <a:spLocks noGrp="1"/>
          </p:cNvSpPr>
          <p:nvPr>
            <p:ph type="body" idx="1"/>
          </p:nvPr>
        </p:nvSpPr>
        <p:spPr>
          <a:xfrm>
            <a:off x="762000" y="1447800"/>
            <a:ext cx="10439400" cy="4571999"/>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b="1"/>
              <a:t>Dimensionality Reduction Algorithms </a:t>
            </a:r>
            <a:r>
              <a:rPr lang="en-US"/>
              <a:t>Dimensionality reduction techniques are used to reduce the number of input variables or features while retaining meaningful information. Some popular dimensionality reduction algorithms include:</a:t>
            </a:r>
            <a:endParaRPr/>
          </a:p>
          <a:p>
            <a:pPr marL="342900" lvl="0" indent="-276225" algn="just" rtl="0">
              <a:spcBef>
                <a:spcPts val="210"/>
              </a:spcBef>
              <a:spcAft>
                <a:spcPts val="0"/>
              </a:spcAft>
              <a:buClr>
                <a:schemeClr val="dk1"/>
              </a:buClr>
              <a:buSzPts val="1050"/>
              <a:buNone/>
            </a:pPr>
            <a:endParaRPr sz="1050"/>
          </a:p>
          <a:p>
            <a:pPr marL="742950" lvl="1" indent="-285750" algn="just" rtl="0">
              <a:spcBef>
                <a:spcPts val="400"/>
              </a:spcBef>
              <a:spcAft>
                <a:spcPts val="0"/>
              </a:spcAft>
              <a:buClr>
                <a:schemeClr val="dk1"/>
              </a:buClr>
              <a:buSzPts val="2000"/>
              <a:buChar char="–"/>
            </a:pPr>
            <a:r>
              <a:rPr lang="en-US" b="1"/>
              <a:t>Principal Component Analysis (PCA):</a:t>
            </a:r>
            <a:r>
              <a:rPr lang="en-US"/>
              <a:t> PCA </a:t>
            </a:r>
            <a:r>
              <a:rPr lang="en-US" b="1"/>
              <a:t>transforms</a:t>
            </a:r>
            <a:r>
              <a:rPr lang="en-US"/>
              <a:t> the original features into a </a:t>
            </a:r>
            <a:r>
              <a:rPr lang="en-US" b="1"/>
              <a:t>lower-dimensional space </a:t>
            </a:r>
            <a:r>
              <a:rPr lang="en-US"/>
              <a:t>while </a:t>
            </a:r>
            <a:r>
              <a:rPr lang="en-US" b="1"/>
              <a:t>preserving</a:t>
            </a:r>
            <a:r>
              <a:rPr lang="en-US"/>
              <a:t> the maximum amount of </a:t>
            </a:r>
            <a:r>
              <a:rPr lang="en-US" b="1"/>
              <a:t>information</a:t>
            </a:r>
            <a:r>
              <a:rPr lang="en-US"/>
              <a:t>. </a:t>
            </a:r>
            <a:endParaRPr/>
          </a:p>
          <a:p>
            <a:pPr marL="742950" lvl="1" indent="-285750" algn="just" rtl="0">
              <a:spcBef>
                <a:spcPts val="400"/>
              </a:spcBef>
              <a:spcAft>
                <a:spcPts val="0"/>
              </a:spcAft>
              <a:buClr>
                <a:schemeClr val="dk1"/>
              </a:buClr>
              <a:buSzPts val="2000"/>
              <a:buChar char="–"/>
            </a:pPr>
            <a:r>
              <a:rPr lang="en-US"/>
              <a:t>The PCA method is particularly useful when the variables within the data set are highly correlated. Correlation indicates that there is redundancy in the data. Due to this redundancy, PCA can be used to reduce the original variables into a smaller number of new variables ( </a:t>
            </a:r>
            <a:r>
              <a:rPr lang="en-US" b="1"/>
              <a:t>principal components</a:t>
            </a:r>
            <a:r>
              <a:rPr lang="en-US"/>
              <a:t>) explaining most of the variance in the original variables.</a:t>
            </a:r>
            <a:endParaRPr/>
          </a:p>
        </p:txBody>
      </p:sp>
      <p:pic>
        <p:nvPicPr>
          <p:cNvPr id="191" name="Google Shape;191;p14"/>
          <p:cNvPicPr preferRelativeResize="0"/>
          <p:nvPr/>
        </p:nvPicPr>
        <p:blipFill rotWithShape="1">
          <a:blip r:embed="rId3">
            <a:alphaModFix/>
          </a:blip>
          <a:srcRect/>
          <a:stretch/>
        </p:blipFill>
        <p:spPr>
          <a:xfrm>
            <a:off x="3429000" y="4676076"/>
            <a:ext cx="4462872" cy="21554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5"/>
          <p:cNvSpPr txBox="1">
            <a:spLocks noGrp="1"/>
          </p:cNvSpPr>
          <p:nvPr>
            <p:ph type="title"/>
          </p:nvPr>
        </p:nvSpPr>
        <p:spPr>
          <a:xfrm>
            <a:off x="609600" y="5334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600"/>
              <a:buFont typeface="Gill Sans"/>
              <a:buNone/>
            </a:pPr>
            <a:r>
              <a:rPr lang="en-US" sz="3600" b="1"/>
              <a:t>What is the difference between supervised and unsupervised learning?</a:t>
            </a:r>
            <a:br>
              <a:rPr lang="en-US" sz="3600" b="1"/>
            </a:br>
            <a:endParaRPr sz="3600"/>
          </a:p>
        </p:txBody>
      </p:sp>
      <p:sp>
        <p:nvSpPr>
          <p:cNvPr id="197" name="Google Shape;197;p15"/>
          <p:cNvSpPr txBox="1">
            <a:spLocks noGrp="1"/>
          </p:cNvSpPr>
          <p:nvPr>
            <p:ph type="body" idx="1"/>
          </p:nvPr>
        </p:nvSpPr>
        <p:spPr>
          <a:xfrm>
            <a:off x="609600" y="2255837"/>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Font typeface="Noto Sans Symbols"/>
              <a:buChar char="✔"/>
            </a:pPr>
            <a:r>
              <a:rPr lang="en-US"/>
              <a:t>Supervised learning requires </a:t>
            </a:r>
            <a:r>
              <a:rPr lang="en-US" b="1"/>
              <a:t>labeled data</a:t>
            </a:r>
            <a:r>
              <a:rPr lang="en-US"/>
              <a:t> with </a:t>
            </a:r>
            <a:r>
              <a:rPr lang="en-US" b="1"/>
              <a:t>input features and corresponding output labels</a:t>
            </a:r>
            <a:r>
              <a:rPr lang="en-US"/>
              <a:t>, while unsupervised learning aims to </a:t>
            </a:r>
            <a:r>
              <a:rPr lang="en-US" b="1"/>
              <a:t>discover patterns or structures in unlabeled data </a:t>
            </a:r>
            <a:r>
              <a:rPr lang="en-US"/>
              <a:t>without predefined output labels.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6"/>
          <p:cNvSpPr txBox="1">
            <a:spLocks noGrp="1"/>
          </p:cNvSpPr>
          <p:nvPr>
            <p:ph type="title"/>
          </p:nvPr>
        </p:nvSpPr>
        <p:spPr>
          <a:xfrm>
            <a:off x="609600" y="4572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600"/>
              <a:buFont typeface="Gill Sans"/>
              <a:buNone/>
            </a:pPr>
            <a:r>
              <a:rPr lang="en-US" sz="3600" b="1">
                <a:latin typeface="Gill Sans"/>
                <a:ea typeface="Gill Sans"/>
                <a:cs typeface="Gill Sans"/>
                <a:sym typeface="Gill Sans"/>
              </a:rPr>
              <a:t>Reinforcement machine learning</a:t>
            </a:r>
            <a:br>
              <a:rPr lang="en-US" sz="3600" b="1">
                <a:latin typeface="Gill Sans"/>
                <a:ea typeface="Gill Sans"/>
                <a:cs typeface="Gill Sans"/>
                <a:sym typeface="Gill Sans"/>
              </a:rPr>
            </a:br>
            <a:endParaRPr sz="3600">
              <a:latin typeface="Gill Sans"/>
              <a:ea typeface="Gill Sans"/>
              <a:cs typeface="Gill Sans"/>
              <a:sym typeface="Gill Sans"/>
            </a:endParaRPr>
          </a:p>
        </p:txBody>
      </p:sp>
      <p:sp>
        <p:nvSpPr>
          <p:cNvPr id="204" name="Google Shape;204;p16"/>
          <p:cNvSpPr txBox="1">
            <a:spLocks noGrp="1"/>
          </p:cNvSpPr>
          <p:nvPr>
            <p:ph type="body" idx="1"/>
          </p:nvPr>
        </p:nvSpPr>
        <p:spPr>
          <a:xfrm>
            <a:off x="609600" y="1417636"/>
            <a:ext cx="10972800" cy="498316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Char char="✔"/>
            </a:pPr>
            <a:r>
              <a:rPr lang="en-US"/>
              <a:t>Reinforcement Learning(RL) enables an agent to learn in an interactive environment by trial and error using feedback from its own actions and experiences.</a:t>
            </a:r>
            <a:endParaRPr/>
          </a:p>
          <a:p>
            <a:pPr marL="342900" lvl="0" indent="-342900" algn="l" rtl="0">
              <a:spcBef>
                <a:spcPts val="400"/>
              </a:spcBef>
              <a:spcAft>
                <a:spcPts val="0"/>
              </a:spcAft>
              <a:buClr>
                <a:schemeClr val="dk1"/>
              </a:buClr>
              <a:buSzPts val="2000"/>
              <a:buChar char="✔"/>
            </a:pPr>
            <a:r>
              <a:rPr lang="en-US"/>
              <a:t>Here, agents are self-trained on reward and punishment mechanisms. </a:t>
            </a:r>
            <a:endParaRPr/>
          </a:p>
          <a:p>
            <a:pPr marL="342900" lvl="0" indent="-342900" algn="l" rtl="0">
              <a:spcBef>
                <a:spcPts val="400"/>
              </a:spcBef>
              <a:spcAft>
                <a:spcPts val="0"/>
              </a:spcAft>
              <a:buClr>
                <a:schemeClr val="dk1"/>
              </a:buClr>
              <a:buSzPts val="2000"/>
              <a:buChar char="✔"/>
            </a:pPr>
            <a:r>
              <a:rPr lang="en-US"/>
              <a:t>It can take actions and interact with it.</a:t>
            </a:r>
            <a:endParaRPr/>
          </a:p>
          <a:p>
            <a:pPr marL="342900" lvl="0" indent="-342900" algn="l" rtl="0">
              <a:spcBef>
                <a:spcPts val="400"/>
              </a:spcBef>
              <a:spcAft>
                <a:spcPts val="0"/>
              </a:spcAft>
              <a:buClr>
                <a:schemeClr val="dk1"/>
              </a:buClr>
              <a:buSzPts val="2000"/>
              <a:buChar char="✔"/>
            </a:pPr>
            <a:r>
              <a:rPr lang="en-US"/>
              <a:t>Reinforcement machine learning algorithm isn’t trained using sample data. </a:t>
            </a:r>
            <a:endParaRPr/>
          </a:p>
          <a:p>
            <a:pPr marL="342900" lvl="0" indent="-342900" algn="l" rtl="0">
              <a:spcBef>
                <a:spcPts val="400"/>
              </a:spcBef>
              <a:spcAft>
                <a:spcPts val="0"/>
              </a:spcAft>
              <a:buClr>
                <a:schemeClr val="dk1"/>
              </a:buClr>
              <a:buSzPts val="2000"/>
              <a:buChar char="✔"/>
            </a:pPr>
            <a:r>
              <a:rPr lang="en-US"/>
              <a:t>A sequence of successful outcomes will be reinforced to develop the best recommendation or policy for a given problem.</a:t>
            </a:r>
            <a:endParaRPr/>
          </a:p>
        </p:txBody>
      </p:sp>
      <p:pic>
        <p:nvPicPr>
          <p:cNvPr id="205" name="Google Shape;205;p16" descr="Basic Diagram of Reinforcement Learning - KDNuggets"/>
          <p:cNvPicPr preferRelativeResize="0"/>
          <p:nvPr/>
        </p:nvPicPr>
        <p:blipFill rotWithShape="1">
          <a:blip r:embed="rId3">
            <a:alphaModFix/>
          </a:blip>
          <a:srcRect/>
          <a:stretch/>
        </p:blipFill>
        <p:spPr>
          <a:xfrm>
            <a:off x="3414890" y="3886200"/>
            <a:ext cx="5729110" cy="2209800"/>
          </a:xfrm>
          <a:prstGeom prst="rect">
            <a:avLst/>
          </a:prstGeom>
          <a:noFill/>
          <a:ln>
            <a:noFill/>
          </a:ln>
        </p:spPr>
      </p:pic>
      <p:sp>
        <p:nvSpPr>
          <p:cNvPr id="206" name="Google Shape;206;p16"/>
          <p:cNvSpPr/>
          <p:nvPr/>
        </p:nvSpPr>
        <p:spPr>
          <a:xfrm>
            <a:off x="7417280" y="6518834"/>
            <a:ext cx="453201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222222"/>
                </a:solidFill>
                <a:latin typeface="Lato"/>
                <a:ea typeface="Lato"/>
                <a:cs typeface="Lato"/>
                <a:sym typeface="Lato"/>
              </a:rPr>
              <a:t>Basic Diagram of Reinforcement Learning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7"/>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Reinforcement machine learning</a:t>
            </a:r>
            <a:br>
              <a:rPr lang="en-US" b="1"/>
            </a:br>
            <a:endParaRPr/>
          </a:p>
        </p:txBody>
      </p:sp>
      <p:sp>
        <p:nvSpPr>
          <p:cNvPr id="212" name="Google Shape;212;p17"/>
          <p:cNvSpPr txBox="1">
            <a:spLocks noGrp="1"/>
          </p:cNvSpPr>
          <p:nvPr>
            <p:ph type="body" idx="1"/>
          </p:nvPr>
        </p:nvSpPr>
        <p:spPr>
          <a:xfrm>
            <a:off x="600456" y="1600200"/>
            <a:ext cx="6714744" cy="47244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a:t>Through a series of Trial and Error methods, an agent keeps learning continuously in an interactive environment from its own actions and experiences. </a:t>
            </a:r>
            <a:endParaRPr/>
          </a:p>
          <a:p>
            <a:pPr marL="342900" lvl="0" indent="-342900" algn="just" rtl="0">
              <a:spcBef>
                <a:spcPts val="400"/>
              </a:spcBef>
              <a:spcAft>
                <a:spcPts val="0"/>
              </a:spcAft>
              <a:buClr>
                <a:schemeClr val="dk1"/>
              </a:buClr>
              <a:buSzPts val="2000"/>
              <a:buChar char="✔"/>
            </a:pPr>
            <a:r>
              <a:rPr lang="en-US"/>
              <a:t>The only goal of it is to find a suitable action model which would increase the total cumulative reward of the agent. </a:t>
            </a:r>
            <a:endParaRPr/>
          </a:p>
          <a:p>
            <a:pPr marL="342900" lvl="0" indent="-342900" algn="just" rtl="0">
              <a:spcBef>
                <a:spcPts val="400"/>
              </a:spcBef>
              <a:spcAft>
                <a:spcPts val="0"/>
              </a:spcAft>
              <a:buClr>
                <a:schemeClr val="dk1"/>
              </a:buClr>
              <a:buSzPts val="2000"/>
              <a:buChar char="✔"/>
            </a:pPr>
            <a:r>
              <a:rPr lang="en-US"/>
              <a:t>It learns via interaction and feedback.</a:t>
            </a:r>
            <a:endParaRPr/>
          </a:p>
          <a:p>
            <a:pPr marL="342900" lvl="0" indent="-342900" algn="just" rtl="0">
              <a:spcBef>
                <a:spcPts val="400"/>
              </a:spcBef>
              <a:spcAft>
                <a:spcPts val="0"/>
              </a:spcAft>
              <a:buClr>
                <a:schemeClr val="dk1"/>
              </a:buClr>
              <a:buSzPts val="2000"/>
              <a:buChar char="✔"/>
            </a:pPr>
            <a:r>
              <a:rPr lang="en-US"/>
              <a:t>You can see a dog and a master. Let’s imagine you are training your dog to get the stick. Each time the dog gets a stick successfully, you offered him a feast (a bone ). </a:t>
            </a:r>
            <a:endParaRPr/>
          </a:p>
          <a:p>
            <a:pPr marL="342900" lvl="0" indent="-342900" algn="just" rtl="0">
              <a:spcBef>
                <a:spcPts val="400"/>
              </a:spcBef>
              <a:spcAft>
                <a:spcPts val="0"/>
              </a:spcAft>
              <a:buClr>
                <a:schemeClr val="dk1"/>
              </a:buClr>
              <a:buSzPts val="2000"/>
              <a:buChar char="✔"/>
            </a:pPr>
            <a:r>
              <a:rPr lang="en-US"/>
              <a:t>Eventually, the dog understands the pattern, that whenever the master throws a stick, it should get it as early as it can gain a reward (a bone) from a master in a lesser time.</a:t>
            </a:r>
            <a:endParaRPr/>
          </a:p>
          <a:p>
            <a:pPr marL="342900" lvl="0" indent="-215900" algn="just" rtl="0">
              <a:spcBef>
                <a:spcPts val="400"/>
              </a:spcBef>
              <a:spcAft>
                <a:spcPts val="0"/>
              </a:spcAft>
              <a:buClr>
                <a:schemeClr val="dk1"/>
              </a:buClr>
              <a:buSzPts val="2000"/>
              <a:buNone/>
            </a:pPr>
            <a:endParaRPr/>
          </a:p>
        </p:txBody>
      </p:sp>
      <p:pic>
        <p:nvPicPr>
          <p:cNvPr id="213" name="Google Shape;213;p17" descr="Reinforcement Learning Example - KDNuggets"/>
          <p:cNvPicPr preferRelativeResize="0"/>
          <p:nvPr/>
        </p:nvPicPr>
        <p:blipFill rotWithShape="1">
          <a:blip r:embed="rId3">
            <a:alphaModFix/>
          </a:blip>
          <a:srcRect/>
          <a:stretch/>
        </p:blipFill>
        <p:spPr>
          <a:xfrm>
            <a:off x="7656182" y="2362200"/>
            <a:ext cx="4546879" cy="2286000"/>
          </a:xfrm>
          <a:prstGeom prst="rect">
            <a:avLst/>
          </a:prstGeom>
          <a:noFill/>
          <a:ln>
            <a:noFill/>
          </a:ln>
        </p:spPr>
      </p:pic>
      <p:sp>
        <p:nvSpPr>
          <p:cNvPr id="214" name="Google Shape;214;p17"/>
          <p:cNvSpPr/>
          <p:nvPr/>
        </p:nvSpPr>
        <p:spPr>
          <a:xfrm>
            <a:off x="7973720" y="6520934"/>
            <a:ext cx="36086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222222"/>
                </a:solidFill>
                <a:latin typeface="Lato"/>
                <a:ea typeface="Lato"/>
                <a:cs typeface="Lato"/>
                <a:sym typeface="Lato"/>
              </a:rPr>
              <a:t>Reinforcement Learning Example</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3600"/>
              <a:buFont typeface="Gill Sans"/>
              <a:buNone/>
            </a:pPr>
            <a:r>
              <a:rPr lang="en-US" sz="3600" b="1"/>
              <a:t>Important Terms in Reinforcement Learning</a:t>
            </a:r>
            <a:br>
              <a:rPr lang="en-US" sz="3600" b="1"/>
            </a:br>
            <a:endParaRPr sz="3600" b="1"/>
          </a:p>
        </p:txBody>
      </p:sp>
      <p:sp>
        <p:nvSpPr>
          <p:cNvPr id="220" name="Google Shape;220;p18"/>
          <p:cNvSpPr txBox="1">
            <a:spLocks noGrp="1"/>
          </p:cNvSpPr>
          <p:nvPr>
            <p:ph type="body" idx="1"/>
          </p:nvPr>
        </p:nvSpPr>
        <p:spPr>
          <a:xfrm>
            <a:off x="609600" y="1295400"/>
            <a:ext cx="10820400" cy="4572000"/>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1900"/>
              <a:buChar char="✔"/>
            </a:pPr>
            <a:r>
              <a:rPr lang="en-US" sz="1900" b="1" dirty="0">
                <a:solidFill>
                  <a:srgbClr val="FF0000"/>
                </a:solidFill>
              </a:rPr>
              <a:t>Agent</a:t>
            </a:r>
            <a:r>
              <a:rPr lang="en-US" sz="1900" dirty="0"/>
              <a:t>: Agent is the model that is being trained via reinforcement learning. It is the sole decision-maker and learner</a:t>
            </a:r>
            <a:endParaRPr dirty="0"/>
          </a:p>
          <a:p>
            <a:pPr marL="342900" lvl="0" indent="-342900" algn="just" rtl="0">
              <a:spcBef>
                <a:spcPts val="380"/>
              </a:spcBef>
              <a:spcAft>
                <a:spcPts val="0"/>
              </a:spcAft>
              <a:buClr>
                <a:schemeClr val="dk1"/>
              </a:buClr>
              <a:buSzPts val="1900"/>
              <a:buChar char="✔"/>
            </a:pPr>
            <a:r>
              <a:rPr lang="en-US" sz="1900" b="1" dirty="0">
                <a:solidFill>
                  <a:srgbClr val="00B050"/>
                </a:solidFill>
              </a:rPr>
              <a:t>Environment</a:t>
            </a:r>
            <a:r>
              <a:rPr lang="en-US" sz="1900" dirty="0"/>
              <a:t>: a physical world where an agent learns and decides the actions to be performed</a:t>
            </a:r>
            <a:endParaRPr dirty="0"/>
          </a:p>
          <a:p>
            <a:pPr marL="342900" lvl="0" indent="-342900" algn="just" rtl="0">
              <a:spcBef>
                <a:spcPts val="380"/>
              </a:spcBef>
              <a:spcAft>
                <a:spcPts val="0"/>
              </a:spcAft>
              <a:buClr>
                <a:schemeClr val="dk1"/>
              </a:buClr>
              <a:buSzPts val="1900"/>
              <a:buChar char="✔"/>
            </a:pPr>
            <a:r>
              <a:rPr lang="en-US" sz="1900" b="1" dirty="0">
                <a:solidFill>
                  <a:srgbClr val="002060"/>
                </a:solidFill>
              </a:rPr>
              <a:t>Action</a:t>
            </a:r>
            <a:r>
              <a:rPr lang="en-US" sz="1900" dirty="0"/>
              <a:t>: All possible steps that can be taken by the model/agent  </a:t>
            </a:r>
            <a:endParaRPr dirty="0"/>
          </a:p>
          <a:p>
            <a:pPr marL="342900" lvl="0" indent="-342900" algn="just" rtl="0">
              <a:spcBef>
                <a:spcPts val="380"/>
              </a:spcBef>
              <a:spcAft>
                <a:spcPts val="0"/>
              </a:spcAft>
              <a:buClr>
                <a:schemeClr val="dk1"/>
              </a:buClr>
              <a:buSzPts val="1900"/>
              <a:buChar char="✔"/>
            </a:pPr>
            <a:r>
              <a:rPr lang="en-US" sz="1900" b="1" dirty="0">
                <a:solidFill>
                  <a:schemeClr val="bg2">
                    <a:lumMod val="60000"/>
                    <a:lumOff val="40000"/>
                  </a:schemeClr>
                </a:solidFill>
              </a:rPr>
              <a:t>State</a:t>
            </a:r>
            <a:r>
              <a:rPr lang="en-US" sz="1900" dirty="0"/>
              <a:t>: The current position/ condition returned by the model/the current situation of the agent in the environment</a:t>
            </a:r>
            <a:endParaRPr dirty="0"/>
          </a:p>
          <a:p>
            <a:pPr marL="342900" lvl="0" indent="-342900" algn="just" rtl="0">
              <a:spcBef>
                <a:spcPts val="380"/>
              </a:spcBef>
              <a:spcAft>
                <a:spcPts val="0"/>
              </a:spcAft>
              <a:buClr>
                <a:schemeClr val="dk1"/>
              </a:buClr>
              <a:buSzPts val="1900"/>
              <a:buChar char="✔"/>
            </a:pPr>
            <a:r>
              <a:rPr lang="en-US" sz="1900" b="1" dirty="0">
                <a:solidFill>
                  <a:srgbClr val="C00000"/>
                </a:solidFill>
              </a:rPr>
              <a:t>Reward</a:t>
            </a:r>
            <a:r>
              <a:rPr lang="en-US" sz="1900" dirty="0"/>
              <a:t>: To help the model move in the right direction, it is rewarded/points are given to it to appraise some action. </a:t>
            </a:r>
            <a:r>
              <a:rPr lang="en-US" sz="1900" b="1" dirty="0">
                <a:solidFill>
                  <a:schemeClr val="bg2">
                    <a:lumMod val="60000"/>
                    <a:lumOff val="40000"/>
                  </a:schemeClr>
                </a:solidFill>
              </a:rPr>
              <a:t>It’s usually a scalar value and nothing but feedback from the environment</a:t>
            </a:r>
            <a:endParaRPr b="1" dirty="0">
              <a:solidFill>
                <a:schemeClr val="bg2">
                  <a:lumMod val="60000"/>
                  <a:lumOff val="40000"/>
                </a:schemeClr>
              </a:solidFill>
            </a:endParaRPr>
          </a:p>
          <a:p>
            <a:pPr marL="342900" lvl="0" indent="-342900" algn="just" rtl="0">
              <a:spcBef>
                <a:spcPts val="380"/>
              </a:spcBef>
              <a:spcAft>
                <a:spcPts val="0"/>
              </a:spcAft>
              <a:buClr>
                <a:schemeClr val="dk1"/>
              </a:buClr>
              <a:buSzPts val="1900"/>
              <a:buChar char="✔"/>
            </a:pPr>
            <a:r>
              <a:rPr lang="en-US" sz="1900" b="1" dirty="0">
                <a:solidFill>
                  <a:schemeClr val="accent2">
                    <a:lumMod val="75000"/>
                  </a:schemeClr>
                </a:solidFill>
              </a:rPr>
              <a:t>Policy</a:t>
            </a:r>
            <a:r>
              <a:rPr lang="en-US" sz="1900" dirty="0"/>
              <a:t>: Policy determines how an agent will behave at any time. It acts as a mapping between Action and present State. The agent prepares strategy(decision-making) to map situations to actions.</a:t>
            </a:r>
            <a:endParaRPr dirty="0"/>
          </a:p>
          <a:p>
            <a:pPr marL="342900" lvl="0" indent="-342900" algn="just" rtl="0">
              <a:spcBef>
                <a:spcPts val="380"/>
              </a:spcBef>
              <a:spcAft>
                <a:spcPts val="0"/>
              </a:spcAft>
              <a:buClr>
                <a:schemeClr val="dk1"/>
              </a:buClr>
              <a:buSzPts val="1900"/>
              <a:buChar char="✔"/>
            </a:pPr>
            <a:r>
              <a:rPr lang="en-US" sz="1900" dirty="0">
                <a:solidFill>
                  <a:schemeClr val="accent6">
                    <a:lumMod val="75000"/>
                  </a:schemeClr>
                </a:solidFill>
              </a:rPr>
              <a:t>Value</a:t>
            </a:r>
            <a:r>
              <a:rPr lang="en-US" sz="1900" b="1" dirty="0"/>
              <a:t> — </a:t>
            </a:r>
            <a:r>
              <a:rPr lang="en-US" sz="1900" dirty="0"/>
              <a:t>Future reward that an agent would receive by taking an action in a particular state</a:t>
            </a:r>
            <a:endParaRPr dirty="0"/>
          </a:p>
          <a:p>
            <a:pPr marL="342900" lvl="0" indent="-222250" algn="just" rtl="0">
              <a:spcBef>
                <a:spcPts val="380"/>
              </a:spcBef>
              <a:spcAft>
                <a:spcPts val="0"/>
              </a:spcAft>
              <a:buClr>
                <a:schemeClr val="dk1"/>
              </a:buClr>
              <a:buSzPts val="1900"/>
              <a:buNone/>
            </a:pPr>
            <a:endParaRPr sz="1900" dirty="0"/>
          </a:p>
          <a:p>
            <a:pPr marL="342900" lvl="0" indent="-222250" algn="just" rtl="0">
              <a:spcBef>
                <a:spcPts val="380"/>
              </a:spcBef>
              <a:spcAft>
                <a:spcPts val="0"/>
              </a:spcAft>
              <a:buClr>
                <a:schemeClr val="dk1"/>
              </a:buClr>
              <a:buSzPts val="1900"/>
              <a:buNone/>
            </a:pPr>
            <a:endParaRPr sz="1900" dirty="0"/>
          </a:p>
        </p:txBody>
      </p:sp>
      <p:pic>
        <p:nvPicPr>
          <p:cNvPr id="221" name="Google Shape;221;p18" descr="ImportanttermsinReinforcementLearning"/>
          <p:cNvPicPr preferRelativeResize="0"/>
          <p:nvPr/>
        </p:nvPicPr>
        <p:blipFill rotWithShape="1">
          <a:blip r:embed="rId3">
            <a:alphaModFix/>
          </a:blip>
          <a:srcRect/>
          <a:stretch/>
        </p:blipFill>
        <p:spPr>
          <a:xfrm>
            <a:off x="4267200" y="4926796"/>
            <a:ext cx="3987001" cy="193120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endParaRPr/>
          </a:p>
        </p:txBody>
      </p:sp>
      <p:sp>
        <p:nvSpPr>
          <p:cNvPr id="227" name="Google Shape;227;p19"/>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p>
            <a:pPr marL="342900" lvl="0" indent="-215900" algn="l" rtl="0">
              <a:spcBef>
                <a:spcPts val="0"/>
              </a:spcBef>
              <a:spcAft>
                <a:spcPts val="0"/>
              </a:spcAft>
              <a:buClr>
                <a:schemeClr val="dk1"/>
              </a:buClr>
              <a:buSzPts val="2000"/>
              <a:buFont typeface="Noto Sans Symbols"/>
              <a:buNone/>
            </a:pPr>
            <a:endParaRPr/>
          </a:p>
        </p:txBody>
      </p:sp>
      <p:pic>
        <p:nvPicPr>
          <p:cNvPr id="228" name="Google Shape;228;p19"/>
          <p:cNvPicPr preferRelativeResize="0"/>
          <p:nvPr/>
        </p:nvPicPr>
        <p:blipFill rotWithShape="1">
          <a:blip r:embed="rId3">
            <a:alphaModFix/>
          </a:blip>
          <a:srcRect/>
          <a:stretch/>
        </p:blipFill>
        <p:spPr>
          <a:xfrm>
            <a:off x="597877" y="-21771"/>
            <a:ext cx="10696566" cy="638917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a:t>Explanation</a:t>
            </a:r>
            <a:endParaRPr/>
          </a:p>
        </p:txBody>
      </p:sp>
      <p:sp>
        <p:nvSpPr>
          <p:cNvPr id="234" name="Google Shape;234;p20"/>
          <p:cNvSpPr txBox="1">
            <a:spLocks noGrp="1"/>
          </p:cNvSpPr>
          <p:nvPr>
            <p:ph type="body" idx="1"/>
          </p:nvPr>
        </p:nvSpPr>
        <p:spPr>
          <a:xfrm>
            <a:off x="762000" y="1600201"/>
            <a:ext cx="10591800" cy="4419599"/>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b="1" dirty="0"/>
              <a:t>Scenario 1:</a:t>
            </a:r>
            <a:r>
              <a:rPr lang="en-US" dirty="0"/>
              <a:t> Facebook recognizes your friend in a picture from an album of tagged photographs </a:t>
            </a:r>
            <a:endParaRPr dirty="0"/>
          </a:p>
          <a:p>
            <a:pPr marL="742950" lvl="1" indent="-285750" algn="just" rtl="0">
              <a:spcBef>
                <a:spcPts val="400"/>
              </a:spcBef>
              <a:spcAft>
                <a:spcPts val="0"/>
              </a:spcAft>
              <a:buClr>
                <a:schemeClr val="dk1"/>
              </a:buClr>
              <a:buSzPts val="2000"/>
              <a:buChar char="–"/>
            </a:pPr>
            <a:r>
              <a:rPr lang="en-US" dirty="0"/>
              <a:t>Explanation: It is supervised learning. Here Facebook is using tagged photos to recognize the person. Therefore, the tagged photos become the labels of the pictures and we know that when the machine is learning from labeled data, it is supervised learning. </a:t>
            </a:r>
            <a:endParaRPr dirty="0"/>
          </a:p>
          <a:p>
            <a:pPr marL="342900" lvl="0" indent="-342900" algn="just" rtl="0">
              <a:spcBef>
                <a:spcPts val="400"/>
              </a:spcBef>
              <a:spcAft>
                <a:spcPts val="0"/>
              </a:spcAft>
              <a:buClr>
                <a:schemeClr val="dk1"/>
              </a:buClr>
              <a:buSzPts val="2000"/>
              <a:buChar char="✔"/>
            </a:pPr>
            <a:r>
              <a:rPr lang="en-US" b="1" dirty="0"/>
              <a:t>Scenario 2:</a:t>
            </a:r>
            <a:r>
              <a:rPr lang="en-US" dirty="0"/>
              <a:t> Recommending new songs based on someone’s past music choices </a:t>
            </a:r>
            <a:endParaRPr dirty="0"/>
          </a:p>
          <a:p>
            <a:pPr marL="742950" lvl="1" indent="-285750" algn="just" rtl="0">
              <a:spcBef>
                <a:spcPts val="400"/>
              </a:spcBef>
              <a:spcAft>
                <a:spcPts val="0"/>
              </a:spcAft>
              <a:buClr>
                <a:schemeClr val="dk1"/>
              </a:buClr>
              <a:buSzPts val="2000"/>
              <a:buChar char="–"/>
            </a:pPr>
            <a:r>
              <a:rPr lang="en-US" dirty="0"/>
              <a:t>Explanation: It is supervised learning. The model is training a classifier on pre-existing labels (genres of songs). This is what Netflix, Pandora, and Spotify do all the time, they collect the songs/movies that you like already, evaluate the features based on your likes/dislikes and then recommend new movies/songs based on similar features. </a:t>
            </a:r>
            <a:endParaRPr dirty="0"/>
          </a:p>
          <a:p>
            <a:pPr marL="342900" lvl="0" indent="-342900" algn="just" rtl="0">
              <a:spcBef>
                <a:spcPts val="400"/>
              </a:spcBef>
              <a:spcAft>
                <a:spcPts val="0"/>
              </a:spcAft>
              <a:buClr>
                <a:schemeClr val="dk1"/>
              </a:buClr>
              <a:buSzPts val="2000"/>
              <a:buChar char="✔"/>
            </a:pPr>
            <a:r>
              <a:rPr lang="en-US" b="1" dirty="0"/>
              <a:t>Scenario 3:</a:t>
            </a:r>
            <a:r>
              <a:rPr lang="en-US" dirty="0"/>
              <a:t> Analyze bank data for suspicious looking transactions and flag the fraud transactions </a:t>
            </a:r>
            <a:endParaRPr dirty="0"/>
          </a:p>
          <a:p>
            <a:pPr marL="742950" lvl="1" indent="-285750" algn="just" rtl="0">
              <a:spcBef>
                <a:spcPts val="400"/>
              </a:spcBef>
              <a:spcAft>
                <a:spcPts val="0"/>
              </a:spcAft>
              <a:buClr>
                <a:schemeClr val="dk1"/>
              </a:buClr>
              <a:buSzPts val="2000"/>
              <a:buChar char="–"/>
            </a:pPr>
            <a:r>
              <a:rPr lang="en-US" dirty="0"/>
              <a:t>Explanation: It is unsupervised learning. In this case, the suspicious transactions are not defined, hence there are no labels of "fraud" and "not fraud". The model tries to identify outliers by looking at anomalous transactions and </a:t>
            </a:r>
            <a:r>
              <a:rPr lang="en-US" b="1" dirty="0">
                <a:effectLst>
                  <a:outerShdw blurRad="38100" dist="38100" dir="2700000" algn="tl">
                    <a:srgbClr val="000000">
                      <a:alpha val="43137"/>
                    </a:srgbClr>
                  </a:outerShdw>
                </a:effectLst>
              </a:rPr>
              <a:t>flags them as 'fraud</a:t>
            </a:r>
            <a:r>
              <a:rPr lang="en-US" dirty="0"/>
              <a:t>'.</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1"/>
          <p:cNvSpPr txBox="1">
            <a:spLocks noGrp="1"/>
          </p:cNvSpPr>
          <p:nvPr>
            <p:ph type="title"/>
          </p:nvPr>
        </p:nvSpPr>
        <p:spPr>
          <a:xfrm>
            <a:off x="609600" y="533400"/>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Gill Sans"/>
              <a:buNone/>
            </a:pPr>
            <a:r>
              <a:rPr lang="en-US" b="1"/>
              <a:t>Outline</a:t>
            </a:r>
            <a:endParaRPr/>
          </a:p>
        </p:txBody>
      </p:sp>
      <p:sp>
        <p:nvSpPr>
          <p:cNvPr id="240" name="Google Shape;240;p21"/>
          <p:cNvSpPr txBox="1">
            <a:spLocks noGrp="1"/>
          </p:cNvSpPr>
          <p:nvPr>
            <p:ph type="body" idx="1"/>
          </p:nvPr>
        </p:nvSpPr>
        <p:spPr>
          <a:xfrm>
            <a:off x="609600" y="1828801"/>
            <a:ext cx="10972800" cy="4038599"/>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Noto Sans Symbols"/>
              <a:buChar char="✔"/>
            </a:pPr>
            <a:r>
              <a:rPr lang="en-US" sz="2400"/>
              <a:t>Linear Regression</a:t>
            </a:r>
            <a:endParaRPr/>
          </a:p>
          <a:p>
            <a:pPr marL="742950" lvl="1" indent="-285750" algn="l" rtl="0">
              <a:spcBef>
                <a:spcPts val="400"/>
              </a:spcBef>
              <a:spcAft>
                <a:spcPts val="0"/>
              </a:spcAft>
              <a:buClr>
                <a:schemeClr val="dk1"/>
              </a:buClr>
              <a:buSzPts val="2000"/>
              <a:buChar char="–"/>
            </a:pPr>
            <a:r>
              <a:rPr lang="en-US"/>
              <a:t>Linear models</a:t>
            </a:r>
            <a:endParaRPr/>
          </a:p>
          <a:p>
            <a:pPr marL="742950" lvl="1" indent="-285750" algn="l" rtl="0">
              <a:spcBef>
                <a:spcPts val="400"/>
              </a:spcBef>
              <a:spcAft>
                <a:spcPts val="0"/>
              </a:spcAft>
              <a:buClr>
                <a:schemeClr val="dk1"/>
              </a:buClr>
              <a:buSzPts val="2000"/>
              <a:buChar char="–"/>
            </a:pPr>
            <a:r>
              <a:rPr lang="en-US" b="1"/>
              <a:t>Hypothesis function for Linear Regression</a:t>
            </a:r>
            <a:endParaRPr/>
          </a:p>
          <a:p>
            <a:pPr marL="742950" lvl="1" indent="-285750" algn="l" rtl="0">
              <a:spcBef>
                <a:spcPts val="400"/>
              </a:spcBef>
              <a:spcAft>
                <a:spcPts val="0"/>
              </a:spcAft>
              <a:buClr>
                <a:schemeClr val="dk1"/>
              </a:buClr>
              <a:buSzPts val="2000"/>
              <a:buChar char="–"/>
            </a:pPr>
            <a:r>
              <a:rPr lang="en-US" b="1"/>
              <a:t>Cost function</a:t>
            </a:r>
            <a:r>
              <a:rPr lang="en-US"/>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36183" y="510278"/>
            <a:ext cx="3168431" cy="584775"/>
          </a:xfrm>
          <a:prstGeom prst="rect">
            <a:avLst/>
          </a:prstGeom>
        </p:spPr>
        <p:txBody>
          <a:bodyPr wrap="none">
            <a:spAutoFit/>
          </a:bodyPr>
          <a:lstStyle/>
          <a:p>
            <a:r>
              <a:rPr lang="en-US" sz="3200" b="1" dirty="0">
                <a:solidFill>
                  <a:srgbClr val="002060"/>
                </a:solidFill>
                <a:effectLst>
                  <a:outerShdw blurRad="38100" dist="38100" dir="2700000" algn="tl">
                    <a:srgbClr val="000000">
                      <a:alpha val="43137"/>
                    </a:srgbClr>
                  </a:outerShdw>
                </a:effectLst>
              </a:rPr>
              <a:t>Linear </a:t>
            </a:r>
            <a:r>
              <a:rPr lang="en-US" sz="3200" b="1" dirty="0" smtClean="0">
                <a:solidFill>
                  <a:srgbClr val="002060"/>
                </a:solidFill>
                <a:effectLst>
                  <a:outerShdw blurRad="38100" dist="38100" dir="2700000" algn="tl">
                    <a:srgbClr val="000000">
                      <a:alpha val="43137"/>
                    </a:srgbClr>
                  </a:outerShdw>
                </a:effectLst>
              </a:rPr>
              <a:t>Regression</a:t>
            </a:r>
            <a:endParaRPr lang="en-US" sz="3200" b="1" dirty="0">
              <a:solidFill>
                <a:srgbClr val="002060"/>
              </a:solidFill>
              <a:effectLst>
                <a:outerShdw blurRad="38100" dist="38100" dir="2700000" algn="tl">
                  <a:srgbClr val="000000">
                    <a:alpha val="43137"/>
                  </a:srgbClr>
                </a:outerShdw>
              </a:effectLst>
            </a:endParaRPr>
          </a:p>
        </p:txBody>
      </p:sp>
      <p:sp>
        <p:nvSpPr>
          <p:cNvPr id="5" name="Rectangle 4"/>
          <p:cNvSpPr/>
          <p:nvPr/>
        </p:nvSpPr>
        <p:spPr>
          <a:xfrm>
            <a:off x="905256" y="1273016"/>
            <a:ext cx="10360152" cy="1569660"/>
          </a:xfrm>
          <a:prstGeom prst="rect">
            <a:avLst/>
          </a:prstGeom>
        </p:spPr>
        <p:txBody>
          <a:bodyPr wrap="square">
            <a:spAutoFit/>
          </a:bodyPr>
          <a:lstStyle/>
          <a:p>
            <a:pPr algn="just"/>
            <a:r>
              <a:rPr lang="en-US" sz="2400" b="1" dirty="0"/>
              <a:t>Linear regression</a:t>
            </a:r>
            <a:r>
              <a:rPr lang="en-US" sz="2400" dirty="0"/>
              <a:t> is a statistical method that is used in various machine learning models to predict the value of unknown data using other related data values. Linear regression is used to study the relationship </a:t>
            </a:r>
            <a:r>
              <a:rPr lang="en-US" sz="2400" b="1" dirty="0">
                <a:solidFill>
                  <a:srgbClr val="FF0000"/>
                </a:solidFill>
              </a:rPr>
              <a:t>between a dependent variable and an independent variable.</a:t>
            </a:r>
            <a:endParaRPr lang="en-US" sz="2400" b="1" dirty="0">
              <a:solidFill>
                <a:srgbClr val="FF0000"/>
              </a:solidFill>
              <a:effectLst/>
            </a:endParaRPr>
          </a:p>
        </p:txBody>
      </p:sp>
      <p:pic>
        <p:nvPicPr>
          <p:cNvPr id="6" name="Picture 5"/>
          <p:cNvPicPr>
            <a:picLocks noChangeAspect="1"/>
          </p:cNvPicPr>
          <p:nvPr/>
        </p:nvPicPr>
        <p:blipFill>
          <a:blip r:embed="rId2"/>
          <a:stretch>
            <a:fillRect/>
          </a:stretch>
        </p:blipFill>
        <p:spPr>
          <a:xfrm>
            <a:off x="6613017" y="3157799"/>
            <a:ext cx="4555946" cy="2651760"/>
          </a:xfrm>
          <a:prstGeom prst="rect">
            <a:avLst/>
          </a:prstGeom>
        </p:spPr>
      </p:pic>
    </p:spTree>
    <p:extLst>
      <p:ext uri="{BB962C8B-B14F-4D97-AF65-F5344CB8AC3E}">
        <p14:creationId xmlns:p14="http://schemas.microsoft.com/office/powerpoint/2010/main" val="1488209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478917" y="201168"/>
            <a:ext cx="11172190" cy="1737360"/>
          </a:xfrm>
          <a:prstGeom prst="rect">
            <a:avLst/>
          </a:prstGeom>
        </p:spPr>
      </p:pic>
      <p:pic>
        <p:nvPicPr>
          <p:cNvPr id="4" name="Picture 3"/>
          <p:cNvPicPr>
            <a:picLocks noChangeAspect="1"/>
          </p:cNvPicPr>
          <p:nvPr/>
        </p:nvPicPr>
        <p:blipFill>
          <a:blip r:embed="rId3"/>
          <a:stretch>
            <a:fillRect/>
          </a:stretch>
        </p:blipFill>
        <p:spPr>
          <a:xfrm>
            <a:off x="872871" y="1907286"/>
            <a:ext cx="10577457" cy="822960"/>
          </a:xfrm>
          <a:prstGeom prst="rect">
            <a:avLst/>
          </a:prstGeom>
        </p:spPr>
      </p:pic>
      <p:sp>
        <p:nvSpPr>
          <p:cNvPr id="5" name="Rectangle 4"/>
          <p:cNvSpPr/>
          <p:nvPr/>
        </p:nvSpPr>
        <p:spPr>
          <a:xfrm>
            <a:off x="1022096" y="2763012"/>
            <a:ext cx="10268712" cy="1107996"/>
          </a:xfrm>
          <a:prstGeom prst="rect">
            <a:avLst/>
          </a:prstGeom>
        </p:spPr>
        <p:txBody>
          <a:bodyPr wrap="square">
            <a:spAutoFit/>
          </a:bodyPr>
          <a:lstStyle/>
          <a:p>
            <a:pPr algn="just"/>
            <a:r>
              <a:rPr lang="en-US" sz="2200" dirty="0"/>
              <a:t>Let’s illustrate how linear regression works using an example, considering the case of 10 year old Sam. She is curious about how tall she will be when she grows up. She has a data set of parents’ heights and the final heights of their children. The inputs x are</a:t>
            </a:r>
          </a:p>
        </p:txBody>
      </p:sp>
      <p:pic>
        <p:nvPicPr>
          <p:cNvPr id="6" name="Picture 5"/>
          <p:cNvPicPr>
            <a:picLocks noChangeAspect="1"/>
          </p:cNvPicPr>
          <p:nvPr/>
        </p:nvPicPr>
        <p:blipFill>
          <a:blip r:embed="rId4"/>
          <a:stretch>
            <a:fillRect/>
          </a:stretch>
        </p:blipFill>
        <p:spPr>
          <a:xfrm>
            <a:off x="2069084" y="3897634"/>
            <a:ext cx="8339583" cy="2651760"/>
          </a:xfrm>
          <a:prstGeom prst="rect">
            <a:avLst/>
          </a:prstGeom>
        </p:spPr>
      </p:pic>
    </p:spTree>
    <p:extLst>
      <p:ext uri="{BB962C8B-B14F-4D97-AF65-F5344CB8AC3E}">
        <p14:creationId xmlns:p14="http://schemas.microsoft.com/office/powerpoint/2010/main" val="2392597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1872" y="326059"/>
            <a:ext cx="9857232" cy="877163"/>
          </a:xfrm>
          <a:prstGeom prst="rect">
            <a:avLst/>
          </a:prstGeom>
        </p:spPr>
        <p:txBody>
          <a:bodyPr wrap="square">
            <a:spAutoFit/>
          </a:bodyPr>
          <a:lstStyle/>
          <a:p>
            <a:r>
              <a:rPr lang="en-US" sz="2800" b="1" dirty="0"/>
              <a:t>Linear Regression Equation</a:t>
            </a:r>
          </a:p>
          <a:p>
            <a:r>
              <a:rPr lang="en-US" sz="2300" dirty="0"/>
              <a:t>Linear regression line equation is written in the form:</a:t>
            </a:r>
          </a:p>
        </p:txBody>
      </p:sp>
      <p:sp>
        <p:nvSpPr>
          <p:cNvPr id="3" name="Rectangle 2"/>
          <p:cNvSpPr/>
          <p:nvPr/>
        </p:nvSpPr>
        <p:spPr>
          <a:xfrm>
            <a:off x="7679921" y="664613"/>
            <a:ext cx="1366913" cy="461665"/>
          </a:xfrm>
          <a:prstGeom prst="rect">
            <a:avLst/>
          </a:prstGeom>
        </p:spPr>
        <p:txBody>
          <a:bodyPr wrap="none">
            <a:spAutoFit/>
          </a:bodyPr>
          <a:lstStyle/>
          <a:p>
            <a:r>
              <a:rPr lang="en-US" sz="2400" b="1" dirty="0"/>
              <a:t>y = a + </a:t>
            </a:r>
            <a:r>
              <a:rPr lang="en-US" sz="2400" b="1" dirty="0" err="1"/>
              <a:t>bx</a:t>
            </a:r>
            <a:endParaRPr lang="en-US" sz="2400" dirty="0"/>
          </a:p>
        </p:txBody>
      </p:sp>
      <p:sp>
        <p:nvSpPr>
          <p:cNvPr id="4" name="Rectangle 3"/>
          <p:cNvSpPr/>
          <p:nvPr/>
        </p:nvSpPr>
        <p:spPr>
          <a:xfrm>
            <a:off x="1722120" y="1126278"/>
            <a:ext cx="7540752" cy="1200329"/>
          </a:xfrm>
          <a:prstGeom prst="rect">
            <a:avLst/>
          </a:prstGeom>
        </p:spPr>
        <p:txBody>
          <a:bodyPr wrap="square">
            <a:spAutoFit/>
          </a:bodyPr>
          <a:lstStyle/>
          <a:p>
            <a:r>
              <a:rPr lang="en-US" sz="2400" dirty="0"/>
              <a:t>where,</a:t>
            </a:r>
          </a:p>
          <a:p>
            <a:r>
              <a:rPr lang="en-US" sz="2400" dirty="0" smtClean="0"/>
              <a:t>  </a:t>
            </a:r>
            <a:r>
              <a:rPr lang="en-US" sz="2400" dirty="0" smtClean="0">
                <a:sym typeface="Wingdings" panose="05000000000000000000" pitchFamily="2" charset="2"/>
              </a:rPr>
              <a:t> </a:t>
            </a:r>
            <a:r>
              <a:rPr lang="en-US" sz="2400" dirty="0" smtClean="0"/>
              <a:t>x </a:t>
            </a:r>
            <a:r>
              <a:rPr lang="en-US" sz="2400" dirty="0"/>
              <a:t>is Independent Variable, Plotted along X-axis</a:t>
            </a:r>
          </a:p>
          <a:p>
            <a:r>
              <a:rPr lang="en-US" sz="2400" dirty="0" smtClean="0">
                <a:sym typeface="Wingdings" panose="05000000000000000000" pitchFamily="2" charset="2"/>
              </a:rPr>
              <a:t>   </a:t>
            </a:r>
            <a:r>
              <a:rPr lang="en-US" sz="2400" dirty="0" smtClean="0"/>
              <a:t>y </a:t>
            </a:r>
            <a:r>
              <a:rPr lang="en-US" sz="2400" dirty="0"/>
              <a:t>is Dependent Variable, Plotted along Y-axis</a:t>
            </a:r>
          </a:p>
        </p:txBody>
      </p:sp>
      <p:sp>
        <p:nvSpPr>
          <p:cNvPr id="5" name="Rectangle 4"/>
          <p:cNvSpPr/>
          <p:nvPr/>
        </p:nvSpPr>
        <p:spPr>
          <a:xfrm>
            <a:off x="832104" y="2349690"/>
            <a:ext cx="10515600" cy="830997"/>
          </a:xfrm>
          <a:prstGeom prst="rect">
            <a:avLst/>
          </a:prstGeom>
        </p:spPr>
        <p:txBody>
          <a:bodyPr wrap="square">
            <a:spAutoFit/>
          </a:bodyPr>
          <a:lstStyle/>
          <a:p>
            <a:pPr algn="just"/>
            <a:r>
              <a:rPr lang="en-US" sz="2400" dirty="0"/>
              <a:t>The slope of the regression line is “b”, and the intercept value of regression line is “a”(the value of y when x = 0).</a:t>
            </a:r>
          </a:p>
        </p:txBody>
      </p:sp>
      <p:sp>
        <p:nvSpPr>
          <p:cNvPr id="6" name="Rectangle 5"/>
          <p:cNvSpPr/>
          <p:nvPr/>
        </p:nvSpPr>
        <p:spPr>
          <a:xfrm>
            <a:off x="832104" y="3203770"/>
            <a:ext cx="10515600" cy="1569660"/>
          </a:xfrm>
          <a:prstGeom prst="rect">
            <a:avLst/>
          </a:prstGeom>
        </p:spPr>
        <p:txBody>
          <a:bodyPr wrap="square">
            <a:spAutoFit/>
          </a:bodyPr>
          <a:lstStyle/>
          <a:p>
            <a:r>
              <a:rPr lang="en-US" sz="2400" b="1" dirty="0"/>
              <a:t>Linear Regression Formula</a:t>
            </a:r>
          </a:p>
          <a:p>
            <a:r>
              <a:rPr lang="en-US" sz="2400" dirty="0"/>
              <a:t>Formula used for linear regressions is,</a:t>
            </a:r>
            <a:r>
              <a:rPr lang="en-US" sz="2400" b="1" dirty="0"/>
              <a:t> y = a + </a:t>
            </a:r>
            <a:r>
              <a:rPr lang="en-US" sz="2400" b="1" dirty="0" err="1"/>
              <a:t>bx</a:t>
            </a:r>
            <a:endParaRPr lang="en-US" sz="2400" dirty="0"/>
          </a:p>
          <a:p>
            <a:pPr algn="just"/>
            <a:r>
              <a:rPr lang="en-US" sz="2400" dirty="0"/>
              <a:t>Intercept value, a, and slope of the line, b, are evaluated using the formulas given below:</a:t>
            </a:r>
          </a:p>
        </p:txBody>
      </p:sp>
      <p:pic>
        <p:nvPicPr>
          <p:cNvPr id="7" name="Picture 6"/>
          <p:cNvPicPr>
            <a:picLocks noChangeAspect="1"/>
          </p:cNvPicPr>
          <p:nvPr/>
        </p:nvPicPr>
        <p:blipFill>
          <a:blip r:embed="rId2"/>
          <a:stretch>
            <a:fillRect/>
          </a:stretch>
        </p:blipFill>
        <p:spPr>
          <a:xfrm>
            <a:off x="2632715" y="4391609"/>
            <a:ext cx="3137905" cy="1645920"/>
          </a:xfrm>
          <a:prstGeom prst="rect">
            <a:avLst/>
          </a:prstGeom>
        </p:spPr>
      </p:pic>
      <p:sp>
        <p:nvSpPr>
          <p:cNvPr id="8" name="Rectangle 7"/>
          <p:cNvSpPr/>
          <p:nvPr/>
        </p:nvSpPr>
        <p:spPr>
          <a:xfrm>
            <a:off x="5577840" y="4447024"/>
            <a:ext cx="6281928" cy="1862048"/>
          </a:xfrm>
          <a:prstGeom prst="rect">
            <a:avLst/>
          </a:prstGeom>
        </p:spPr>
        <p:txBody>
          <a:bodyPr wrap="square">
            <a:spAutoFit/>
          </a:bodyPr>
          <a:lstStyle/>
          <a:p>
            <a:r>
              <a:rPr lang="en-US" sz="2300" dirty="0"/>
              <a:t>where,</a:t>
            </a:r>
          </a:p>
          <a:p>
            <a:pPr>
              <a:buFont typeface="Arial" panose="020B0604020202020204" pitchFamily="34" charset="0"/>
              <a:buChar char="•"/>
            </a:pPr>
            <a:r>
              <a:rPr lang="en-US" sz="2300" dirty="0" smtClean="0"/>
              <a:t>  y </a:t>
            </a:r>
            <a:r>
              <a:rPr lang="en-US" sz="2300" dirty="0"/>
              <a:t>is Dependent Variable that Lies along Y-axis</a:t>
            </a:r>
          </a:p>
          <a:p>
            <a:pPr>
              <a:buFont typeface="Arial" panose="020B0604020202020204" pitchFamily="34" charset="0"/>
              <a:buChar char="•"/>
            </a:pPr>
            <a:r>
              <a:rPr lang="en-US" sz="2300" dirty="0" smtClean="0"/>
              <a:t>  a </a:t>
            </a:r>
            <a:r>
              <a:rPr lang="en-US" sz="2300" dirty="0"/>
              <a:t>is </a:t>
            </a:r>
            <a:r>
              <a:rPr lang="en-US" sz="2300" i="1" dirty="0"/>
              <a:t>Y-Intercept</a:t>
            </a:r>
          </a:p>
          <a:p>
            <a:pPr>
              <a:buFont typeface="Arial" panose="020B0604020202020204" pitchFamily="34" charset="0"/>
              <a:buChar char="•"/>
            </a:pPr>
            <a:r>
              <a:rPr lang="en-US" sz="2300" dirty="0" smtClean="0"/>
              <a:t>  b </a:t>
            </a:r>
            <a:r>
              <a:rPr lang="en-US" sz="2300" dirty="0"/>
              <a:t>is </a:t>
            </a:r>
            <a:r>
              <a:rPr lang="en-US" sz="2300" i="1" dirty="0"/>
              <a:t>Slope of </a:t>
            </a:r>
            <a:r>
              <a:rPr lang="en-US" sz="2300" i="1" dirty="0" smtClean="0"/>
              <a:t>regression line</a:t>
            </a:r>
          </a:p>
          <a:p>
            <a:pPr>
              <a:buFont typeface="Arial" panose="020B0604020202020204" pitchFamily="34" charset="0"/>
              <a:buChar char="•"/>
            </a:pPr>
            <a:r>
              <a:rPr lang="en-US" sz="2300" dirty="0"/>
              <a:t> </a:t>
            </a:r>
            <a:r>
              <a:rPr lang="en-US" sz="2300" dirty="0" smtClean="0"/>
              <a:t> x </a:t>
            </a:r>
            <a:r>
              <a:rPr lang="en-US" sz="2300" dirty="0"/>
              <a:t>is Independent Variable that Lies along X-axis</a:t>
            </a:r>
          </a:p>
        </p:txBody>
      </p:sp>
    </p:spTree>
    <p:extLst>
      <p:ext uri="{BB962C8B-B14F-4D97-AF65-F5344CB8AC3E}">
        <p14:creationId xmlns:p14="http://schemas.microsoft.com/office/powerpoint/2010/main" val="25542900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8680" y="1429572"/>
            <a:ext cx="10469880" cy="3939540"/>
          </a:xfrm>
          <a:prstGeom prst="rect">
            <a:avLst/>
          </a:prstGeom>
        </p:spPr>
        <p:txBody>
          <a:bodyPr wrap="square">
            <a:spAutoFit/>
          </a:bodyPr>
          <a:lstStyle/>
          <a:p>
            <a:pPr algn="just"/>
            <a:r>
              <a:rPr lang="en-US" sz="2400" b="1" dirty="0"/>
              <a:t>Properties of Linear Regression</a:t>
            </a:r>
          </a:p>
          <a:p>
            <a:pPr algn="just"/>
            <a:r>
              <a:rPr lang="en-US" sz="2400" dirty="0"/>
              <a:t>In the linear regression line if the regression parameters a</a:t>
            </a:r>
            <a:r>
              <a:rPr lang="en-US" sz="2400" baseline="-25000" dirty="0"/>
              <a:t>0</a:t>
            </a:r>
            <a:r>
              <a:rPr lang="en-US" sz="2400" dirty="0"/>
              <a:t> and a</a:t>
            </a:r>
            <a:r>
              <a:rPr lang="en-US" sz="2400" baseline="-25000" dirty="0"/>
              <a:t>1</a:t>
            </a:r>
            <a:r>
              <a:rPr lang="en-US" sz="2400" dirty="0"/>
              <a:t> are defined, the properties are given as below</a:t>
            </a:r>
            <a:r>
              <a:rPr lang="en-US" sz="2400" dirty="0" smtClean="0"/>
              <a:t>:</a:t>
            </a:r>
          </a:p>
          <a:p>
            <a:pPr algn="just"/>
            <a:endParaRPr lang="en-US" sz="1000" dirty="0"/>
          </a:p>
          <a:p>
            <a:pPr marL="342900" indent="-342900" algn="just">
              <a:buFont typeface="Wingdings" panose="05000000000000000000" pitchFamily="2" charset="2"/>
              <a:buChar char="à"/>
            </a:pPr>
            <a:r>
              <a:rPr lang="en-US" sz="2400" dirty="0" smtClean="0"/>
              <a:t>Linear </a:t>
            </a:r>
            <a:r>
              <a:rPr lang="en-US" sz="2400" dirty="0"/>
              <a:t>regression line reduces the sum of squared differences </a:t>
            </a:r>
            <a:r>
              <a:rPr lang="en-US" sz="2400" dirty="0" smtClean="0"/>
              <a:t>between</a:t>
            </a:r>
          </a:p>
          <a:p>
            <a:pPr algn="just"/>
            <a:r>
              <a:rPr lang="en-US" sz="2400" dirty="0"/>
              <a:t> </a:t>
            </a:r>
            <a:r>
              <a:rPr lang="en-US" sz="2400" dirty="0" smtClean="0"/>
              <a:t>    </a:t>
            </a:r>
            <a:r>
              <a:rPr lang="en-US" sz="2400" dirty="0"/>
              <a:t>observed values and predicted values.</a:t>
            </a:r>
          </a:p>
          <a:p>
            <a:pPr marL="342900" indent="-342900" algn="just">
              <a:buFont typeface="Wingdings" panose="05000000000000000000" pitchFamily="2" charset="2"/>
              <a:buChar char="à"/>
            </a:pPr>
            <a:r>
              <a:rPr lang="en-US" sz="2400" dirty="0" smtClean="0"/>
              <a:t>Linear </a:t>
            </a:r>
            <a:r>
              <a:rPr lang="en-US" sz="2400" dirty="0"/>
              <a:t>regression line always passes through the mean of X and Y </a:t>
            </a:r>
            <a:r>
              <a:rPr lang="en-US" sz="2400" dirty="0" smtClean="0"/>
              <a:t>variable</a:t>
            </a:r>
          </a:p>
          <a:p>
            <a:pPr algn="just"/>
            <a:r>
              <a:rPr lang="en-US" sz="2400" dirty="0"/>
              <a:t> </a:t>
            </a:r>
            <a:r>
              <a:rPr lang="en-US" sz="2400" dirty="0" smtClean="0"/>
              <a:t>    </a:t>
            </a:r>
            <a:r>
              <a:rPr lang="en-US" sz="2400" dirty="0"/>
              <a:t>values.</a:t>
            </a:r>
          </a:p>
          <a:p>
            <a:pPr marL="342900" indent="-342900" algn="just">
              <a:buFont typeface="Wingdings" panose="05000000000000000000" pitchFamily="2" charset="2"/>
              <a:buChar char="à"/>
            </a:pPr>
            <a:r>
              <a:rPr lang="en-US" sz="2400" dirty="0" smtClean="0"/>
              <a:t>Linear </a:t>
            </a:r>
            <a:r>
              <a:rPr lang="en-US" sz="2400" dirty="0"/>
              <a:t>regression constant (b</a:t>
            </a:r>
            <a:r>
              <a:rPr lang="en-US" sz="2400" baseline="-25000" dirty="0"/>
              <a:t>0</a:t>
            </a:r>
            <a:r>
              <a:rPr lang="en-US" sz="2400" dirty="0"/>
              <a:t>) is equal to the y-intercept of the </a:t>
            </a:r>
            <a:r>
              <a:rPr lang="en-US" sz="2400" dirty="0" smtClean="0"/>
              <a:t>linear</a:t>
            </a:r>
          </a:p>
          <a:p>
            <a:pPr algn="just"/>
            <a:r>
              <a:rPr lang="en-US" sz="2400" dirty="0"/>
              <a:t> </a:t>
            </a:r>
            <a:r>
              <a:rPr lang="en-US" sz="2400" dirty="0" smtClean="0"/>
              <a:t>    </a:t>
            </a:r>
            <a:r>
              <a:rPr lang="en-US" sz="2400" dirty="0"/>
              <a:t>regression.</a:t>
            </a:r>
          </a:p>
          <a:p>
            <a:pPr algn="just"/>
            <a:r>
              <a:rPr lang="en-US" sz="2400" dirty="0" smtClean="0">
                <a:sym typeface="Wingdings" panose="05000000000000000000" pitchFamily="2" charset="2"/>
              </a:rPr>
              <a:t> </a:t>
            </a:r>
            <a:r>
              <a:rPr lang="en-US" sz="2400" dirty="0" smtClean="0"/>
              <a:t>Linear </a:t>
            </a:r>
            <a:r>
              <a:rPr lang="en-US" sz="2400" dirty="0"/>
              <a:t>regression coefficient (b</a:t>
            </a:r>
            <a:r>
              <a:rPr lang="en-US" sz="2400" baseline="-25000" dirty="0"/>
              <a:t>0</a:t>
            </a:r>
            <a:r>
              <a:rPr lang="en-US" sz="2400" dirty="0"/>
              <a:t>) is the slope of the regression line.</a:t>
            </a:r>
          </a:p>
        </p:txBody>
      </p:sp>
    </p:spTree>
    <p:extLst>
      <p:ext uri="{BB962C8B-B14F-4D97-AF65-F5344CB8AC3E}">
        <p14:creationId xmlns:p14="http://schemas.microsoft.com/office/powerpoint/2010/main" val="8632606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39496" y="1545997"/>
            <a:ext cx="10561320" cy="3262432"/>
          </a:xfrm>
          <a:prstGeom prst="rect">
            <a:avLst/>
          </a:prstGeom>
        </p:spPr>
        <p:txBody>
          <a:bodyPr wrap="square">
            <a:spAutoFit/>
          </a:bodyPr>
          <a:lstStyle/>
          <a:p>
            <a:r>
              <a:rPr lang="en-US" sz="2800" b="1" dirty="0">
                <a:effectLst>
                  <a:outerShdw blurRad="38100" dist="38100" dir="2700000" algn="tl">
                    <a:srgbClr val="000000">
                      <a:alpha val="43137"/>
                    </a:srgbClr>
                  </a:outerShdw>
                </a:effectLst>
              </a:rPr>
              <a:t>Regression </a:t>
            </a:r>
            <a:r>
              <a:rPr lang="en-US" sz="2800" b="1" dirty="0" smtClean="0">
                <a:effectLst>
                  <a:outerShdw blurRad="38100" dist="38100" dir="2700000" algn="tl">
                    <a:srgbClr val="000000">
                      <a:alpha val="43137"/>
                    </a:srgbClr>
                  </a:outerShdw>
                </a:effectLst>
              </a:rPr>
              <a:t>Coefficient</a:t>
            </a:r>
            <a:endParaRPr lang="en-US" sz="2800" b="1" dirty="0">
              <a:effectLst>
                <a:outerShdw blurRad="38100" dist="38100" dir="2700000" algn="tl">
                  <a:srgbClr val="000000">
                    <a:alpha val="43137"/>
                  </a:srgbClr>
                </a:outerShdw>
              </a:effectLst>
            </a:endParaRPr>
          </a:p>
          <a:p>
            <a:r>
              <a:rPr lang="en-US" sz="2400" dirty="0"/>
              <a:t>Linear regression line, equation</a:t>
            </a:r>
            <a:r>
              <a:rPr lang="en-US" sz="2400" dirty="0" smtClean="0"/>
              <a:t>:</a:t>
            </a:r>
            <a:endParaRPr lang="en-US" sz="2400" dirty="0"/>
          </a:p>
          <a:p>
            <a:r>
              <a:rPr lang="en-US" sz="2400" dirty="0"/>
              <a:t>    Y = </a:t>
            </a:r>
            <a:r>
              <a:rPr lang="en-US" sz="2400" dirty="0" smtClean="0">
                <a:solidFill>
                  <a:srgbClr val="FF0000"/>
                </a:solidFill>
              </a:rPr>
              <a:t>B</a:t>
            </a:r>
            <a:r>
              <a:rPr lang="en-US" sz="2400" baseline="-25000" dirty="0" smtClean="0">
                <a:solidFill>
                  <a:srgbClr val="FF0000"/>
                </a:solidFill>
              </a:rPr>
              <a:t>0</a:t>
            </a:r>
            <a:r>
              <a:rPr lang="en-US" sz="2400" dirty="0" smtClean="0"/>
              <a:t> </a:t>
            </a:r>
            <a:r>
              <a:rPr lang="en-US" sz="2400" dirty="0"/>
              <a:t>+ </a:t>
            </a:r>
            <a:r>
              <a:rPr lang="en-US" sz="2400" dirty="0" smtClean="0">
                <a:solidFill>
                  <a:schemeClr val="accent6">
                    <a:lumMod val="75000"/>
                  </a:schemeClr>
                </a:solidFill>
              </a:rPr>
              <a:t>B</a:t>
            </a:r>
            <a:r>
              <a:rPr lang="en-US" sz="2400" baseline="-25000" dirty="0" smtClean="0">
                <a:solidFill>
                  <a:schemeClr val="accent6">
                    <a:lumMod val="75000"/>
                  </a:schemeClr>
                </a:solidFill>
              </a:rPr>
              <a:t>1</a:t>
            </a:r>
            <a:r>
              <a:rPr lang="en-US" sz="2400" dirty="0" smtClean="0"/>
              <a:t>X</a:t>
            </a:r>
          </a:p>
          <a:p>
            <a:r>
              <a:rPr lang="en-US" sz="2400" dirty="0"/>
              <a:t>where,</a:t>
            </a:r>
          </a:p>
          <a:p>
            <a:r>
              <a:rPr lang="en-US" sz="2400" dirty="0" smtClean="0"/>
              <a:t>    </a:t>
            </a:r>
            <a:r>
              <a:rPr lang="en-US" sz="2400" dirty="0" smtClean="0">
                <a:solidFill>
                  <a:srgbClr val="FF0000"/>
                </a:solidFill>
              </a:rPr>
              <a:t>B</a:t>
            </a:r>
            <a:r>
              <a:rPr lang="en-US" sz="2400" baseline="-25000" dirty="0" smtClean="0">
                <a:solidFill>
                  <a:srgbClr val="FF0000"/>
                </a:solidFill>
              </a:rPr>
              <a:t>0</a:t>
            </a:r>
            <a:r>
              <a:rPr lang="en-US" sz="2400" dirty="0" smtClean="0"/>
              <a:t> </a:t>
            </a:r>
            <a:r>
              <a:rPr lang="en-US" sz="2400" dirty="0"/>
              <a:t>is a Constant</a:t>
            </a:r>
          </a:p>
          <a:p>
            <a:r>
              <a:rPr lang="en-US" sz="2400" dirty="0"/>
              <a:t>    </a:t>
            </a:r>
            <a:r>
              <a:rPr lang="en-US" sz="2400" dirty="0" smtClean="0">
                <a:solidFill>
                  <a:schemeClr val="accent6">
                    <a:lumMod val="75000"/>
                  </a:schemeClr>
                </a:solidFill>
              </a:rPr>
              <a:t>B</a:t>
            </a:r>
            <a:r>
              <a:rPr lang="en-US" sz="2400" baseline="-25000" dirty="0" smtClean="0">
                <a:solidFill>
                  <a:schemeClr val="accent6">
                    <a:lumMod val="75000"/>
                  </a:schemeClr>
                </a:solidFill>
              </a:rPr>
              <a:t>1</a:t>
            </a:r>
            <a:r>
              <a:rPr lang="en-US" sz="2400" dirty="0" smtClean="0"/>
              <a:t> </a:t>
            </a:r>
            <a:r>
              <a:rPr lang="en-US" sz="2400" dirty="0"/>
              <a:t>is Regression </a:t>
            </a:r>
            <a:r>
              <a:rPr lang="en-US" sz="2400" dirty="0" smtClean="0"/>
              <a:t>Coefficient</a:t>
            </a:r>
          </a:p>
          <a:p>
            <a:endParaRPr lang="en-US" sz="1000" dirty="0" smtClean="0"/>
          </a:p>
          <a:p>
            <a:r>
              <a:rPr lang="en-US" sz="2400" dirty="0"/>
              <a:t>Here, </a:t>
            </a:r>
            <a:r>
              <a:rPr lang="en-US" sz="2400" dirty="0" smtClean="0"/>
              <a:t>B</a:t>
            </a:r>
            <a:r>
              <a:rPr lang="en-US" sz="2400" baseline="-25000" dirty="0" smtClean="0"/>
              <a:t>1</a:t>
            </a:r>
            <a:r>
              <a:rPr lang="en-US" sz="2400" dirty="0" smtClean="0"/>
              <a:t> </a:t>
            </a:r>
            <a:r>
              <a:rPr lang="en-US" sz="2400" dirty="0"/>
              <a:t>is the regression coefficient and its formula is,</a:t>
            </a:r>
          </a:p>
          <a:p>
            <a:endParaRPr lang="en-US" sz="2400" dirty="0"/>
          </a:p>
        </p:txBody>
      </p:sp>
      <p:pic>
        <p:nvPicPr>
          <p:cNvPr id="4" name="Picture 3"/>
          <p:cNvPicPr>
            <a:picLocks noChangeAspect="1"/>
          </p:cNvPicPr>
          <p:nvPr/>
        </p:nvPicPr>
        <p:blipFill>
          <a:blip r:embed="rId2"/>
          <a:stretch>
            <a:fillRect/>
          </a:stretch>
        </p:blipFill>
        <p:spPr>
          <a:xfrm>
            <a:off x="1355217" y="4420630"/>
            <a:ext cx="4248150" cy="533400"/>
          </a:xfrm>
          <a:prstGeom prst="rect">
            <a:avLst/>
          </a:prstGeom>
          <a:ln w="28575">
            <a:solidFill>
              <a:srgbClr val="7030A0"/>
            </a:solidFill>
          </a:ln>
        </p:spPr>
      </p:pic>
      <p:sp>
        <p:nvSpPr>
          <p:cNvPr id="5" name="Rectangle 4"/>
          <p:cNvSpPr/>
          <p:nvPr/>
        </p:nvSpPr>
        <p:spPr>
          <a:xfrm>
            <a:off x="1355217" y="5028527"/>
            <a:ext cx="6096000" cy="1261884"/>
          </a:xfrm>
          <a:prstGeom prst="rect">
            <a:avLst/>
          </a:prstGeom>
        </p:spPr>
        <p:txBody>
          <a:bodyPr>
            <a:spAutoFit/>
          </a:bodyPr>
          <a:lstStyle/>
          <a:p>
            <a:r>
              <a:rPr lang="en-US" sz="2400" dirty="0"/>
              <a:t>where,</a:t>
            </a:r>
          </a:p>
          <a:p>
            <a:endParaRPr lang="en-US" sz="400" dirty="0"/>
          </a:p>
          <a:p>
            <a:r>
              <a:rPr lang="en-US" sz="2400" dirty="0"/>
              <a:t>    </a:t>
            </a:r>
            <a:r>
              <a:rPr lang="en-US" sz="2400" dirty="0" smtClean="0">
                <a:sym typeface="Wingdings" panose="05000000000000000000" pitchFamily="2" charset="2"/>
              </a:rPr>
              <a:t> </a:t>
            </a:r>
            <a:r>
              <a:rPr lang="en-US" sz="2400" dirty="0" smtClean="0"/>
              <a:t>x</a:t>
            </a:r>
            <a:r>
              <a:rPr lang="en-US" sz="2400" baseline="-25000" dirty="0" smtClean="0"/>
              <a:t>i</a:t>
            </a:r>
            <a:r>
              <a:rPr lang="en-US" sz="2400" dirty="0" smtClean="0"/>
              <a:t> </a:t>
            </a:r>
            <a:r>
              <a:rPr lang="en-US" sz="2400" dirty="0"/>
              <a:t>and </a:t>
            </a:r>
            <a:r>
              <a:rPr lang="en-US" sz="2400" dirty="0" err="1" smtClean="0"/>
              <a:t>y</a:t>
            </a:r>
            <a:r>
              <a:rPr lang="en-US" sz="2400" baseline="-25000" dirty="0" err="1" smtClean="0"/>
              <a:t>i</a:t>
            </a:r>
            <a:r>
              <a:rPr lang="en-US" sz="2400" dirty="0" smtClean="0"/>
              <a:t> </a:t>
            </a:r>
            <a:r>
              <a:rPr lang="en-US" sz="2400" dirty="0"/>
              <a:t>are Observed Data Sets</a:t>
            </a:r>
          </a:p>
          <a:p>
            <a:r>
              <a:rPr lang="en-US" sz="2400" dirty="0"/>
              <a:t>    </a:t>
            </a:r>
            <a:r>
              <a:rPr lang="en-US" sz="2400" dirty="0" smtClean="0">
                <a:sym typeface="Wingdings" panose="05000000000000000000" pitchFamily="2" charset="2"/>
              </a:rPr>
              <a:t> </a:t>
            </a:r>
            <a:r>
              <a:rPr lang="en-US" sz="2400" dirty="0" smtClean="0"/>
              <a:t>x </a:t>
            </a:r>
            <a:r>
              <a:rPr lang="en-US" sz="2400" dirty="0"/>
              <a:t>and y are Mean Value</a:t>
            </a:r>
          </a:p>
        </p:txBody>
      </p:sp>
      <p:sp>
        <p:nvSpPr>
          <p:cNvPr id="6" name="Rectangle 5"/>
          <p:cNvSpPr/>
          <p:nvPr/>
        </p:nvSpPr>
        <p:spPr>
          <a:xfrm>
            <a:off x="6943344" y="318118"/>
            <a:ext cx="4696968" cy="3570208"/>
          </a:xfrm>
          <a:prstGeom prst="rect">
            <a:avLst/>
          </a:prstGeom>
          <a:ln w="28575">
            <a:solidFill>
              <a:srgbClr val="FF0000"/>
            </a:solidFill>
          </a:ln>
        </p:spPr>
        <p:txBody>
          <a:bodyPr wrap="square">
            <a:spAutoFit/>
          </a:bodyPr>
          <a:lstStyle/>
          <a:p>
            <a:pPr algn="ctr"/>
            <a:r>
              <a:rPr lang="en-US" sz="2200" b="1" dirty="0">
                <a:solidFill>
                  <a:schemeClr val="accent2">
                    <a:lumMod val="75000"/>
                  </a:schemeClr>
                </a:solidFill>
                <a:effectLst>
                  <a:outerShdw blurRad="38100" dist="38100" dir="2700000" algn="tl">
                    <a:srgbClr val="000000">
                      <a:alpha val="43137"/>
                    </a:srgbClr>
                  </a:outerShdw>
                </a:effectLst>
              </a:rPr>
              <a:t>What is Linear Regression Used for</a:t>
            </a:r>
            <a:r>
              <a:rPr lang="en-US" sz="2200" b="1" dirty="0" smtClean="0">
                <a:solidFill>
                  <a:schemeClr val="accent2">
                    <a:lumMod val="75000"/>
                  </a:schemeClr>
                </a:solidFill>
                <a:effectLst>
                  <a:outerShdw blurRad="38100" dist="38100" dir="2700000" algn="tl">
                    <a:srgbClr val="000000">
                      <a:alpha val="43137"/>
                    </a:srgbClr>
                  </a:outerShdw>
                </a:effectLst>
              </a:rPr>
              <a:t>?</a:t>
            </a:r>
          </a:p>
          <a:p>
            <a:pPr algn="ctr"/>
            <a:endParaRPr lang="en-US" sz="600" b="1" dirty="0">
              <a:solidFill>
                <a:schemeClr val="accent2">
                  <a:lumMod val="75000"/>
                </a:schemeClr>
              </a:solidFill>
              <a:effectLst>
                <a:outerShdw blurRad="38100" dist="38100" dir="2700000" algn="tl">
                  <a:srgbClr val="000000">
                    <a:alpha val="43137"/>
                  </a:srgbClr>
                </a:outerShdw>
              </a:effectLst>
            </a:endParaRPr>
          </a:p>
          <a:p>
            <a:r>
              <a:rPr lang="en-US" sz="2200" u="sng" dirty="0"/>
              <a:t>Various uses of Linear Regression are</a:t>
            </a:r>
            <a:r>
              <a:rPr lang="en-US" sz="2200" dirty="0"/>
              <a:t>:</a:t>
            </a:r>
          </a:p>
          <a:p>
            <a:r>
              <a:rPr lang="en-US" sz="2200" dirty="0"/>
              <a:t>    </a:t>
            </a:r>
            <a:r>
              <a:rPr lang="en-US" sz="2200" dirty="0" smtClean="0">
                <a:sym typeface="Wingdings" panose="05000000000000000000" pitchFamily="2" charset="2"/>
              </a:rPr>
              <a:t> </a:t>
            </a:r>
            <a:r>
              <a:rPr lang="en-US" sz="2200" dirty="0" smtClean="0"/>
              <a:t>It </a:t>
            </a:r>
            <a:r>
              <a:rPr lang="en-US" sz="2200" dirty="0"/>
              <a:t>is used in market research and </a:t>
            </a:r>
            <a:endParaRPr lang="en-US" sz="2200" dirty="0" smtClean="0"/>
          </a:p>
          <a:p>
            <a:r>
              <a:rPr lang="en-US" sz="2200" dirty="0"/>
              <a:t> </a:t>
            </a:r>
            <a:r>
              <a:rPr lang="en-US" sz="2200" dirty="0" smtClean="0"/>
              <a:t>         study </a:t>
            </a:r>
            <a:r>
              <a:rPr lang="en-US" sz="2200" dirty="0"/>
              <a:t>of customer survey results.</a:t>
            </a:r>
          </a:p>
          <a:p>
            <a:r>
              <a:rPr lang="en-US" sz="2200" dirty="0"/>
              <a:t>    </a:t>
            </a:r>
            <a:r>
              <a:rPr lang="en-US" sz="2200" dirty="0" smtClean="0">
                <a:sym typeface="Wingdings" panose="05000000000000000000" pitchFamily="2" charset="2"/>
              </a:rPr>
              <a:t> </a:t>
            </a:r>
            <a:r>
              <a:rPr lang="en-US" sz="2200" dirty="0" smtClean="0"/>
              <a:t>It </a:t>
            </a:r>
            <a:r>
              <a:rPr lang="en-US" sz="2200" dirty="0"/>
              <a:t>is used for studying </a:t>
            </a:r>
            <a:endParaRPr lang="en-US" sz="2200" dirty="0" smtClean="0"/>
          </a:p>
          <a:p>
            <a:r>
              <a:rPr lang="en-US" sz="2200" dirty="0"/>
              <a:t> </a:t>
            </a:r>
            <a:r>
              <a:rPr lang="en-US" sz="2200" dirty="0" smtClean="0"/>
              <a:t>         performance </a:t>
            </a:r>
            <a:r>
              <a:rPr lang="en-US" sz="2200" dirty="0"/>
              <a:t>of engine of </a:t>
            </a:r>
            <a:endParaRPr lang="en-US" sz="2200" dirty="0" smtClean="0"/>
          </a:p>
          <a:p>
            <a:r>
              <a:rPr lang="en-US" sz="2200" dirty="0"/>
              <a:t> </a:t>
            </a:r>
            <a:r>
              <a:rPr lang="en-US" sz="2200" dirty="0" smtClean="0"/>
              <a:t>         automobiles</a:t>
            </a:r>
            <a:r>
              <a:rPr lang="en-US" sz="2200" dirty="0"/>
              <a:t>.</a:t>
            </a:r>
          </a:p>
          <a:p>
            <a:r>
              <a:rPr lang="en-US" sz="2200" dirty="0"/>
              <a:t>    </a:t>
            </a:r>
            <a:r>
              <a:rPr lang="en-US" sz="2200" dirty="0" smtClean="0">
                <a:sym typeface="Wingdings" panose="05000000000000000000" pitchFamily="2" charset="2"/>
              </a:rPr>
              <a:t> </a:t>
            </a:r>
            <a:r>
              <a:rPr lang="en-US" sz="2200" dirty="0" smtClean="0"/>
              <a:t>It </a:t>
            </a:r>
            <a:r>
              <a:rPr lang="en-US" sz="2200" dirty="0"/>
              <a:t>is used in deciding the </a:t>
            </a:r>
            <a:r>
              <a:rPr lang="en-US" sz="2200" dirty="0" smtClean="0"/>
              <a:t>effective</a:t>
            </a:r>
          </a:p>
          <a:p>
            <a:r>
              <a:rPr lang="en-US" sz="2200" dirty="0"/>
              <a:t> </a:t>
            </a:r>
            <a:r>
              <a:rPr lang="en-US" sz="2200" dirty="0" smtClean="0"/>
              <a:t>         </a:t>
            </a:r>
            <a:r>
              <a:rPr lang="en-US" sz="2200" dirty="0"/>
              <a:t>price of any goods.</a:t>
            </a:r>
          </a:p>
          <a:p>
            <a:r>
              <a:rPr lang="en-US" sz="2200" dirty="0"/>
              <a:t>    </a:t>
            </a:r>
            <a:r>
              <a:rPr lang="en-US" sz="2200" dirty="0" smtClean="0">
                <a:sym typeface="Wingdings" panose="05000000000000000000" pitchFamily="2" charset="2"/>
              </a:rPr>
              <a:t> </a:t>
            </a:r>
            <a:r>
              <a:rPr lang="en-US" sz="2200" dirty="0" smtClean="0"/>
              <a:t>It </a:t>
            </a:r>
            <a:r>
              <a:rPr lang="en-US" sz="2200" dirty="0"/>
              <a:t>is used in astronomy.</a:t>
            </a:r>
          </a:p>
        </p:txBody>
      </p:sp>
    </p:spTree>
    <p:extLst>
      <p:ext uri="{BB962C8B-B14F-4D97-AF65-F5344CB8AC3E}">
        <p14:creationId xmlns:p14="http://schemas.microsoft.com/office/powerpoint/2010/main" val="9358850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64095" y="605047"/>
            <a:ext cx="3840480" cy="2666289"/>
          </a:xfrm>
          <a:prstGeom prst="rect">
            <a:avLst/>
          </a:prstGeom>
          <a:ln w="28575">
            <a:solidFill>
              <a:srgbClr val="002060"/>
            </a:solidFill>
          </a:ln>
        </p:spPr>
      </p:pic>
      <p:sp>
        <p:nvSpPr>
          <p:cNvPr id="3" name="Rectangle 2"/>
          <p:cNvSpPr/>
          <p:nvPr/>
        </p:nvSpPr>
        <p:spPr>
          <a:xfrm>
            <a:off x="5434584" y="330727"/>
            <a:ext cx="6096000" cy="769441"/>
          </a:xfrm>
          <a:prstGeom prst="rect">
            <a:avLst/>
          </a:prstGeom>
        </p:spPr>
        <p:txBody>
          <a:bodyPr>
            <a:spAutoFit/>
          </a:bodyPr>
          <a:lstStyle/>
          <a:p>
            <a:pPr algn="ctr"/>
            <a:r>
              <a:rPr lang="en-US" sz="2200" b="1" dirty="0">
                <a:solidFill>
                  <a:schemeClr val="accent2">
                    <a:lumMod val="75000"/>
                  </a:schemeClr>
                </a:solidFill>
              </a:rPr>
              <a:t>Question 1: Find the linear regression equation for the given data:</a:t>
            </a:r>
            <a:endParaRPr lang="en-US" sz="2200" dirty="0">
              <a:solidFill>
                <a:schemeClr val="accent2">
                  <a:lumMod val="75000"/>
                </a:schemeClr>
              </a:solidFill>
            </a:endParaRPr>
          </a:p>
        </p:txBody>
      </p:sp>
      <p:pic>
        <p:nvPicPr>
          <p:cNvPr id="4" name="Picture 3"/>
          <p:cNvPicPr>
            <a:picLocks noChangeAspect="1"/>
          </p:cNvPicPr>
          <p:nvPr/>
        </p:nvPicPr>
        <p:blipFill>
          <a:blip r:embed="rId3"/>
          <a:stretch>
            <a:fillRect/>
          </a:stretch>
        </p:blipFill>
        <p:spPr>
          <a:xfrm>
            <a:off x="764095" y="3376630"/>
            <a:ext cx="2194560" cy="1151108"/>
          </a:xfrm>
          <a:prstGeom prst="rect">
            <a:avLst/>
          </a:prstGeom>
          <a:ln w="28575">
            <a:solidFill>
              <a:srgbClr val="002060"/>
            </a:solidFill>
          </a:ln>
        </p:spPr>
      </p:pic>
      <p:sp>
        <p:nvSpPr>
          <p:cNvPr id="6" name="Rectangle 5"/>
          <p:cNvSpPr/>
          <p:nvPr/>
        </p:nvSpPr>
        <p:spPr>
          <a:xfrm>
            <a:off x="3330823" y="4372672"/>
            <a:ext cx="1588649" cy="1446550"/>
          </a:xfrm>
          <a:prstGeom prst="rect">
            <a:avLst/>
          </a:prstGeom>
        </p:spPr>
        <p:txBody>
          <a:bodyPr wrap="square">
            <a:spAutoFit/>
          </a:bodyPr>
          <a:lstStyle/>
          <a:p>
            <a:r>
              <a:rPr lang="en-US" sz="2200" b="1" dirty="0">
                <a:solidFill>
                  <a:srgbClr val="FF0000"/>
                </a:solidFill>
              </a:rPr>
              <a:t>Calculating intercept and slope value.</a:t>
            </a:r>
          </a:p>
        </p:txBody>
      </p:sp>
      <p:sp>
        <p:nvSpPr>
          <p:cNvPr id="7" name="Right Arrow 6"/>
          <p:cNvSpPr/>
          <p:nvPr/>
        </p:nvSpPr>
        <p:spPr>
          <a:xfrm>
            <a:off x="4919472" y="4400104"/>
            <a:ext cx="640080" cy="1214694"/>
          </a:xfrm>
          <a:prstGeom prst="rightArrow">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a:blip r:embed="rId4"/>
          <a:stretch>
            <a:fillRect/>
          </a:stretch>
        </p:blipFill>
        <p:spPr>
          <a:xfrm>
            <a:off x="7749159" y="1214455"/>
            <a:ext cx="1466850" cy="2162175"/>
          </a:xfrm>
          <a:prstGeom prst="rect">
            <a:avLst/>
          </a:prstGeom>
        </p:spPr>
      </p:pic>
      <p:pic>
        <p:nvPicPr>
          <p:cNvPr id="10" name="Picture 9"/>
          <p:cNvPicPr>
            <a:picLocks noChangeAspect="1"/>
          </p:cNvPicPr>
          <p:nvPr/>
        </p:nvPicPr>
        <p:blipFill>
          <a:blip r:embed="rId5"/>
          <a:stretch>
            <a:fillRect/>
          </a:stretch>
        </p:blipFill>
        <p:spPr>
          <a:xfrm>
            <a:off x="5626036" y="3913459"/>
            <a:ext cx="6035040" cy="2364976"/>
          </a:xfrm>
          <a:prstGeom prst="rect">
            <a:avLst/>
          </a:prstGeom>
        </p:spPr>
      </p:pic>
    </p:spTree>
    <p:extLst>
      <p:ext uri="{BB962C8B-B14F-4D97-AF65-F5344CB8AC3E}">
        <p14:creationId xmlns:p14="http://schemas.microsoft.com/office/powerpoint/2010/main" val="1428699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7280" y="784366"/>
            <a:ext cx="10195560" cy="5262979"/>
          </a:xfrm>
          <a:prstGeom prst="rect">
            <a:avLst/>
          </a:prstGeom>
        </p:spPr>
        <p:txBody>
          <a:bodyPr wrap="square">
            <a:spAutoFit/>
          </a:bodyPr>
          <a:lstStyle/>
          <a:p>
            <a:r>
              <a:rPr lang="en-US" sz="2400" b="1" dirty="0" smtClean="0">
                <a:solidFill>
                  <a:srgbClr val="FF0000"/>
                </a:solidFill>
                <a:effectLst>
                  <a:outerShdw blurRad="38100" dist="38100" dir="2700000" algn="tl">
                    <a:srgbClr val="000000">
                      <a:alpha val="43137"/>
                    </a:srgbClr>
                  </a:outerShdw>
                </a:effectLst>
              </a:rPr>
              <a:t>Using formula for </a:t>
            </a:r>
            <a:r>
              <a:rPr lang="en-US" sz="2400" b="1" i="1" dirty="0" smtClean="0">
                <a:solidFill>
                  <a:srgbClr val="FF0000"/>
                </a:solidFill>
                <a:effectLst>
                  <a:outerShdw blurRad="38100" dist="38100" dir="2700000" algn="tl">
                    <a:srgbClr val="000000">
                      <a:alpha val="43137"/>
                    </a:srgbClr>
                  </a:outerShdw>
                </a:effectLst>
              </a:rPr>
              <a:t>a</a:t>
            </a:r>
            <a:r>
              <a:rPr lang="en-US" sz="2400" dirty="0" smtClean="0"/>
              <a:t>,</a:t>
            </a:r>
            <a:endParaRPr lang="en-US" sz="2400" dirty="0"/>
          </a:p>
          <a:p>
            <a:endParaRPr lang="en-US" sz="2400" dirty="0" smtClean="0"/>
          </a:p>
          <a:p>
            <a:endParaRPr lang="en-US" sz="2400" dirty="0"/>
          </a:p>
          <a:p>
            <a:r>
              <a:rPr lang="en-US" sz="2400" dirty="0" smtClean="0"/>
              <a:t>a </a:t>
            </a:r>
            <a:r>
              <a:rPr lang="en-US" sz="2400" dirty="0"/>
              <a:t>= {20 (124) – 20 (104)} / {4 (124) – 400</a:t>
            </a:r>
            <a:r>
              <a:rPr lang="en-US" sz="2400" dirty="0" smtClean="0"/>
              <a:t>}</a:t>
            </a:r>
          </a:p>
          <a:p>
            <a:endParaRPr lang="en-US" sz="600" dirty="0"/>
          </a:p>
          <a:p>
            <a:r>
              <a:rPr lang="en-US" sz="2400" dirty="0"/>
              <a:t>a = 400/96 = </a:t>
            </a:r>
            <a:r>
              <a:rPr lang="en-US" sz="2400" dirty="0" smtClean="0"/>
              <a:t>4.17</a:t>
            </a:r>
          </a:p>
          <a:p>
            <a:endParaRPr lang="en-US" sz="600" dirty="0"/>
          </a:p>
          <a:p>
            <a:endParaRPr lang="en-US" sz="1200" dirty="0" smtClean="0"/>
          </a:p>
          <a:p>
            <a:endParaRPr lang="en-US" sz="1200" dirty="0" smtClean="0"/>
          </a:p>
          <a:p>
            <a:r>
              <a:rPr lang="en-US" sz="2400" b="1" dirty="0" smtClean="0">
                <a:solidFill>
                  <a:srgbClr val="002060"/>
                </a:solidFill>
                <a:effectLst>
                  <a:outerShdw blurRad="38100" dist="38100" dir="2700000" algn="tl">
                    <a:srgbClr val="000000">
                      <a:alpha val="43137"/>
                    </a:srgbClr>
                  </a:outerShdw>
                </a:effectLst>
              </a:rPr>
              <a:t>Using </a:t>
            </a:r>
            <a:r>
              <a:rPr lang="en-US" sz="2400" b="1" dirty="0">
                <a:solidFill>
                  <a:srgbClr val="002060"/>
                </a:solidFill>
                <a:effectLst>
                  <a:outerShdw blurRad="38100" dist="38100" dir="2700000" algn="tl">
                    <a:srgbClr val="000000">
                      <a:alpha val="43137"/>
                    </a:srgbClr>
                  </a:outerShdw>
                </a:effectLst>
              </a:rPr>
              <a:t>formula for </a:t>
            </a:r>
            <a:r>
              <a:rPr lang="en-US" sz="2400" b="1" i="1" dirty="0" smtClean="0">
                <a:solidFill>
                  <a:srgbClr val="002060"/>
                </a:solidFill>
                <a:effectLst>
                  <a:outerShdw blurRad="38100" dist="38100" dir="2700000" algn="tl">
                    <a:srgbClr val="000000">
                      <a:alpha val="43137"/>
                    </a:srgbClr>
                  </a:outerShdw>
                </a:effectLst>
              </a:rPr>
              <a:t>b</a:t>
            </a:r>
            <a:r>
              <a:rPr lang="en-US" sz="2400" dirty="0" smtClean="0"/>
              <a:t>,</a:t>
            </a:r>
            <a:endParaRPr lang="en-US" sz="2400" dirty="0"/>
          </a:p>
          <a:p>
            <a:endParaRPr lang="en-US" sz="2400" dirty="0" smtClean="0"/>
          </a:p>
          <a:p>
            <a:endParaRPr lang="en-US" sz="2400" dirty="0"/>
          </a:p>
          <a:p>
            <a:r>
              <a:rPr lang="en-US" sz="2400" dirty="0" smtClean="0"/>
              <a:t>b </a:t>
            </a:r>
            <a:r>
              <a:rPr lang="en-US" sz="2400" dirty="0"/>
              <a:t>= {4 (104) – 20 (20)} / {4 (124) – 400}</a:t>
            </a:r>
          </a:p>
          <a:p>
            <a:r>
              <a:rPr lang="en-US" sz="2400" dirty="0"/>
              <a:t>b = 16/96 = 0.166 </a:t>
            </a:r>
            <a:endParaRPr lang="en-US" sz="2400" dirty="0" smtClean="0"/>
          </a:p>
          <a:p>
            <a:endParaRPr lang="en-US" sz="1200" dirty="0"/>
          </a:p>
          <a:p>
            <a:r>
              <a:rPr lang="en-US" sz="2400" dirty="0">
                <a:solidFill>
                  <a:srgbClr val="7030A0"/>
                </a:solidFill>
                <a:effectLst>
                  <a:outerShdw blurRad="38100" dist="38100" dir="2700000" algn="tl">
                    <a:srgbClr val="000000">
                      <a:alpha val="43137"/>
                    </a:srgbClr>
                  </a:outerShdw>
                </a:effectLst>
              </a:rPr>
              <a:t>So, linear regression equation </a:t>
            </a:r>
            <a:r>
              <a:rPr lang="en-US" sz="2400" dirty="0" smtClean="0">
                <a:solidFill>
                  <a:srgbClr val="7030A0"/>
                </a:solidFill>
                <a:effectLst>
                  <a:outerShdw blurRad="38100" dist="38100" dir="2700000" algn="tl">
                    <a:srgbClr val="000000">
                      <a:alpha val="43137"/>
                    </a:srgbClr>
                  </a:outerShdw>
                </a:effectLst>
              </a:rPr>
              <a:t>is:</a:t>
            </a:r>
          </a:p>
          <a:p>
            <a:r>
              <a:rPr lang="en-US" sz="2400" dirty="0">
                <a:solidFill>
                  <a:srgbClr val="7030A0"/>
                </a:solidFill>
                <a:effectLst>
                  <a:outerShdw blurRad="38100" dist="38100" dir="2700000" algn="tl">
                    <a:srgbClr val="000000">
                      <a:alpha val="43137"/>
                    </a:srgbClr>
                  </a:outerShdw>
                </a:effectLst>
              </a:rPr>
              <a:t> </a:t>
            </a:r>
            <a:r>
              <a:rPr lang="en-US" sz="2400" dirty="0" smtClean="0">
                <a:solidFill>
                  <a:srgbClr val="7030A0"/>
                </a:solidFill>
                <a:effectLst>
                  <a:outerShdw blurRad="38100" dist="38100" dir="2700000" algn="tl">
                    <a:srgbClr val="000000">
                      <a:alpha val="43137"/>
                    </a:srgbClr>
                  </a:outerShdw>
                </a:effectLst>
              </a:rPr>
              <a:t>      </a:t>
            </a:r>
            <a:r>
              <a:rPr lang="en-US" sz="2400" dirty="0">
                <a:solidFill>
                  <a:srgbClr val="7030A0"/>
                </a:solidFill>
                <a:effectLst>
                  <a:outerShdw blurRad="38100" dist="38100" dir="2700000" algn="tl">
                    <a:srgbClr val="000000">
                      <a:alpha val="43137"/>
                    </a:srgbClr>
                  </a:outerShdw>
                </a:effectLst>
              </a:rPr>
              <a:t>y=</a:t>
            </a:r>
            <a:r>
              <a:rPr lang="en-US" sz="2400" dirty="0" err="1">
                <a:solidFill>
                  <a:srgbClr val="7030A0"/>
                </a:solidFill>
                <a:effectLst>
                  <a:outerShdw blurRad="38100" dist="38100" dir="2700000" algn="tl">
                    <a:srgbClr val="000000">
                      <a:alpha val="43137"/>
                    </a:srgbClr>
                  </a:outerShdw>
                </a:effectLst>
              </a:rPr>
              <a:t>a+bx</a:t>
            </a:r>
            <a:r>
              <a:rPr lang="en-US" sz="2400" dirty="0">
                <a:solidFill>
                  <a:srgbClr val="7030A0"/>
                </a:solidFill>
                <a:effectLst>
                  <a:outerShdw blurRad="38100" dist="38100" dir="2700000" algn="tl">
                    <a:srgbClr val="000000">
                      <a:alpha val="43137"/>
                    </a:srgbClr>
                  </a:outerShdw>
                </a:effectLst>
              </a:rPr>
              <a:t> =&gt; y = 4.17 + 0.166x</a:t>
            </a:r>
          </a:p>
        </p:txBody>
      </p:sp>
      <p:pic>
        <p:nvPicPr>
          <p:cNvPr id="3" name="Picture 2"/>
          <p:cNvPicPr>
            <a:picLocks noChangeAspect="1"/>
          </p:cNvPicPr>
          <p:nvPr/>
        </p:nvPicPr>
        <p:blipFill>
          <a:blip r:embed="rId2"/>
          <a:stretch>
            <a:fillRect/>
          </a:stretch>
        </p:blipFill>
        <p:spPr>
          <a:xfrm>
            <a:off x="3752850" y="1129665"/>
            <a:ext cx="2324100" cy="666750"/>
          </a:xfrm>
          <a:prstGeom prst="rect">
            <a:avLst/>
          </a:prstGeom>
        </p:spPr>
      </p:pic>
      <p:pic>
        <p:nvPicPr>
          <p:cNvPr id="4" name="Picture 3"/>
          <p:cNvPicPr>
            <a:picLocks noChangeAspect="1"/>
          </p:cNvPicPr>
          <p:nvPr/>
        </p:nvPicPr>
        <p:blipFill>
          <a:blip r:embed="rId3"/>
          <a:stretch>
            <a:fillRect/>
          </a:stretch>
        </p:blipFill>
        <p:spPr>
          <a:xfrm>
            <a:off x="3752850" y="3484730"/>
            <a:ext cx="2362200" cy="647700"/>
          </a:xfrm>
          <a:prstGeom prst="rect">
            <a:avLst/>
          </a:prstGeom>
        </p:spPr>
      </p:pic>
      <p:pic>
        <p:nvPicPr>
          <p:cNvPr id="5" name="Picture 4"/>
          <p:cNvPicPr>
            <a:picLocks noChangeAspect="1"/>
          </p:cNvPicPr>
          <p:nvPr/>
        </p:nvPicPr>
        <p:blipFill>
          <a:blip r:embed="rId4"/>
          <a:stretch>
            <a:fillRect/>
          </a:stretch>
        </p:blipFill>
        <p:spPr>
          <a:xfrm>
            <a:off x="6887908" y="429595"/>
            <a:ext cx="4900146" cy="1920240"/>
          </a:xfrm>
          <a:prstGeom prst="rect">
            <a:avLst/>
          </a:prstGeom>
          <a:ln w="28575">
            <a:solidFill>
              <a:schemeClr val="accent6">
                <a:lumMod val="75000"/>
              </a:schemeClr>
            </a:solidFill>
          </a:ln>
        </p:spPr>
      </p:pic>
    </p:spTree>
    <p:extLst>
      <p:ext uri="{BB962C8B-B14F-4D97-AF65-F5344CB8AC3E}">
        <p14:creationId xmlns:p14="http://schemas.microsoft.com/office/powerpoint/2010/main" val="32794606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9928" y="902131"/>
            <a:ext cx="8366760" cy="954107"/>
          </a:xfrm>
          <a:prstGeom prst="rect">
            <a:avLst/>
          </a:prstGeom>
        </p:spPr>
        <p:txBody>
          <a:bodyPr wrap="square">
            <a:spAutoFit/>
          </a:bodyPr>
          <a:lstStyle/>
          <a:p>
            <a:pPr algn="ctr"/>
            <a:r>
              <a:rPr lang="en-US" sz="2800" b="1" dirty="0">
                <a:solidFill>
                  <a:srgbClr val="7030A0"/>
                </a:solidFill>
              </a:rPr>
              <a:t>Find the intercept of linear regression line if ∑x = 25, ∑y = 20, ∑x</a:t>
            </a:r>
            <a:r>
              <a:rPr lang="en-US" sz="2800" b="1" baseline="30000" dirty="0">
                <a:solidFill>
                  <a:srgbClr val="7030A0"/>
                </a:solidFill>
              </a:rPr>
              <a:t>2</a:t>
            </a:r>
            <a:r>
              <a:rPr lang="en-US" sz="2800" b="1" dirty="0">
                <a:solidFill>
                  <a:srgbClr val="7030A0"/>
                </a:solidFill>
              </a:rPr>
              <a:t> = 90, ∑</a:t>
            </a:r>
            <a:r>
              <a:rPr lang="en-US" sz="2800" b="1" dirty="0" err="1">
                <a:solidFill>
                  <a:srgbClr val="7030A0"/>
                </a:solidFill>
              </a:rPr>
              <a:t>xy</a:t>
            </a:r>
            <a:r>
              <a:rPr lang="en-US" sz="2800" b="1" dirty="0">
                <a:solidFill>
                  <a:srgbClr val="7030A0"/>
                </a:solidFill>
              </a:rPr>
              <a:t> = 150 and </a:t>
            </a:r>
            <a:r>
              <a:rPr lang="en-US" sz="2800" b="1" dirty="0">
                <a:solidFill>
                  <a:srgbClr val="FF0000"/>
                </a:solidFill>
              </a:rPr>
              <a:t>n</a:t>
            </a:r>
            <a:r>
              <a:rPr lang="en-US" sz="2800" b="1" dirty="0">
                <a:solidFill>
                  <a:srgbClr val="7030A0"/>
                </a:solidFill>
              </a:rPr>
              <a:t> = 5.</a:t>
            </a:r>
            <a:endParaRPr lang="en-US" sz="2800" dirty="0">
              <a:solidFill>
                <a:srgbClr val="7030A0"/>
              </a:solidFill>
            </a:endParaRPr>
          </a:p>
        </p:txBody>
      </p:sp>
      <p:pic>
        <p:nvPicPr>
          <p:cNvPr id="3" name="Picture 2"/>
          <p:cNvPicPr>
            <a:picLocks noChangeAspect="1"/>
          </p:cNvPicPr>
          <p:nvPr/>
        </p:nvPicPr>
        <p:blipFill>
          <a:blip r:embed="rId2"/>
          <a:stretch>
            <a:fillRect/>
          </a:stretch>
        </p:blipFill>
        <p:spPr>
          <a:xfrm>
            <a:off x="1914525" y="2138934"/>
            <a:ext cx="4248150" cy="2324100"/>
          </a:xfrm>
          <a:prstGeom prst="rect">
            <a:avLst/>
          </a:prstGeom>
        </p:spPr>
      </p:pic>
      <p:sp>
        <p:nvSpPr>
          <p:cNvPr id="4" name="Rectangle 3"/>
          <p:cNvSpPr/>
          <p:nvPr/>
        </p:nvSpPr>
        <p:spPr>
          <a:xfrm>
            <a:off x="3051048" y="4745730"/>
            <a:ext cx="8366760" cy="523220"/>
          </a:xfrm>
          <a:prstGeom prst="rect">
            <a:avLst/>
          </a:prstGeom>
        </p:spPr>
        <p:txBody>
          <a:bodyPr wrap="square">
            <a:spAutoFit/>
          </a:bodyPr>
          <a:lstStyle/>
          <a:p>
            <a:pPr algn="ctr"/>
            <a:r>
              <a:rPr lang="en-US" sz="2800" b="1" dirty="0" smtClean="0">
                <a:solidFill>
                  <a:srgbClr val="FF0000"/>
                </a:solidFill>
              </a:rPr>
              <a:t>SLOPE??</a:t>
            </a:r>
            <a:endParaRPr lang="en-US" sz="2800" dirty="0">
              <a:solidFill>
                <a:srgbClr val="FF0000"/>
              </a:solidFill>
            </a:endParaRPr>
          </a:p>
        </p:txBody>
      </p:sp>
    </p:spTree>
    <p:extLst>
      <p:ext uri="{BB962C8B-B14F-4D97-AF65-F5344CB8AC3E}">
        <p14:creationId xmlns:p14="http://schemas.microsoft.com/office/powerpoint/2010/main" val="13091442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0145" y="298323"/>
            <a:ext cx="4697987" cy="3108960"/>
          </a:xfrm>
          <a:prstGeom prst="rect">
            <a:avLst/>
          </a:prstGeom>
        </p:spPr>
      </p:pic>
      <p:sp>
        <p:nvSpPr>
          <p:cNvPr id="3" name="Rectangle 2"/>
          <p:cNvSpPr/>
          <p:nvPr/>
        </p:nvSpPr>
        <p:spPr>
          <a:xfrm>
            <a:off x="5388864" y="1131838"/>
            <a:ext cx="6096000" cy="3908762"/>
          </a:xfrm>
          <a:prstGeom prst="rect">
            <a:avLst/>
          </a:prstGeom>
        </p:spPr>
        <p:txBody>
          <a:bodyPr>
            <a:spAutoFit/>
          </a:bodyPr>
          <a:lstStyle/>
          <a:p>
            <a:pPr algn="just"/>
            <a:r>
              <a:rPr lang="en-US" sz="2400" dirty="0"/>
              <a:t>The equation for a simple linear regression model can be written as follows:</a:t>
            </a:r>
          </a:p>
          <a:p>
            <a:pPr algn="ctr"/>
            <a:r>
              <a:rPr lang="en-US" sz="2400" b="1" dirty="0">
                <a:effectLst>
                  <a:outerShdw blurRad="38100" dist="38100" dir="2700000" algn="tl">
                    <a:srgbClr val="000000">
                      <a:alpha val="43137"/>
                    </a:srgbClr>
                  </a:outerShdw>
                </a:effectLst>
              </a:rPr>
              <a:t>y = </a:t>
            </a:r>
            <a:r>
              <a:rPr lang="en-US" sz="2400" b="1" dirty="0" smtClean="0">
                <a:effectLst>
                  <a:outerShdw blurRad="38100" dist="38100" dir="2700000" algn="tl">
                    <a:srgbClr val="000000">
                      <a:alpha val="43137"/>
                    </a:srgbClr>
                  </a:outerShdw>
                </a:effectLst>
              </a:rPr>
              <a:t>b</a:t>
            </a:r>
            <a:r>
              <a:rPr lang="en-US" sz="2400" b="1" baseline="-25000" dirty="0" smtClean="0">
                <a:effectLst>
                  <a:outerShdw blurRad="38100" dist="38100" dir="2700000" algn="tl">
                    <a:srgbClr val="000000">
                      <a:alpha val="43137"/>
                    </a:srgbClr>
                  </a:outerShdw>
                </a:effectLst>
              </a:rPr>
              <a:t>0</a:t>
            </a:r>
            <a:r>
              <a:rPr lang="en-US" sz="2400" b="1" dirty="0" smtClean="0">
                <a:effectLst>
                  <a:outerShdw blurRad="38100" dist="38100" dir="2700000" algn="tl">
                    <a:srgbClr val="000000">
                      <a:alpha val="43137"/>
                    </a:srgbClr>
                  </a:outerShdw>
                </a:effectLst>
              </a:rPr>
              <a:t> </a:t>
            </a:r>
            <a:r>
              <a:rPr lang="en-US" sz="2400" b="1" dirty="0">
                <a:effectLst>
                  <a:outerShdw blurRad="38100" dist="38100" dir="2700000" algn="tl">
                    <a:srgbClr val="000000">
                      <a:alpha val="43137"/>
                    </a:srgbClr>
                  </a:outerShdw>
                </a:effectLst>
              </a:rPr>
              <a:t>+ </a:t>
            </a:r>
            <a:r>
              <a:rPr lang="en-US" sz="2400" b="1" dirty="0" smtClean="0">
                <a:effectLst>
                  <a:outerShdw blurRad="38100" dist="38100" dir="2700000" algn="tl">
                    <a:srgbClr val="000000">
                      <a:alpha val="43137"/>
                    </a:srgbClr>
                  </a:outerShdw>
                </a:effectLst>
              </a:rPr>
              <a:t>b</a:t>
            </a:r>
            <a:r>
              <a:rPr lang="en-US" sz="2400" b="1" baseline="-25000" dirty="0" smtClean="0">
                <a:effectLst>
                  <a:outerShdw blurRad="38100" dist="38100" dir="2700000" algn="tl">
                    <a:srgbClr val="000000">
                      <a:alpha val="43137"/>
                    </a:srgbClr>
                  </a:outerShdw>
                </a:effectLst>
              </a:rPr>
              <a:t>1</a:t>
            </a:r>
            <a:r>
              <a:rPr lang="en-US" sz="2400" b="1" dirty="0" smtClean="0">
                <a:effectLst>
                  <a:outerShdw blurRad="38100" dist="38100" dir="2700000" algn="tl">
                    <a:srgbClr val="000000">
                      <a:alpha val="43137"/>
                    </a:srgbClr>
                  </a:outerShdw>
                </a:effectLst>
              </a:rPr>
              <a:t> </a:t>
            </a:r>
            <a:r>
              <a:rPr lang="en-US" sz="2400" b="1" dirty="0">
                <a:effectLst>
                  <a:outerShdw blurRad="38100" dist="38100" dir="2700000" algn="tl">
                    <a:srgbClr val="000000">
                      <a:alpha val="43137"/>
                    </a:srgbClr>
                  </a:outerShdw>
                </a:effectLst>
              </a:rPr>
              <a:t>* x</a:t>
            </a:r>
          </a:p>
          <a:p>
            <a:pPr algn="just"/>
            <a:r>
              <a:rPr lang="en-US" sz="2400" dirty="0"/>
              <a:t>Here, </a:t>
            </a:r>
            <a:r>
              <a:rPr lang="en-US" sz="2400" b="1" dirty="0">
                <a:solidFill>
                  <a:srgbClr val="FF0000"/>
                </a:solidFill>
              </a:rPr>
              <a:t>y is the dependent variable (the variable we are trying to predict</a:t>
            </a:r>
            <a:r>
              <a:rPr lang="en-US" sz="2400" dirty="0"/>
              <a:t>), </a:t>
            </a:r>
            <a:r>
              <a:rPr lang="en-US" sz="2400" b="1" dirty="0">
                <a:solidFill>
                  <a:schemeClr val="accent6">
                    <a:lumMod val="75000"/>
                  </a:schemeClr>
                </a:solidFill>
              </a:rPr>
              <a:t>x is the independent variable (the predictor or </a:t>
            </a:r>
            <a:r>
              <a:rPr lang="en-US" sz="2400" b="1" dirty="0" smtClean="0">
                <a:solidFill>
                  <a:schemeClr val="accent6">
                    <a:lumMod val="75000"/>
                  </a:schemeClr>
                </a:solidFill>
              </a:rPr>
              <a:t>feature)</a:t>
            </a:r>
            <a:r>
              <a:rPr lang="en-US" sz="2400" dirty="0" smtClean="0"/>
              <a:t>.</a:t>
            </a:r>
          </a:p>
          <a:p>
            <a:pPr algn="just"/>
            <a:r>
              <a:rPr lang="en-US" sz="2400" b="1" i="1" dirty="0" smtClean="0">
                <a:solidFill>
                  <a:schemeClr val="accent1">
                    <a:lumMod val="75000"/>
                  </a:schemeClr>
                </a:solidFill>
              </a:rPr>
              <a:t>b0 </a:t>
            </a:r>
            <a:r>
              <a:rPr lang="en-US" sz="2400" b="1" i="1" dirty="0">
                <a:solidFill>
                  <a:schemeClr val="accent1">
                    <a:lumMod val="75000"/>
                  </a:schemeClr>
                </a:solidFill>
              </a:rPr>
              <a:t>is the intercept term (the value of y when x is zero), </a:t>
            </a:r>
            <a:r>
              <a:rPr lang="en-US" sz="2400" dirty="0"/>
              <a:t>and </a:t>
            </a:r>
            <a:endParaRPr lang="en-US" sz="2400" dirty="0" smtClean="0"/>
          </a:p>
          <a:p>
            <a:pPr algn="just"/>
            <a:r>
              <a:rPr lang="en-US" sz="2400" b="1" i="1" dirty="0" smtClean="0">
                <a:solidFill>
                  <a:srgbClr val="7030A0"/>
                </a:solidFill>
              </a:rPr>
              <a:t>b1 </a:t>
            </a:r>
            <a:r>
              <a:rPr lang="en-US" sz="2400" b="1" i="1" dirty="0">
                <a:solidFill>
                  <a:srgbClr val="7030A0"/>
                </a:solidFill>
              </a:rPr>
              <a:t>is the slope coefficient (the change in y for a unit change in x</a:t>
            </a:r>
            <a:r>
              <a:rPr lang="en-US" sz="2400" b="1" i="1" dirty="0" smtClean="0">
                <a:solidFill>
                  <a:srgbClr val="7030A0"/>
                </a:solidFill>
              </a:rPr>
              <a:t>).</a:t>
            </a:r>
          </a:p>
          <a:p>
            <a:pPr algn="just"/>
            <a:endParaRPr lang="en-US" sz="800" b="1" i="1" dirty="0">
              <a:solidFill>
                <a:srgbClr val="7030A0"/>
              </a:solidFill>
            </a:endParaRPr>
          </a:p>
        </p:txBody>
      </p:sp>
      <p:sp>
        <p:nvSpPr>
          <p:cNvPr id="4" name="Rectangle 3"/>
          <p:cNvSpPr/>
          <p:nvPr/>
        </p:nvSpPr>
        <p:spPr>
          <a:xfrm>
            <a:off x="1225296" y="5050828"/>
            <a:ext cx="9930384" cy="1200329"/>
          </a:xfrm>
          <a:prstGeom prst="rect">
            <a:avLst/>
          </a:prstGeom>
        </p:spPr>
        <p:txBody>
          <a:bodyPr wrap="square">
            <a:spAutoFit/>
          </a:bodyPr>
          <a:lstStyle/>
          <a:p>
            <a:pPr algn="ctr"/>
            <a:r>
              <a:rPr lang="en-US" sz="2400" b="1" dirty="0"/>
              <a:t>The goal of Linear Regression is to find the best values for b0 and b1 such that the line best fits the data points, minimizing the errors or the difference between the </a:t>
            </a:r>
            <a:r>
              <a:rPr lang="en-US" sz="2400" b="1" u="sng" dirty="0">
                <a:solidFill>
                  <a:schemeClr val="accent2">
                    <a:lumMod val="75000"/>
                  </a:schemeClr>
                </a:solidFill>
                <a:effectLst>
                  <a:outerShdw blurRad="38100" dist="38100" dir="2700000" algn="tl">
                    <a:srgbClr val="000000">
                      <a:alpha val="43137"/>
                    </a:srgbClr>
                  </a:outerShdw>
                </a:effectLst>
              </a:rPr>
              <a:t>predicted values and the actual values</a:t>
            </a:r>
            <a:r>
              <a:rPr lang="en-US" sz="2400" b="1" dirty="0"/>
              <a:t>.</a:t>
            </a:r>
            <a:endParaRPr lang="en-US" sz="2400" b="1" i="1" dirty="0">
              <a:solidFill>
                <a:srgbClr val="7030A0"/>
              </a:solidFill>
            </a:endParaRPr>
          </a:p>
        </p:txBody>
      </p:sp>
      <p:sp>
        <p:nvSpPr>
          <p:cNvPr id="5" name="Rectangle 4"/>
          <p:cNvSpPr/>
          <p:nvPr/>
        </p:nvSpPr>
        <p:spPr>
          <a:xfrm>
            <a:off x="9405195" y="503477"/>
            <a:ext cx="2528658" cy="415498"/>
          </a:xfrm>
          <a:prstGeom prst="rect">
            <a:avLst/>
          </a:prstGeom>
        </p:spPr>
        <p:txBody>
          <a:bodyPr wrap="square">
            <a:spAutoFit/>
          </a:bodyPr>
          <a:lstStyle/>
          <a:p>
            <a:pPr algn="ctr"/>
            <a:r>
              <a:rPr lang="en-US" sz="2100" b="1" dirty="0" smtClean="0"/>
              <a:t>11/11/2024</a:t>
            </a:r>
            <a:endParaRPr lang="en-US" sz="2100" b="1" dirty="0"/>
          </a:p>
        </p:txBody>
      </p:sp>
    </p:spTree>
    <p:extLst>
      <p:ext uri="{BB962C8B-B14F-4D97-AF65-F5344CB8AC3E}">
        <p14:creationId xmlns:p14="http://schemas.microsoft.com/office/powerpoint/2010/main" val="1920548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28741" y="722761"/>
            <a:ext cx="9800253" cy="1569660"/>
          </a:xfrm>
          <a:prstGeom prst="rect">
            <a:avLst/>
          </a:prstGeom>
        </p:spPr>
        <p:txBody>
          <a:bodyPr wrap="square">
            <a:spAutoFit/>
          </a:bodyPr>
          <a:lstStyle/>
          <a:p>
            <a:pPr algn="just"/>
            <a:r>
              <a:rPr lang="en-US" sz="2400" b="1" dirty="0"/>
              <a:t>Types of Linear Regression?</a:t>
            </a:r>
          </a:p>
          <a:p>
            <a:pPr algn="just"/>
            <a:r>
              <a:rPr lang="en-US" sz="2400" dirty="0"/>
              <a:t>There are two main types of Linear Regression models: </a:t>
            </a:r>
            <a:endParaRPr lang="en-US" sz="2400" dirty="0" smtClean="0"/>
          </a:p>
          <a:p>
            <a:pPr algn="just"/>
            <a:r>
              <a:rPr lang="en-US" sz="2400" dirty="0" smtClean="0"/>
              <a:t>-- </a:t>
            </a:r>
            <a:r>
              <a:rPr lang="en-US" sz="2400" b="1" dirty="0" smtClean="0">
                <a:solidFill>
                  <a:srgbClr val="FF0000"/>
                </a:solidFill>
                <a:effectLst>
                  <a:outerShdw blurRad="38100" dist="38100" dir="2700000" algn="tl">
                    <a:srgbClr val="000000">
                      <a:alpha val="43137"/>
                    </a:srgbClr>
                  </a:outerShdw>
                </a:effectLst>
              </a:rPr>
              <a:t>Simple </a:t>
            </a:r>
            <a:r>
              <a:rPr lang="en-US" sz="2400" b="1" dirty="0">
                <a:solidFill>
                  <a:srgbClr val="FF0000"/>
                </a:solidFill>
                <a:effectLst>
                  <a:outerShdw blurRad="38100" dist="38100" dir="2700000" algn="tl">
                    <a:srgbClr val="000000">
                      <a:alpha val="43137"/>
                    </a:srgbClr>
                  </a:outerShdw>
                </a:effectLst>
              </a:rPr>
              <a:t>Linear Regression </a:t>
            </a:r>
            <a:r>
              <a:rPr lang="en-US" sz="2400" dirty="0"/>
              <a:t>and </a:t>
            </a:r>
            <a:endParaRPr lang="en-US" sz="2400" dirty="0" smtClean="0"/>
          </a:p>
          <a:p>
            <a:pPr algn="just"/>
            <a:r>
              <a:rPr lang="en-US" sz="2400" dirty="0" smtClean="0"/>
              <a:t>-- Multiple </a:t>
            </a:r>
            <a:r>
              <a:rPr lang="en-US" sz="2400" dirty="0"/>
              <a:t>Linear Regression.</a:t>
            </a:r>
          </a:p>
        </p:txBody>
      </p:sp>
      <p:sp>
        <p:nvSpPr>
          <p:cNvPr id="3" name="Rectangle 2"/>
          <p:cNvSpPr/>
          <p:nvPr/>
        </p:nvSpPr>
        <p:spPr>
          <a:xfrm>
            <a:off x="2227590" y="2680160"/>
            <a:ext cx="9125339" cy="3477875"/>
          </a:xfrm>
          <a:prstGeom prst="rect">
            <a:avLst/>
          </a:prstGeom>
        </p:spPr>
        <p:txBody>
          <a:bodyPr wrap="square">
            <a:spAutoFit/>
          </a:bodyPr>
          <a:lstStyle/>
          <a:p>
            <a:pPr algn="just"/>
            <a:r>
              <a:rPr lang="en-US" sz="2400" b="1" dirty="0">
                <a:solidFill>
                  <a:srgbClr val="FF0000"/>
                </a:solidFill>
              </a:rPr>
              <a:t>Simple Linear Regression: </a:t>
            </a:r>
            <a:r>
              <a:rPr lang="en-US" sz="2400" dirty="0"/>
              <a:t>In simple linear regression, there is only one independent variable (also known as the predictor or feature) and one dependent variable (also known as the response variable). The goal of simple linear regression is to find the best-fitting line to describe the relationship between the independent and dependent variable. The equation for a simple linear regression model can be written as:</a:t>
            </a:r>
          </a:p>
          <a:p>
            <a:pPr algn="ctr"/>
            <a:r>
              <a:rPr lang="en-US" sz="2400" dirty="0"/>
              <a:t>Y = </a:t>
            </a:r>
            <a:r>
              <a:rPr lang="en-US" sz="2400" dirty="0" smtClean="0"/>
              <a:t>b</a:t>
            </a:r>
            <a:r>
              <a:rPr lang="en-US" sz="2400" baseline="-25000" dirty="0" smtClean="0"/>
              <a:t>0</a:t>
            </a:r>
            <a:r>
              <a:rPr lang="en-US" sz="2400" dirty="0" smtClean="0"/>
              <a:t> </a:t>
            </a:r>
            <a:r>
              <a:rPr lang="en-US" sz="2400" dirty="0"/>
              <a:t>+ </a:t>
            </a:r>
            <a:r>
              <a:rPr lang="en-US" sz="2400" dirty="0" smtClean="0"/>
              <a:t>b</a:t>
            </a:r>
            <a:r>
              <a:rPr lang="en-US" sz="2400" baseline="-25000" dirty="0" smtClean="0"/>
              <a:t>1</a:t>
            </a:r>
            <a:r>
              <a:rPr lang="en-US" sz="2400" dirty="0" smtClean="0"/>
              <a:t> </a:t>
            </a:r>
            <a:r>
              <a:rPr lang="en-US" sz="2400" dirty="0"/>
              <a:t>* </a:t>
            </a:r>
            <a:r>
              <a:rPr lang="en-US" sz="2400" dirty="0" smtClean="0"/>
              <a:t>X</a:t>
            </a:r>
          </a:p>
          <a:p>
            <a:pPr algn="ctr"/>
            <a:endParaRPr lang="en-US" sz="1200" dirty="0" smtClean="0"/>
          </a:p>
          <a:p>
            <a:pPr algn="ctr"/>
            <a:r>
              <a:rPr lang="en-US" sz="2000" dirty="0" smtClean="0">
                <a:solidFill>
                  <a:schemeClr val="accent6">
                    <a:lumMod val="50000"/>
                  </a:schemeClr>
                </a:solidFill>
              </a:rPr>
              <a:t>Here, Y is the dependent variable, X is the independent variable, b0 is the intercept term, and b1 is the slope coefficient.</a:t>
            </a:r>
            <a:endParaRPr lang="en-US" sz="2000" dirty="0">
              <a:solidFill>
                <a:schemeClr val="accent6">
                  <a:lumMod val="50000"/>
                </a:schemeClr>
              </a:solidFill>
            </a:endParaRPr>
          </a:p>
        </p:txBody>
      </p:sp>
    </p:spTree>
    <p:extLst>
      <p:ext uri="{BB962C8B-B14F-4D97-AF65-F5344CB8AC3E}">
        <p14:creationId xmlns:p14="http://schemas.microsoft.com/office/powerpoint/2010/main" val="24055954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4128" y="1420428"/>
            <a:ext cx="10195560" cy="4031873"/>
          </a:xfrm>
          <a:prstGeom prst="rect">
            <a:avLst/>
          </a:prstGeom>
        </p:spPr>
        <p:txBody>
          <a:bodyPr wrap="square">
            <a:spAutoFit/>
          </a:bodyPr>
          <a:lstStyle/>
          <a:p>
            <a:pPr algn="just"/>
            <a:r>
              <a:rPr lang="en-US" sz="2400" b="1" dirty="0"/>
              <a:t>Multiple Linear Regression:</a:t>
            </a:r>
            <a:r>
              <a:rPr lang="en-US" sz="2400" dirty="0"/>
              <a:t> In multiple linear regression, there are multiple independent variables and one dependent variable. The goal of multiple linear regression is to find the best-fitting line to describe the relationship between the independent variables and the dependent variable. The equation for a multiple linear regression model can be written as</a:t>
            </a:r>
            <a:r>
              <a:rPr lang="en-US" sz="2400" dirty="0" smtClean="0"/>
              <a:t>:</a:t>
            </a:r>
          </a:p>
          <a:p>
            <a:pPr algn="just"/>
            <a:endParaRPr lang="en-US" sz="800" dirty="0"/>
          </a:p>
          <a:p>
            <a:pPr algn="ctr"/>
            <a:r>
              <a:rPr lang="en-US" sz="2400" dirty="0"/>
              <a:t>Y = </a:t>
            </a:r>
            <a:r>
              <a:rPr lang="en-US" sz="2400" dirty="0" smtClean="0"/>
              <a:t>b</a:t>
            </a:r>
            <a:r>
              <a:rPr lang="en-US" sz="2400" baseline="-25000" dirty="0" smtClean="0"/>
              <a:t>0</a:t>
            </a:r>
            <a:r>
              <a:rPr lang="en-US" sz="2400" dirty="0" smtClean="0"/>
              <a:t> </a:t>
            </a:r>
            <a:r>
              <a:rPr lang="en-US" sz="2400" dirty="0"/>
              <a:t>+ </a:t>
            </a:r>
            <a:r>
              <a:rPr lang="en-US" sz="2400" dirty="0" smtClean="0"/>
              <a:t>b</a:t>
            </a:r>
            <a:r>
              <a:rPr lang="en-US" sz="2400" baseline="-25000" dirty="0" smtClean="0"/>
              <a:t>1</a:t>
            </a:r>
            <a:r>
              <a:rPr lang="en-US" sz="2400" dirty="0" smtClean="0"/>
              <a:t> </a:t>
            </a:r>
            <a:r>
              <a:rPr lang="en-US" sz="2400" dirty="0"/>
              <a:t>* </a:t>
            </a:r>
            <a:r>
              <a:rPr lang="en-US" sz="2400" dirty="0" smtClean="0"/>
              <a:t>X</a:t>
            </a:r>
            <a:r>
              <a:rPr lang="en-US" sz="2400" baseline="-25000" dirty="0" smtClean="0"/>
              <a:t>1</a:t>
            </a:r>
            <a:r>
              <a:rPr lang="en-US" sz="2400" dirty="0" smtClean="0"/>
              <a:t> </a:t>
            </a:r>
            <a:r>
              <a:rPr lang="en-US" sz="2400" dirty="0"/>
              <a:t>+ </a:t>
            </a:r>
            <a:r>
              <a:rPr lang="en-US" sz="2400" dirty="0" smtClean="0"/>
              <a:t>b</a:t>
            </a:r>
            <a:r>
              <a:rPr lang="en-US" sz="2400" baseline="-25000" dirty="0" smtClean="0"/>
              <a:t>2</a:t>
            </a:r>
            <a:r>
              <a:rPr lang="en-US" sz="2400" dirty="0" smtClean="0"/>
              <a:t> </a:t>
            </a:r>
            <a:r>
              <a:rPr lang="en-US" sz="2400" dirty="0"/>
              <a:t>* </a:t>
            </a:r>
            <a:r>
              <a:rPr lang="en-US" sz="2400" dirty="0" smtClean="0"/>
              <a:t>X</a:t>
            </a:r>
            <a:r>
              <a:rPr lang="en-US" sz="2400" baseline="-25000" dirty="0" smtClean="0"/>
              <a:t>2</a:t>
            </a:r>
            <a:r>
              <a:rPr lang="en-US" sz="2400" dirty="0" smtClean="0"/>
              <a:t> </a:t>
            </a:r>
            <a:r>
              <a:rPr lang="en-US" sz="2400" dirty="0"/>
              <a:t>+ … + </a:t>
            </a:r>
            <a:r>
              <a:rPr lang="en-US" sz="2400" dirty="0" err="1" smtClean="0"/>
              <a:t>b</a:t>
            </a:r>
            <a:r>
              <a:rPr lang="en-US" sz="2400" baseline="-25000" dirty="0" err="1" smtClean="0"/>
              <a:t>n</a:t>
            </a:r>
            <a:r>
              <a:rPr lang="en-US" sz="2400" dirty="0" smtClean="0"/>
              <a:t> </a:t>
            </a:r>
            <a:r>
              <a:rPr lang="en-US" sz="2400" dirty="0"/>
              <a:t>* </a:t>
            </a:r>
            <a:r>
              <a:rPr lang="en-US" sz="2400" dirty="0" err="1" smtClean="0"/>
              <a:t>X</a:t>
            </a:r>
            <a:r>
              <a:rPr lang="en-US" sz="2400" baseline="-25000" dirty="0" err="1" smtClean="0"/>
              <a:t>n</a:t>
            </a:r>
            <a:endParaRPr lang="en-US" sz="2400" dirty="0" smtClean="0"/>
          </a:p>
          <a:p>
            <a:pPr algn="ctr"/>
            <a:endParaRPr lang="en-US" sz="800" dirty="0"/>
          </a:p>
          <a:p>
            <a:pPr algn="just"/>
            <a:r>
              <a:rPr lang="en-US" sz="2400" dirty="0"/>
              <a:t>Here, Y is the dependent variable, X1, X2, …, </a:t>
            </a:r>
            <a:endParaRPr lang="en-US" sz="2400" dirty="0" smtClean="0"/>
          </a:p>
          <a:p>
            <a:pPr algn="just"/>
            <a:r>
              <a:rPr lang="en-US" sz="2400" dirty="0"/>
              <a:t> </a:t>
            </a:r>
            <a:r>
              <a:rPr lang="en-US" sz="2400" dirty="0" smtClean="0"/>
              <a:t>          </a:t>
            </a:r>
            <a:r>
              <a:rPr lang="en-US" sz="2400" dirty="0" err="1" smtClean="0"/>
              <a:t>Xn</a:t>
            </a:r>
            <a:r>
              <a:rPr lang="en-US" sz="2400" dirty="0" smtClean="0"/>
              <a:t> </a:t>
            </a:r>
            <a:r>
              <a:rPr lang="en-US" sz="2400" dirty="0"/>
              <a:t>are the independent variables, </a:t>
            </a:r>
            <a:endParaRPr lang="en-US" sz="2400" dirty="0" smtClean="0"/>
          </a:p>
          <a:p>
            <a:pPr algn="just"/>
            <a:r>
              <a:rPr lang="en-US" sz="2400" dirty="0"/>
              <a:t> </a:t>
            </a:r>
            <a:r>
              <a:rPr lang="en-US" sz="2400" dirty="0" smtClean="0"/>
              <a:t>          b0 </a:t>
            </a:r>
            <a:r>
              <a:rPr lang="en-US" sz="2400" dirty="0"/>
              <a:t>is the intercept term, and </a:t>
            </a:r>
            <a:endParaRPr lang="en-US" sz="2400" dirty="0" smtClean="0"/>
          </a:p>
          <a:p>
            <a:pPr algn="just"/>
            <a:r>
              <a:rPr lang="en-US" sz="2400" dirty="0"/>
              <a:t> </a:t>
            </a:r>
            <a:r>
              <a:rPr lang="en-US" sz="2400" dirty="0" smtClean="0"/>
              <a:t>          b1</a:t>
            </a:r>
            <a:r>
              <a:rPr lang="en-US" sz="2400" dirty="0"/>
              <a:t>, b2, …, </a:t>
            </a:r>
            <a:r>
              <a:rPr lang="en-US" sz="2400" dirty="0" err="1"/>
              <a:t>bn</a:t>
            </a:r>
            <a:r>
              <a:rPr lang="en-US" sz="2400" dirty="0"/>
              <a:t> are the slope coefficients.</a:t>
            </a:r>
          </a:p>
        </p:txBody>
      </p:sp>
    </p:spTree>
    <p:extLst>
      <p:ext uri="{BB962C8B-B14F-4D97-AF65-F5344CB8AC3E}">
        <p14:creationId xmlns:p14="http://schemas.microsoft.com/office/powerpoint/2010/main" val="2196384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40864" y="2188756"/>
            <a:ext cx="7059168" cy="2554545"/>
          </a:xfrm>
          <a:prstGeom prst="rect">
            <a:avLst/>
          </a:prstGeom>
        </p:spPr>
        <p:txBody>
          <a:bodyPr wrap="square">
            <a:spAutoFit/>
          </a:bodyPr>
          <a:lstStyle/>
          <a:p>
            <a:pPr algn="ctr"/>
            <a:r>
              <a:rPr lang="en-US" sz="3200" dirty="0">
                <a:solidFill>
                  <a:schemeClr val="accent1">
                    <a:lumMod val="75000"/>
                  </a:schemeClr>
                </a:solidFill>
                <a:effectLst>
                  <a:outerShdw blurRad="38100" dist="38100" dir="2700000" algn="tl">
                    <a:srgbClr val="000000">
                      <a:alpha val="43137"/>
                    </a:srgbClr>
                  </a:outerShdw>
                </a:effectLst>
              </a:rPr>
              <a:t>In both types of linear regression, the goal is to find the best values for the intercept and slope coefficients that minimize the difference between the predicted values and the actual values.</a:t>
            </a:r>
          </a:p>
        </p:txBody>
      </p:sp>
    </p:spTree>
    <p:extLst>
      <p:ext uri="{BB962C8B-B14F-4D97-AF65-F5344CB8AC3E}">
        <p14:creationId xmlns:p14="http://schemas.microsoft.com/office/powerpoint/2010/main" val="16874802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6072" y="467004"/>
            <a:ext cx="6309360" cy="5878532"/>
          </a:xfrm>
          <a:prstGeom prst="rect">
            <a:avLst/>
          </a:prstGeom>
        </p:spPr>
        <p:txBody>
          <a:bodyPr wrap="square">
            <a:spAutoFit/>
          </a:bodyPr>
          <a:lstStyle/>
          <a:p>
            <a:pPr algn="just"/>
            <a:r>
              <a:rPr lang="en-US" sz="2600" b="1" dirty="0"/>
              <a:t>Finding the best fit line</a:t>
            </a:r>
          </a:p>
          <a:p>
            <a:pPr algn="just"/>
            <a:endParaRPr lang="en-US" sz="800" dirty="0" smtClean="0"/>
          </a:p>
          <a:p>
            <a:pPr algn="just"/>
            <a:r>
              <a:rPr lang="en-US" sz="2400" dirty="0" smtClean="0"/>
              <a:t>In </a:t>
            </a:r>
            <a:r>
              <a:rPr lang="en-US" sz="2400" dirty="0"/>
              <a:t>machine learning, finding the best-fitting line is crucial in linear regression, as it determines the accuracy of the predictions made by the model. </a:t>
            </a:r>
            <a:r>
              <a:rPr lang="en-US" sz="2400" i="1" dirty="0">
                <a:effectLst>
                  <a:outerShdw blurRad="38100" dist="38100" dir="2700000" algn="tl">
                    <a:srgbClr val="000000">
                      <a:alpha val="43137"/>
                    </a:srgbClr>
                  </a:outerShdw>
                </a:effectLst>
              </a:rPr>
              <a:t>The best-fitting line is the line that has the smallest difference between the predicted values and the actual values</a:t>
            </a:r>
            <a:r>
              <a:rPr lang="en-US" sz="2400" dirty="0" smtClean="0"/>
              <a:t>.</a:t>
            </a:r>
          </a:p>
          <a:p>
            <a:pPr algn="just"/>
            <a:endParaRPr lang="en-US" sz="600" dirty="0" smtClean="0"/>
          </a:p>
          <a:p>
            <a:pPr algn="just"/>
            <a:r>
              <a:rPr lang="en-US" sz="2400" dirty="0"/>
              <a:t>To find the best-fitting line in a linear regression model, </a:t>
            </a:r>
            <a:r>
              <a:rPr lang="en-US" sz="2400" dirty="0" smtClean="0"/>
              <a:t>one uses </a:t>
            </a:r>
            <a:r>
              <a:rPr lang="en-US" sz="2400" dirty="0"/>
              <a:t>a process called “</a:t>
            </a:r>
            <a:r>
              <a:rPr lang="en-US" sz="2400" b="1" dirty="0"/>
              <a:t>ordinary least squares (OLS) regression</a:t>
            </a:r>
            <a:r>
              <a:rPr lang="en-US" sz="2400" dirty="0"/>
              <a:t>”. </a:t>
            </a:r>
            <a:endParaRPr lang="en-US" sz="2400" dirty="0" smtClean="0"/>
          </a:p>
          <a:p>
            <a:pPr algn="just"/>
            <a:r>
              <a:rPr lang="en-US" sz="2400" dirty="0" smtClean="0"/>
              <a:t>This </a:t>
            </a:r>
            <a:r>
              <a:rPr lang="en-US" sz="2400" dirty="0"/>
              <a:t>process involves calculating the sum of the squared differences between the predicted values and the actual values for each data point, and then finding the line that minimizes this sum of squared errors.</a:t>
            </a:r>
          </a:p>
        </p:txBody>
      </p:sp>
      <p:pic>
        <p:nvPicPr>
          <p:cNvPr id="3" name="Picture 2"/>
          <p:cNvPicPr>
            <a:picLocks noChangeAspect="1"/>
          </p:cNvPicPr>
          <p:nvPr/>
        </p:nvPicPr>
        <p:blipFill>
          <a:blip r:embed="rId2"/>
          <a:stretch>
            <a:fillRect/>
          </a:stretch>
        </p:blipFill>
        <p:spPr>
          <a:xfrm>
            <a:off x="6964489" y="1667446"/>
            <a:ext cx="4724010" cy="3657600"/>
          </a:xfrm>
          <a:prstGeom prst="rect">
            <a:avLst/>
          </a:prstGeom>
        </p:spPr>
      </p:pic>
    </p:spTree>
    <p:extLst>
      <p:ext uri="{BB962C8B-B14F-4D97-AF65-F5344CB8AC3E}">
        <p14:creationId xmlns:p14="http://schemas.microsoft.com/office/powerpoint/2010/main" val="14189215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25296" y="358616"/>
            <a:ext cx="9838944" cy="1938992"/>
          </a:xfrm>
          <a:prstGeom prst="rect">
            <a:avLst/>
          </a:prstGeom>
        </p:spPr>
        <p:txBody>
          <a:bodyPr wrap="square">
            <a:spAutoFit/>
          </a:bodyPr>
          <a:lstStyle/>
          <a:p>
            <a:pPr algn="just"/>
            <a:r>
              <a:rPr lang="en-US" sz="2400" dirty="0"/>
              <a:t>The best-fitting line is found by minimizing the residual sum of squares (RSS), </a:t>
            </a:r>
            <a:r>
              <a:rPr lang="en-US" sz="2400" i="1" dirty="0">
                <a:effectLst>
                  <a:outerShdw blurRad="38100" dist="38100" dir="2700000" algn="tl">
                    <a:srgbClr val="000000">
                      <a:alpha val="43137"/>
                    </a:srgbClr>
                  </a:outerShdw>
                </a:effectLst>
              </a:rPr>
              <a:t>which is the sum of the squared differences between the predicted values and the actual values</a:t>
            </a:r>
            <a:r>
              <a:rPr lang="en-US" sz="2400" dirty="0"/>
              <a:t>. </a:t>
            </a:r>
            <a:endParaRPr lang="en-US" sz="2400" dirty="0" smtClean="0"/>
          </a:p>
          <a:p>
            <a:pPr algn="just"/>
            <a:r>
              <a:rPr lang="en-US" sz="2400" u="sng" dirty="0" smtClean="0">
                <a:solidFill>
                  <a:srgbClr val="FF0000"/>
                </a:solidFill>
                <a:effectLst>
                  <a:outerShdw blurRad="38100" dist="38100" dir="2700000" algn="tl">
                    <a:srgbClr val="000000">
                      <a:alpha val="43137"/>
                    </a:srgbClr>
                  </a:outerShdw>
                </a:effectLst>
              </a:rPr>
              <a:t>This </a:t>
            </a:r>
            <a:r>
              <a:rPr lang="en-US" sz="2400" u="sng" dirty="0">
                <a:solidFill>
                  <a:srgbClr val="FF0000"/>
                </a:solidFill>
                <a:effectLst>
                  <a:outerShdw blurRad="38100" dist="38100" dir="2700000" algn="tl">
                    <a:srgbClr val="000000">
                      <a:alpha val="43137"/>
                    </a:srgbClr>
                  </a:outerShdw>
                </a:effectLst>
              </a:rPr>
              <a:t>is achieved by adjusting the values of the intercept and slope coefficients, also known as c and m</a:t>
            </a:r>
            <a:r>
              <a:rPr lang="en-US" sz="2400" dirty="0"/>
              <a:t>, respectively.</a:t>
            </a:r>
          </a:p>
        </p:txBody>
      </p:sp>
      <p:sp>
        <p:nvSpPr>
          <p:cNvPr id="4" name="Rectangle 3"/>
          <p:cNvSpPr/>
          <p:nvPr/>
        </p:nvSpPr>
        <p:spPr>
          <a:xfrm>
            <a:off x="1216152" y="3567458"/>
            <a:ext cx="9838944" cy="3046988"/>
          </a:xfrm>
          <a:prstGeom prst="rect">
            <a:avLst/>
          </a:prstGeom>
        </p:spPr>
        <p:txBody>
          <a:bodyPr wrap="square">
            <a:spAutoFit/>
          </a:bodyPr>
          <a:lstStyle/>
          <a:p>
            <a:r>
              <a:rPr lang="en-US" sz="2400" dirty="0"/>
              <a:t>Once the values of c and m are determined, we can use the linear regression equation to make predictions for new data points. The equation for a simple linear regression model can be written as:</a:t>
            </a:r>
          </a:p>
          <a:p>
            <a:pPr algn="ctr"/>
            <a:r>
              <a:rPr lang="en-US" sz="2400" b="1" dirty="0">
                <a:effectLst>
                  <a:outerShdw blurRad="38100" dist="38100" dir="2700000" algn="tl">
                    <a:srgbClr val="000000">
                      <a:alpha val="43137"/>
                    </a:srgbClr>
                  </a:outerShdw>
                </a:effectLst>
              </a:rPr>
              <a:t>y = c + m * x</a:t>
            </a:r>
          </a:p>
          <a:p>
            <a:r>
              <a:rPr lang="en-US" sz="2400" dirty="0">
                <a:solidFill>
                  <a:srgbClr val="7030A0"/>
                </a:solidFill>
                <a:effectLst>
                  <a:outerShdw blurRad="38100" dist="38100" dir="2700000" algn="tl">
                    <a:srgbClr val="000000">
                      <a:alpha val="43137"/>
                    </a:srgbClr>
                  </a:outerShdw>
                </a:effectLst>
              </a:rPr>
              <a:t>Here, y is the dependent variable (the variable we are trying to predict), x is the independent variable (the predictor or feature), c is the intercept term (the value of y when x is zero), and m is the slope coefficient (the change in y for a unit change in x)</a:t>
            </a:r>
            <a:r>
              <a:rPr lang="en-US" sz="2400" dirty="0"/>
              <a:t>.</a:t>
            </a:r>
          </a:p>
        </p:txBody>
      </p:sp>
      <p:pic>
        <p:nvPicPr>
          <p:cNvPr id="5" name="Picture 4"/>
          <p:cNvPicPr>
            <a:picLocks noChangeAspect="1"/>
          </p:cNvPicPr>
          <p:nvPr/>
        </p:nvPicPr>
        <p:blipFill>
          <a:blip r:embed="rId2"/>
          <a:stretch>
            <a:fillRect/>
          </a:stretch>
        </p:blipFill>
        <p:spPr>
          <a:xfrm>
            <a:off x="4224337" y="2269848"/>
            <a:ext cx="3017520" cy="1297610"/>
          </a:xfrm>
          <a:prstGeom prst="rect">
            <a:avLst/>
          </a:prstGeom>
        </p:spPr>
      </p:pic>
    </p:spTree>
    <p:extLst>
      <p:ext uri="{BB962C8B-B14F-4D97-AF65-F5344CB8AC3E}">
        <p14:creationId xmlns:p14="http://schemas.microsoft.com/office/powerpoint/2010/main" val="2854913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98448" y="329613"/>
            <a:ext cx="9738360" cy="4601260"/>
          </a:xfrm>
          <a:prstGeom prst="rect">
            <a:avLst/>
          </a:prstGeom>
        </p:spPr>
        <p:txBody>
          <a:bodyPr wrap="square">
            <a:spAutoFit/>
          </a:bodyPr>
          <a:lstStyle/>
          <a:p>
            <a:pPr algn="just"/>
            <a:r>
              <a:rPr lang="en-US" sz="2900" b="1" dirty="0">
                <a:solidFill>
                  <a:srgbClr val="7030A0"/>
                </a:solidFill>
                <a:effectLst>
                  <a:outerShdw blurRad="38100" dist="38100" dir="2700000" algn="tl">
                    <a:srgbClr val="000000">
                      <a:alpha val="43137"/>
                    </a:srgbClr>
                  </a:outerShdw>
                </a:effectLst>
              </a:rPr>
              <a:t>Cost function</a:t>
            </a:r>
          </a:p>
          <a:p>
            <a:pPr algn="just"/>
            <a:endParaRPr lang="en-US" sz="800" dirty="0" smtClean="0"/>
          </a:p>
          <a:p>
            <a:pPr algn="just"/>
            <a:r>
              <a:rPr lang="en-US" sz="2400" b="1" i="1" dirty="0" smtClean="0">
                <a:effectLst>
                  <a:outerShdw blurRad="38100" dist="38100" dir="2700000" algn="tl">
                    <a:srgbClr val="000000">
                      <a:alpha val="43137"/>
                    </a:srgbClr>
                  </a:outerShdw>
                </a:effectLst>
              </a:rPr>
              <a:t>The </a:t>
            </a:r>
            <a:r>
              <a:rPr lang="en-US" sz="2400" b="1" i="1" dirty="0">
                <a:effectLst>
                  <a:outerShdw blurRad="38100" dist="38100" dir="2700000" algn="tl">
                    <a:srgbClr val="000000">
                      <a:alpha val="43137"/>
                    </a:srgbClr>
                  </a:outerShdw>
                </a:effectLst>
              </a:rPr>
              <a:t>cost function, also known as the loss function or objective function, is a measure of how well the model is performing</a:t>
            </a:r>
            <a:r>
              <a:rPr lang="en-US" sz="2400" dirty="0"/>
              <a:t>. </a:t>
            </a:r>
            <a:r>
              <a:rPr lang="en-US" sz="2400" dirty="0">
                <a:solidFill>
                  <a:srgbClr val="FF0000"/>
                </a:solidFill>
                <a:effectLst>
                  <a:outerShdw blurRad="38100" dist="38100" dir="2700000" algn="tl">
                    <a:srgbClr val="000000">
                      <a:alpha val="43137"/>
                    </a:srgbClr>
                  </a:outerShdw>
                </a:effectLst>
              </a:rPr>
              <a:t>In linear regression, the cost function is used to calculate the difference between the predicted values and the actual values, also known as the residuals or errors</a:t>
            </a:r>
            <a:r>
              <a:rPr lang="en-US" sz="2400" dirty="0" smtClean="0"/>
              <a:t>.</a:t>
            </a:r>
          </a:p>
          <a:p>
            <a:pPr algn="just"/>
            <a:endParaRPr lang="en-US" sz="1200" dirty="0"/>
          </a:p>
          <a:p>
            <a:pPr algn="just"/>
            <a:r>
              <a:rPr lang="en-US" sz="2400" b="1" dirty="0">
                <a:solidFill>
                  <a:schemeClr val="accent6">
                    <a:lumMod val="75000"/>
                  </a:schemeClr>
                </a:solidFill>
                <a:effectLst>
                  <a:outerShdw blurRad="38100" dist="38100" dir="2700000" algn="tl">
                    <a:srgbClr val="000000">
                      <a:alpha val="43137"/>
                    </a:srgbClr>
                  </a:outerShdw>
                </a:effectLst>
              </a:rPr>
              <a:t>The goal of linear regression is to minimize the cost function, which is achieved by finding the best-fitting line that minimizes the sum of the squared differences between the predicted values and the actual values</a:t>
            </a:r>
            <a:r>
              <a:rPr lang="en-US" sz="2400" dirty="0"/>
              <a:t>. The most commonly used cost function in linear regression is the </a:t>
            </a:r>
            <a:r>
              <a:rPr lang="en-US" sz="2400" b="1" u="sng" dirty="0">
                <a:solidFill>
                  <a:srgbClr val="FF0000"/>
                </a:solidFill>
                <a:latin typeface="Georgia" panose="02040502050405020303" pitchFamily="18" charset="0"/>
              </a:rPr>
              <a:t>Mean Squared Error (MSE)</a:t>
            </a:r>
            <a:r>
              <a:rPr lang="en-US" sz="2400" dirty="0"/>
              <a:t>, which is calculated as the average of the squared differences between the predicted and actual values:</a:t>
            </a:r>
          </a:p>
        </p:txBody>
      </p:sp>
      <p:pic>
        <p:nvPicPr>
          <p:cNvPr id="3" name="Picture 2"/>
          <p:cNvPicPr>
            <a:picLocks noChangeAspect="1"/>
          </p:cNvPicPr>
          <p:nvPr/>
        </p:nvPicPr>
        <p:blipFill>
          <a:blip r:embed="rId2"/>
          <a:stretch>
            <a:fillRect/>
          </a:stretch>
        </p:blipFill>
        <p:spPr>
          <a:xfrm>
            <a:off x="3329712" y="5030151"/>
            <a:ext cx="3353255" cy="822960"/>
          </a:xfrm>
          <a:prstGeom prst="rect">
            <a:avLst/>
          </a:prstGeom>
        </p:spPr>
      </p:pic>
      <p:sp>
        <p:nvSpPr>
          <p:cNvPr id="4" name="Rectangle 3"/>
          <p:cNvSpPr/>
          <p:nvPr/>
        </p:nvSpPr>
        <p:spPr>
          <a:xfrm>
            <a:off x="7089648" y="5391446"/>
            <a:ext cx="4139184" cy="923330"/>
          </a:xfrm>
          <a:prstGeom prst="rect">
            <a:avLst/>
          </a:prstGeom>
        </p:spPr>
        <p:txBody>
          <a:bodyPr wrap="square">
            <a:spAutoFit/>
          </a:bodyPr>
          <a:lstStyle/>
          <a:p>
            <a:r>
              <a:rPr lang="en-US" dirty="0" smtClean="0"/>
              <a:t>* </a:t>
            </a:r>
            <a:r>
              <a:rPr lang="en-US" b="1" dirty="0" smtClean="0">
                <a:solidFill>
                  <a:srgbClr val="FF0000"/>
                </a:solidFill>
              </a:rPr>
              <a:t>Here</a:t>
            </a:r>
            <a:r>
              <a:rPr lang="en-US" b="1" dirty="0">
                <a:solidFill>
                  <a:srgbClr val="FF0000"/>
                </a:solidFill>
              </a:rPr>
              <a:t>, n is the number of data points, </a:t>
            </a:r>
            <a:r>
              <a:rPr lang="en-US" b="1" dirty="0" err="1" smtClean="0">
                <a:solidFill>
                  <a:srgbClr val="FF0000"/>
                </a:solidFill>
              </a:rPr>
              <a:t>y</a:t>
            </a:r>
            <a:r>
              <a:rPr lang="en-US" b="1" baseline="-25000" dirty="0" err="1" smtClean="0">
                <a:solidFill>
                  <a:srgbClr val="FF0000"/>
                </a:solidFill>
              </a:rPr>
              <a:t>i</a:t>
            </a:r>
            <a:r>
              <a:rPr lang="en-US" b="1" dirty="0" smtClean="0">
                <a:solidFill>
                  <a:srgbClr val="FF0000"/>
                </a:solidFill>
              </a:rPr>
              <a:t> </a:t>
            </a:r>
            <a:r>
              <a:rPr lang="en-US" b="1" dirty="0">
                <a:solidFill>
                  <a:srgbClr val="FF0000"/>
                </a:solidFill>
              </a:rPr>
              <a:t>is the actual value, and </a:t>
            </a:r>
            <a:r>
              <a:rPr lang="en-US" b="1" dirty="0" err="1" smtClean="0">
                <a:solidFill>
                  <a:srgbClr val="FF0000"/>
                </a:solidFill>
              </a:rPr>
              <a:t>ŷ</a:t>
            </a:r>
            <a:r>
              <a:rPr lang="en-US" b="1" baseline="-25000" dirty="0" err="1" smtClean="0">
                <a:solidFill>
                  <a:srgbClr val="FF0000"/>
                </a:solidFill>
              </a:rPr>
              <a:t>i</a:t>
            </a:r>
            <a:r>
              <a:rPr lang="en-US" b="1" dirty="0" smtClean="0">
                <a:solidFill>
                  <a:srgbClr val="FF0000"/>
                </a:solidFill>
              </a:rPr>
              <a:t> </a:t>
            </a:r>
            <a:r>
              <a:rPr lang="en-US" b="1" dirty="0">
                <a:solidFill>
                  <a:srgbClr val="FF0000"/>
                </a:solidFill>
              </a:rPr>
              <a:t>is the predicted value.</a:t>
            </a:r>
          </a:p>
        </p:txBody>
      </p:sp>
    </p:spTree>
    <p:extLst>
      <p:ext uri="{BB962C8B-B14F-4D97-AF65-F5344CB8AC3E}">
        <p14:creationId xmlns:p14="http://schemas.microsoft.com/office/powerpoint/2010/main" val="7910734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1560" y="2159984"/>
            <a:ext cx="10222992" cy="2185214"/>
          </a:xfrm>
          <a:prstGeom prst="rect">
            <a:avLst/>
          </a:prstGeom>
        </p:spPr>
        <p:txBody>
          <a:bodyPr wrap="square">
            <a:spAutoFit/>
          </a:bodyPr>
          <a:lstStyle/>
          <a:p>
            <a:pPr algn="just"/>
            <a:r>
              <a:rPr lang="en-US" sz="2600" b="1" dirty="0">
                <a:solidFill>
                  <a:srgbClr val="7030A0"/>
                </a:solidFill>
                <a:effectLst>
                  <a:outerShdw blurRad="38100" dist="38100" dir="2700000" algn="tl">
                    <a:srgbClr val="000000">
                      <a:alpha val="43137"/>
                    </a:srgbClr>
                  </a:outerShdw>
                </a:effectLst>
              </a:rPr>
              <a:t>Model Performance</a:t>
            </a:r>
          </a:p>
          <a:p>
            <a:pPr algn="just"/>
            <a:endParaRPr lang="en-US" sz="600" dirty="0" smtClean="0"/>
          </a:p>
          <a:p>
            <a:pPr algn="just"/>
            <a:r>
              <a:rPr lang="en-US" sz="2600" dirty="0" smtClean="0"/>
              <a:t>Model </a:t>
            </a:r>
            <a:r>
              <a:rPr lang="en-US" sz="2600" dirty="0"/>
              <a:t>performance in linear regression can be evaluated using various metrics that measure how well the model fits the data and how well it generalizes to new data. </a:t>
            </a:r>
            <a:r>
              <a:rPr lang="en-US" sz="2600" dirty="0" smtClean="0"/>
              <a:t>Go to next slides for </a:t>
            </a:r>
            <a:r>
              <a:rPr lang="en-US" sz="2600" dirty="0"/>
              <a:t>common metrics used in linear regression</a:t>
            </a:r>
            <a:r>
              <a:rPr lang="en-US" sz="2600" dirty="0" smtClean="0"/>
              <a:t>: ………………………………</a:t>
            </a:r>
            <a:endParaRPr lang="en-US" sz="2600" dirty="0"/>
          </a:p>
        </p:txBody>
      </p:sp>
    </p:spTree>
    <p:extLst>
      <p:ext uri="{BB962C8B-B14F-4D97-AF65-F5344CB8AC3E}">
        <p14:creationId xmlns:p14="http://schemas.microsoft.com/office/powerpoint/2010/main" val="2865719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52144" y="457861"/>
            <a:ext cx="9957816" cy="3354765"/>
          </a:xfrm>
          <a:prstGeom prst="rect">
            <a:avLst/>
          </a:prstGeom>
        </p:spPr>
        <p:txBody>
          <a:bodyPr wrap="square">
            <a:spAutoFit/>
          </a:bodyPr>
          <a:lstStyle/>
          <a:p>
            <a:pPr algn="just"/>
            <a:r>
              <a:rPr lang="en-US" sz="2400" b="1" dirty="0"/>
              <a:t>Example:</a:t>
            </a:r>
            <a:r>
              <a:rPr lang="en-US" sz="2400" dirty="0"/>
              <a:t> </a:t>
            </a:r>
            <a:endParaRPr lang="en-US" sz="2400" dirty="0" smtClean="0"/>
          </a:p>
          <a:p>
            <a:pPr algn="just"/>
            <a:endParaRPr lang="en-US" sz="1000" dirty="0"/>
          </a:p>
          <a:p>
            <a:pPr algn="just"/>
            <a:r>
              <a:rPr lang="en-US" sz="2400" dirty="0" smtClean="0"/>
              <a:t>Let, there is a linear </a:t>
            </a:r>
            <a:r>
              <a:rPr lang="en-US" sz="2400" dirty="0"/>
              <a:t>regression model that predicts housing prices based on the size of the house. </a:t>
            </a:r>
            <a:r>
              <a:rPr lang="en-US" sz="2400" dirty="0" smtClean="0"/>
              <a:t>Here, 10 </a:t>
            </a:r>
            <a:r>
              <a:rPr lang="en-US" sz="2400" dirty="0"/>
              <a:t>data points with the following </a:t>
            </a:r>
            <a:r>
              <a:rPr lang="en-US" sz="2400" b="1" dirty="0">
                <a:solidFill>
                  <a:srgbClr val="7030A0"/>
                </a:solidFill>
                <a:effectLst>
                  <a:outerShdw blurRad="38100" dist="38100" dir="2700000" algn="tl">
                    <a:srgbClr val="000000">
                      <a:alpha val="43137"/>
                    </a:srgbClr>
                  </a:outerShdw>
                </a:effectLst>
              </a:rPr>
              <a:t>actual prices </a:t>
            </a:r>
            <a:r>
              <a:rPr lang="en-US" sz="2400" dirty="0"/>
              <a:t>(y) and </a:t>
            </a:r>
            <a:r>
              <a:rPr lang="en-US" sz="2400" b="1" dirty="0">
                <a:solidFill>
                  <a:srgbClr val="FF0000"/>
                </a:solidFill>
                <a:effectLst>
                  <a:outerShdw blurRad="38100" dist="38100" dir="2700000" algn="tl">
                    <a:srgbClr val="000000">
                      <a:alpha val="43137"/>
                    </a:srgbClr>
                  </a:outerShdw>
                </a:effectLst>
              </a:rPr>
              <a:t>predicted prices </a:t>
            </a:r>
            <a:r>
              <a:rPr lang="en-US" sz="2400" dirty="0"/>
              <a:t>(</a:t>
            </a:r>
            <a:r>
              <a:rPr lang="en-US" sz="2400" dirty="0" err="1"/>
              <a:t>y_hat</a:t>
            </a:r>
            <a:r>
              <a:rPr lang="en-US" sz="2400" dirty="0"/>
              <a:t>):</a:t>
            </a:r>
          </a:p>
          <a:p>
            <a:pPr algn="just"/>
            <a:r>
              <a:rPr lang="en-US" sz="2400" b="1" dirty="0" smtClean="0">
                <a:solidFill>
                  <a:srgbClr val="7030A0"/>
                </a:solidFill>
              </a:rPr>
              <a:t>                  y </a:t>
            </a:r>
            <a:r>
              <a:rPr lang="en-US" sz="2400" dirty="0" smtClean="0"/>
              <a:t> </a:t>
            </a:r>
            <a:r>
              <a:rPr lang="en-US" sz="2400" dirty="0"/>
              <a:t>= [100, 150, 200, 250, 300, 350, 400, 450, 500, 550]</a:t>
            </a:r>
          </a:p>
          <a:p>
            <a:pPr algn="just"/>
            <a:r>
              <a:rPr lang="en-US" sz="2400" b="1" dirty="0" smtClean="0">
                <a:solidFill>
                  <a:srgbClr val="FF0000"/>
                </a:solidFill>
              </a:rPr>
              <a:t>                  </a:t>
            </a:r>
            <a:r>
              <a:rPr lang="en-US" sz="2400" b="1" dirty="0" err="1" smtClean="0">
                <a:solidFill>
                  <a:srgbClr val="FF0000"/>
                </a:solidFill>
              </a:rPr>
              <a:t>y_hat</a:t>
            </a:r>
            <a:r>
              <a:rPr lang="en-US" sz="2400" dirty="0" smtClean="0"/>
              <a:t> </a:t>
            </a:r>
            <a:r>
              <a:rPr lang="en-US" sz="2400" dirty="0"/>
              <a:t>= [110, 140, 180, 240, 290, 320, 380, 420, 480, 520</a:t>
            </a:r>
            <a:r>
              <a:rPr lang="en-US" sz="2400" dirty="0" smtClean="0"/>
              <a:t>]</a:t>
            </a:r>
          </a:p>
          <a:p>
            <a:pPr algn="just"/>
            <a:endParaRPr lang="en-US" sz="1000" dirty="0"/>
          </a:p>
          <a:p>
            <a:pPr algn="just"/>
            <a:r>
              <a:rPr lang="en-US" sz="2400" b="1" dirty="0" smtClean="0"/>
              <a:t>* </a:t>
            </a:r>
            <a:r>
              <a:rPr lang="en-US" sz="2400" b="1" dirty="0" err="1" smtClean="0"/>
              <a:t>y_mean</a:t>
            </a:r>
            <a:r>
              <a:rPr lang="en-US" sz="2400" b="1" dirty="0" smtClean="0"/>
              <a:t> </a:t>
            </a:r>
            <a:r>
              <a:rPr lang="en-US" sz="2400" b="1" dirty="0"/>
              <a:t>= sum(y) / </a:t>
            </a:r>
            <a:r>
              <a:rPr lang="en-US" sz="2400" b="1" dirty="0" err="1"/>
              <a:t>len</a:t>
            </a:r>
            <a:r>
              <a:rPr lang="en-US" sz="2400" b="1" dirty="0"/>
              <a:t>(y) = </a:t>
            </a:r>
            <a:r>
              <a:rPr lang="en-US" sz="2400" b="1" dirty="0" smtClean="0"/>
              <a:t>325</a:t>
            </a:r>
          </a:p>
          <a:p>
            <a:pPr algn="just"/>
            <a:endParaRPr lang="en-US" sz="2400" b="1" dirty="0"/>
          </a:p>
        </p:txBody>
      </p:sp>
      <p:sp>
        <p:nvSpPr>
          <p:cNvPr id="5" name="Rectangle 4"/>
          <p:cNvSpPr/>
          <p:nvPr/>
        </p:nvSpPr>
        <p:spPr>
          <a:xfrm>
            <a:off x="1728216" y="3830658"/>
            <a:ext cx="8842248" cy="2723887"/>
          </a:xfrm>
          <a:prstGeom prst="rect">
            <a:avLst/>
          </a:prstGeom>
          <a:ln w="57150">
            <a:solidFill>
              <a:schemeClr val="accent1">
                <a:lumMod val="75000"/>
              </a:schemeClr>
            </a:solidFill>
          </a:ln>
        </p:spPr>
        <p:txBody>
          <a:bodyPr wrap="square">
            <a:spAutoFit/>
          </a:bodyPr>
          <a:lstStyle/>
          <a:p>
            <a:pPr marL="457200" indent="-457200">
              <a:lnSpc>
                <a:spcPct val="114000"/>
              </a:lnSpc>
              <a:buAutoNum type="arabicPeriod"/>
            </a:pPr>
            <a:r>
              <a:rPr lang="en-US" sz="2300" b="1" dirty="0" smtClean="0"/>
              <a:t>Sum </a:t>
            </a:r>
            <a:r>
              <a:rPr lang="en-US" sz="2300" b="1" dirty="0"/>
              <a:t>of Squares Regression (SSR):</a:t>
            </a:r>
            <a:r>
              <a:rPr lang="en-US" sz="2300" dirty="0"/>
              <a:t> </a:t>
            </a:r>
            <a:endParaRPr lang="en-US" sz="2300" dirty="0" smtClean="0"/>
          </a:p>
          <a:p>
            <a:pPr algn="just">
              <a:lnSpc>
                <a:spcPct val="114000"/>
              </a:lnSpc>
            </a:pPr>
            <a:r>
              <a:rPr lang="en-US" sz="2300" dirty="0" smtClean="0"/>
              <a:t>SSR </a:t>
            </a:r>
            <a:r>
              <a:rPr lang="en-US" sz="2300" dirty="0"/>
              <a:t>is calculated by taking the </a:t>
            </a:r>
            <a:r>
              <a:rPr lang="en-US" sz="2300" dirty="0">
                <a:solidFill>
                  <a:srgbClr val="0070C0"/>
                </a:solidFill>
                <a:effectLst>
                  <a:outerShdw blurRad="38100" dist="38100" dir="2700000" algn="tl">
                    <a:srgbClr val="000000">
                      <a:alpha val="43137"/>
                    </a:srgbClr>
                  </a:outerShdw>
                </a:effectLst>
              </a:rPr>
              <a:t>sum of the squared differences between the predicted values and the mean of the dependent variable</a:t>
            </a:r>
            <a:r>
              <a:rPr lang="en-US" sz="2300" dirty="0"/>
              <a:t>. It represents the variability in the dependent variable that is explained by the independent variables. Mathematically, it can be expressed as</a:t>
            </a:r>
            <a:r>
              <a:rPr lang="en-US" sz="2300" dirty="0" smtClean="0"/>
              <a:t>:</a:t>
            </a:r>
          </a:p>
          <a:p>
            <a:pPr algn="just">
              <a:lnSpc>
                <a:spcPct val="114000"/>
              </a:lnSpc>
            </a:pPr>
            <a:endParaRPr lang="en-US" sz="800" dirty="0"/>
          </a:p>
          <a:p>
            <a:pPr>
              <a:lnSpc>
                <a:spcPct val="114000"/>
              </a:lnSpc>
            </a:pPr>
            <a:r>
              <a:rPr lang="en-US" sz="2300" dirty="0" smtClean="0"/>
              <a:t>                               </a:t>
            </a:r>
            <a:r>
              <a:rPr lang="en-US" sz="2300" b="1" dirty="0" smtClean="0">
                <a:solidFill>
                  <a:srgbClr val="0070C0"/>
                </a:solidFill>
              </a:rPr>
              <a:t>SSR </a:t>
            </a:r>
            <a:r>
              <a:rPr lang="en-US" sz="2300" b="1" dirty="0">
                <a:solidFill>
                  <a:srgbClr val="0070C0"/>
                </a:solidFill>
              </a:rPr>
              <a:t>= sum((</a:t>
            </a:r>
            <a:r>
              <a:rPr lang="en-US" sz="2300" b="1" dirty="0" err="1">
                <a:solidFill>
                  <a:srgbClr val="0070C0"/>
                </a:solidFill>
              </a:rPr>
              <a:t>y_hat</a:t>
            </a:r>
            <a:r>
              <a:rPr lang="en-US" sz="2300" b="1" dirty="0">
                <a:solidFill>
                  <a:srgbClr val="0070C0"/>
                </a:solidFill>
              </a:rPr>
              <a:t> — </a:t>
            </a:r>
            <a:r>
              <a:rPr lang="en-US" sz="2300" b="1" dirty="0" err="1">
                <a:solidFill>
                  <a:srgbClr val="0070C0"/>
                </a:solidFill>
              </a:rPr>
              <a:t>y_mean</a:t>
            </a:r>
            <a:r>
              <a:rPr lang="en-US" sz="2300" b="1" dirty="0">
                <a:solidFill>
                  <a:srgbClr val="0070C0"/>
                </a:solidFill>
              </a:rPr>
              <a:t>)²) = </a:t>
            </a:r>
            <a:r>
              <a:rPr lang="en-US" sz="2300" b="1" dirty="0" smtClean="0">
                <a:solidFill>
                  <a:srgbClr val="0070C0"/>
                </a:solidFill>
              </a:rPr>
              <a:t>28300</a:t>
            </a:r>
            <a:endParaRPr lang="en-US" sz="2300" b="1" dirty="0">
              <a:solidFill>
                <a:srgbClr val="0070C0"/>
              </a:solidFill>
            </a:endParaRPr>
          </a:p>
        </p:txBody>
      </p:sp>
    </p:spTree>
    <p:extLst>
      <p:ext uri="{BB962C8B-B14F-4D97-AF65-F5344CB8AC3E}">
        <p14:creationId xmlns:p14="http://schemas.microsoft.com/office/powerpoint/2010/main" val="38123778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34440" y="980408"/>
            <a:ext cx="9820656" cy="2062103"/>
          </a:xfrm>
          <a:prstGeom prst="rect">
            <a:avLst/>
          </a:prstGeom>
          <a:ln w="38100">
            <a:solidFill>
              <a:schemeClr val="accent1">
                <a:lumMod val="75000"/>
              </a:schemeClr>
            </a:solidFill>
          </a:ln>
        </p:spPr>
        <p:txBody>
          <a:bodyPr wrap="square">
            <a:spAutoFit/>
          </a:bodyPr>
          <a:lstStyle/>
          <a:p>
            <a:pPr algn="just"/>
            <a:r>
              <a:rPr lang="en-US" sz="2400" b="1" dirty="0"/>
              <a:t>2. Sum of Squares Error (SSE):</a:t>
            </a:r>
            <a:r>
              <a:rPr lang="en-US" sz="2400" dirty="0"/>
              <a:t> </a:t>
            </a:r>
            <a:endParaRPr lang="en-US" sz="2400" dirty="0" smtClean="0"/>
          </a:p>
          <a:p>
            <a:pPr algn="just"/>
            <a:r>
              <a:rPr lang="en-US" sz="2400" dirty="0" smtClean="0"/>
              <a:t>SSE </a:t>
            </a:r>
            <a:r>
              <a:rPr lang="en-US" sz="2400" dirty="0"/>
              <a:t>is calculated by taking the </a:t>
            </a:r>
            <a:r>
              <a:rPr lang="en-US" sz="2400" dirty="0">
                <a:solidFill>
                  <a:srgbClr val="0070C0"/>
                </a:solidFill>
                <a:effectLst>
                  <a:outerShdw blurRad="38100" dist="38100" dir="2700000" algn="tl">
                    <a:srgbClr val="000000">
                      <a:alpha val="43137"/>
                    </a:srgbClr>
                  </a:outerShdw>
                </a:effectLst>
              </a:rPr>
              <a:t>sum of the squared differences between the predicted values and the actual values of the dependent variable</a:t>
            </a:r>
            <a:r>
              <a:rPr lang="en-US" sz="2400" dirty="0"/>
              <a:t>. Mathematically, it can be expressed as</a:t>
            </a:r>
            <a:r>
              <a:rPr lang="en-US" sz="2400" dirty="0" smtClean="0"/>
              <a:t>:</a:t>
            </a:r>
          </a:p>
          <a:p>
            <a:pPr algn="just"/>
            <a:endParaRPr lang="en-US" sz="800" dirty="0"/>
          </a:p>
          <a:p>
            <a:pPr algn="ctr"/>
            <a:r>
              <a:rPr lang="en-US" sz="2400" b="1" dirty="0">
                <a:solidFill>
                  <a:srgbClr val="0070C0"/>
                </a:solidFill>
              </a:rPr>
              <a:t>SSE = sum((y — </a:t>
            </a:r>
            <a:r>
              <a:rPr lang="en-US" sz="2400" b="1" dirty="0" err="1">
                <a:solidFill>
                  <a:srgbClr val="0070C0"/>
                </a:solidFill>
              </a:rPr>
              <a:t>y_hat</a:t>
            </a:r>
            <a:r>
              <a:rPr lang="en-US" sz="2400" b="1" dirty="0">
                <a:solidFill>
                  <a:srgbClr val="0070C0"/>
                </a:solidFill>
              </a:rPr>
              <a:t>)²) = 26700</a:t>
            </a:r>
          </a:p>
        </p:txBody>
      </p:sp>
      <p:sp>
        <p:nvSpPr>
          <p:cNvPr id="5" name="Rectangle 4"/>
          <p:cNvSpPr/>
          <p:nvPr/>
        </p:nvSpPr>
        <p:spPr>
          <a:xfrm>
            <a:off x="1234440" y="3555968"/>
            <a:ext cx="9820656" cy="2431435"/>
          </a:xfrm>
          <a:prstGeom prst="rect">
            <a:avLst/>
          </a:prstGeom>
          <a:ln w="38100">
            <a:solidFill>
              <a:schemeClr val="accent1">
                <a:lumMod val="75000"/>
              </a:schemeClr>
            </a:solidFill>
          </a:ln>
        </p:spPr>
        <p:txBody>
          <a:bodyPr wrap="square">
            <a:spAutoFit/>
          </a:bodyPr>
          <a:lstStyle/>
          <a:p>
            <a:pPr algn="just"/>
            <a:r>
              <a:rPr lang="en-US" sz="2400" b="1" dirty="0"/>
              <a:t>3. Mean Squared Error (MSE):</a:t>
            </a:r>
            <a:r>
              <a:rPr lang="en-US" sz="2400" dirty="0"/>
              <a:t> </a:t>
            </a:r>
            <a:endParaRPr lang="en-US" sz="2400" dirty="0" smtClean="0"/>
          </a:p>
          <a:p>
            <a:pPr algn="just"/>
            <a:r>
              <a:rPr lang="en-US" sz="2400" dirty="0" smtClean="0"/>
              <a:t>This </a:t>
            </a:r>
            <a:r>
              <a:rPr lang="en-US" sz="2400" dirty="0"/>
              <a:t>metric measures the average squared difference between the predicted and actual values. It is calculated as the sum of squared residuals divided by the number of data points. A lower MSE indicates better performance. Mathematically, it can be expressed as</a:t>
            </a:r>
            <a:r>
              <a:rPr lang="en-US" sz="2400" dirty="0" smtClean="0"/>
              <a:t>:</a:t>
            </a:r>
          </a:p>
          <a:p>
            <a:endParaRPr lang="en-US" sz="800" dirty="0"/>
          </a:p>
          <a:p>
            <a:pPr algn="ctr"/>
            <a:r>
              <a:rPr lang="en-US" sz="2400" b="1" dirty="0">
                <a:solidFill>
                  <a:srgbClr val="0070C0"/>
                </a:solidFill>
              </a:rPr>
              <a:t>MSE = (1/n) * sum((y — </a:t>
            </a:r>
            <a:r>
              <a:rPr lang="en-US" sz="2400" b="1" dirty="0" err="1">
                <a:solidFill>
                  <a:srgbClr val="0070C0"/>
                </a:solidFill>
              </a:rPr>
              <a:t>y_hat</a:t>
            </a:r>
            <a:r>
              <a:rPr lang="en-US" sz="2400" b="1" dirty="0">
                <a:solidFill>
                  <a:srgbClr val="0070C0"/>
                </a:solidFill>
              </a:rPr>
              <a:t>)²) = </a:t>
            </a:r>
            <a:r>
              <a:rPr lang="en-US" sz="2400" b="1" dirty="0" smtClean="0">
                <a:solidFill>
                  <a:srgbClr val="0070C0"/>
                </a:solidFill>
              </a:rPr>
              <a:t>2670</a:t>
            </a:r>
            <a:endParaRPr lang="en-US" sz="2400" b="1" dirty="0">
              <a:solidFill>
                <a:srgbClr val="0070C0"/>
              </a:solidFill>
            </a:endParaRPr>
          </a:p>
        </p:txBody>
      </p:sp>
    </p:spTree>
    <p:extLst>
      <p:ext uri="{BB962C8B-B14F-4D97-AF65-F5344CB8AC3E}">
        <p14:creationId xmlns:p14="http://schemas.microsoft.com/office/powerpoint/2010/main" val="2930933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43584" y="194024"/>
            <a:ext cx="9820656" cy="2062103"/>
          </a:xfrm>
          <a:prstGeom prst="rect">
            <a:avLst/>
          </a:prstGeom>
          <a:ln w="38100">
            <a:solidFill>
              <a:schemeClr val="accent1">
                <a:lumMod val="75000"/>
              </a:schemeClr>
            </a:solidFill>
          </a:ln>
        </p:spPr>
        <p:txBody>
          <a:bodyPr wrap="square">
            <a:spAutoFit/>
          </a:bodyPr>
          <a:lstStyle/>
          <a:p>
            <a:r>
              <a:rPr lang="en-US" sz="2400" b="1" dirty="0"/>
              <a:t>4.</a:t>
            </a:r>
            <a:r>
              <a:rPr lang="en-US" sz="2400" dirty="0"/>
              <a:t> </a:t>
            </a:r>
            <a:r>
              <a:rPr lang="en-US" sz="2400" b="1" dirty="0"/>
              <a:t>Root Mean Squared Error (RMSE): </a:t>
            </a:r>
            <a:endParaRPr lang="en-US" sz="2400" b="1" dirty="0" smtClean="0"/>
          </a:p>
          <a:p>
            <a:r>
              <a:rPr lang="en-US" sz="2400" dirty="0" smtClean="0"/>
              <a:t>This </a:t>
            </a:r>
            <a:r>
              <a:rPr lang="en-US" sz="2400" dirty="0"/>
              <a:t>metric measures the square root of the MSE and is useful for interpreting the errors in the same units as the dependent variable. Mathematically, it can be expressed as</a:t>
            </a:r>
            <a:r>
              <a:rPr lang="en-US" sz="2400" dirty="0" smtClean="0"/>
              <a:t>:</a:t>
            </a:r>
          </a:p>
          <a:p>
            <a:endParaRPr lang="en-US" sz="400" dirty="0"/>
          </a:p>
          <a:p>
            <a:pPr algn="ctr"/>
            <a:r>
              <a:rPr lang="en-US" sz="2400" b="1" dirty="0">
                <a:solidFill>
                  <a:srgbClr val="0070C0"/>
                </a:solidFill>
              </a:rPr>
              <a:t>RMSE = </a:t>
            </a:r>
            <a:r>
              <a:rPr lang="en-US" sz="2400" b="1" dirty="0" err="1">
                <a:solidFill>
                  <a:srgbClr val="0070C0"/>
                </a:solidFill>
              </a:rPr>
              <a:t>sqrt</a:t>
            </a:r>
            <a:r>
              <a:rPr lang="en-US" sz="2400" b="1" dirty="0">
                <a:solidFill>
                  <a:srgbClr val="0070C0"/>
                </a:solidFill>
              </a:rPr>
              <a:t>(MSE) = </a:t>
            </a:r>
            <a:r>
              <a:rPr lang="en-US" sz="2400" b="1" dirty="0" err="1">
                <a:solidFill>
                  <a:srgbClr val="0070C0"/>
                </a:solidFill>
              </a:rPr>
              <a:t>sqrt</a:t>
            </a:r>
            <a:r>
              <a:rPr lang="en-US" sz="2400" b="1" dirty="0">
                <a:solidFill>
                  <a:srgbClr val="0070C0"/>
                </a:solidFill>
              </a:rPr>
              <a:t>(2670) = </a:t>
            </a:r>
            <a:r>
              <a:rPr lang="en-US" sz="2400" b="1" dirty="0" smtClean="0">
                <a:solidFill>
                  <a:srgbClr val="0070C0"/>
                </a:solidFill>
              </a:rPr>
              <a:t>51.68</a:t>
            </a:r>
            <a:endParaRPr lang="en-US" sz="2400" b="1" dirty="0">
              <a:solidFill>
                <a:srgbClr val="0070C0"/>
              </a:solidFill>
            </a:endParaRPr>
          </a:p>
        </p:txBody>
      </p:sp>
      <p:sp>
        <p:nvSpPr>
          <p:cNvPr id="5" name="Rectangle 4"/>
          <p:cNvSpPr/>
          <p:nvPr/>
        </p:nvSpPr>
        <p:spPr>
          <a:xfrm>
            <a:off x="1243584" y="2304693"/>
            <a:ext cx="9820656" cy="2308324"/>
          </a:xfrm>
          <a:prstGeom prst="rect">
            <a:avLst/>
          </a:prstGeom>
          <a:ln w="38100">
            <a:solidFill>
              <a:schemeClr val="accent1">
                <a:lumMod val="75000"/>
              </a:schemeClr>
            </a:solidFill>
          </a:ln>
        </p:spPr>
        <p:txBody>
          <a:bodyPr wrap="square">
            <a:spAutoFit/>
          </a:bodyPr>
          <a:lstStyle/>
          <a:p>
            <a:r>
              <a:rPr lang="en-US" sz="2400" b="1" dirty="0"/>
              <a:t>5. Mean Absolute Error (MAE):</a:t>
            </a:r>
            <a:r>
              <a:rPr lang="en-US" sz="2400" dirty="0"/>
              <a:t> </a:t>
            </a:r>
            <a:endParaRPr lang="en-US" sz="2400" dirty="0" smtClean="0"/>
          </a:p>
          <a:p>
            <a:r>
              <a:rPr lang="en-US" sz="2400" dirty="0" smtClean="0"/>
              <a:t>This </a:t>
            </a:r>
            <a:r>
              <a:rPr lang="en-US" sz="2400" dirty="0"/>
              <a:t>metric measures the average </a:t>
            </a:r>
            <a:r>
              <a:rPr lang="en-US" sz="2400" dirty="0">
                <a:solidFill>
                  <a:srgbClr val="0070C0"/>
                </a:solidFill>
                <a:effectLst>
                  <a:outerShdw blurRad="38100" dist="38100" dir="2700000" algn="tl">
                    <a:srgbClr val="000000">
                      <a:alpha val="43137"/>
                    </a:srgbClr>
                  </a:outerShdw>
                </a:effectLst>
              </a:rPr>
              <a:t>absolute difference between the predicted and actual values</a:t>
            </a:r>
            <a:r>
              <a:rPr lang="en-US" sz="2400" dirty="0"/>
              <a:t>. It is less sensitive to outliers than MSE, but still provides a measure of the model’s accuracy. Mathematically, it can be expressed as</a:t>
            </a:r>
            <a:r>
              <a:rPr lang="en-US" sz="2400" dirty="0" smtClean="0"/>
              <a:t>:</a:t>
            </a:r>
            <a:endParaRPr lang="en-US" sz="400" dirty="0" smtClean="0"/>
          </a:p>
          <a:p>
            <a:pPr algn="ctr"/>
            <a:r>
              <a:rPr lang="en-US" sz="2400" b="1" dirty="0" smtClean="0">
                <a:solidFill>
                  <a:srgbClr val="0070C0"/>
                </a:solidFill>
              </a:rPr>
              <a:t>MAE </a:t>
            </a:r>
            <a:r>
              <a:rPr lang="en-US" sz="2400" b="1" dirty="0">
                <a:solidFill>
                  <a:srgbClr val="0070C0"/>
                </a:solidFill>
              </a:rPr>
              <a:t>= (1/n) * sum(abs(y — </a:t>
            </a:r>
            <a:r>
              <a:rPr lang="en-US" sz="2400" b="1" dirty="0" err="1">
                <a:solidFill>
                  <a:srgbClr val="0070C0"/>
                </a:solidFill>
              </a:rPr>
              <a:t>y_hat</a:t>
            </a:r>
            <a:r>
              <a:rPr lang="en-US" sz="2400" b="1" dirty="0">
                <a:solidFill>
                  <a:srgbClr val="0070C0"/>
                </a:solidFill>
              </a:rPr>
              <a:t>)) = </a:t>
            </a:r>
            <a:r>
              <a:rPr lang="en-US" sz="2400" b="1" dirty="0" smtClean="0">
                <a:solidFill>
                  <a:srgbClr val="0070C0"/>
                </a:solidFill>
              </a:rPr>
              <a:t>36</a:t>
            </a:r>
            <a:endParaRPr lang="en-US" sz="2400" b="1" dirty="0">
              <a:solidFill>
                <a:srgbClr val="0070C0"/>
              </a:solidFill>
            </a:endParaRPr>
          </a:p>
        </p:txBody>
      </p:sp>
      <p:sp>
        <p:nvSpPr>
          <p:cNvPr id="6" name="Rectangle 5"/>
          <p:cNvSpPr/>
          <p:nvPr/>
        </p:nvSpPr>
        <p:spPr>
          <a:xfrm>
            <a:off x="1243584" y="4613017"/>
            <a:ext cx="9820656" cy="2062103"/>
          </a:xfrm>
          <a:prstGeom prst="rect">
            <a:avLst/>
          </a:prstGeom>
          <a:ln w="38100">
            <a:solidFill>
              <a:schemeClr val="accent1">
                <a:lumMod val="75000"/>
              </a:schemeClr>
            </a:solidFill>
          </a:ln>
        </p:spPr>
        <p:txBody>
          <a:bodyPr wrap="square">
            <a:spAutoFit/>
          </a:bodyPr>
          <a:lstStyle/>
          <a:p>
            <a:r>
              <a:rPr lang="en-US" sz="2400" b="1" dirty="0"/>
              <a:t>6. Sum Of Squares Total (SST): </a:t>
            </a:r>
            <a:endParaRPr lang="en-US" sz="2400" b="1" dirty="0" smtClean="0"/>
          </a:p>
          <a:p>
            <a:r>
              <a:rPr lang="en-US" sz="2400" dirty="0" smtClean="0"/>
              <a:t>SST </a:t>
            </a:r>
            <a:r>
              <a:rPr lang="en-US" sz="2400" dirty="0"/>
              <a:t>is calculated by taking the sum of the squared differences between the actual values of the dependent variable and its mean value. Mathematically, it can be expressed as</a:t>
            </a:r>
            <a:r>
              <a:rPr lang="en-US" sz="2400" dirty="0" smtClean="0"/>
              <a:t>:</a:t>
            </a:r>
          </a:p>
          <a:p>
            <a:endParaRPr lang="en-US" sz="500" dirty="0"/>
          </a:p>
          <a:p>
            <a:pPr algn="ctr"/>
            <a:r>
              <a:rPr lang="en-US" sz="2400" dirty="0">
                <a:solidFill>
                  <a:srgbClr val="0070C0"/>
                </a:solidFill>
                <a:effectLst>
                  <a:outerShdw blurRad="38100" dist="38100" dir="2700000" algn="tl">
                    <a:srgbClr val="000000">
                      <a:alpha val="43137"/>
                    </a:srgbClr>
                  </a:outerShdw>
                </a:effectLst>
              </a:rPr>
              <a:t>SST = sum((y — </a:t>
            </a:r>
            <a:r>
              <a:rPr lang="en-US" sz="2400" dirty="0" err="1">
                <a:solidFill>
                  <a:srgbClr val="0070C0"/>
                </a:solidFill>
                <a:effectLst>
                  <a:outerShdw blurRad="38100" dist="38100" dir="2700000" algn="tl">
                    <a:srgbClr val="000000">
                      <a:alpha val="43137"/>
                    </a:srgbClr>
                  </a:outerShdw>
                </a:effectLst>
              </a:rPr>
              <a:t>y_mean</a:t>
            </a:r>
            <a:r>
              <a:rPr lang="en-US" sz="2400" dirty="0">
                <a:solidFill>
                  <a:srgbClr val="0070C0"/>
                </a:solidFill>
                <a:effectLst>
                  <a:outerShdw blurRad="38100" dist="38100" dir="2700000" algn="tl">
                    <a:srgbClr val="000000">
                      <a:alpha val="43137"/>
                    </a:srgbClr>
                  </a:outerShdw>
                </a:effectLst>
              </a:rPr>
              <a:t>)²) = </a:t>
            </a:r>
            <a:r>
              <a:rPr lang="en-US" sz="2400" dirty="0" smtClean="0">
                <a:solidFill>
                  <a:srgbClr val="0070C0"/>
                </a:solidFill>
                <a:effectLst>
                  <a:outerShdw blurRad="38100" dist="38100" dir="2700000" algn="tl">
                    <a:srgbClr val="000000">
                      <a:alpha val="43137"/>
                    </a:srgbClr>
                  </a:outerShdw>
                </a:effectLst>
              </a:rPr>
              <a:t>55000</a:t>
            </a:r>
            <a:endParaRPr lang="en-US" sz="2400"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8285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216152" y="1147441"/>
            <a:ext cx="9820656" cy="4308872"/>
          </a:xfrm>
          <a:prstGeom prst="rect">
            <a:avLst/>
          </a:prstGeom>
          <a:ln w="38100">
            <a:solidFill>
              <a:schemeClr val="accent1">
                <a:lumMod val="75000"/>
              </a:schemeClr>
            </a:solidFill>
          </a:ln>
        </p:spPr>
        <p:txBody>
          <a:bodyPr wrap="square">
            <a:spAutoFit/>
          </a:bodyPr>
          <a:lstStyle/>
          <a:p>
            <a:pPr algn="just"/>
            <a:endParaRPr lang="en-US" sz="2600" b="1" dirty="0" smtClean="0"/>
          </a:p>
          <a:p>
            <a:pPr algn="just"/>
            <a:r>
              <a:rPr lang="en-US" sz="2600" b="1" dirty="0" smtClean="0"/>
              <a:t>R-Squared </a:t>
            </a:r>
            <a:r>
              <a:rPr lang="en-US" sz="2600" b="1" dirty="0"/>
              <a:t>(R²):</a:t>
            </a:r>
            <a:r>
              <a:rPr lang="en-US" sz="2600" dirty="0"/>
              <a:t> </a:t>
            </a:r>
            <a:endParaRPr lang="en-US" sz="2600" dirty="0" smtClean="0"/>
          </a:p>
          <a:p>
            <a:pPr algn="just"/>
            <a:r>
              <a:rPr lang="en-US" sz="2600" dirty="0" smtClean="0"/>
              <a:t>This </a:t>
            </a:r>
            <a:r>
              <a:rPr lang="en-US" sz="2600" dirty="0"/>
              <a:t>metric measures the proportion of variance in the dependent variable that is explained by the independent variable(s). </a:t>
            </a:r>
            <a:endParaRPr lang="en-US" sz="2600" dirty="0" smtClean="0"/>
          </a:p>
          <a:p>
            <a:pPr algn="just"/>
            <a:endParaRPr lang="en-US" sz="1000" dirty="0" smtClean="0"/>
          </a:p>
          <a:p>
            <a:pPr algn="just"/>
            <a:r>
              <a:rPr lang="en-US" sz="26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It </a:t>
            </a:r>
            <a:r>
              <a:rPr lang="en-US" sz="26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ranges from 0 to 1, with a higher value indicating better </a:t>
            </a:r>
            <a:r>
              <a:rPr lang="en-US" sz="26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performance.</a:t>
            </a:r>
          </a:p>
          <a:p>
            <a:pPr algn="just"/>
            <a:endParaRPr lang="en-US" sz="2600" b="1" dirty="0" smtClean="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algn="ctr"/>
            <a:r>
              <a:rPr lang="pt-BR" sz="2800" dirty="0" smtClean="0"/>
              <a:t>R² </a:t>
            </a:r>
            <a:r>
              <a:rPr lang="pt-BR" sz="2800" dirty="0"/>
              <a:t>= SSR / SST = 28300 / 55000 = 0.5164</a:t>
            </a:r>
          </a:p>
          <a:p>
            <a:pPr algn="ctr"/>
            <a:r>
              <a:rPr lang="pt-BR" sz="2800" dirty="0"/>
              <a:t>R² = 1 — SSE / SST = 1 —26700 / 55000 = 0.5164</a:t>
            </a:r>
          </a:p>
          <a:p>
            <a:pPr algn="just"/>
            <a:endParaRPr lang="en-US" sz="2600"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1629957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3"/>
          <p:cNvSpPr txBox="1">
            <a:spLocks noGrp="1"/>
          </p:cNvSpPr>
          <p:nvPr>
            <p:ph type="title"/>
          </p:nvPr>
        </p:nvSpPr>
        <p:spPr>
          <a:xfrm>
            <a:off x="609600" y="381000"/>
            <a:ext cx="10972800" cy="1143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Gill Sans"/>
              <a:buNone/>
            </a:pPr>
            <a:r>
              <a:rPr lang="en-US" b="1" dirty="0"/>
              <a:t>Outline</a:t>
            </a:r>
            <a:endParaRPr dirty="0"/>
          </a:p>
        </p:txBody>
      </p:sp>
      <p:sp>
        <p:nvSpPr>
          <p:cNvPr id="336" name="Google Shape;336;p3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Font typeface="Noto Sans Symbols"/>
              <a:buChar char="✔"/>
            </a:pPr>
            <a:r>
              <a:rPr lang="en-US" sz="2400" dirty="0"/>
              <a:t>Linear Regression</a:t>
            </a:r>
            <a:endParaRPr dirty="0"/>
          </a:p>
          <a:p>
            <a:pPr marL="742950" lvl="1" indent="-285750" algn="l" rtl="0">
              <a:spcBef>
                <a:spcPts val="400"/>
              </a:spcBef>
              <a:spcAft>
                <a:spcPts val="0"/>
              </a:spcAft>
              <a:buClr>
                <a:schemeClr val="dk1"/>
              </a:buClr>
              <a:buSzPts val="2000"/>
              <a:buChar char="–"/>
            </a:pPr>
            <a:r>
              <a:rPr lang="en-US" b="1" dirty="0">
                <a:solidFill>
                  <a:srgbClr val="FF0000"/>
                </a:solidFill>
                <a:effectLst>
                  <a:outerShdw blurRad="38100" dist="38100" dir="2700000" algn="tl">
                    <a:srgbClr val="000000">
                      <a:alpha val="43137"/>
                    </a:srgbClr>
                  </a:outerShdw>
                </a:effectLst>
              </a:rPr>
              <a:t>Gradient descent algorithm</a:t>
            </a:r>
            <a:endParaRPr b="1" dirty="0">
              <a:solidFill>
                <a:srgbClr val="FF0000"/>
              </a:solidFill>
              <a:effectLst>
                <a:outerShdw blurRad="38100" dist="38100" dir="2700000" algn="tl">
                  <a:srgbClr val="000000">
                    <a:alpha val="43137"/>
                  </a:srgbClr>
                </a:outerShdw>
              </a:effectLst>
            </a:endParaRPr>
          </a:p>
          <a:p>
            <a:pPr marL="742950" lvl="1" indent="-285750" algn="l" rtl="0">
              <a:spcBef>
                <a:spcPts val="400"/>
              </a:spcBef>
              <a:spcAft>
                <a:spcPts val="0"/>
              </a:spcAft>
              <a:buClr>
                <a:schemeClr val="dk1"/>
              </a:buClr>
              <a:buSzPts val="2000"/>
              <a:buChar char="–"/>
            </a:pPr>
            <a:r>
              <a:rPr lang="en-US" dirty="0"/>
              <a:t>Polynomial regression</a:t>
            </a:r>
            <a:endParaRPr dirty="0"/>
          </a:p>
          <a:p>
            <a:pPr marL="457200" lvl="1" indent="0" algn="l" rtl="0">
              <a:spcBef>
                <a:spcPts val="400"/>
              </a:spcBef>
              <a:spcAft>
                <a:spcPts val="0"/>
              </a:spcAft>
              <a:buClr>
                <a:schemeClr val="dk1"/>
              </a:buClr>
              <a:buSzPts val="2000"/>
              <a:buNone/>
            </a:pPr>
            <a:r>
              <a:rPr lang="en-US" dirty="0"/>
              <a:t> </a:t>
            </a:r>
            <a:endParaRPr dirty="0"/>
          </a:p>
          <a:p>
            <a:pPr marL="742950" lvl="1" indent="-158750" algn="l" rtl="0">
              <a:spcBef>
                <a:spcPts val="400"/>
              </a:spcBef>
              <a:spcAft>
                <a:spcPts val="0"/>
              </a:spcAft>
              <a:buClr>
                <a:schemeClr val="dk1"/>
              </a:buClr>
              <a:buSzPts val="2000"/>
              <a:buNone/>
            </a:pPr>
            <a:endParaRPr dirty="0"/>
          </a:p>
          <a:p>
            <a:pPr marL="742950" lvl="1" indent="-158750" algn="l" rtl="0">
              <a:spcBef>
                <a:spcPts val="400"/>
              </a:spcBef>
              <a:spcAft>
                <a:spcPts val="0"/>
              </a:spcAft>
              <a:buClr>
                <a:schemeClr val="dk1"/>
              </a:buClr>
              <a:buSzPts val="2000"/>
              <a:buNone/>
            </a:pPr>
            <a:endParaRPr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76430" y="787503"/>
            <a:ext cx="5568364" cy="3566160"/>
          </a:xfrm>
          <a:prstGeom prst="rect">
            <a:avLst/>
          </a:prstGeom>
          <a:ln w="38100">
            <a:solidFill>
              <a:srgbClr val="0070C0"/>
            </a:solidFill>
          </a:ln>
        </p:spPr>
      </p:pic>
      <p:sp>
        <p:nvSpPr>
          <p:cNvPr id="5" name="Rectangle 4"/>
          <p:cNvSpPr/>
          <p:nvPr/>
        </p:nvSpPr>
        <p:spPr>
          <a:xfrm>
            <a:off x="2958239" y="93000"/>
            <a:ext cx="5973110" cy="584775"/>
          </a:xfrm>
          <a:prstGeom prst="rect">
            <a:avLst/>
          </a:prstGeom>
        </p:spPr>
        <p:txBody>
          <a:bodyPr wrap="none">
            <a:spAutoFit/>
          </a:bodyPr>
          <a:lstStyle/>
          <a:p>
            <a:pPr marL="457200" lvl="1">
              <a:spcBef>
                <a:spcPts val="400"/>
              </a:spcBef>
              <a:buClr>
                <a:schemeClr val="dk1"/>
              </a:buClr>
              <a:buSzPts val="2000"/>
            </a:pPr>
            <a:r>
              <a:rPr lang="en-US" sz="3200" b="1" dirty="0">
                <a:solidFill>
                  <a:srgbClr val="FF0000"/>
                </a:solidFill>
                <a:effectLst>
                  <a:outerShdw blurRad="38100" dist="38100" dir="2700000" algn="tl">
                    <a:srgbClr val="000000">
                      <a:alpha val="43137"/>
                    </a:srgbClr>
                  </a:outerShdw>
                </a:effectLst>
              </a:rPr>
              <a:t>Gradient descent algorithm</a:t>
            </a:r>
          </a:p>
        </p:txBody>
      </p:sp>
      <p:pic>
        <p:nvPicPr>
          <p:cNvPr id="6" name="Picture 5"/>
          <p:cNvPicPr>
            <a:picLocks noChangeAspect="1"/>
          </p:cNvPicPr>
          <p:nvPr/>
        </p:nvPicPr>
        <p:blipFill>
          <a:blip r:embed="rId3"/>
          <a:stretch>
            <a:fillRect/>
          </a:stretch>
        </p:blipFill>
        <p:spPr>
          <a:xfrm>
            <a:off x="4307205" y="3069526"/>
            <a:ext cx="7600950" cy="3571875"/>
          </a:xfrm>
          <a:prstGeom prst="rect">
            <a:avLst/>
          </a:prstGeom>
          <a:ln w="38100">
            <a:solidFill>
              <a:schemeClr val="tx1"/>
            </a:solidFill>
          </a:ln>
        </p:spPr>
      </p:pic>
    </p:spTree>
    <p:extLst>
      <p:ext uri="{BB962C8B-B14F-4D97-AF65-F5344CB8AC3E}">
        <p14:creationId xmlns:p14="http://schemas.microsoft.com/office/powerpoint/2010/main" val="1675504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33959" y="522921"/>
            <a:ext cx="4935347" cy="338328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7766685" y="1272730"/>
            <a:ext cx="3944680" cy="4846320"/>
          </a:xfrm>
          <a:prstGeom prst="rect">
            <a:avLst/>
          </a:prstGeom>
          <a:ln w="38100">
            <a:solidFill>
              <a:schemeClr val="tx1"/>
            </a:solidFill>
          </a:ln>
        </p:spPr>
      </p:pic>
      <p:cxnSp>
        <p:nvCxnSpPr>
          <p:cNvPr id="7" name="Straight Arrow Connector 6"/>
          <p:cNvCxnSpPr/>
          <p:nvPr/>
        </p:nvCxnSpPr>
        <p:spPr>
          <a:xfrm flipV="1">
            <a:off x="3438144" y="2286000"/>
            <a:ext cx="4224528" cy="96012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74280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174676" y="611695"/>
            <a:ext cx="4524375" cy="5762625"/>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1385125" y="168783"/>
            <a:ext cx="4148254" cy="3657600"/>
          </a:xfrm>
          <a:prstGeom prst="rect">
            <a:avLst/>
          </a:prstGeom>
          <a:ln w="38100">
            <a:solidFill>
              <a:schemeClr val="tx1"/>
            </a:solidFill>
          </a:ln>
        </p:spPr>
      </p:pic>
      <p:pic>
        <p:nvPicPr>
          <p:cNvPr id="6" name="Picture 5"/>
          <p:cNvPicPr>
            <a:picLocks noChangeAspect="1"/>
          </p:cNvPicPr>
          <p:nvPr/>
        </p:nvPicPr>
        <p:blipFill>
          <a:blip r:embed="rId4"/>
          <a:stretch>
            <a:fillRect/>
          </a:stretch>
        </p:blipFill>
        <p:spPr>
          <a:xfrm>
            <a:off x="1913879" y="4028313"/>
            <a:ext cx="3619500" cy="2676525"/>
          </a:xfrm>
          <a:prstGeom prst="rect">
            <a:avLst/>
          </a:prstGeom>
          <a:ln w="38100">
            <a:solidFill>
              <a:schemeClr val="tx1"/>
            </a:solidFill>
          </a:ln>
        </p:spPr>
      </p:pic>
      <p:sp>
        <p:nvSpPr>
          <p:cNvPr id="7" name="Rectangle 6"/>
          <p:cNvSpPr/>
          <p:nvPr/>
        </p:nvSpPr>
        <p:spPr>
          <a:xfrm>
            <a:off x="733086" y="1732407"/>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1</a:t>
            </a:r>
            <a:endParaRPr lang="en-US" sz="2400" b="1" dirty="0"/>
          </a:p>
        </p:txBody>
      </p:sp>
      <p:sp>
        <p:nvSpPr>
          <p:cNvPr id="8" name="Rectangle 7"/>
          <p:cNvSpPr/>
          <p:nvPr/>
        </p:nvSpPr>
        <p:spPr>
          <a:xfrm>
            <a:off x="1272582" y="4953000"/>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2</a:t>
            </a:r>
            <a:endParaRPr lang="en-US" sz="2400" b="1" dirty="0"/>
          </a:p>
        </p:txBody>
      </p:sp>
      <p:sp>
        <p:nvSpPr>
          <p:cNvPr id="9" name="Rectangle 8"/>
          <p:cNvSpPr/>
          <p:nvPr/>
        </p:nvSpPr>
        <p:spPr>
          <a:xfrm>
            <a:off x="10800852" y="3227831"/>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3</a:t>
            </a:r>
            <a:endParaRPr lang="en-US" sz="2400" b="1" dirty="0"/>
          </a:p>
        </p:txBody>
      </p:sp>
    </p:spTree>
    <p:extLst>
      <p:ext uri="{BB962C8B-B14F-4D97-AF65-F5344CB8AC3E}">
        <p14:creationId xmlns:p14="http://schemas.microsoft.com/office/powerpoint/2010/main" val="27366720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93370" y="198882"/>
            <a:ext cx="3009900" cy="4229100"/>
          </a:xfrm>
          <a:prstGeom prst="rect">
            <a:avLst/>
          </a:prstGeom>
          <a:ln w="38100">
            <a:solidFill>
              <a:schemeClr val="tx1"/>
            </a:solidFill>
          </a:ln>
        </p:spPr>
      </p:pic>
      <p:pic>
        <p:nvPicPr>
          <p:cNvPr id="6" name="Picture 5"/>
          <p:cNvPicPr>
            <a:picLocks noChangeAspect="1"/>
          </p:cNvPicPr>
          <p:nvPr/>
        </p:nvPicPr>
        <p:blipFill>
          <a:blip r:embed="rId3"/>
          <a:stretch>
            <a:fillRect/>
          </a:stretch>
        </p:blipFill>
        <p:spPr>
          <a:xfrm>
            <a:off x="3631883" y="983742"/>
            <a:ext cx="3790950" cy="3152775"/>
          </a:xfrm>
          <a:prstGeom prst="rect">
            <a:avLst/>
          </a:prstGeom>
          <a:ln w="38100">
            <a:solidFill>
              <a:schemeClr val="tx1"/>
            </a:solidFill>
          </a:ln>
        </p:spPr>
      </p:pic>
      <p:pic>
        <p:nvPicPr>
          <p:cNvPr id="7" name="Picture 6"/>
          <p:cNvPicPr>
            <a:picLocks noChangeAspect="1"/>
          </p:cNvPicPr>
          <p:nvPr/>
        </p:nvPicPr>
        <p:blipFill>
          <a:blip r:embed="rId4"/>
          <a:stretch>
            <a:fillRect/>
          </a:stretch>
        </p:blipFill>
        <p:spPr>
          <a:xfrm>
            <a:off x="3433952" y="51816"/>
            <a:ext cx="5895975" cy="895350"/>
          </a:xfrm>
          <a:prstGeom prst="rect">
            <a:avLst/>
          </a:prstGeom>
        </p:spPr>
      </p:pic>
      <p:cxnSp>
        <p:nvCxnSpPr>
          <p:cNvPr id="9" name="Straight Connector 8"/>
          <p:cNvCxnSpPr/>
          <p:nvPr/>
        </p:nvCxnSpPr>
        <p:spPr>
          <a:xfrm flipV="1">
            <a:off x="2414016" y="4297680"/>
            <a:ext cx="41148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6381939" y="3892296"/>
            <a:ext cx="41148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8592312" y="710184"/>
            <a:ext cx="41148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5"/>
          <a:stretch>
            <a:fillRect/>
          </a:stretch>
        </p:blipFill>
        <p:spPr>
          <a:xfrm>
            <a:off x="7799072" y="4297680"/>
            <a:ext cx="4002309" cy="2377440"/>
          </a:xfrm>
          <a:prstGeom prst="rect">
            <a:avLst/>
          </a:prstGeom>
        </p:spPr>
      </p:pic>
      <p:cxnSp>
        <p:nvCxnSpPr>
          <p:cNvPr id="14" name="Straight Arrow Connector 13"/>
          <p:cNvCxnSpPr/>
          <p:nvPr/>
        </p:nvCxnSpPr>
        <p:spPr>
          <a:xfrm>
            <a:off x="8238744" y="947166"/>
            <a:ext cx="2121408" cy="318935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528572" y="4526279"/>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4</a:t>
            </a:r>
            <a:endParaRPr lang="en-US" sz="2400" b="1" dirty="0"/>
          </a:p>
        </p:txBody>
      </p:sp>
      <p:sp>
        <p:nvSpPr>
          <p:cNvPr id="18" name="Rectangle 17"/>
          <p:cNvSpPr/>
          <p:nvPr/>
        </p:nvSpPr>
        <p:spPr>
          <a:xfrm>
            <a:off x="5423916" y="4261103"/>
            <a:ext cx="539496" cy="5303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5</a:t>
            </a:r>
            <a:endParaRPr lang="en-US" sz="2400" b="1" dirty="0"/>
          </a:p>
        </p:txBody>
      </p:sp>
    </p:spTree>
    <p:extLst>
      <p:ext uri="{BB962C8B-B14F-4D97-AF65-F5344CB8AC3E}">
        <p14:creationId xmlns:p14="http://schemas.microsoft.com/office/powerpoint/2010/main" val="17521832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43474" y="266736"/>
            <a:ext cx="9313768" cy="523220"/>
          </a:xfrm>
          <a:prstGeom prst="rect">
            <a:avLst/>
          </a:prstGeom>
        </p:spPr>
        <p:txBody>
          <a:bodyPr wrap="none">
            <a:spAutoFit/>
          </a:bodyPr>
          <a:lstStyle/>
          <a:p>
            <a:r>
              <a:rPr lang="en-US" sz="2800" b="1" dirty="0" smtClean="0">
                <a:effectLst>
                  <a:outerShdw blurRad="38100" dist="38100" dir="2700000" algn="tl">
                    <a:srgbClr val="000000">
                      <a:alpha val="43137"/>
                    </a:srgbClr>
                  </a:outerShdw>
                </a:effectLst>
              </a:rPr>
              <a:t>Application of Gradient </a:t>
            </a:r>
            <a:r>
              <a:rPr lang="en-US" sz="2800" b="1" dirty="0">
                <a:effectLst>
                  <a:outerShdw blurRad="38100" dist="38100" dir="2700000" algn="tl">
                    <a:srgbClr val="000000">
                      <a:alpha val="43137"/>
                    </a:srgbClr>
                  </a:outerShdw>
                </a:effectLst>
              </a:rPr>
              <a:t>Descent in Linear Regression</a:t>
            </a:r>
          </a:p>
        </p:txBody>
      </p:sp>
      <p:pic>
        <p:nvPicPr>
          <p:cNvPr id="6" name="Picture 5"/>
          <p:cNvPicPr>
            <a:picLocks noChangeAspect="1"/>
          </p:cNvPicPr>
          <p:nvPr/>
        </p:nvPicPr>
        <p:blipFill>
          <a:blip r:embed="rId2"/>
          <a:stretch>
            <a:fillRect/>
          </a:stretch>
        </p:blipFill>
        <p:spPr>
          <a:xfrm>
            <a:off x="456808" y="1091708"/>
            <a:ext cx="5543550" cy="3295650"/>
          </a:xfrm>
          <a:prstGeom prst="rect">
            <a:avLst/>
          </a:prstGeom>
          <a:ln w="38100">
            <a:solidFill>
              <a:schemeClr val="accent6">
                <a:lumMod val="75000"/>
              </a:schemeClr>
            </a:solidFill>
          </a:ln>
        </p:spPr>
      </p:pic>
      <p:pic>
        <p:nvPicPr>
          <p:cNvPr id="7" name="Picture 6"/>
          <p:cNvPicPr>
            <a:picLocks noChangeAspect="1"/>
          </p:cNvPicPr>
          <p:nvPr/>
        </p:nvPicPr>
        <p:blipFill>
          <a:blip r:embed="rId3"/>
          <a:stretch>
            <a:fillRect/>
          </a:stretch>
        </p:blipFill>
        <p:spPr>
          <a:xfrm>
            <a:off x="8307895" y="2981706"/>
            <a:ext cx="3476625" cy="3619500"/>
          </a:xfrm>
          <a:prstGeom prst="rect">
            <a:avLst/>
          </a:prstGeom>
          <a:ln w="38100">
            <a:solidFill>
              <a:srgbClr val="00B050"/>
            </a:solidFill>
          </a:ln>
        </p:spPr>
      </p:pic>
      <p:cxnSp>
        <p:nvCxnSpPr>
          <p:cNvPr id="8" name="Straight Arrow Connector 7"/>
          <p:cNvCxnSpPr/>
          <p:nvPr/>
        </p:nvCxnSpPr>
        <p:spPr>
          <a:xfrm flipV="1">
            <a:off x="6099048" y="4151376"/>
            <a:ext cx="2130552" cy="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0245762" y="6498336"/>
            <a:ext cx="146304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91293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14756" y="691895"/>
            <a:ext cx="3886200" cy="4714875"/>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5095494" y="696658"/>
            <a:ext cx="2933700" cy="2876550"/>
          </a:xfrm>
          <a:prstGeom prst="rect">
            <a:avLst/>
          </a:prstGeom>
          <a:ln w="38100">
            <a:solidFill>
              <a:schemeClr val="tx1"/>
            </a:solidFill>
          </a:ln>
        </p:spPr>
      </p:pic>
      <p:pic>
        <p:nvPicPr>
          <p:cNvPr id="6" name="Picture 5"/>
          <p:cNvPicPr>
            <a:picLocks noChangeAspect="1"/>
          </p:cNvPicPr>
          <p:nvPr/>
        </p:nvPicPr>
        <p:blipFill>
          <a:blip r:embed="rId4"/>
          <a:stretch>
            <a:fillRect/>
          </a:stretch>
        </p:blipFill>
        <p:spPr>
          <a:xfrm>
            <a:off x="8523732" y="696658"/>
            <a:ext cx="2971800" cy="2352675"/>
          </a:xfrm>
          <a:prstGeom prst="rect">
            <a:avLst/>
          </a:prstGeom>
          <a:ln w="38100">
            <a:solidFill>
              <a:schemeClr val="tx1"/>
            </a:solidFill>
          </a:ln>
        </p:spPr>
      </p:pic>
      <p:pic>
        <p:nvPicPr>
          <p:cNvPr id="7" name="Picture 6"/>
          <p:cNvPicPr>
            <a:picLocks noChangeAspect="1"/>
          </p:cNvPicPr>
          <p:nvPr/>
        </p:nvPicPr>
        <p:blipFill>
          <a:blip r:embed="rId5"/>
          <a:stretch>
            <a:fillRect/>
          </a:stretch>
        </p:blipFill>
        <p:spPr>
          <a:xfrm>
            <a:off x="8599932" y="3573208"/>
            <a:ext cx="2895600" cy="2343150"/>
          </a:xfrm>
          <a:prstGeom prst="rect">
            <a:avLst/>
          </a:prstGeom>
          <a:ln w="38100">
            <a:solidFill>
              <a:schemeClr val="tx1"/>
            </a:solidFill>
          </a:ln>
        </p:spPr>
      </p:pic>
      <p:cxnSp>
        <p:nvCxnSpPr>
          <p:cNvPr id="8" name="Straight Arrow Connector 7"/>
          <p:cNvCxnSpPr/>
          <p:nvPr/>
        </p:nvCxnSpPr>
        <p:spPr>
          <a:xfrm>
            <a:off x="4663440" y="3209544"/>
            <a:ext cx="41376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8100822" y="2136648"/>
            <a:ext cx="41376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681728" y="3209544"/>
            <a:ext cx="413766"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9848088" y="3123818"/>
            <a:ext cx="0" cy="36576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9284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31205" y="182880"/>
            <a:ext cx="4209542" cy="649224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6502485" y="182880"/>
            <a:ext cx="3924300" cy="1885950"/>
          </a:xfrm>
          <a:prstGeom prst="rect">
            <a:avLst/>
          </a:prstGeom>
          <a:ln w="38100">
            <a:solidFill>
              <a:schemeClr val="tx1"/>
            </a:solidFill>
          </a:ln>
        </p:spPr>
      </p:pic>
      <p:cxnSp>
        <p:nvCxnSpPr>
          <p:cNvPr id="6" name="Straight Arrow Connector 5"/>
          <p:cNvCxnSpPr/>
          <p:nvPr/>
        </p:nvCxnSpPr>
        <p:spPr>
          <a:xfrm>
            <a:off x="5705856" y="493776"/>
            <a:ext cx="7315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4"/>
          <a:stretch>
            <a:fillRect/>
          </a:stretch>
        </p:blipFill>
        <p:spPr>
          <a:xfrm>
            <a:off x="7416885" y="2850451"/>
            <a:ext cx="3009900" cy="3552825"/>
          </a:xfrm>
          <a:prstGeom prst="rect">
            <a:avLst/>
          </a:prstGeom>
          <a:ln w="38100">
            <a:solidFill>
              <a:schemeClr val="tx1"/>
            </a:solidFill>
          </a:ln>
        </p:spPr>
      </p:pic>
      <p:cxnSp>
        <p:nvCxnSpPr>
          <p:cNvPr id="8" name="Straight Arrow Connector 7"/>
          <p:cNvCxnSpPr/>
          <p:nvPr/>
        </p:nvCxnSpPr>
        <p:spPr>
          <a:xfrm flipH="1">
            <a:off x="8613648" y="2167128"/>
            <a:ext cx="0" cy="53949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3691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18313" y="176784"/>
            <a:ext cx="2647950" cy="308610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8073764" y="161544"/>
            <a:ext cx="3845238" cy="2286000"/>
          </a:xfrm>
          <a:prstGeom prst="rect">
            <a:avLst/>
          </a:prstGeom>
          <a:ln w="38100">
            <a:solidFill>
              <a:schemeClr val="accent6">
                <a:lumMod val="75000"/>
              </a:schemeClr>
            </a:solidFill>
          </a:ln>
        </p:spPr>
      </p:pic>
      <p:pic>
        <p:nvPicPr>
          <p:cNvPr id="6" name="Picture 5"/>
          <p:cNvPicPr>
            <a:picLocks noChangeAspect="1"/>
          </p:cNvPicPr>
          <p:nvPr/>
        </p:nvPicPr>
        <p:blipFill>
          <a:blip r:embed="rId4"/>
          <a:stretch>
            <a:fillRect/>
          </a:stretch>
        </p:blipFill>
        <p:spPr>
          <a:xfrm>
            <a:off x="3040383" y="2658427"/>
            <a:ext cx="4555927" cy="3474720"/>
          </a:xfrm>
          <a:prstGeom prst="rect">
            <a:avLst/>
          </a:prstGeom>
          <a:ln w="38100">
            <a:solidFill>
              <a:schemeClr val="tx1"/>
            </a:solidFill>
          </a:ln>
        </p:spPr>
      </p:pic>
      <p:cxnSp>
        <p:nvCxnSpPr>
          <p:cNvPr id="7" name="Straight Arrow Connector 6"/>
          <p:cNvCxnSpPr/>
          <p:nvPr/>
        </p:nvCxnSpPr>
        <p:spPr>
          <a:xfrm flipH="1">
            <a:off x="5084064" y="1563624"/>
            <a:ext cx="3503676" cy="24963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5"/>
          <a:stretch>
            <a:fillRect/>
          </a:stretch>
        </p:blipFill>
        <p:spPr>
          <a:xfrm>
            <a:off x="7856723" y="2658427"/>
            <a:ext cx="3914775" cy="2181225"/>
          </a:xfrm>
          <a:prstGeom prst="rect">
            <a:avLst/>
          </a:prstGeom>
          <a:ln w="38100">
            <a:solidFill>
              <a:schemeClr val="tx1"/>
            </a:solidFill>
          </a:ln>
        </p:spPr>
      </p:pic>
    </p:spTree>
    <p:extLst>
      <p:ext uri="{BB962C8B-B14F-4D97-AF65-F5344CB8AC3E}">
        <p14:creationId xmlns:p14="http://schemas.microsoft.com/office/powerpoint/2010/main" val="11711434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2800" y="288036"/>
            <a:ext cx="3143250" cy="251460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4198240" y="288036"/>
            <a:ext cx="3905250" cy="2705100"/>
          </a:xfrm>
          <a:prstGeom prst="rect">
            <a:avLst/>
          </a:prstGeom>
          <a:ln w="38100">
            <a:solidFill>
              <a:schemeClr val="tx1"/>
            </a:solidFill>
          </a:ln>
        </p:spPr>
      </p:pic>
      <p:cxnSp>
        <p:nvCxnSpPr>
          <p:cNvPr id="6" name="Straight Arrow Connector 5"/>
          <p:cNvCxnSpPr/>
          <p:nvPr/>
        </p:nvCxnSpPr>
        <p:spPr>
          <a:xfrm>
            <a:off x="3598545" y="1024128"/>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4"/>
          <a:stretch>
            <a:fillRect/>
          </a:stretch>
        </p:blipFill>
        <p:spPr>
          <a:xfrm>
            <a:off x="8666608" y="927354"/>
            <a:ext cx="3316045" cy="1097280"/>
          </a:xfrm>
          <a:prstGeom prst="rect">
            <a:avLst/>
          </a:prstGeom>
          <a:ln w="38100">
            <a:solidFill>
              <a:schemeClr val="tx1"/>
            </a:solidFill>
          </a:ln>
        </p:spPr>
      </p:pic>
      <p:cxnSp>
        <p:nvCxnSpPr>
          <p:cNvPr id="8" name="Straight Arrow Connector 7"/>
          <p:cNvCxnSpPr/>
          <p:nvPr/>
        </p:nvCxnSpPr>
        <p:spPr>
          <a:xfrm>
            <a:off x="8181976" y="1286256"/>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p:nvPicPr>
        <p:blipFill>
          <a:blip r:embed="rId5"/>
          <a:stretch>
            <a:fillRect/>
          </a:stretch>
        </p:blipFill>
        <p:spPr>
          <a:xfrm>
            <a:off x="4481132" y="4320921"/>
            <a:ext cx="3352800" cy="2228850"/>
          </a:xfrm>
          <a:prstGeom prst="rect">
            <a:avLst/>
          </a:prstGeom>
          <a:ln w="38100">
            <a:solidFill>
              <a:schemeClr val="tx1"/>
            </a:solidFill>
          </a:ln>
        </p:spPr>
      </p:pic>
      <p:pic>
        <p:nvPicPr>
          <p:cNvPr id="11" name="Picture 10"/>
          <p:cNvPicPr>
            <a:picLocks noChangeAspect="1"/>
          </p:cNvPicPr>
          <p:nvPr/>
        </p:nvPicPr>
        <p:blipFill>
          <a:blip r:embed="rId6"/>
          <a:stretch>
            <a:fillRect/>
          </a:stretch>
        </p:blipFill>
        <p:spPr>
          <a:xfrm>
            <a:off x="8181976" y="4320921"/>
            <a:ext cx="3409950" cy="1962150"/>
          </a:xfrm>
          <a:prstGeom prst="rect">
            <a:avLst/>
          </a:prstGeom>
          <a:ln w="38100">
            <a:solidFill>
              <a:schemeClr val="tx1"/>
            </a:solidFill>
          </a:ln>
        </p:spPr>
      </p:pic>
      <p:pic>
        <p:nvPicPr>
          <p:cNvPr id="12" name="Picture 11"/>
          <p:cNvPicPr>
            <a:picLocks noChangeAspect="1"/>
          </p:cNvPicPr>
          <p:nvPr/>
        </p:nvPicPr>
        <p:blipFill>
          <a:blip r:embed="rId7"/>
          <a:stretch>
            <a:fillRect/>
          </a:stretch>
        </p:blipFill>
        <p:spPr>
          <a:xfrm>
            <a:off x="521970" y="4320921"/>
            <a:ext cx="3533775" cy="2038350"/>
          </a:xfrm>
          <a:prstGeom prst="rect">
            <a:avLst/>
          </a:prstGeom>
          <a:ln w="38100">
            <a:solidFill>
              <a:schemeClr val="tx1"/>
            </a:solidFill>
          </a:ln>
        </p:spPr>
      </p:pic>
      <p:pic>
        <p:nvPicPr>
          <p:cNvPr id="13" name="Picture 12"/>
          <p:cNvPicPr>
            <a:picLocks noChangeAspect="1"/>
          </p:cNvPicPr>
          <p:nvPr/>
        </p:nvPicPr>
        <p:blipFill>
          <a:blip r:embed="rId8"/>
          <a:stretch>
            <a:fillRect/>
          </a:stretch>
        </p:blipFill>
        <p:spPr>
          <a:xfrm>
            <a:off x="450342" y="3488817"/>
            <a:ext cx="2476500" cy="666750"/>
          </a:xfrm>
          <a:prstGeom prst="rect">
            <a:avLst/>
          </a:prstGeom>
        </p:spPr>
      </p:pic>
      <p:sp>
        <p:nvSpPr>
          <p:cNvPr id="14" name="Rectangle 13"/>
          <p:cNvSpPr/>
          <p:nvPr/>
        </p:nvSpPr>
        <p:spPr>
          <a:xfrm>
            <a:off x="312800" y="3228402"/>
            <a:ext cx="11492104" cy="3446717"/>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34873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04278" y="375285"/>
            <a:ext cx="3267075" cy="3181350"/>
          </a:xfrm>
          <a:prstGeom prst="rect">
            <a:avLst/>
          </a:prstGeom>
          <a:ln w="38100">
            <a:solidFill>
              <a:schemeClr val="tx1"/>
            </a:solidFill>
          </a:ln>
        </p:spPr>
      </p:pic>
      <p:pic>
        <p:nvPicPr>
          <p:cNvPr id="5" name="Picture 4"/>
          <p:cNvPicPr>
            <a:picLocks noChangeAspect="1"/>
          </p:cNvPicPr>
          <p:nvPr/>
        </p:nvPicPr>
        <p:blipFill>
          <a:blip r:embed="rId3"/>
          <a:stretch>
            <a:fillRect/>
          </a:stretch>
        </p:blipFill>
        <p:spPr>
          <a:xfrm>
            <a:off x="4527807" y="1415796"/>
            <a:ext cx="7365305" cy="5120640"/>
          </a:xfrm>
          <a:prstGeom prst="rect">
            <a:avLst/>
          </a:prstGeom>
          <a:ln w="57150">
            <a:solidFill>
              <a:srgbClr val="00B050"/>
            </a:solidFill>
          </a:ln>
        </p:spPr>
      </p:pic>
    </p:spTree>
    <p:extLst>
      <p:ext uri="{BB962C8B-B14F-4D97-AF65-F5344CB8AC3E}">
        <p14:creationId xmlns:p14="http://schemas.microsoft.com/office/powerpoint/2010/main" val="36386860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28344" y="1080742"/>
            <a:ext cx="3919728" cy="5045738"/>
          </a:xfrm>
          <a:prstGeom prst="rect">
            <a:avLst/>
          </a:prstGeom>
          <a:ln w="57150">
            <a:solidFill>
              <a:schemeClr val="tx1"/>
            </a:solidFill>
          </a:ln>
        </p:spPr>
        <p:txBody>
          <a:bodyPr wrap="square">
            <a:spAutoFit/>
          </a:bodyPr>
          <a:lstStyle/>
          <a:p>
            <a:r>
              <a:rPr lang="en-US" sz="2400" dirty="0"/>
              <a:t>import </a:t>
            </a:r>
            <a:r>
              <a:rPr lang="en-US" sz="2400" dirty="0" err="1"/>
              <a:t>numpy</a:t>
            </a:r>
            <a:r>
              <a:rPr lang="en-US" sz="2400" dirty="0"/>
              <a:t> as np</a:t>
            </a:r>
          </a:p>
          <a:p>
            <a:endParaRPr lang="en-US" sz="2400" dirty="0"/>
          </a:p>
          <a:p>
            <a:r>
              <a:rPr lang="en-US" sz="2400" dirty="0"/>
              <a:t># Dataset</a:t>
            </a:r>
          </a:p>
          <a:p>
            <a:r>
              <a:rPr lang="en-US" sz="2400" dirty="0"/>
              <a:t>x = </a:t>
            </a:r>
            <a:r>
              <a:rPr lang="en-US" sz="2400" dirty="0" err="1"/>
              <a:t>np.array</a:t>
            </a:r>
            <a:r>
              <a:rPr lang="en-US" sz="2400" dirty="0"/>
              <a:t>([1,2,3])</a:t>
            </a:r>
          </a:p>
          <a:p>
            <a:r>
              <a:rPr lang="en-US" sz="2400" dirty="0"/>
              <a:t>y = </a:t>
            </a:r>
            <a:r>
              <a:rPr lang="en-US" sz="2400" dirty="0" err="1"/>
              <a:t>np.array</a:t>
            </a:r>
            <a:r>
              <a:rPr lang="en-US" sz="2400" dirty="0"/>
              <a:t>([2,4,6])</a:t>
            </a:r>
          </a:p>
          <a:p>
            <a:endParaRPr lang="en-US" sz="2400" dirty="0"/>
          </a:p>
          <a:p>
            <a:r>
              <a:rPr lang="en-US" sz="2400" dirty="0"/>
              <a:t># Initial values</a:t>
            </a:r>
          </a:p>
          <a:p>
            <a:r>
              <a:rPr lang="en-US" sz="2400" dirty="0"/>
              <a:t>w = 0</a:t>
            </a:r>
          </a:p>
          <a:p>
            <a:r>
              <a:rPr lang="en-US" sz="2400" dirty="0"/>
              <a:t>b = 0</a:t>
            </a:r>
          </a:p>
          <a:p>
            <a:endParaRPr lang="en-US" sz="2400" dirty="0"/>
          </a:p>
          <a:p>
            <a:r>
              <a:rPr lang="en-US" sz="2400" dirty="0"/>
              <a:t># Learning rate</a:t>
            </a:r>
          </a:p>
          <a:p>
            <a:r>
              <a:rPr lang="en-US" sz="2400" dirty="0"/>
              <a:t>alpha = 0.1</a:t>
            </a:r>
          </a:p>
          <a:p>
            <a:endParaRPr lang="en-US" sz="2400" dirty="0"/>
          </a:p>
        </p:txBody>
      </p:sp>
      <p:sp>
        <p:nvSpPr>
          <p:cNvPr id="5" name="Rectangle 4"/>
          <p:cNvSpPr/>
          <p:nvPr/>
        </p:nvSpPr>
        <p:spPr>
          <a:xfrm>
            <a:off x="5650992" y="367510"/>
            <a:ext cx="5166360" cy="6186309"/>
          </a:xfrm>
          <a:prstGeom prst="rect">
            <a:avLst/>
          </a:prstGeom>
          <a:ln w="57150">
            <a:solidFill>
              <a:schemeClr val="tx1"/>
            </a:solidFill>
          </a:ln>
        </p:spPr>
        <p:txBody>
          <a:bodyPr wrap="square">
            <a:spAutoFit/>
          </a:bodyPr>
          <a:lstStyle/>
          <a:p>
            <a:r>
              <a:rPr lang="en-US" sz="2200" dirty="0" smtClean="0"/>
              <a:t># </a:t>
            </a:r>
            <a:r>
              <a:rPr lang="en-US" sz="2200" dirty="0"/>
              <a:t>Training</a:t>
            </a:r>
          </a:p>
          <a:p>
            <a:r>
              <a:rPr lang="en-US" sz="2200" dirty="0"/>
              <a:t>for </a:t>
            </a:r>
            <a:r>
              <a:rPr lang="en-US" sz="2200" dirty="0" err="1"/>
              <a:t>i</a:t>
            </a:r>
            <a:r>
              <a:rPr lang="en-US" sz="2200" dirty="0"/>
              <a:t> in range(5):</a:t>
            </a:r>
          </a:p>
          <a:p>
            <a:r>
              <a:rPr lang="en-US" sz="2200" dirty="0" smtClean="0"/>
              <a:t>    </a:t>
            </a:r>
            <a:r>
              <a:rPr lang="en-US" sz="2200" dirty="0" err="1"/>
              <a:t>y_pred</a:t>
            </a:r>
            <a:r>
              <a:rPr lang="en-US" sz="2200" dirty="0"/>
              <a:t> = w*x + b</a:t>
            </a:r>
          </a:p>
          <a:p>
            <a:r>
              <a:rPr lang="en-US" sz="2200" dirty="0" smtClean="0"/>
              <a:t>    </a:t>
            </a:r>
            <a:r>
              <a:rPr lang="en-US" sz="2200" dirty="0"/>
              <a:t>error = </a:t>
            </a:r>
            <a:r>
              <a:rPr lang="en-US" sz="2200" dirty="0" err="1"/>
              <a:t>y_pred</a:t>
            </a:r>
            <a:r>
              <a:rPr lang="en-US" sz="2200" dirty="0"/>
              <a:t> - y</a:t>
            </a:r>
          </a:p>
          <a:p>
            <a:endParaRPr lang="en-US" sz="2200" dirty="0"/>
          </a:p>
          <a:p>
            <a:r>
              <a:rPr lang="en-US" sz="2200" dirty="0"/>
              <a:t>    </a:t>
            </a:r>
            <a:r>
              <a:rPr lang="en-US" sz="2200" dirty="0" err="1"/>
              <a:t>dw</a:t>
            </a:r>
            <a:r>
              <a:rPr lang="en-US" sz="2200" dirty="0"/>
              <a:t> = (2/</a:t>
            </a:r>
            <a:r>
              <a:rPr lang="en-US" sz="2200" dirty="0" err="1"/>
              <a:t>len</a:t>
            </a:r>
            <a:r>
              <a:rPr lang="en-US" sz="2200" dirty="0"/>
              <a:t>(x)) * </a:t>
            </a:r>
            <a:r>
              <a:rPr lang="en-US" sz="2200" dirty="0" err="1"/>
              <a:t>np.sum</a:t>
            </a:r>
            <a:r>
              <a:rPr lang="en-US" sz="2200" dirty="0"/>
              <a:t>(x * error)</a:t>
            </a:r>
          </a:p>
          <a:p>
            <a:r>
              <a:rPr lang="en-US" sz="2200" dirty="0"/>
              <a:t>    </a:t>
            </a:r>
            <a:r>
              <a:rPr lang="en-US" sz="2200" dirty="0" err="1"/>
              <a:t>db</a:t>
            </a:r>
            <a:r>
              <a:rPr lang="en-US" sz="2200" dirty="0"/>
              <a:t> = (2/</a:t>
            </a:r>
            <a:r>
              <a:rPr lang="en-US" sz="2200" dirty="0" err="1"/>
              <a:t>len</a:t>
            </a:r>
            <a:r>
              <a:rPr lang="en-US" sz="2200" dirty="0"/>
              <a:t>(x)) * </a:t>
            </a:r>
            <a:r>
              <a:rPr lang="en-US" sz="2200" dirty="0" err="1"/>
              <a:t>np.sum</a:t>
            </a:r>
            <a:r>
              <a:rPr lang="en-US" sz="2200" dirty="0"/>
              <a:t>(error)</a:t>
            </a:r>
          </a:p>
          <a:p>
            <a:endParaRPr lang="en-US" sz="2200" dirty="0"/>
          </a:p>
          <a:p>
            <a:r>
              <a:rPr lang="en-US" sz="2200" dirty="0"/>
              <a:t>    w = w - alpha * </a:t>
            </a:r>
            <a:r>
              <a:rPr lang="en-US" sz="2200" dirty="0" err="1"/>
              <a:t>dw</a:t>
            </a:r>
            <a:endParaRPr lang="en-US" sz="2200" dirty="0"/>
          </a:p>
          <a:p>
            <a:r>
              <a:rPr lang="en-US" sz="2200" dirty="0"/>
              <a:t>    b = b - alpha * </a:t>
            </a:r>
            <a:r>
              <a:rPr lang="en-US" sz="2200" dirty="0" err="1"/>
              <a:t>db</a:t>
            </a:r>
            <a:endParaRPr lang="en-US" sz="2200" dirty="0"/>
          </a:p>
          <a:p>
            <a:endParaRPr lang="en-US" sz="2200" dirty="0"/>
          </a:p>
          <a:p>
            <a:r>
              <a:rPr lang="en-US" sz="2200" dirty="0"/>
              <a:t>    cost = </a:t>
            </a:r>
            <a:r>
              <a:rPr lang="en-US" sz="2200" dirty="0" err="1"/>
              <a:t>np.mean</a:t>
            </a:r>
            <a:r>
              <a:rPr lang="en-US" sz="2200" dirty="0"/>
              <a:t>(error**2)</a:t>
            </a:r>
          </a:p>
          <a:p>
            <a:endParaRPr lang="en-US" sz="2200" dirty="0"/>
          </a:p>
          <a:p>
            <a:r>
              <a:rPr lang="en-US" sz="2200" dirty="0"/>
              <a:t>    print("Iteration:", i+1)</a:t>
            </a:r>
          </a:p>
          <a:p>
            <a:r>
              <a:rPr lang="en-US" sz="2200" dirty="0"/>
              <a:t>    print("w =", w)</a:t>
            </a:r>
          </a:p>
          <a:p>
            <a:r>
              <a:rPr lang="en-US" sz="2200" dirty="0"/>
              <a:t>    print("b =", b)</a:t>
            </a:r>
          </a:p>
          <a:p>
            <a:r>
              <a:rPr lang="en-US" sz="2200" dirty="0"/>
              <a:t>    print("cost =", cost)</a:t>
            </a:r>
          </a:p>
          <a:p>
            <a:r>
              <a:rPr lang="en-US" sz="2200" dirty="0"/>
              <a:t>    print()</a:t>
            </a:r>
          </a:p>
        </p:txBody>
      </p:sp>
    </p:spTree>
    <p:extLst>
      <p:ext uri="{BB962C8B-B14F-4D97-AF65-F5344CB8AC3E}">
        <p14:creationId xmlns:p14="http://schemas.microsoft.com/office/powerpoint/2010/main" val="28397500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56377" y="2126742"/>
            <a:ext cx="5584147" cy="2103120"/>
          </a:xfrm>
          <a:prstGeom prst="rect">
            <a:avLst/>
          </a:prstGeom>
        </p:spPr>
      </p:pic>
    </p:spTree>
    <p:extLst>
      <p:ext uri="{BB962C8B-B14F-4D97-AF65-F5344CB8AC3E}">
        <p14:creationId xmlns:p14="http://schemas.microsoft.com/office/powerpoint/2010/main" val="18800837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How To Choose Learning Rate </a:t>
            </a:r>
            <a:br>
              <a:rPr lang="en-US" b="1"/>
            </a:br>
            <a:endParaRPr/>
          </a:p>
        </p:txBody>
      </p:sp>
      <p:sp>
        <p:nvSpPr>
          <p:cNvPr id="380" name="Google Shape;380;p39"/>
          <p:cNvSpPr txBox="1">
            <a:spLocks noGrp="1"/>
          </p:cNvSpPr>
          <p:nvPr>
            <p:ph type="body" idx="1"/>
          </p:nvPr>
        </p:nvSpPr>
        <p:spPr>
          <a:xfrm>
            <a:off x="609600" y="1600201"/>
            <a:ext cx="10744200" cy="2209799"/>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The choice of correct learning rate is very important as it ensures that Gradient Descent converges in a reasonable time. </a:t>
            </a:r>
            <a:endParaRPr/>
          </a:p>
          <a:p>
            <a:pPr marL="342900" lvl="0" indent="-225425" algn="l" rtl="0">
              <a:spcBef>
                <a:spcPts val="370"/>
              </a:spcBef>
              <a:spcAft>
                <a:spcPts val="0"/>
              </a:spcAft>
              <a:buClr>
                <a:schemeClr val="dk1"/>
              </a:buClr>
              <a:buSzPct val="100000"/>
              <a:buNone/>
            </a:pPr>
            <a:endParaRPr/>
          </a:p>
          <a:p>
            <a:pPr marL="342900" lvl="0" indent="-342900" algn="l" rtl="0">
              <a:spcBef>
                <a:spcPts val="370"/>
              </a:spcBef>
              <a:spcAft>
                <a:spcPts val="0"/>
              </a:spcAft>
              <a:buClr>
                <a:schemeClr val="dk1"/>
              </a:buClr>
              <a:buSzPct val="100000"/>
              <a:buChar char="✔"/>
            </a:pPr>
            <a:r>
              <a:rPr lang="en-US"/>
              <a:t>If we choose </a:t>
            </a:r>
            <a:r>
              <a:rPr lang="en-US" b="1"/>
              <a:t>α to be very large</a:t>
            </a:r>
            <a:r>
              <a:rPr lang="en-US"/>
              <a:t>, Gradient Descent can overshoot the minimum. It may fail to converge or even diverge. </a:t>
            </a:r>
            <a:endParaRPr/>
          </a:p>
          <a:p>
            <a:pPr marL="342900" lvl="0" indent="-225425" algn="l" rtl="0">
              <a:spcBef>
                <a:spcPts val="370"/>
              </a:spcBef>
              <a:spcAft>
                <a:spcPts val="0"/>
              </a:spcAft>
              <a:buClr>
                <a:schemeClr val="dk1"/>
              </a:buClr>
              <a:buSzPct val="100000"/>
              <a:buNone/>
            </a:pPr>
            <a:endParaRPr/>
          </a:p>
          <a:p>
            <a:pPr marL="342900" lvl="0" indent="-342900" algn="l" rtl="0">
              <a:spcBef>
                <a:spcPts val="370"/>
              </a:spcBef>
              <a:spcAft>
                <a:spcPts val="0"/>
              </a:spcAft>
              <a:buClr>
                <a:schemeClr val="dk1"/>
              </a:buClr>
              <a:buSzPct val="100000"/>
              <a:buChar char="✔"/>
            </a:pPr>
            <a:r>
              <a:rPr lang="en-US"/>
              <a:t>If we choose </a:t>
            </a:r>
            <a:r>
              <a:rPr lang="en-US" b="1"/>
              <a:t>α to be very small</a:t>
            </a:r>
            <a:r>
              <a:rPr lang="en-US"/>
              <a:t>, Gradient Descent will take small steps to reach local minima and will take a longer time to reach minima. </a:t>
            </a:r>
            <a:endParaRPr/>
          </a:p>
          <a:p>
            <a:pPr marL="342900" lvl="0" indent="-225425" algn="l" rtl="0">
              <a:spcBef>
                <a:spcPts val="370"/>
              </a:spcBef>
              <a:spcAft>
                <a:spcPts val="0"/>
              </a:spcAft>
              <a:buClr>
                <a:schemeClr val="dk1"/>
              </a:buClr>
              <a:buSzPct val="100000"/>
              <a:buNone/>
            </a:pPr>
            <a:endParaRPr/>
          </a:p>
        </p:txBody>
      </p:sp>
      <p:pic>
        <p:nvPicPr>
          <p:cNvPr id="381" name="Google Shape;381;p39"/>
          <p:cNvPicPr preferRelativeResize="0"/>
          <p:nvPr/>
        </p:nvPicPr>
        <p:blipFill rotWithShape="1">
          <a:blip r:embed="rId3">
            <a:alphaModFix/>
          </a:blip>
          <a:srcRect/>
          <a:stretch/>
        </p:blipFill>
        <p:spPr>
          <a:xfrm>
            <a:off x="2305658" y="3871505"/>
            <a:ext cx="3316085" cy="2605495"/>
          </a:xfrm>
          <a:prstGeom prst="rect">
            <a:avLst/>
          </a:prstGeom>
          <a:noFill/>
          <a:ln>
            <a:noFill/>
          </a:ln>
        </p:spPr>
      </p:pic>
      <p:pic>
        <p:nvPicPr>
          <p:cNvPr id="382" name="Google Shape;382;p39"/>
          <p:cNvPicPr preferRelativeResize="0"/>
          <p:nvPr/>
        </p:nvPicPr>
        <p:blipFill rotWithShape="1">
          <a:blip r:embed="rId4">
            <a:alphaModFix/>
          </a:blip>
          <a:srcRect/>
          <a:stretch/>
        </p:blipFill>
        <p:spPr>
          <a:xfrm>
            <a:off x="6629400" y="4001189"/>
            <a:ext cx="3124200" cy="2416373"/>
          </a:xfrm>
          <a:prstGeom prst="rect">
            <a:avLst/>
          </a:prstGeom>
          <a:noFill/>
          <a:ln>
            <a:noFill/>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0"/>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p>
            <a:pPr marL="342900" lvl="0" indent="-342900" algn="just" rtl="0">
              <a:spcBef>
                <a:spcPts val="0"/>
              </a:spcBef>
              <a:spcAft>
                <a:spcPts val="0"/>
              </a:spcAft>
              <a:buClr>
                <a:schemeClr val="dk1"/>
              </a:buClr>
              <a:buSzPts val="2000"/>
              <a:buChar char="✔"/>
            </a:pPr>
            <a:r>
              <a:rPr lang="en-US"/>
              <a:t>Consider a machine learning model where you’re trying to minimize the error between predicted and actual values (the loss function). The parameters could be the weights in a linear regression model</a:t>
            </a:r>
            <a:r>
              <a:rPr lang="en-US" u="sng"/>
              <a:t> </a:t>
            </a:r>
            <a:r>
              <a:rPr lang="en-US"/>
              <a:t>predicting house prices. The gradient descent algorithm would iteratively adjust these weights to minimize the difference (loss) between the predicted and actual house prices.</a:t>
            </a:r>
            <a:endParaRPr/>
          </a:p>
        </p:txBody>
      </p:sp>
      <p:pic>
        <p:nvPicPr>
          <p:cNvPr id="388" name="Google Shape;388;p40"/>
          <p:cNvPicPr preferRelativeResize="0"/>
          <p:nvPr/>
        </p:nvPicPr>
        <p:blipFill rotWithShape="1">
          <a:blip r:embed="rId3">
            <a:alphaModFix/>
          </a:blip>
          <a:srcRect/>
          <a:stretch/>
        </p:blipFill>
        <p:spPr>
          <a:xfrm>
            <a:off x="1102399" y="3207940"/>
            <a:ext cx="4141369" cy="3276600"/>
          </a:xfrm>
          <a:prstGeom prst="rect">
            <a:avLst/>
          </a:prstGeom>
          <a:noFill/>
          <a:ln>
            <a:noFill/>
          </a:ln>
        </p:spPr>
      </p:pic>
      <p:pic>
        <p:nvPicPr>
          <p:cNvPr id="389" name="Google Shape;389;p40"/>
          <p:cNvPicPr preferRelativeResize="0"/>
          <p:nvPr/>
        </p:nvPicPr>
        <p:blipFill rotWithShape="1">
          <a:blip r:embed="rId4">
            <a:alphaModFix/>
          </a:blip>
          <a:srcRect/>
          <a:stretch/>
        </p:blipFill>
        <p:spPr>
          <a:xfrm>
            <a:off x="5791200" y="3085070"/>
            <a:ext cx="4343400" cy="3522341"/>
          </a:xfrm>
          <a:prstGeom prst="rect">
            <a:avLst/>
          </a:prstGeom>
          <a:noFill/>
          <a:ln>
            <a:noFill/>
          </a:ln>
        </p:spPr>
      </p:pic>
      <p:sp>
        <p:nvSpPr>
          <p:cNvPr id="390" name="Google Shape;390;p4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000"/>
              <a:buFont typeface="Gill Sans"/>
              <a:buNone/>
            </a:pPr>
            <a:r>
              <a:rPr lang="en-US" b="1"/>
              <a:t>Example in a Real-World Scenario</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34237" y="826959"/>
            <a:ext cx="10165172" cy="5212080"/>
          </a:xfrm>
          <a:prstGeom prst="rect">
            <a:avLst/>
          </a:prstGeom>
          <a:ln w="57150">
            <a:solidFill>
              <a:schemeClr val="tx1"/>
            </a:solidFill>
          </a:ln>
        </p:spPr>
      </p:pic>
    </p:spTree>
    <p:extLst>
      <p:ext uri="{BB962C8B-B14F-4D97-AF65-F5344CB8AC3E}">
        <p14:creationId xmlns:p14="http://schemas.microsoft.com/office/powerpoint/2010/main" val="37290330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90875" y="171450"/>
            <a:ext cx="5810250" cy="6515100"/>
          </a:xfrm>
          <a:prstGeom prst="rect">
            <a:avLst/>
          </a:prstGeom>
          <a:ln w="38100">
            <a:solidFill>
              <a:srgbClr val="00B050"/>
            </a:solidFill>
          </a:ln>
        </p:spPr>
      </p:pic>
    </p:spTree>
    <p:extLst>
      <p:ext uri="{BB962C8B-B14F-4D97-AF65-F5344CB8AC3E}">
        <p14:creationId xmlns:p14="http://schemas.microsoft.com/office/powerpoint/2010/main" val="176810210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79273" y="855667"/>
            <a:ext cx="5086350" cy="2971800"/>
          </a:xfrm>
          <a:prstGeom prst="rect">
            <a:avLst/>
          </a:prstGeom>
          <a:ln w="57150">
            <a:solidFill>
              <a:schemeClr val="tx1"/>
            </a:solidFill>
          </a:ln>
        </p:spPr>
      </p:pic>
      <p:pic>
        <p:nvPicPr>
          <p:cNvPr id="5" name="Picture 4"/>
          <p:cNvPicPr>
            <a:picLocks noChangeAspect="1"/>
          </p:cNvPicPr>
          <p:nvPr/>
        </p:nvPicPr>
        <p:blipFill>
          <a:blip r:embed="rId3"/>
          <a:stretch>
            <a:fillRect/>
          </a:stretch>
        </p:blipFill>
        <p:spPr>
          <a:xfrm>
            <a:off x="5656897" y="855667"/>
            <a:ext cx="6217920" cy="2144971"/>
          </a:xfrm>
          <a:prstGeom prst="rect">
            <a:avLst/>
          </a:prstGeom>
          <a:ln w="57150">
            <a:solidFill>
              <a:schemeClr val="bg2">
                <a:lumMod val="60000"/>
                <a:lumOff val="40000"/>
              </a:schemeClr>
            </a:solidFill>
          </a:ln>
        </p:spPr>
      </p:pic>
      <p:pic>
        <p:nvPicPr>
          <p:cNvPr id="6" name="Picture 5"/>
          <p:cNvPicPr>
            <a:picLocks noChangeAspect="1"/>
          </p:cNvPicPr>
          <p:nvPr/>
        </p:nvPicPr>
        <p:blipFill>
          <a:blip r:embed="rId4"/>
          <a:stretch>
            <a:fillRect/>
          </a:stretch>
        </p:blipFill>
        <p:spPr>
          <a:xfrm>
            <a:off x="2301240" y="4890897"/>
            <a:ext cx="8229600" cy="1428750"/>
          </a:xfrm>
          <a:prstGeom prst="rect">
            <a:avLst/>
          </a:prstGeom>
          <a:ln w="57150">
            <a:solidFill>
              <a:srgbClr val="FF0000"/>
            </a:solidFill>
          </a:ln>
        </p:spPr>
      </p:pic>
      <p:sp>
        <p:nvSpPr>
          <p:cNvPr id="7" name="Rectangle 6"/>
          <p:cNvSpPr/>
          <p:nvPr/>
        </p:nvSpPr>
        <p:spPr>
          <a:xfrm>
            <a:off x="210312" y="4064068"/>
            <a:ext cx="11737657" cy="23774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457855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6019" y="362709"/>
            <a:ext cx="4581525" cy="6096000"/>
          </a:xfrm>
          <a:prstGeom prst="rect">
            <a:avLst/>
          </a:prstGeom>
          <a:ln w="57150">
            <a:solidFill>
              <a:schemeClr val="tx1"/>
            </a:solidFill>
          </a:ln>
        </p:spPr>
      </p:pic>
      <p:pic>
        <p:nvPicPr>
          <p:cNvPr id="5" name="Picture 4"/>
          <p:cNvPicPr>
            <a:picLocks noChangeAspect="1"/>
          </p:cNvPicPr>
          <p:nvPr/>
        </p:nvPicPr>
        <p:blipFill>
          <a:blip r:embed="rId3"/>
          <a:stretch>
            <a:fillRect/>
          </a:stretch>
        </p:blipFill>
        <p:spPr>
          <a:xfrm>
            <a:off x="5330762" y="1834321"/>
            <a:ext cx="2562225" cy="3152775"/>
          </a:xfrm>
          <a:prstGeom prst="rect">
            <a:avLst/>
          </a:prstGeom>
          <a:ln w="57150">
            <a:solidFill>
              <a:schemeClr val="tx1"/>
            </a:solidFill>
          </a:ln>
        </p:spPr>
      </p:pic>
      <p:cxnSp>
        <p:nvCxnSpPr>
          <p:cNvPr id="6" name="Straight Arrow Connector 5"/>
          <p:cNvCxnSpPr/>
          <p:nvPr/>
        </p:nvCxnSpPr>
        <p:spPr>
          <a:xfrm>
            <a:off x="4823841" y="341070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7984617" y="3307077"/>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4"/>
          <a:stretch>
            <a:fillRect/>
          </a:stretch>
        </p:blipFill>
        <p:spPr>
          <a:xfrm>
            <a:off x="8478393" y="2130741"/>
            <a:ext cx="3474720" cy="2124396"/>
          </a:xfrm>
          <a:prstGeom prst="rect">
            <a:avLst/>
          </a:prstGeom>
          <a:ln w="57150">
            <a:solidFill>
              <a:schemeClr val="tx1"/>
            </a:solidFill>
          </a:ln>
        </p:spPr>
      </p:pic>
    </p:spTree>
    <p:extLst>
      <p:ext uri="{BB962C8B-B14F-4D97-AF65-F5344CB8AC3E}">
        <p14:creationId xmlns:p14="http://schemas.microsoft.com/office/powerpoint/2010/main" val="341953109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9938" y="1110431"/>
            <a:ext cx="5577840" cy="4606090"/>
          </a:xfrm>
          <a:prstGeom prst="rect">
            <a:avLst/>
          </a:prstGeom>
          <a:ln w="57150">
            <a:solidFill>
              <a:schemeClr val="tx1"/>
            </a:solidFill>
          </a:ln>
        </p:spPr>
      </p:pic>
      <p:cxnSp>
        <p:nvCxnSpPr>
          <p:cNvPr id="5" name="Straight Arrow Connector 4"/>
          <p:cNvCxnSpPr/>
          <p:nvPr/>
        </p:nvCxnSpPr>
        <p:spPr>
          <a:xfrm>
            <a:off x="6021705" y="330887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stretch>
            <a:fillRect/>
          </a:stretch>
        </p:blipFill>
        <p:spPr>
          <a:xfrm>
            <a:off x="6614544" y="1068321"/>
            <a:ext cx="5229225" cy="4648200"/>
          </a:xfrm>
          <a:prstGeom prst="rect">
            <a:avLst/>
          </a:prstGeom>
          <a:ln w="57150">
            <a:solidFill>
              <a:schemeClr val="tx1"/>
            </a:solidFill>
          </a:ln>
        </p:spPr>
      </p:pic>
    </p:spTree>
    <p:extLst>
      <p:ext uri="{BB962C8B-B14F-4D97-AF65-F5344CB8AC3E}">
        <p14:creationId xmlns:p14="http://schemas.microsoft.com/office/powerpoint/2010/main" val="36890448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134427" y="328422"/>
            <a:ext cx="5076825" cy="4610100"/>
          </a:xfrm>
          <a:prstGeom prst="rect">
            <a:avLst/>
          </a:prstGeom>
          <a:ln w="57150">
            <a:solidFill>
              <a:schemeClr val="tx1"/>
            </a:solidFill>
          </a:ln>
        </p:spPr>
      </p:pic>
      <p:pic>
        <p:nvPicPr>
          <p:cNvPr id="6" name="Picture 5"/>
          <p:cNvPicPr>
            <a:picLocks noChangeAspect="1"/>
          </p:cNvPicPr>
          <p:nvPr/>
        </p:nvPicPr>
        <p:blipFill>
          <a:blip r:embed="rId3"/>
          <a:stretch>
            <a:fillRect/>
          </a:stretch>
        </p:blipFill>
        <p:spPr>
          <a:xfrm>
            <a:off x="6917246" y="328422"/>
            <a:ext cx="3790950" cy="3381375"/>
          </a:xfrm>
          <a:prstGeom prst="rect">
            <a:avLst/>
          </a:prstGeom>
          <a:ln w="57150">
            <a:solidFill>
              <a:schemeClr val="tx1"/>
            </a:solidFill>
          </a:ln>
        </p:spPr>
      </p:pic>
      <p:cxnSp>
        <p:nvCxnSpPr>
          <p:cNvPr id="7" name="Straight Arrow Connector 6"/>
          <p:cNvCxnSpPr/>
          <p:nvPr/>
        </p:nvCxnSpPr>
        <p:spPr>
          <a:xfrm>
            <a:off x="6385941" y="730271"/>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4"/>
          <a:stretch>
            <a:fillRect/>
          </a:stretch>
        </p:blipFill>
        <p:spPr>
          <a:xfrm>
            <a:off x="7012496" y="4231386"/>
            <a:ext cx="3695700" cy="2400300"/>
          </a:xfrm>
          <a:prstGeom prst="rect">
            <a:avLst/>
          </a:prstGeom>
          <a:ln w="57150">
            <a:solidFill>
              <a:schemeClr val="tx1"/>
            </a:solidFill>
          </a:ln>
        </p:spPr>
      </p:pic>
      <p:cxnSp>
        <p:nvCxnSpPr>
          <p:cNvPr id="9" name="Straight Arrow Connector 8"/>
          <p:cNvCxnSpPr/>
          <p:nvPr/>
        </p:nvCxnSpPr>
        <p:spPr>
          <a:xfrm>
            <a:off x="8723376" y="3785616"/>
            <a:ext cx="0" cy="36576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1995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47381" y="1654492"/>
            <a:ext cx="3971925" cy="2543175"/>
          </a:xfrm>
          <a:prstGeom prst="rect">
            <a:avLst/>
          </a:prstGeom>
          <a:ln w="57150">
            <a:solidFill>
              <a:schemeClr val="tx1"/>
            </a:solidFill>
          </a:ln>
        </p:spPr>
      </p:pic>
      <p:pic>
        <p:nvPicPr>
          <p:cNvPr id="5" name="Picture 4"/>
          <p:cNvPicPr>
            <a:picLocks noChangeAspect="1"/>
          </p:cNvPicPr>
          <p:nvPr/>
        </p:nvPicPr>
        <p:blipFill>
          <a:blip r:embed="rId3"/>
          <a:stretch>
            <a:fillRect/>
          </a:stretch>
        </p:blipFill>
        <p:spPr>
          <a:xfrm>
            <a:off x="6008751" y="1654492"/>
            <a:ext cx="4819650" cy="3219450"/>
          </a:xfrm>
          <a:prstGeom prst="rect">
            <a:avLst/>
          </a:prstGeom>
          <a:ln w="57150">
            <a:solidFill>
              <a:schemeClr val="tx1"/>
            </a:solidFill>
          </a:ln>
        </p:spPr>
      </p:pic>
      <p:cxnSp>
        <p:nvCxnSpPr>
          <p:cNvPr id="6" name="Straight Arrow Connector 5"/>
          <p:cNvCxnSpPr/>
          <p:nvPr/>
        </p:nvCxnSpPr>
        <p:spPr>
          <a:xfrm>
            <a:off x="5188077" y="2028719"/>
            <a:ext cx="7315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39192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41256" y="768285"/>
            <a:ext cx="6818814" cy="5303520"/>
          </a:xfrm>
          <a:prstGeom prst="rect">
            <a:avLst/>
          </a:prstGeom>
          <a:ln w="57150">
            <a:solidFill>
              <a:schemeClr val="tx1"/>
            </a:solidFill>
          </a:ln>
        </p:spPr>
      </p:pic>
    </p:spTree>
    <p:extLst>
      <p:ext uri="{BB962C8B-B14F-4D97-AF65-F5344CB8AC3E}">
        <p14:creationId xmlns:p14="http://schemas.microsoft.com/office/powerpoint/2010/main" val="20528451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63630" y="1411605"/>
            <a:ext cx="6022101" cy="3566160"/>
          </a:xfrm>
          <a:prstGeom prst="rect">
            <a:avLst/>
          </a:prstGeom>
          <a:ln w="57150">
            <a:solidFill>
              <a:schemeClr val="tx1"/>
            </a:solidFill>
          </a:ln>
        </p:spPr>
      </p:pic>
    </p:spTree>
    <p:extLst>
      <p:ext uri="{BB962C8B-B14F-4D97-AF65-F5344CB8AC3E}">
        <p14:creationId xmlns:p14="http://schemas.microsoft.com/office/powerpoint/2010/main" val="16833981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43075" y="1153096"/>
            <a:ext cx="4133850" cy="4295775"/>
          </a:xfrm>
          <a:prstGeom prst="rect">
            <a:avLst/>
          </a:prstGeom>
          <a:ln w="57150">
            <a:solidFill>
              <a:schemeClr val="tx1"/>
            </a:solidFill>
          </a:ln>
        </p:spPr>
      </p:pic>
      <p:cxnSp>
        <p:nvCxnSpPr>
          <p:cNvPr id="5" name="Straight Arrow Connector 4"/>
          <p:cNvCxnSpPr/>
          <p:nvPr/>
        </p:nvCxnSpPr>
        <p:spPr>
          <a:xfrm>
            <a:off x="5983605" y="340031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stretch>
            <a:fillRect/>
          </a:stretch>
        </p:blipFill>
        <p:spPr>
          <a:xfrm>
            <a:off x="6547485" y="1685819"/>
            <a:ext cx="3429000" cy="3429000"/>
          </a:xfrm>
          <a:prstGeom prst="rect">
            <a:avLst/>
          </a:prstGeom>
          <a:ln w="38100">
            <a:solidFill>
              <a:schemeClr val="tx1"/>
            </a:solidFill>
          </a:ln>
        </p:spPr>
      </p:pic>
    </p:spTree>
    <p:extLst>
      <p:ext uri="{BB962C8B-B14F-4D97-AF65-F5344CB8AC3E}">
        <p14:creationId xmlns:p14="http://schemas.microsoft.com/office/powerpoint/2010/main" val="1422626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50454" y="1756029"/>
            <a:ext cx="2962275" cy="3181350"/>
          </a:xfrm>
          <a:prstGeom prst="rect">
            <a:avLst/>
          </a:prstGeom>
          <a:ln w="57150">
            <a:solidFill>
              <a:schemeClr val="tx1"/>
            </a:solidFill>
          </a:ln>
        </p:spPr>
      </p:pic>
      <p:cxnSp>
        <p:nvCxnSpPr>
          <p:cNvPr id="3" name="Straight Arrow Connector 2"/>
          <p:cNvCxnSpPr/>
          <p:nvPr/>
        </p:nvCxnSpPr>
        <p:spPr>
          <a:xfrm>
            <a:off x="4520565" y="335459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3"/>
          <a:stretch>
            <a:fillRect/>
          </a:stretch>
        </p:blipFill>
        <p:spPr>
          <a:xfrm>
            <a:off x="5118163" y="1832229"/>
            <a:ext cx="2028825" cy="3028950"/>
          </a:xfrm>
          <a:prstGeom prst="rect">
            <a:avLst/>
          </a:prstGeom>
          <a:ln w="57150">
            <a:solidFill>
              <a:schemeClr val="tx1"/>
            </a:solidFill>
          </a:ln>
        </p:spPr>
      </p:pic>
      <p:cxnSp>
        <p:nvCxnSpPr>
          <p:cNvPr id="5" name="Straight Arrow Connector 4"/>
          <p:cNvCxnSpPr/>
          <p:nvPr/>
        </p:nvCxnSpPr>
        <p:spPr>
          <a:xfrm>
            <a:off x="7315581" y="335459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4"/>
          <a:stretch>
            <a:fillRect/>
          </a:stretch>
        </p:blipFill>
        <p:spPr>
          <a:xfrm>
            <a:off x="8052054" y="1641729"/>
            <a:ext cx="2324100" cy="3409950"/>
          </a:xfrm>
          <a:prstGeom prst="rect">
            <a:avLst/>
          </a:prstGeom>
          <a:ln w="57150">
            <a:solidFill>
              <a:schemeClr val="tx1"/>
            </a:solidFill>
          </a:ln>
        </p:spPr>
      </p:pic>
    </p:spTree>
    <p:extLst>
      <p:ext uri="{BB962C8B-B14F-4D97-AF65-F5344CB8AC3E}">
        <p14:creationId xmlns:p14="http://schemas.microsoft.com/office/powerpoint/2010/main" val="5738933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34337" y="216217"/>
            <a:ext cx="3714750" cy="6334125"/>
          </a:xfrm>
          <a:prstGeom prst="rect">
            <a:avLst/>
          </a:prstGeom>
          <a:ln w="57150">
            <a:solidFill>
              <a:schemeClr val="tx1"/>
            </a:solidFill>
          </a:ln>
        </p:spPr>
      </p:pic>
      <p:pic>
        <p:nvPicPr>
          <p:cNvPr id="3" name="Picture 2"/>
          <p:cNvPicPr>
            <a:picLocks noChangeAspect="1"/>
          </p:cNvPicPr>
          <p:nvPr/>
        </p:nvPicPr>
        <p:blipFill>
          <a:blip r:embed="rId3"/>
          <a:stretch>
            <a:fillRect/>
          </a:stretch>
        </p:blipFill>
        <p:spPr>
          <a:xfrm>
            <a:off x="6422898" y="1311591"/>
            <a:ext cx="4229100" cy="4143375"/>
          </a:xfrm>
          <a:prstGeom prst="rect">
            <a:avLst/>
          </a:prstGeom>
          <a:ln w="57150">
            <a:solidFill>
              <a:schemeClr val="tx1"/>
            </a:solidFill>
          </a:ln>
        </p:spPr>
      </p:pic>
      <p:cxnSp>
        <p:nvCxnSpPr>
          <p:cNvPr id="4" name="Straight Arrow Connector 3"/>
          <p:cNvCxnSpPr/>
          <p:nvPr/>
        </p:nvCxnSpPr>
        <p:spPr>
          <a:xfrm>
            <a:off x="5846445" y="335459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26476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8290" y="155447"/>
            <a:ext cx="5786755" cy="6583680"/>
          </a:xfrm>
          <a:prstGeom prst="rect">
            <a:avLst/>
          </a:prstGeom>
          <a:ln w="57150">
            <a:solidFill>
              <a:schemeClr val="tx1"/>
            </a:solidFill>
          </a:ln>
        </p:spPr>
      </p:pic>
      <p:pic>
        <p:nvPicPr>
          <p:cNvPr id="3" name="Picture 2"/>
          <p:cNvPicPr>
            <a:picLocks noChangeAspect="1"/>
          </p:cNvPicPr>
          <p:nvPr/>
        </p:nvPicPr>
        <p:blipFill>
          <a:blip r:embed="rId3"/>
          <a:stretch>
            <a:fillRect/>
          </a:stretch>
        </p:blipFill>
        <p:spPr>
          <a:xfrm>
            <a:off x="6900291" y="451675"/>
            <a:ext cx="5048250" cy="5991225"/>
          </a:xfrm>
          <a:prstGeom prst="rect">
            <a:avLst/>
          </a:prstGeom>
          <a:ln w="57150">
            <a:solidFill>
              <a:schemeClr val="tx1"/>
            </a:solidFill>
          </a:ln>
        </p:spPr>
      </p:pic>
      <p:cxnSp>
        <p:nvCxnSpPr>
          <p:cNvPr id="4" name="Straight Arrow Connector 3"/>
          <p:cNvCxnSpPr/>
          <p:nvPr/>
        </p:nvCxnSpPr>
        <p:spPr>
          <a:xfrm>
            <a:off x="6267069" y="335459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943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8426" y="2185986"/>
            <a:ext cx="4498848" cy="2011680"/>
          </a:xfrm>
          <a:prstGeom prst="rect">
            <a:avLst/>
          </a:prstGeom>
          <a:ln w="57150">
            <a:solidFill>
              <a:schemeClr val="tx1"/>
            </a:solidFill>
          </a:ln>
        </p:spPr>
      </p:pic>
      <p:pic>
        <p:nvPicPr>
          <p:cNvPr id="3" name="Picture 2"/>
          <p:cNvPicPr>
            <a:picLocks noChangeAspect="1"/>
          </p:cNvPicPr>
          <p:nvPr/>
        </p:nvPicPr>
        <p:blipFill>
          <a:blip r:embed="rId3"/>
          <a:stretch>
            <a:fillRect/>
          </a:stretch>
        </p:blipFill>
        <p:spPr>
          <a:xfrm>
            <a:off x="5757100" y="381000"/>
            <a:ext cx="5743575" cy="6096000"/>
          </a:xfrm>
          <a:prstGeom prst="rect">
            <a:avLst/>
          </a:prstGeom>
          <a:ln w="57150">
            <a:solidFill>
              <a:schemeClr val="tx1"/>
            </a:solidFill>
          </a:ln>
        </p:spPr>
      </p:pic>
      <p:cxnSp>
        <p:nvCxnSpPr>
          <p:cNvPr id="4" name="Straight Arrow Connector 3"/>
          <p:cNvCxnSpPr/>
          <p:nvPr/>
        </p:nvCxnSpPr>
        <p:spPr>
          <a:xfrm>
            <a:off x="5124069" y="3263159"/>
            <a:ext cx="4572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7136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157155" y="1385505"/>
            <a:ext cx="4895180" cy="3840480"/>
          </a:xfrm>
          <a:prstGeom prst="rect">
            <a:avLst/>
          </a:prstGeom>
          <a:ln w="57150">
            <a:solidFill>
              <a:schemeClr val="tx1"/>
            </a:solidFill>
          </a:ln>
        </p:spPr>
      </p:pic>
    </p:spTree>
    <p:extLst>
      <p:ext uri="{BB962C8B-B14F-4D97-AF65-F5344CB8AC3E}">
        <p14:creationId xmlns:p14="http://schemas.microsoft.com/office/powerpoint/2010/main" val="25931722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2"/>
          <p:cNvSpPr txBox="1">
            <a:spLocks noGrp="1"/>
          </p:cNvSpPr>
          <p:nvPr>
            <p:ph type="title"/>
          </p:nvPr>
        </p:nvSpPr>
        <p:spPr>
          <a:xfrm>
            <a:off x="1905000" y="2514600"/>
            <a:ext cx="7772400" cy="1143000"/>
          </a:xfrm>
          <a:prstGeom prst="rect">
            <a:avLst/>
          </a:prstGeom>
          <a:noFill/>
          <a:ln>
            <a:noFill/>
          </a:ln>
        </p:spPr>
        <p:txBody>
          <a:bodyPr spcFirstLastPara="1" wrap="square" lIns="91425" tIns="45700" rIns="91425" bIns="45700" anchor="t" anchorCtr="0">
            <a:normAutofit fontScale="90000"/>
          </a:bodyPr>
          <a:lstStyle/>
          <a:p>
            <a:pPr marL="0" lvl="0" indent="0" algn="ctr" rtl="0">
              <a:spcBef>
                <a:spcPts val="0"/>
              </a:spcBef>
              <a:spcAft>
                <a:spcPts val="0"/>
              </a:spcAft>
              <a:buClr>
                <a:srgbClr val="E36C09"/>
              </a:buClr>
              <a:buSzPct val="100000"/>
              <a:buFont typeface="Gill Sans"/>
              <a:buNone/>
            </a:pPr>
            <a:r>
              <a:rPr lang="en-US" sz="9600" b="1">
                <a:solidFill>
                  <a:srgbClr val="E36C09"/>
                </a:solidFill>
              </a:rPr>
              <a:t>Thank You</a:t>
            </a:r>
            <a:endParaRPr/>
          </a:p>
        </p:txBody>
      </p:sp>
      <p:sp>
        <p:nvSpPr>
          <p:cNvPr id="409" name="Google Shape;409;p4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406</TotalTime>
  <Words>3336</Words>
  <Application>Microsoft Office PowerPoint</Application>
  <PresentationFormat>Widescreen</PresentationFormat>
  <Paragraphs>357</Paragraphs>
  <Slides>71</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71</vt:i4>
      </vt:variant>
    </vt:vector>
  </HeadingPairs>
  <TitlesOfParts>
    <vt:vector size="79" baseType="lpstr">
      <vt:lpstr>Gill Sans</vt:lpstr>
      <vt:lpstr>Calibri</vt:lpstr>
      <vt:lpstr>Georgia</vt:lpstr>
      <vt:lpstr>Arial</vt:lpstr>
      <vt:lpstr>Lato</vt:lpstr>
      <vt:lpstr>Noto Sans Symbols</vt:lpstr>
      <vt:lpstr>Wingdings</vt:lpstr>
      <vt:lpstr>Custom Design</vt:lpstr>
      <vt:lpstr>Contents</vt:lpstr>
      <vt:lpstr>Outline</vt:lpstr>
      <vt:lpstr>Unsupervised machine learning </vt:lpstr>
      <vt:lpstr>PowerPoint Presentation</vt:lpstr>
      <vt:lpstr>How does Unsupervised Learning Work?</vt:lpstr>
      <vt:lpstr>Types of Unsupervised Learning </vt:lpstr>
      <vt:lpstr>Types of Unsupervised Learning </vt:lpstr>
      <vt:lpstr>Types of Unsupervised Learning </vt:lpstr>
      <vt:lpstr>Types of Unsupervised Learning </vt:lpstr>
      <vt:lpstr>Types of Unsupervised Learning </vt:lpstr>
      <vt:lpstr>Types of Unsupervised Learning </vt:lpstr>
      <vt:lpstr>Types of Unsupervised Learning </vt:lpstr>
      <vt:lpstr>Types of Unsupervised Learning </vt:lpstr>
      <vt:lpstr>What is the difference between supervised and unsupervised learning? </vt:lpstr>
      <vt:lpstr>Reinforcement machine learning </vt:lpstr>
      <vt:lpstr>Reinforcement machine learning </vt:lpstr>
      <vt:lpstr>Important Terms in Reinforcement Learning </vt:lpstr>
      <vt:lpstr>PowerPoint Presentation</vt:lpstr>
      <vt:lpstr>Explanation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Choose Learning Rate  </vt:lpstr>
      <vt:lpstr>Example in a Real-World 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Contents</dc:title>
  <dc:creator>ASMR</dc:creator>
  <cp:lastModifiedBy>MN</cp:lastModifiedBy>
  <cp:revision>29</cp:revision>
  <dcterms:created xsi:type="dcterms:W3CDTF">2014-11-02T19:18:20Z</dcterms:created>
  <dcterms:modified xsi:type="dcterms:W3CDTF">2026-05-09T08:02:41Z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TC018813529991</vt:lpwstr>
  </property>
</Properties>
</file>