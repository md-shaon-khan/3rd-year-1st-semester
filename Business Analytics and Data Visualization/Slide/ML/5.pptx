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9C8F-FFE6-4BD0-9F89-35D144D64C1D}" type="datetimeFigureOut">
              <a:rPr lang="en-US" smtClean="0"/>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881ED-8B56-4F3A-B7C8-BF3376E5B8F4}" type="slidenum">
              <a:rPr lang="en-US" smtClean="0"/>
              <a:t>‹#›</a:t>
            </a:fld>
            <a:endParaRPr lang="en-US"/>
          </a:p>
        </p:txBody>
      </p:sp>
    </p:spTree>
    <p:extLst>
      <p:ext uri="{BB962C8B-B14F-4D97-AF65-F5344CB8AC3E}">
        <p14:creationId xmlns:p14="http://schemas.microsoft.com/office/powerpoint/2010/main" val="41984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792268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98721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E482CB-BE0E-45A2-A8F9-AF0B7F554A3D}"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134453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E482CB-BE0E-45A2-A8F9-AF0B7F554A3D}"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1319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E482CB-BE0E-45A2-A8F9-AF0B7F554A3D}" type="datetimeFigureOut">
              <a:rPr lang="en-US" smtClean="0"/>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19004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E482CB-BE0E-45A2-A8F9-AF0B7F554A3D}" type="datetimeFigureOut">
              <a:rPr lang="en-US" smtClean="0"/>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2589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482CB-BE0E-45A2-A8F9-AF0B7F554A3D}" type="datetimeFigureOut">
              <a:rPr lang="en-US" smtClean="0"/>
              <a:t>9/30/2024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8766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62287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5753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645177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31566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482CB-BE0E-45A2-A8F9-AF0B7F554A3D}" type="datetimeFigureOut">
              <a:rPr lang="en-US" smtClean="0"/>
              <a:t>9/30/2024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4543-BE62-4DF3-B067-5185159305E6}" type="slidenum">
              <a:rPr lang="en-US" smtClean="0"/>
              <a:t>‹#›</a:t>
            </a:fld>
            <a:endParaRPr lang="en-US"/>
          </a:p>
        </p:txBody>
      </p:sp>
    </p:spTree>
    <p:extLst>
      <p:ext uri="{BB962C8B-B14F-4D97-AF65-F5344CB8AC3E}">
        <p14:creationId xmlns:p14="http://schemas.microsoft.com/office/powerpoint/2010/main" val="329711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64208" y="2017699"/>
            <a:ext cx="9153144" cy="2308324"/>
          </a:xfrm>
          <a:prstGeom prst="rect">
            <a:avLst/>
          </a:prstGeom>
        </p:spPr>
        <p:txBody>
          <a:bodyPr wrap="square">
            <a:spAutoFit/>
          </a:bodyPr>
          <a:lstStyle/>
          <a:p>
            <a:pPr algn="ctr"/>
            <a:r>
              <a:rPr lang="en-US" sz="4800" b="1" spc="150" dirty="0">
                <a:solidFill>
                  <a:srgbClr val="002060"/>
                </a:solidFill>
                <a:effectLst>
                  <a:outerShdw blurRad="38100" dist="38100" dir="2700000" algn="tl">
                    <a:srgbClr val="000000">
                      <a:alpha val="43137"/>
                    </a:srgbClr>
                  </a:outerShdw>
                </a:effectLst>
              </a:rPr>
              <a:t>Descriptive Analytics II: Business Intelligence and Data Warehousing</a:t>
            </a:r>
          </a:p>
        </p:txBody>
      </p:sp>
    </p:spTree>
    <p:extLst>
      <p:ext uri="{BB962C8B-B14F-4D97-AF65-F5344CB8AC3E}">
        <p14:creationId xmlns:p14="http://schemas.microsoft.com/office/powerpoint/2010/main" val="14895481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4665" y="409694"/>
            <a:ext cx="8386848" cy="584775"/>
          </a:xfrm>
          <a:prstGeom prst="rect">
            <a:avLst/>
          </a:prstGeom>
        </p:spPr>
        <p:txBody>
          <a:bodyPr wrap="none">
            <a:spAutoFit/>
          </a:bodyPr>
          <a:lstStyle/>
          <a:p>
            <a:r>
              <a:rPr lang="en-US" sz="3200" b="1" dirty="0">
                <a:solidFill>
                  <a:schemeClr val="accent6">
                    <a:lumMod val="75000"/>
                  </a:schemeClr>
                </a:solidFill>
                <a:effectLst>
                  <a:outerShdw blurRad="38100" dist="38100" dir="2700000" algn="tl">
                    <a:srgbClr val="000000">
                      <a:alpha val="43137"/>
                    </a:srgbClr>
                  </a:outerShdw>
                </a:effectLst>
              </a:rPr>
              <a:t>3.2 Business Intelligence and Data Warehousing </a:t>
            </a:r>
          </a:p>
        </p:txBody>
      </p:sp>
      <p:sp>
        <p:nvSpPr>
          <p:cNvPr id="3" name="Rectangle 2"/>
          <p:cNvSpPr/>
          <p:nvPr/>
        </p:nvSpPr>
        <p:spPr>
          <a:xfrm>
            <a:off x="1125173" y="1171093"/>
            <a:ext cx="10085832" cy="5262979"/>
          </a:xfrm>
          <a:prstGeom prst="rect">
            <a:avLst/>
          </a:prstGeom>
        </p:spPr>
        <p:txBody>
          <a:bodyPr wrap="square">
            <a:spAutoFit/>
          </a:bodyPr>
          <a:lstStyle/>
          <a:p>
            <a:pPr algn="just"/>
            <a:r>
              <a:rPr lang="en-US" sz="2400" dirty="0"/>
              <a:t>Descriptive analytics (i.e., BI) is the entry level in the business analytics taxonomy. It is often called business reporting because of the fact that most of the analytics activities at this level deal with creating reports to summarize business activities to answer </a:t>
            </a:r>
            <a:r>
              <a:rPr lang="en-US" sz="2400" dirty="0" smtClean="0"/>
              <a:t>questions </a:t>
            </a:r>
            <a:r>
              <a:rPr lang="en-US" sz="2400" dirty="0"/>
              <a:t>such as </a:t>
            </a:r>
            <a:endParaRPr lang="en-US" sz="2400" dirty="0" smtClean="0"/>
          </a:p>
          <a:p>
            <a:pPr algn="just"/>
            <a:r>
              <a:rPr lang="en-US" sz="2400" dirty="0"/>
              <a:t> </a:t>
            </a:r>
            <a:r>
              <a:rPr lang="en-US" sz="2400" dirty="0" smtClean="0"/>
              <a:t>  - “</a:t>
            </a:r>
            <a:r>
              <a:rPr lang="en-US" sz="2400" dirty="0"/>
              <a:t>What happened?” </a:t>
            </a:r>
            <a:endParaRPr lang="en-US" sz="2400" dirty="0" smtClean="0"/>
          </a:p>
          <a:p>
            <a:pPr algn="just"/>
            <a:r>
              <a:rPr lang="en-US" sz="2400" dirty="0" smtClean="0"/>
              <a:t>   - “</a:t>
            </a:r>
            <a:r>
              <a:rPr lang="en-US" sz="2400" dirty="0"/>
              <a:t>What is happening</a:t>
            </a:r>
            <a:r>
              <a:rPr lang="en-US" sz="2400" dirty="0" smtClean="0"/>
              <a:t>?”</a:t>
            </a:r>
          </a:p>
          <a:p>
            <a:pPr algn="just"/>
            <a:r>
              <a:rPr lang="en-US" sz="2400" dirty="0"/>
              <a:t>The spectrum of these reports includes static snapshots of business transactions delivered to knowledge workers (i.e., </a:t>
            </a:r>
            <a:r>
              <a:rPr lang="en-US" sz="2400" b="1" dirty="0">
                <a:solidFill>
                  <a:srgbClr val="FF0000"/>
                </a:solidFill>
              </a:rPr>
              <a:t>decision makers</a:t>
            </a:r>
            <a:r>
              <a:rPr lang="en-US" sz="2400" dirty="0"/>
              <a:t>) on a fixed schedule (e.g., </a:t>
            </a:r>
            <a:r>
              <a:rPr lang="en-US" sz="2400" b="1" dirty="0">
                <a:solidFill>
                  <a:srgbClr val="FF0000"/>
                </a:solidFill>
              </a:rPr>
              <a:t>daily, weekly, quarterly</a:t>
            </a:r>
            <a:r>
              <a:rPr lang="en-US" sz="2400" dirty="0"/>
              <a:t>); </a:t>
            </a:r>
            <a:r>
              <a:rPr lang="en-US" sz="2400" b="1" i="1" u="sng" dirty="0">
                <a:solidFill>
                  <a:srgbClr val="FFC000"/>
                </a:solidFill>
                <a:effectLst>
                  <a:outerShdw blurRad="38100" dist="38100" dir="2700000" algn="tl">
                    <a:srgbClr val="000000">
                      <a:alpha val="43137"/>
                    </a:srgbClr>
                  </a:outerShdw>
                </a:effectLst>
              </a:rPr>
              <a:t>ad hoc reporting </a:t>
            </a:r>
            <a:r>
              <a:rPr lang="en-US" sz="2400" dirty="0"/>
              <a:t>where the </a:t>
            </a:r>
            <a:r>
              <a:rPr lang="en-US" sz="2400" i="1" u="sng" dirty="0"/>
              <a:t>decision maker is given the capability of creating his or her own specific report (using an intuitive drag-and-drop graphical user interface) to address a specific or unique decision situation</a:t>
            </a:r>
            <a:r>
              <a:rPr lang="en-US" sz="2400" dirty="0"/>
              <a:t>; and dynamic views of key business performance indicators </a:t>
            </a:r>
            <a:r>
              <a:rPr lang="en-US" sz="2400" dirty="0" smtClean="0"/>
              <a:t>delivered </a:t>
            </a:r>
            <a:r>
              <a:rPr lang="en-US" sz="2400" dirty="0"/>
              <a:t>to managers and executives in an easily </a:t>
            </a:r>
            <a:r>
              <a:rPr lang="en-US" sz="2400" b="1" dirty="0">
                <a:solidFill>
                  <a:schemeClr val="accent6">
                    <a:lumMod val="75000"/>
                  </a:schemeClr>
                </a:solidFill>
                <a:effectLst>
                  <a:outerShdw blurRad="38100" dist="38100" dir="2700000" algn="tl">
                    <a:srgbClr val="000000">
                      <a:alpha val="43137"/>
                    </a:srgbClr>
                  </a:outerShdw>
                </a:effectLst>
              </a:rPr>
              <a:t>digestible form </a:t>
            </a:r>
            <a:r>
              <a:rPr lang="en-US" sz="2400" dirty="0"/>
              <a:t>(e.g., </a:t>
            </a:r>
            <a:r>
              <a:rPr lang="en-US" sz="2400" b="1" dirty="0">
                <a:solidFill>
                  <a:srgbClr val="7030A0"/>
                </a:solidFill>
              </a:rPr>
              <a:t>dashboard-looking graphical interfaces</a:t>
            </a:r>
            <a:r>
              <a:rPr lang="en-US" sz="2400" dirty="0"/>
              <a:t>) </a:t>
            </a:r>
            <a:r>
              <a:rPr lang="en-US" sz="2400" i="1" u="sng" dirty="0"/>
              <a:t>on a continuous </a:t>
            </a:r>
            <a:r>
              <a:rPr lang="en-US" sz="2400" i="1" u="sng" dirty="0" smtClean="0"/>
              <a:t>manner</a:t>
            </a:r>
            <a:r>
              <a:rPr lang="en-US" sz="2400" dirty="0" smtClean="0"/>
              <a:t>.</a:t>
            </a:r>
            <a:endParaRPr lang="en-US" sz="2400" dirty="0"/>
          </a:p>
        </p:txBody>
      </p:sp>
    </p:spTree>
    <p:extLst>
      <p:ext uri="{BB962C8B-B14F-4D97-AF65-F5344CB8AC3E}">
        <p14:creationId xmlns:p14="http://schemas.microsoft.com/office/powerpoint/2010/main" val="22669859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4600" y="1262637"/>
            <a:ext cx="5303520" cy="4449499"/>
          </a:xfrm>
          <a:prstGeom prst="rect">
            <a:avLst/>
          </a:prstGeom>
        </p:spPr>
      </p:pic>
      <p:sp>
        <p:nvSpPr>
          <p:cNvPr id="3" name="Rectangle 2"/>
          <p:cNvSpPr/>
          <p:nvPr/>
        </p:nvSpPr>
        <p:spPr>
          <a:xfrm>
            <a:off x="6742176" y="1787759"/>
            <a:ext cx="4468368" cy="3539430"/>
          </a:xfrm>
          <a:prstGeom prst="rect">
            <a:avLst/>
          </a:prstGeom>
        </p:spPr>
        <p:txBody>
          <a:bodyPr wrap="square">
            <a:spAutoFit/>
          </a:bodyPr>
          <a:lstStyle/>
          <a:p>
            <a:pPr algn="just"/>
            <a:r>
              <a:rPr lang="en-US" sz="2800" dirty="0"/>
              <a:t>Generally speaking, and as depicted in </a:t>
            </a:r>
            <a:r>
              <a:rPr lang="en-US" sz="2800" dirty="0" smtClean="0"/>
              <a:t>the given figure, </a:t>
            </a:r>
            <a:r>
              <a:rPr lang="en-US" sz="2800" dirty="0"/>
              <a:t>BI systems rely on a </a:t>
            </a:r>
            <a:r>
              <a:rPr lang="en-US" sz="2800" b="1" u="sng" dirty="0">
                <a:solidFill>
                  <a:schemeClr val="accent6">
                    <a:lumMod val="75000"/>
                  </a:schemeClr>
                </a:solidFill>
              </a:rPr>
              <a:t>data </a:t>
            </a:r>
            <a:r>
              <a:rPr lang="en-US" sz="2800" b="1" u="sng" dirty="0" smtClean="0">
                <a:solidFill>
                  <a:schemeClr val="accent6">
                    <a:lumMod val="75000"/>
                  </a:schemeClr>
                </a:solidFill>
              </a:rPr>
              <a:t>warehouse</a:t>
            </a:r>
            <a:r>
              <a:rPr lang="en-US" sz="2800" b="1" dirty="0" smtClean="0">
                <a:solidFill>
                  <a:schemeClr val="accent6">
                    <a:lumMod val="75000"/>
                  </a:schemeClr>
                </a:solidFill>
              </a:rPr>
              <a:t> </a:t>
            </a:r>
            <a:r>
              <a:rPr lang="en-US" sz="2800" dirty="0"/>
              <a:t>as the information source for creating insight and supporting managerial </a:t>
            </a:r>
            <a:r>
              <a:rPr lang="en-US" sz="2800" dirty="0" smtClean="0"/>
              <a:t>decision.</a:t>
            </a:r>
            <a:endParaRPr lang="en-US" sz="2800" dirty="0"/>
          </a:p>
        </p:txBody>
      </p:sp>
      <p:sp>
        <p:nvSpPr>
          <p:cNvPr id="4" name="Rectangle 3"/>
          <p:cNvSpPr/>
          <p:nvPr/>
        </p:nvSpPr>
        <p:spPr>
          <a:xfrm>
            <a:off x="994600" y="1188720"/>
            <a:ext cx="1876616" cy="4745736"/>
          </a:xfrm>
          <a:prstGeom prst="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18400" y="1277112"/>
            <a:ext cx="1876616" cy="4745736"/>
          </a:xfrm>
          <a:prstGeom prst="rect">
            <a:avLst/>
          </a:prstGeom>
          <a:noFill/>
          <a:ln w="5715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8780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81915" y="226814"/>
            <a:ext cx="4888902" cy="584775"/>
          </a:xfrm>
          <a:prstGeom prst="rect">
            <a:avLst/>
          </a:prstGeom>
        </p:spPr>
        <p:txBody>
          <a:bodyPr wrap="none">
            <a:spAutoFit/>
          </a:bodyPr>
          <a:lstStyle/>
          <a:p>
            <a:r>
              <a:rPr lang="en-US" sz="3200" b="1" dirty="0">
                <a:solidFill>
                  <a:schemeClr val="accent6">
                    <a:lumMod val="75000"/>
                  </a:schemeClr>
                </a:solidFill>
                <a:effectLst>
                  <a:outerShdw blurRad="38100" dist="38100" dir="2700000" algn="tl">
                    <a:srgbClr val="000000">
                      <a:alpha val="43137"/>
                    </a:srgbClr>
                  </a:outerShdw>
                </a:effectLst>
              </a:rPr>
              <a:t>What Is a Data Warehouse?</a:t>
            </a:r>
          </a:p>
        </p:txBody>
      </p:sp>
      <p:sp>
        <p:nvSpPr>
          <p:cNvPr id="3" name="Rectangle 2"/>
          <p:cNvSpPr/>
          <p:nvPr/>
        </p:nvSpPr>
        <p:spPr>
          <a:xfrm>
            <a:off x="411480" y="873126"/>
            <a:ext cx="8686800" cy="5078313"/>
          </a:xfrm>
          <a:prstGeom prst="rect">
            <a:avLst/>
          </a:prstGeom>
        </p:spPr>
        <p:txBody>
          <a:bodyPr wrap="square">
            <a:spAutoFit/>
          </a:bodyPr>
          <a:lstStyle/>
          <a:p>
            <a:pPr algn="just"/>
            <a:r>
              <a:rPr lang="en-US" sz="2400" dirty="0"/>
              <a:t>In simple terms, a data warehouse (DW) is a </a:t>
            </a:r>
            <a:r>
              <a:rPr lang="en-US" sz="2400" b="1" dirty="0">
                <a:solidFill>
                  <a:srgbClr val="FFC000"/>
                </a:solidFill>
                <a:effectLst>
                  <a:outerShdw blurRad="38100" dist="38100" dir="2700000" algn="tl">
                    <a:srgbClr val="000000">
                      <a:alpha val="43137"/>
                    </a:srgbClr>
                  </a:outerShdw>
                </a:effectLst>
              </a:rPr>
              <a:t>pool of data </a:t>
            </a:r>
            <a:r>
              <a:rPr lang="en-US" sz="2400" dirty="0"/>
              <a:t>produced </a:t>
            </a:r>
            <a:r>
              <a:rPr lang="en-US" sz="2400" b="1" u="sng" dirty="0">
                <a:solidFill>
                  <a:schemeClr val="bg1">
                    <a:lumMod val="50000"/>
                  </a:schemeClr>
                </a:solidFill>
                <a:effectLst>
                  <a:outerShdw blurRad="38100" dist="38100" dir="2700000" algn="tl">
                    <a:srgbClr val="000000">
                      <a:alpha val="43137"/>
                    </a:srgbClr>
                  </a:outerShdw>
                </a:effectLst>
              </a:rPr>
              <a:t>to support decision making</a:t>
            </a:r>
            <a:r>
              <a:rPr lang="en-US" sz="2400" dirty="0"/>
              <a:t>; it is also a repository of current and historical data of potential interest to </a:t>
            </a:r>
            <a:r>
              <a:rPr lang="en-US" sz="2400" dirty="0" smtClean="0"/>
              <a:t>managers </a:t>
            </a:r>
            <a:r>
              <a:rPr lang="en-US" sz="2400" dirty="0"/>
              <a:t>throughout the organization. Data are usually structured to be available in a form ready for analytical processing activities (i.e., </a:t>
            </a:r>
            <a:r>
              <a:rPr lang="en-US" sz="2400" b="1" i="1" u="sng" dirty="0"/>
              <a:t>online analytical processing [OLAP], data mining, querying, reporting</a:t>
            </a:r>
            <a:r>
              <a:rPr lang="en-US" sz="2400" dirty="0"/>
              <a:t>, and other decision support applications). </a:t>
            </a:r>
            <a:endParaRPr lang="en-US" sz="2400" dirty="0" smtClean="0"/>
          </a:p>
          <a:p>
            <a:pPr algn="just"/>
            <a:endParaRPr lang="en-US" sz="1200" dirty="0"/>
          </a:p>
          <a:p>
            <a:pPr algn="just"/>
            <a:r>
              <a:rPr lang="en-US" sz="2400" b="1" dirty="0" smtClean="0">
                <a:solidFill>
                  <a:schemeClr val="accent6">
                    <a:lumMod val="75000"/>
                  </a:schemeClr>
                </a:solidFill>
              </a:rPr>
              <a:t>A </a:t>
            </a:r>
            <a:r>
              <a:rPr lang="en-US" sz="2400" b="1" dirty="0">
                <a:solidFill>
                  <a:schemeClr val="accent6">
                    <a:lumMod val="75000"/>
                  </a:schemeClr>
                </a:solidFill>
              </a:rPr>
              <a:t>data warehouse </a:t>
            </a:r>
            <a:r>
              <a:rPr lang="en-US" sz="2400" dirty="0"/>
              <a:t>is a </a:t>
            </a:r>
            <a:endParaRPr lang="en-US" sz="2400" dirty="0" smtClean="0"/>
          </a:p>
          <a:p>
            <a:pPr algn="just"/>
            <a:r>
              <a:rPr lang="en-US" sz="2400" dirty="0" smtClean="0">
                <a:solidFill>
                  <a:schemeClr val="accent2">
                    <a:lumMod val="75000"/>
                  </a:schemeClr>
                </a:solidFill>
              </a:rPr>
              <a:t>subject-oriented</a:t>
            </a:r>
            <a:r>
              <a:rPr lang="en-US" sz="2400" dirty="0"/>
              <a:t>, </a:t>
            </a:r>
            <a:r>
              <a:rPr lang="en-US" sz="2400" dirty="0">
                <a:solidFill>
                  <a:srgbClr val="7030A0"/>
                </a:solidFill>
              </a:rPr>
              <a:t>integrated</a:t>
            </a:r>
            <a:r>
              <a:rPr lang="en-US" sz="2400" dirty="0"/>
              <a:t>, </a:t>
            </a:r>
            <a:endParaRPr lang="en-US" sz="2400" dirty="0" smtClean="0"/>
          </a:p>
          <a:p>
            <a:pPr algn="just"/>
            <a:r>
              <a:rPr lang="en-US" sz="2400" dirty="0" smtClean="0">
                <a:solidFill>
                  <a:srgbClr val="FFC000"/>
                </a:solidFill>
              </a:rPr>
              <a:t>time-variant</a:t>
            </a:r>
            <a:r>
              <a:rPr lang="en-US" sz="2400" dirty="0"/>
              <a:t>, </a:t>
            </a:r>
            <a:r>
              <a:rPr lang="en-US" sz="2400" dirty="0">
                <a:solidFill>
                  <a:srgbClr val="FF0000"/>
                </a:solidFill>
              </a:rPr>
              <a:t>nonvolatile</a:t>
            </a:r>
            <a:r>
              <a:rPr lang="en-US" sz="2400" dirty="0"/>
              <a:t> </a:t>
            </a:r>
            <a:endParaRPr lang="en-US" sz="2400" dirty="0" smtClean="0"/>
          </a:p>
          <a:p>
            <a:pPr algn="just"/>
            <a:r>
              <a:rPr lang="en-US" sz="2400" dirty="0" smtClean="0"/>
              <a:t>collection </a:t>
            </a:r>
            <a:r>
              <a:rPr lang="en-US" sz="2400" dirty="0"/>
              <a:t>of data </a:t>
            </a:r>
            <a:endParaRPr lang="en-US" sz="2400" dirty="0" smtClean="0"/>
          </a:p>
          <a:p>
            <a:pPr algn="just"/>
            <a:r>
              <a:rPr lang="en-US" sz="2400" b="1" u="sng" dirty="0" smtClean="0">
                <a:solidFill>
                  <a:srgbClr val="7030A0"/>
                </a:solidFill>
              </a:rPr>
              <a:t>in </a:t>
            </a:r>
            <a:r>
              <a:rPr lang="en-US" sz="2400" b="1" u="sng" dirty="0">
                <a:solidFill>
                  <a:srgbClr val="7030A0"/>
                </a:solidFill>
              </a:rPr>
              <a:t>support of management’s </a:t>
            </a:r>
            <a:endParaRPr lang="en-US" sz="2400" b="1" u="sng" dirty="0" smtClean="0">
              <a:solidFill>
                <a:srgbClr val="7030A0"/>
              </a:solidFill>
            </a:endParaRPr>
          </a:p>
          <a:p>
            <a:pPr algn="just"/>
            <a:r>
              <a:rPr lang="en-US" sz="2400" b="1" u="sng" dirty="0" smtClean="0">
                <a:solidFill>
                  <a:srgbClr val="7030A0"/>
                </a:solidFill>
              </a:rPr>
              <a:t>decision-making </a:t>
            </a:r>
            <a:r>
              <a:rPr lang="en-US" sz="2400" b="1" u="sng" dirty="0">
                <a:solidFill>
                  <a:srgbClr val="7030A0"/>
                </a:solidFill>
              </a:rPr>
              <a:t>process</a:t>
            </a:r>
            <a:r>
              <a:rPr lang="en-US" sz="2400" dirty="0"/>
              <a:t>.</a:t>
            </a:r>
          </a:p>
        </p:txBody>
      </p:sp>
      <p:pic>
        <p:nvPicPr>
          <p:cNvPr id="4" name="Picture 3"/>
          <p:cNvPicPr>
            <a:picLocks noChangeAspect="1"/>
          </p:cNvPicPr>
          <p:nvPr/>
        </p:nvPicPr>
        <p:blipFill>
          <a:blip r:embed="rId2"/>
          <a:stretch>
            <a:fillRect/>
          </a:stretch>
        </p:blipFill>
        <p:spPr>
          <a:xfrm>
            <a:off x="5038344" y="3167639"/>
            <a:ext cx="6766560" cy="3467444"/>
          </a:xfrm>
          <a:prstGeom prst="rect">
            <a:avLst/>
          </a:prstGeom>
        </p:spPr>
      </p:pic>
    </p:spTree>
    <p:extLst>
      <p:ext uri="{BB962C8B-B14F-4D97-AF65-F5344CB8AC3E}">
        <p14:creationId xmlns:p14="http://schemas.microsoft.com/office/powerpoint/2010/main" val="24159774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2160" y="592574"/>
            <a:ext cx="7112525" cy="646331"/>
          </a:xfrm>
          <a:prstGeom prst="rect">
            <a:avLst/>
          </a:prstGeom>
        </p:spPr>
        <p:txBody>
          <a:bodyPr wrap="none">
            <a:spAutoFit/>
          </a:bodyPr>
          <a:lstStyle/>
          <a:p>
            <a:r>
              <a:rPr lang="en-US" sz="3600" b="1" dirty="0">
                <a:solidFill>
                  <a:schemeClr val="accent6">
                    <a:lumMod val="75000"/>
                  </a:schemeClr>
                </a:solidFill>
                <a:effectLst>
                  <a:outerShdw blurRad="38100" dist="38100" dir="2700000" algn="tl">
                    <a:srgbClr val="000000">
                      <a:alpha val="43137"/>
                    </a:srgbClr>
                  </a:outerShdw>
                </a:effectLst>
              </a:rPr>
              <a:t>Characteristics of Data Warehousing</a:t>
            </a:r>
          </a:p>
        </p:txBody>
      </p:sp>
      <p:sp>
        <p:nvSpPr>
          <p:cNvPr id="3" name="Rectangle 2"/>
          <p:cNvSpPr/>
          <p:nvPr/>
        </p:nvSpPr>
        <p:spPr>
          <a:xfrm>
            <a:off x="996696" y="1421999"/>
            <a:ext cx="10259568" cy="4893647"/>
          </a:xfrm>
          <a:prstGeom prst="rect">
            <a:avLst/>
          </a:prstGeom>
        </p:spPr>
        <p:txBody>
          <a:bodyPr wrap="square">
            <a:spAutoFit/>
          </a:bodyPr>
          <a:lstStyle/>
          <a:p>
            <a:pPr algn="just"/>
            <a:r>
              <a:rPr lang="en-US" sz="2400" b="1" u="sng" dirty="0" smtClean="0">
                <a:solidFill>
                  <a:schemeClr val="accent6">
                    <a:lumMod val="75000"/>
                  </a:schemeClr>
                </a:solidFill>
                <a:effectLst>
                  <a:outerShdw blurRad="38100" dist="38100" dir="2700000" algn="tl">
                    <a:srgbClr val="000000">
                      <a:alpha val="43137"/>
                    </a:srgbClr>
                  </a:outerShdw>
                </a:effectLst>
              </a:rPr>
              <a:t>Subject oriented</a:t>
            </a:r>
            <a:r>
              <a:rPr lang="en-US" sz="2400" b="1" dirty="0" smtClean="0">
                <a:solidFill>
                  <a:schemeClr val="accent6">
                    <a:lumMod val="75000"/>
                  </a:schemeClr>
                </a:solidFill>
                <a:effectLst>
                  <a:outerShdw blurRad="38100" dist="38100" dir="2700000" algn="tl">
                    <a:srgbClr val="000000">
                      <a:alpha val="43137"/>
                    </a:srgbClr>
                  </a:outerShdw>
                </a:effectLst>
              </a:rPr>
              <a:t>. </a:t>
            </a:r>
            <a:r>
              <a:rPr lang="en-US" sz="2400" dirty="0" smtClean="0"/>
              <a:t>Data </a:t>
            </a:r>
            <a:r>
              <a:rPr lang="en-US" sz="2400" dirty="0"/>
              <a:t>are organized by detailed subject, </a:t>
            </a:r>
            <a:r>
              <a:rPr lang="en-US" sz="2400" b="1" dirty="0">
                <a:solidFill>
                  <a:schemeClr val="accent4">
                    <a:lumMod val="50000"/>
                  </a:schemeClr>
                </a:solidFill>
              </a:rPr>
              <a:t>such as sales, products, or customers</a:t>
            </a:r>
            <a:r>
              <a:rPr lang="en-US" sz="2400" dirty="0"/>
              <a:t>, containing only information relevant for decision support</a:t>
            </a:r>
            <a:r>
              <a:rPr lang="en-US" sz="2400" dirty="0" smtClean="0"/>
              <a:t>.</a:t>
            </a:r>
          </a:p>
          <a:p>
            <a:pPr algn="just"/>
            <a:endParaRPr lang="en-US" sz="800" dirty="0"/>
          </a:p>
          <a:p>
            <a:pPr algn="just"/>
            <a:r>
              <a:rPr lang="en-US" sz="2400" b="1" u="sng" dirty="0">
                <a:solidFill>
                  <a:schemeClr val="accent6">
                    <a:lumMod val="75000"/>
                  </a:schemeClr>
                </a:solidFill>
                <a:effectLst>
                  <a:outerShdw blurRad="38100" dist="38100" dir="2700000" algn="tl">
                    <a:srgbClr val="000000">
                      <a:alpha val="43137"/>
                    </a:srgbClr>
                  </a:outerShdw>
                </a:effectLst>
              </a:rPr>
              <a:t>Integrated</a:t>
            </a:r>
            <a:r>
              <a:rPr lang="en-US" sz="2400" b="1" dirty="0">
                <a:solidFill>
                  <a:schemeClr val="accent6">
                    <a:lumMod val="75000"/>
                  </a:schemeClr>
                </a:solidFill>
                <a:effectLst>
                  <a:outerShdw blurRad="38100" dist="38100" dir="2700000" algn="tl">
                    <a:srgbClr val="000000">
                      <a:alpha val="43137"/>
                    </a:srgbClr>
                  </a:outerShdw>
                </a:effectLst>
              </a:rPr>
              <a:t>. </a:t>
            </a:r>
            <a:r>
              <a:rPr lang="en-US" sz="2400" dirty="0"/>
              <a:t>Integration is closely related to subject orientation. Data warehouses must place data from different </a:t>
            </a:r>
            <a:r>
              <a:rPr lang="en-US" sz="2400" b="1" dirty="0">
                <a:solidFill>
                  <a:schemeClr val="accent4">
                    <a:lumMod val="50000"/>
                  </a:schemeClr>
                </a:solidFill>
              </a:rPr>
              <a:t>sources into a consistent format</a:t>
            </a:r>
            <a:r>
              <a:rPr lang="en-US" sz="2400" dirty="0"/>
              <a:t>. To do so, they must deal with naming conflicts and discrepancies among units of measure. A data </a:t>
            </a:r>
            <a:r>
              <a:rPr lang="en-US" sz="2400" dirty="0" smtClean="0"/>
              <a:t>warehouse </a:t>
            </a:r>
            <a:r>
              <a:rPr lang="en-US" sz="2400" dirty="0"/>
              <a:t>is presumed to be totally integrated</a:t>
            </a:r>
            <a:r>
              <a:rPr lang="en-US" sz="2400" dirty="0" smtClean="0"/>
              <a:t>.</a:t>
            </a:r>
          </a:p>
          <a:p>
            <a:pPr algn="just"/>
            <a:endParaRPr lang="en-US" sz="800" dirty="0"/>
          </a:p>
          <a:p>
            <a:pPr algn="just"/>
            <a:r>
              <a:rPr lang="en-US" sz="2400" b="1" u="sng" dirty="0">
                <a:solidFill>
                  <a:schemeClr val="accent6">
                    <a:lumMod val="75000"/>
                  </a:schemeClr>
                </a:solidFill>
                <a:effectLst>
                  <a:outerShdw blurRad="38100" dist="38100" dir="2700000" algn="tl">
                    <a:srgbClr val="000000">
                      <a:alpha val="43137"/>
                    </a:srgbClr>
                  </a:outerShdw>
                </a:effectLst>
              </a:rPr>
              <a:t>Time variant (time series).</a:t>
            </a:r>
            <a:r>
              <a:rPr lang="en-US" sz="2400" dirty="0"/>
              <a:t> A warehouse maintains historical data. </a:t>
            </a:r>
            <a:r>
              <a:rPr lang="en-US" sz="2400" b="1" dirty="0">
                <a:solidFill>
                  <a:schemeClr val="accent4">
                    <a:lumMod val="50000"/>
                  </a:schemeClr>
                </a:solidFill>
              </a:rPr>
              <a:t>The data do not necessarily provide current status (except in real-time systems)</a:t>
            </a:r>
            <a:r>
              <a:rPr lang="en-US" sz="2400" dirty="0"/>
              <a:t>. They detect trends, deviations, and long-term relationships for forecasting and comparisons, leading to decision making. Every data warehouse has a temporal </a:t>
            </a:r>
            <a:r>
              <a:rPr lang="en-US" sz="2400" dirty="0" smtClean="0"/>
              <a:t>quality.</a:t>
            </a:r>
          </a:p>
          <a:p>
            <a:pPr algn="just"/>
            <a:endParaRPr lang="en-US" sz="800" dirty="0"/>
          </a:p>
          <a:p>
            <a:pPr algn="just"/>
            <a:r>
              <a:rPr lang="en-US" sz="2400" b="1" dirty="0" smtClean="0">
                <a:solidFill>
                  <a:schemeClr val="accent6">
                    <a:lumMod val="75000"/>
                  </a:schemeClr>
                </a:solidFill>
                <a:effectLst>
                  <a:outerShdw blurRad="38100" dist="38100" dir="2700000" algn="tl">
                    <a:srgbClr val="000000">
                      <a:alpha val="43137"/>
                    </a:srgbClr>
                  </a:outerShdw>
                </a:effectLst>
              </a:rPr>
              <a:t>Nonvolatile.</a:t>
            </a:r>
            <a:r>
              <a:rPr lang="en-US" sz="2400" dirty="0" smtClean="0"/>
              <a:t> </a:t>
            </a:r>
            <a:r>
              <a:rPr lang="en-US" sz="2400" dirty="0"/>
              <a:t>After data are entered into a data warehouse, </a:t>
            </a:r>
            <a:r>
              <a:rPr lang="en-US" sz="2400" b="1" dirty="0">
                <a:solidFill>
                  <a:schemeClr val="accent4">
                    <a:lumMod val="50000"/>
                  </a:schemeClr>
                </a:solidFill>
              </a:rPr>
              <a:t>users cannot change or update the data</a:t>
            </a:r>
            <a:r>
              <a:rPr lang="en-US" sz="2400" dirty="0"/>
              <a:t>.</a:t>
            </a:r>
          </a:p>
        </p:txBody>
      </p:sp>
    </p:spTree>
    <p:extLst>
      <p:ext uri="{BB962C8B-B14F-4D97-AF65-F5344CB8AC3E}">
        <p14:creationId xmlns:p14="http://schemas.microsoft.com/office/powerpoint/2010/main" val="33321036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8720" y="674406"/>
            <a:ext cx="9857232" cy="5570756"/>
          </a:xfrm>
          <a:prstGeom prst="rect">
            <a:avLst/>
          </a:prstGeom>
        </p:spPr>
        <p:txBody>
          <a:bodyPr wrap="square">
            <a:spAutoFit/>
          </a:bodyPr>
          <a:lstStyle/>
          <a:p>
            <a:pPr algn="just"/>
            <a:r>
              <a:rPr lang="en-US" sz="2400" b="1" dirty="0" smtClean="0">
                <a:solidFill>
                  <a:srgbClr val="FF0000"/>
                </a:solidFill>
                <a:effectLst>
                  <a:outerShdw blurRad="38100" dist="38100" dir="2700000" algn="tl">
                    <a:srgbClr val="000000">
                      <a:alpha val="43137"/>
                    </a:srgbClr>
                  </a:outerShdw>
                </a:effectLst>
              </a:rPr>
              <a:t>Some </a:t>
            </a:r>
            <a:r>
              <a:rPr lang="en-US" sz="2400" b="1" dirty="0">
                <a:solidFill>
                  <a:srgbClr val="FF0000"/>
                </a:solidFill>
                <a:effectLst>
                  <a:outerShdw blurRad="38100" dist="38100" dir="2700000" algn="tl">
                    <a:srgbClr val="000000">
                      <a:alpha val="43137"/>
                    </a:srgbClr>
                  </a:outerShdw>
                </a:effectLst>
              </a:rPr>
              <a:t>additional characteristics may include the </a:t>
            </a:r>
            <a:r>
              <a:rPr lang="en-US" sz="2400" b="1" dirty="0" smtClean="0">
                <a:solidFill>
                  <a:srgbClr val="FF0000"/>
                </a:solidFill>
                <a:effectLst>
                  <a:outerShdw blurRad="38100" dist="38100" dir="2700000" algn="tl">
                    <a:srgbClr val="000000">
                      <a:alpha val="43137"/>
                    </a:srgbClr>
                  </a:outerShdw>
                </a:effectLst>
              </a:rPr>
              <a:t>following</a:t>
            </a:r>
            <a:r>
              <a:rPr lang="en-US" sz="2400" dirty="0"/>
              <a:t> </a:t>
            </a:r>
            <a:r>
              <a:rPr lang="en-US" sz="2400" b="1" dirty="0" smtClean="0">
                <a:solidFill>
                  <a:srgbClr val="FF0000"/>
                </a:solidFill>
                <a:effectLst>
                  <a:outerShdw blurRad="38100" dist="38100" dir="2700000" algn="tl">
                    <a:srgbClr val="000000">
                      <a:alpha val="43137"/>
                    </a:srgbClr>
                  </a:outerShdw>
                </a:effectLst>
              </a:rPr>
              <a:t>--</a:t>
            </a:r>
          </a:p>
          <a:p>
            <a:pPr algn="just"/>
            <a:endParaRPr lang="en-US" sz="1200" dirty="0"/>
          </a:p>
          <a:p>
            <a:pPr algn="just"/>
            <a:r>
              <a:rPr lang="en-US" sz="2400" dirty="0" smtClean="0"/>
              <a:t>•  </a:t>
            </a:r>
            <a:r>
              <a:rPr lang="en-US" sz="2400" b="1" dirty="0" smtClean="0">
                <a:solidFill>
                  <a:schemeClr val="accent2">
                    <a:lumMod val="75000"/>
                  </a:schemeClr>
                </a:solidFill>
              </a:rPr>
              <a:t>Web </a:t>
            </a:r>
            <a:r>
              <a:rPr lang="en-US" sz="2400" b="1" dirty="0">
                <a:solidFill>
                  <a:schemeClr val="accent2">
                    <a:lumMod val="75000"/>
                  </a:schemeClr>
                </a:solidFill>
              </a:rPr>
              <a:t>based.</a:t>
            </a:r>
            <a:r>
              <a:rPr lang="en-US" sz="2400" dirty="0"/>
              <a:t> Data warehouses are typically designed to provide an efficient </a:t>
            </a:r>
            <a:r>
              <a:rPr lang="en-US" sz="2400" dirty="0" smtClean="0"/>
              <a:t>computing </a:t>
            </a:r>
            <a:r>
              <a:rPr lang="en-US" sz="2400" dirty="0"/>
              <a:t>environment for Web-based applications. </a:t>
            </a:r>
            <a:endParaRPr lang="en-US" sz="2400" dirty="0" smtClean="0"/>
          </a:p>
          <a:p>
            <a:pPr algn="just"/>
            <a:endParaRPr lang="en-US" sz="800" dirty="0" smtClean="0"/>
          </a:p>
          <a:p>
            <a:pPr algn="just"/>
            <a:r>
              <a:rPr lang="en-US" sz="2400" dirty="0" smtClean="0"/>
              <a:t>• </a:t>
            </a:r>
            <a:r>
              <a:rPr lang="en-US" sz="2400" b="1" dirty="0" smtClean="0">
                <a:solidFill>
                  <a:schemeClr val="accent2">
                    <a:lumMod val="75000"/>
                  </a:schemeClr>
                </a:solidFill>
              </a:rPr>
              <a:t>Relational/multidimensional.</a:t>
            </a:r>
            <a:r>
              <a:rPr lang="en-US" sz="2400" dirty="0" smtClean="0"/>
              <a:t> </a:t>
            </a:r>
            <a:r>
              <a:rPr lang="en-US" sz="2400" dirty="0"/>
              <a:t>A data warehouse uses either a relational structure or a multidimensional structure. A recent survey on multidimensional structures can be found in Romero and </a:t>
            </a:r>
            <a:r>
              <a:rPr lang="en-US" sz="2400" dirty="0" err="1"/>
              <a:t>Abelló</a:t>
            </a:r>
            <a:r>
              <a:rPr lang="en-US" sz="2400" dirty="0"/>
              <a:t> (2009). </a:t>
            </a:r>
            <a:endParaRPr lang="en-US" sz="2400" dirty="0" smtClean="0"/>
          </a:p>
          <a:p>
            <a:pPr algn="just"/>
            <a:r>
              <a:rPr lang="en-US" sz="2400" dirty="0"/>
              <a:t> </a:t>
            </a:r>
            <a:r>
              <a:rPr lang="en-US" sz="2400" dirty="0" smtClean="0"/>
              <a:t>    </a:t>
            </a:r>
            <a:r>
              <a:rPr lang="en-US" b="1" dirty="0" smtClean="0">
                <a:solidFill>
                  <a:srgbClr val="FF0000"/>
                </a:solidFill>
              </a:rPr>
              <a:t>imp., </a:t>
            </a:r>
            <a:r>
              <a:rPr lang="en-US" b="1" dirty="0" err="1" smtClean="0">
                <a:solidFill>
                  <a:srgbClr val="FF0000"/>
                </a:solidFill>
              </a:rPr>
              <a:t>selfstudy</a:t>
            </a:r>
            <a:r>
              <a:rPr lang="en-US" b="1" dirty="0" smtClean="0">
                <a:solidFill>
                  <a:srgbClr val="FF0000"/>
                </a:solidFill>
              </a:rPr>
              <a:t> </a:t>
            </a:r>
            <a:r>
              <a:rPr lang="en-US" b="1" dirty="0" smtClean="0">
                <a:solidFill>
                  <a:srgbClr val="FF0000"/>
                </a:solidFill>
                <a:sym typeface="Wingdings" panose="05000000000000000000" pitchFamily="2" charset="2"/>
              </a:rPr>
              <a:t> </a:t>
            </a:r>
            <a:r>
              <a:rPr lang="en-US" b="1" dirty="0" smtClean="0">
                <a:solidFill>
                  <a:srgbClr val="FF0000"/>
                </a:solidFill>
              </a:rPr>
              <a:t>https</a:t>
            </a:r>
            <a:r>
              <a:rPr lang="en-US" b="1" dirty="0">
                <a:solidFill>
                  <a:srgbClr val="FF0000"/>
                </a:solidFill>
              </a:rPr>
              <a:t>://www.gooddata.com/blog/relational-dimensional-data-models/</a:t>
            </a:r>
            <a:endParaRPr lang="en-US" b="1" dirty="0" smtClean="0">
              <a:solidFill>
                <a:srgbClr val="FF0000"/>
              </a:solidFill>
            </a:endParaRPr>
          </a:p>
          <a:p>
            <a:pPr algn="just"/>
            <a:endParaRPr lang="en-US" sz="800" dirty="0" smtClean="0"/>
          </a:p>
          <a:p>
            <a:pPr algn="just"/>
            <a:r>
              <a:rPr lang="en-US" sz="2400" dirty="0" smtClean="0"/>
              <a:t>• </a:t>
            </a:r>
            <a:r>
              <a:rPr lang="en-US" sz="2400" b="1" dirty="0" smtClean="0">
                <a:solidFill>
                  <a:schemeClr val="accent2">
                    <a:lumMod val="75000"/>
                  </a:schemeClr>
                </a:solidFill>
              </a:rPr>
              <a:t>Client/server</a:t>
            </a:r>
            <a:r>
              <a:rPr lang="en-US" sz="2400" b="1" dirty="0">
                <a:solidFill>
                  <a:schemeClr val="accent2">
                    <a:lumMod val="75000"/>
                  </a:schemeClr>
                </a:solidFill>
              </a:rPr>
              <a:t>.</a:t>
            </a:r>
            <a:r>
              <a:rPr lang="en-US" sz="2400" dirty="0"/>
              <a:t> A data warehouse uses the client/server architecture to provide easy access for end users. </a:t>
            </a:r>
            <a:endParaRPr lang="en-US" sz="2400" dirty="0" smtClean="0"/>
          </a:p>
          <a:p>
            <a:pPr algn="just"/>
            <a:endParaRPr lang="en-US" sz="800" dirty="0" smtClean="0"/>
          </a:p>
          <a:p>
            <a:pPr algn="just"/>
            <a:r>
              <a:rPr lang="en-US" sz="2400" dirty="0" smtClean="0"/>
              <a:t>•  </a:t>
            </a:r>
            <a:r>
              <a:rPr lang="en-US" sz="2400" b="1" dirty="0" smtClean="0">
                <a:solidFill>
                  <a:schemeClr val="accent2">
                    <a:lumMod val="75000"/>
                  </a:schemeClr>
                </a:solidFill>
              </a:rPr>
              <a:t>Real </a:t>
            </a:r>
            <a:r>
              <a:rPr lang="en-US" sz="2400" b="1" dirty="0">
                <a:solidFill>
                  <a:schemeClr val="accent2">
                    <a:lumMod val="75000"/>
                  </a:schemeClr>
                </a:solidFill>
              </a:rPr>
              <a:t>time.</a:t>
            </a:r>
            <a:r>
              <a:rPr lang="en-US" sz="2400" dirty="0"/>
              <a:t> Newer data warehouses provide real-time, or active, data-access and analysis capabilities (see </a:t>
            </a:r>
            <a:r>
              <a:rPr lang="en-US" sz="2400" dirty="0" err="1"/>
              <a:t>Basu</a:t>
            </a:r>
            <a:r>
              <a:rPr lang="en-US" sz="2400" dirty="0"/>
              <a:t>, 2003; </a:t>
            </a:r>
            <a:r>
              <a:rPr lang="en-US" sz="2400" dirty="0" err="1"/>
              <a:t>Bonde</a:t>
            </a:r>
            <a:r>
              <a:rPr lang="en-US" sz="2400" dirty="0"/>
              <a:t> &amp; </a:t>
            </a:r>
            <a:r>
              <a:rPr lang="en-US" sz="2400" dirty="0" err="1"/>
              <a:t>Kuckuk</a:t>
            </a:r>
            <a:r>
              <a:rPr lang="en-US" sz="2400" dirty="0"/>
              <a:t>, 2004). </a:t>
            </a:r>
            <a:endParaRPr lang="en-US" sz="2400" dirty="0" smtClean="0"/>
          </a:p>
          <a:p>
            <a:pPr algn="just"/>
            <a:endParaRPr lang="en-US" sz="800" dirty="0" smtClean="0"/>
          </a:p>
          <a:p>
            <a:pPr algn="just"/>
            <a:r>
              <a:rPr lang="en-US" sz="2400" dirty="0" smtClean="0"/>
              <a:t>•  </a:t>
            </a:r>
            <a:r>
              <a:rPr lang="en-US" sz="2400" b="1" dirty="0" smtClean="0">
                <a:solidFill>
                  <a:schemeClr val="accent2">
                    <a:lumMod val="75000"/>
                  </a:schemeClr>
                </a:solidFill>
              </a:rPr>
              <a:t>Include </a:t>
            </a:r>
            <a:r>
              <a:rPr lang="en-US" sz="2400" b="1" dirty="0">
                <a:solidFill>
                  <a:schemeClr val="accent2">
                    <a:lumMod val="75000"/>
                  </a:schemeClr>
                </a:solidFill>
              </a:rPr>
              <a:t>metadata.</a:t>
            </a:r>
            <a:r>
              <a:rPr lang="en-US" sz="2400" dirty="0"/>
              <a:t> A data warehouse contains metadata (data about data) about how the data are organized and how to effectively use them.</a:t>
            </a:r>
          </a:p>
        </p:txBody>
      </p:sp>
    </p:spTree>
    <p:extLst>
      <p:ext uri="{BB962C8B-B14F-4D97-AF65-F5344CB8AC3E}">
        <p14:creationId xmlns:p14="http://schemas.microsoft.com/office/powerpoint/2010/main" val="39666639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264" y="311557"/>
            <a:ext cx="10360152" cy="6586418"/>
          </a:xfrm>
          <a:prstGeom prst="rect">
            <a:avLst/>
          </a:prstGeom>
        </p:spPr>
        <p:txBody>
          <a:bodyPr wrap="square">
            <a:spAutoFit/>
          </a:bodyPr>
          <a:lstStyle/>
          <a:p>
            <a:r>
              <a:rPr lang="en-US" sz="3200" b="1" dirty="0" smtClean="0">
                <a:solidFill>
                  <a:srgbClr val="FF0000"/>
                </a:solidFill>
                <a:effectLst>
                  <a:outerShdw blurRad="38100" dist="38100" dir="2700000" algn="tl">
                    <a:srgbClr val="000000">
                      <a:alpha val="43137"/>
                    </a:srgbClr>
                  </a:outerShdw>
                </a:effectLst>
              </a:rPr>
              <a:t>Data Marts (DM)</a:t>
            </a:r>
          </a:p>
          <a:p>
            <a:endParaRPr lang="en-US" sz="1000" b="1" dirty="0" smtClean="0">
              <a:solidFill>
                <a:srgbClr val="FF0000"/>
              </a:solidFill>
              <a:effectLst>
                <a:outerShdw blurRad="38100" dist="38100" dir="2700000" algn="tl">
                  <a:srgbClr val="000000">
                    <a:alpha val="43137"/>
                  </a:srgbClr>
                </a:outerShdw>
              </a:effectLst>
            </a:endParaRPr>
          </a:p>
          <a:p>
            <a:pPr algn="just"/>
            <a:r>
              <a:rPr lang="en-US" sz="2400" dirty="0" smtClean="0"/>
              <a:t>Whereas </a:t>
            </a:r>
            <a:r>
              <a:rPr lang="en-US" sz="2400" dirty="0"/>
              <a:t>a data warehouse combines databases across an entire enterprise, a data mart </a:t>
            </a:r>
            <a:r>
              <a:rPr lang="en-US" sz="2400" b="1" dirty="0">
                <a:solidFill>
                  <a:schemeClr val="accent2">
                    <a:lumMod val="75000"/>
                  </a:schemeClr>
                </a:solidFill>
                <a:effectLst>
                  <a:outerShdw blurRad="38100" dist="38100" dir="2700000" algn="tl">
                    <a:srgbClr val="000000">
                      <a:alpha val="43137"/>
                    </a:srgbClr>
                  </a:outerShdw>
                </a:effectLst>
              </a:rPr>
              <a:t>(DM) </a:t>
            </a:r>
            <a:r>
              <a:rPr lang="en-US" sz="2400" dirty="0"/>
              <a:t>is usually smaller and focuses on a particular subject or department. </a:t>
            </a:r>
            <a:endParaRPr lang="en-US" sz="2400" dirty="0" smtClean="0"/>
          </a:p>
          <a:p>
            <a:pPr algn="just"/>
            <a:endParaRPr lang="en-US" sz="1000" dirty="0"/>
          </a:p>
          <a:p>
            <a:pPr algn="just"/>
            <a:r>
              <a:rPr lang="en-US" sz="2400" dirty="0" smtClean="0"/>
              <a:t>A </a:t>
            </a:r>
            <a:r>
              <a:rPr lang="en-US" sz="2400" dirty="0"/>
              <a:t>DM is a subset of a data warehouse, typically consisting of a single subject area (e.g., marketing, operations). </a:t>
            </a:r>
            <a:endParaRPr lang="en-US" sz="2400" dirty="0" smtClean="0"/>
          </a:p>
          <a:p>
            <a:pPr algn="just"/>
            <a:endParaRPr lang="en-US" sz="800" dirty="0"/>
          </a:p>
          <a:p>
            <a:pPr algn="just"/>
            <a:r>
              <a:rPr lang="en-US" sz="2400" dirty="0" smtClean="0"/>
              <a:t>A </a:t>
            </a:r>
            <a:r>
              <a:rPr lang="en-US" sz="2400" b="1" dirty="0">
                <a:solidFill>
                  <a:srgbClr val="FF0000"/>
                </a:solidFill>
                <a:effectLst>
                  <a:outerShdw blurRad="38100" dist="38100" dir="2700000" algn="tl">
                    <a:srgbClr val="000000">
                      <a:alpha val="43137"/>
                    </a:srgbClr>
                  </a:outerShdw>
                </a:effectLst>
              </a:rPr>
              <a:t>DM</a:t>
            </a:r>
            <a:r>
              <a:rPr lang="en-US" sz="2400" dirty="0"/>
              <a:t> can be either </a:t>
            </a:r>
            <a:r>
              <a:rPr lang="en-US" sz="2400" b="1" dirty="0">
                <a:solidFill>
                  <a:srgbClr val="7030A0"/>
                </a:solidFill>
              </a:rPr>
              <a:t>dependent</a:t>
            </a:r>
            <a:r>
              <a:rPr lang="en-US" sz="2400" dirty="0"/>
              <a:t> or </a:t>
            </a:r>
            <a:r>
              <a:rPr lang="en-US" sz="2400" b="1" dirty="0">
                <a:solidFill>
                  <a:schemeClr val="accent2">
                    <a:lumMod val="75000"/>
                  </a:schemeClr>
                </a:solidFill>
              </a:rPr>
              <a:t>independent</a:t>
            </a:r>
            <a:r>
              <a:rPr lang="en-US" sz="2400" dirty="0" smtClean="0"/>
              <a:t>.</a:t>
            </a:r>
          </a:p>
          <a:p>
            <a:pPr algn="just"/>
            <a:endParaRPr lang="en-US" sz="1000" dirty="0"/>
          </a:p>
          <a:p>
            <a:pPr marL="342900" indent="-342900" algn="just">
              <a:buFont typeface="Wingdings" panose="05000000000000000000" pitchFamily="2" charset="2"/>
              <a:buChar char="à"/>
            </a:pPr>
            <a:r>
              <a:rPr lang="en-US" sz="2400" b="1" dirty="0" smtClean="0">
                <a:solidFill>
                  <a:srgbClr val="7030A0"/>
                </a:solidFill>
              </a:rPr>
              <a:t>A </a:t>
            </a:r>
            <a:r>
              <a:rPr lang="en-US" sz="2400" b="1" dirty="0">
                <a:solidFill>
                  <a:srgbClr val="7030A0"/>
                </a:solidFill>
              </a:rPr>
              <a:t>dependent data </a:t>
            </a:r>
            <a:r>
              <a:rPr lang="en-US" sz="2400" dirty="0"/>
              <a:t>mart is a subset that is created directly from the data warehouse. It has the advantages of using a consistent data model and providing quality data. </a:t>
            </a:r>
            <a:endParaRPr lang="en-US" sz="2400" dirty="0" smtClean="0">
              <a:solidFill>
                <a:srgbClr val="7030A0"/>
              </a:solidFill>
            </a:endParaRPr>
          </a:p>
          <a:p>
            <a:pPr marL="342900" indent="-342900" algn="just">
              <a:buFont typeface="Wingdings" panose="05000000000000000000" pitchFamily="2" charset="2"/>
              <a:buChar char="à"/>
            </a:pPr>
            <a:r>
              <a:rPr lang="en-US" sz="2400" b="1" dirty="0" smtClean="0"/>
              <a:t>Dependent </a:t>
            </a:r>
            <a:r>
              <a:rPr lang="en-US" sz="2400" b="1" dirty="0"/>
              <a:t>DMs </a:t>
            </a:r>
            <a:r>
              <a:rPr lang="en-US" sz="2400" dirty="0"/>
              <a:t>support the concept of a </a:t>
            </a:r>
            <a:r>
              <a:rPr lang="en-US" sz="2400" b="1" dirty="0">
                <a:solidFill>
                  <a:srgbClr val="FF0000"/>
                </a:solidFill>
                <a:effectLst>
                  <a:outerShdw blurRad="38100" dist="38100" dir="2700000" algn="tl">
                    <a:srgbClr val="000000">
                      <a:alpha val="43137"/>
                    </a:srgbClr>
                  </a:outerShdw>
                </a:effectLst>
              </a:rPr>
              <a:t>single enterprise-wide </a:t>
            </a:r>
            <a:r>
              <a:rPr lang="en-US" sz="2400" dirty="0"/>
              <a:t>data model, but the data warehouse must be constructed first. </a:t>
            </a:r>
            <a:endParaRPr lang="en-US" sz="2400" dirty="0" smtClean="0"/>
          </a:p>
          <a:p>
            <a:pPr marL="342900" indent="-342900" algn="just">
              <a:buFont typeface="Wingdings" panose="05000000000000000000" pitchFamily="2" charset="2"/>
              <a:buChar char="à"/>
            </a:pPr>
            <a:r>
              <a:rPr lang="en-US" sz="2400" dirty="0" smtClean="0"/>
              <a:t>A </a:t>
            </a:r>
            <a:r>
              <a:rPr lang="en-US" sz="2400" b="1" dirty="0">
                <a:solidFill>
                  <a:schemeClr val="accent2">
                    <a:lumMod val="75000"/>
                  </a:schemeClr>
                </a:solidFill>
              </a:rPr>
              <a:t>dependent DM </a:t>
            </a:r>
            <a:r>
              <a:rPr lang="en-US" sz="2400" dirty="0"/>
              <a:t>ensures that the end user is viewing the same version of the data that is accessed by all other data warehouse users. The high cost of data warehouses limits their use to large companies.</a:t>
            </a:r>
          </a:p>
        </p:txBody>
      </p:sp>
    </p:spTree>
    <p:extLst>
      <p:ext uri="{BB962C8B-B14F-4D97-AF65-F5344CB8AC3E}">
        <p14:creationId xmlns:p14="http://schemas.microsoft.com/office/powerpoint/2010/main" val="32634854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2688" y="416159"/>
            <a:ext cx="10378440" cy="1384995"/>
          </a:xfrm>
          <a:prstGeom prst="rect">
            <a:avLst/>
          </a:prstGeom>
        </p:spPr>
        <p:txBody>
          <a:bodyPr wrap="square">
            <a:spAutoFit/>
          </a:bodyPr>
          <a:lstStyle/>
          <a:p>
            <a:pPr algn="just"/>
            <a:r>
              <a:rPr lang="en-US" sz="2400" b="1" dirty="0">
                <a:solidFill>
                  <a:srgbClr val="7030A0"/>
                </a:solidFill>
                <a:effectLst>
                  <a:outerShdw blurRad="38100" dist="38100" dir="2700000" algn="tl">
                    <a:srgbClr val="000000">
                      <a:alpha val="43137"/>
                    </a:srgbClr>
                  </a:outerShdw>
                </a:effectLst>
              </a:rPr>
              <a:t>An independent data </a:t>
            </a:r>
            <a:r>
              <a:rPr lang="en-US" sz="2400" dirty="0"/>
              <a:t>mart is a small warehouse designed for a strategic business unit or a department, but its source is not an </a:t>
            </a:r>
            <a:r>
              <a:rPr lang="en-US" sz="2400" b="1" dirty="0" smtClean="0">
                <a:solidFill>
                  <a:srgbClr val="FF0000"/>
                </a:solidFill>
              </a:rPr>
              <a:t>EDW</a:t>
            </a:r>
            <a:r>
              <a:rPr lang="en-US" sz="2400" dirty="0" smtClean="0"/>
              <a:t>.</a:t>
            </a:r>
          </a:p>
          <a:p>
            <a:pPr algn="just"/>
            <a:endParaRPr lang="en-US" sz="1200" dirty="0"/>
          </a:p>
          <a:p>
            <a:pPr algn="just"/>
            <a:r>
              <a:rPr lang="en-US" sz="2400" dirty="0" smtClean="0"/>
              <a:t>EDW = ?</a:t>
            </a:r>
            <a:endParaRPr lang="en-US" sz="2400" dirty="0"/>
          </a:p>
        </p:txBody>
      </p:sp>
      <p:sp>
        <p:nvSpPr>
          <p:cNvPr id="3" name="Rectangle 2"/>
          <p:cNvSpPr/>
          <p:nvPr/>
        </p:nvSpPr>
        <p:spPr>
          <a:xfrm>
            <a:off x="932688" y="1860679"/>
            <a:ext cx="10378439" cy="4493538"/>
          </a:xfrm>
          <a:prstGeom prst="rect">
            <a:avLst/>
          </a:prstGeom>
        </p:spPr>
        <p:txBody>
          <a:bodyPr wrap="square">
            <a:spAutoFit/>
          </a:bodyPr>
          <a:lstStyle/>
          <a:p>
            <a:pPr algn="just"/>
            <a:r>
              <a:rPr lang="en-US" sz="2400" b="1" dirty="0">
                <a:solidFill>
                  <a:schemeClr val="accent6">
                    <a:lumMod val="75000"/>
                  </a:schemeClr>
                </a:solidFill>
                <a:effectLst>
                  <a:outerShdw blurRad="38100" dist="38100" dir="2700000" algn="tl">
                    <a:srgbClr val="000000">
                      <a:alpha val="43137"/>
                    </a:srgbClr>
                  </a:outerShdw>
                </a:effectLst>
              </a:rPr>
              <a:t>Operational Data </a:t>
            </a:r>
            <a:r>
              <a:rPr lang="en-US" sz="2400" b="1" dirty="0" smtClean="0">
                <a:solidFill>
                  <a:schemeClr val="accent6">
                    <a:lumMod val="75000"/>
                  </a:schemeClr>
                </a:solidFill>
                <a:effectLst>
                  <a:outerShdw blurRad="38100" dist="38100" dir="2700000" algn="tl">
                    <a:srgbClr val="000000">
                      <a:alpha val="43137"/>
                    </a:srgbClr>
                  </a:outerShdw>
                </a:effectLst>
              </a:rPr>
              <a:t>Stores. </a:t>
            </a:r>
            <a:r>
              <a:rPr lang="en-US" sz="2400" b="1" dirty="0"/>
              <a:t>An operational data store (ODS)</a:t>
            </a:r>
            <a:r>
              <a:rPr lang="en-US" sz="2400" dirty="0"/>
              <a:t> provides a fairly recent form of customer information file. This type of database is often used as an interim staging area for a data warehouse. Unlike the static contents of a data warehouse, the contents of an ODS are updated throughout the course of business operations. </a:t>
            </a:r>
            <a:endParaRPr lang="en-US" sz="2400" dirty="0" smtClean="0"/>
          </a:p>
          <a:p>
            <a:pPr algn="just"/>
            <a:endParaRPr lang="en-US" sz="1200" dirty="0"/>
          </a:p>
          <a:p>
            <a:pPr algn="just"/>
            <a:r>
              <a:rPr lang="en-US" sz="2400" b="1" dirty="0" smtClean="0">
                <a:solidFill>
                  <a:schemeClr val="accent6">
                    <a:lumMod val="75000"/>
                  </a:schemeClr>
                </a:solidFill>
                <a:effectLst>
                  <a:outerShdw blurRad="38100" dist="38100" dir="2700000" algn="tl">
                    <a:srgbClr val="000000">
                      <a:alpha val="43137"/>
                    </a:srgbClr>
                  </a:outerShdw>
                </a:effectLst>
              </a:rPr>
              <a:t>An </a:t>
            </a:r>
            <a:r>
              <a:rPr lang="en-US" sz="2400" b="1" dirty="0">
                <a:solidFill>
                  <a:schemeClr val="accent6">
                    <a:lumMod val="75000"/>
                  </a:schemeClr>
                </a:solidFill>
                <a:effectLst>
                  <a:outerShdw blurRad="38100" dist="38100" dir="2700000" algn="tl">
                    <a:srgbClr val="000000">
                      <a:alpha val="43137"/>
                    </a:srgbClr>
                  </a:outerShdw>
                </a:effectLst>
              </a:rPr>
              <a:t>ODS</a:t>
            </a:r>
            <a:r>
              <a:rPr lang="en-US" sz="2400" dirty="0"/>
              <a:t> is used for short-term decisions involving mission-critical applications rather than for the medium- and long-term </a:t>
            </a:r>
            <a:r>
              <a:rPr lang="en-US" sz="2400" dirty="0" smtClean="0"/>
              <a:t>decisions </a:t>
            </a:r>
            <a:r>
              <a:rPr lang="en-US" sz="2400" dirty="0"/>
              <a:t>associated with an EDW. An ODS is similar to short-term memory in that it stores only very recent </a:t>
            </a:r>
            <a:r>
              <a:rPr lang="en-US" sz="2400" dirty="0" smtClean="0"/>
              <a:t>information</a:t>
            </a:r>
          </a:p>
          <a:p>
            <a:pPr algn="just"/>
            <a:endParaRPr lang="en-US" sz="1000" dirty="0"/>
          </a:p>
          <a:p>
            <a:pPr algn="just"/>
            <a:r>
              <a:rPr lang="en-US" sz="2400" dirty="0"/>
              <a:t>In comparison, a data warehouse is like long-term </a:t>
            </a:r>
            <a:r>
              <a:rPr lang="en-US" sz="2400" dirty="0" smtClean="0"/>
              <a:t>memory </a:t>
            </a:r>
            <a:r>
              <a:rPr lang="en-US" sz="2400" dirty="0"/>
              <a:t>because it stores permanent information. </a:t>
            </a:r>
            <a:r>
              <a:rPr lang="en-US" sz="2400" b="1" i="1" u="sng" dirty="0">
                <a:effectLst>
                  <a:outerShdw blurRad="38100" dist="38100" dir="2700000" algn="tl">
                    <a:srgbClr val="000000">
                      <a:alpha val="43137"/>
                    </a:srgbClr>
                  </a:outerShdw>
                </a:effectLst>
              </a:rPr>
              <a:t>An ODS consolidates </a:t>
            </a:r>
            <a:r>
              <a:rPr lang="en-US" sz="2400" dirty="0"/>
              <a:t>data from multiple source systems and provides a near–real-time, integrated view of volatile, current data. </a:t>
            </a:r>
          </a:p>
        </p:txBody>
      </p:sp>
    </p:spTree>
    <p:extLst>
      <p:ext uri="{BB962C8B-B14F-4D97-AF65-F5344CB8AC3E}">
        <p14:creationId xmlns:p14="http://schemas.microsoft.com/office/powerpoint/2010/main" val="29875144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6464" y="1062472"/>
            <a:ext cx="9317736" cy="4679960"/>
          </a:xfrm>
          <a:prstGeom prst="rect">
            <a:avLst/>
          </a:prstGeom>
        </p:spPr>
        <p:txBody>
          <a:bodyPr wrap="square">
            <a:spAutoFit/>
          </a:bodyPr>
          <a:lstStyle/>
          <a:p>
            <a:pPr algn="ctr"/>
            <a:r>
              <a:rPr lang="en-US" sz="3200" b="1" dirty="0">
                <a:solidFill>
                  <a:srgbClr val="7030A0"/>
                </a:solidFill>
                <a:effectLst>
                  <a:outerShdw blurRad="38100" dist="38100" dir="2700000" algn="tl">
                    <a:srgbClr val="000000">
                      <a:alpha val="43137"/>
                    </a:srgbClr>
                  </a:outerShdw>
                </a:effectLst>
              </a:rPr>
              <a:t>Enterprise Data Warehouses (EDW) </a:t>
            </a:r>
            <a:endParaRPr lang="en-US" sz="3200" b="1" dirty="0" smtClean="0">
              <a:solidFill>
                <a:srgbClr val="7030A0"/>
              </a:solidFill>
              <a:effectLst>
                <a:outerShdw blurRad="38100" dist="38100" dir="2700000" algn="tl">
                  <a:srgbClr val="000000">
                    <a:alpha val="43137"/>
                  </a:srgbClr>
                </a:outerShdw>
              </a:effectLst>
            </a:endParaRPr>
          </a:p>
          <a:p>
            <a:pPr algn="just"/>
            <a:endParaRPr lang="en-US" sz="1200" b="1" dirty="0">
              <a:solidFill>
                <a:srgbClr val="7030A0"/>
              </a:solidFill>
              <a:effectLst>
                <a:outerShdw blurRad="38100" dist="38100" dir="2700000" algn="tl">
                  <a:srgbClr val="000000">
                    <a:alpha val="43137"/>
                  </a:srgbClr>
                </a:outerShdw>
              </a:effectLst>
            </a:endParaRPr>
          </a:p>
          <a:p>
            <a:pPr algn="just"/>
            <a:r>
              <a:rPr lang="en-US" sz="2400" dirty="0" smtClean="0"/>
              <a:t>An </a:t>
            </a:r>
            <a:r>
              <a:rPr lang="en-US" sz="2400" dirty="0"/>
              <a:t>enterprise data warehouse (EDW) is a large-scale data warehouse that is used across the enterprise for decision support. The large-scale nature of an EDW provides integration of data from many sources into a standard format for effective BI and decision support applications. </a:t>
            </a:r>
            <a:endParaRPr lang="en-US" sz="2400" dirty="0" smtClean="0"/>
          </a:p>
          <a:p>
            <a:pPr algn="just"/>
            <a:endParaRPr lang="en-US" sz="1200" dirty="0"/>
          </a:p>
          <a:p>
            <a:pPr algn="just"/>
            <a:r>
              <a:rPr lang="en-US" sz="2400" dirty="0" smtClean="0"/>
              <a:t>EDWs </a:t>
            </a:r>
            <a:r>
              <a:rPr lang="en-US" sz="2400" dirty="0"/>
              <a:t>are used to provide data for many types of decision support systems (DSS), including customer relationship management (CRM), supply chain management (SCM), business performance management (BPM), business activity monitoring, product life cycle management, revenue management, and sometimes even knowledge </a:t>
            </a:r>
            <a:r>
              <a:rPr lang="en-US" sz="2400" dirty="0" smtClean="0"/>
              <a:t>management systems.</a:t>
            </a:r>
            <a:endParaRPr lang="en-US" sz="2400" dirty="0"/>
          </a:p>
        </p:txBody>
      </p:sp>
    </p:spTree>
    <p:extLst>
      <p:ext uri="{BB962C8B-B14F-4D97-AF65-F5344CB8AC3E}">
        <p14:creationId xmlns:p14="http://schemas.microsoft.com/office/powerpoint/2010/main" val="601352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66858" y="586359"/>
            <a:ext cx="9007485" cy="4754880"/>
          </a:xfrm>
          <a:prstGeom prst="rect">
            <a:avLst/>
          </a:prstGeom>
        </p:spPr>
      </p:pic>
      <p:sp>
        <p:nvSpPr>
          <p:cNvPr id="3" name="Rectangle 2"/>
          <p:cNvSpPr/>
          <p:nvPr/>
        </p:nvSpPr>
        <p:spPr>
          <a:xfrm>
            <a:off x="2688066" y="5603486"/>
            <a:ext cx="7222042" cy="584775"/>
          </a:xfrm>
          <a:prstGeom prst="rect">
            <a:avLst/>
          </a:prstGeom>
        </p:spPr>
        <p:txBody>
          <a:bodyPr wrap="none">
            <a:spAutoFit/>
          </a:bodyPr>
          <a:lstStyle/>
          <a:p>
            <a:r>
              <a:rPr lang="en-US" sz="3200" b="1" dirty="0">
                <a:solidFill>
                  <a:srgbClr val="7030A0"/>
                </a:solidFill>
                <a:effectLst>
                  <a:outerShdw blurRad="38100" dist="38100" dir="2700000" algn="tl">
                    <a:srgbClr val="000000">
                      <a:alpha val="43137"/>
                    </a:srgbClr>
                  </a:outerShdw>
                </a:effectLst>
              </a:rPr>
              <a:t>A Data Warehouse Framework and Views</a:t>
            </a:r>
          </a:p>
        </p:txBody>
      </p:sp>
    </p:spTree>
    <p:extLst>
      <p:ext uri="{BB962C8B-B14F-4D97-AF65-F5344CB8AC3E}">
        <p14:creationId xmlns:p14="http://schemas.microsoft.com/office/powerpoint/2010/main" val="26171439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2139</TotalTime>
  <Words>1044</Words>
  <Application>Microsoft Office PowerPoint</Application>
  <PresentationFormat>Widescreen</PresentationFormat>
  <Paragraphs>61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MN</cp:lastModifiedBy>
  <cp:revision>37</cp:revision>
  <dcterms:created xsi:type="dcterms:W3CDTF">2024-09-10T14:03:28Z</dcterms:created>
  <dcterms:modified xsi:type="dcterms:W3CDTF">2024-09-30T13:27:30Z</dcterms:modified>
</cp:coreProperties>
</file>