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7" r:id="rId2"/>
    <p:sldId id="268" r:id="rId3"/>
    <p:sldId id="269" r:id="rId4"/>
    <p:sldId id="270" r:id="rId5"/>
    <p:sldId id="271" r:id="rId6"/>
    <p:sldId id="263" r:id="rId7"/>
    <p:sldId id="257" r:id="rId8"/>
    <p:sldId id="258" r:id="rId9"/>
    <p:sldId id="259" r:id="rId10"/>
    <p:sldId id="264" r:id="rId11"/>
    <p:sldId id="260" r:id="rId12"/>
    <p:sldId id="261" r:id="rId13"/>
    <p:sldId id="262" r:id="rId14"/>
    <p:sldId id="265" r:id="rId15"/>
    <p:sldId id="266"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4" d="100"/>
          <a:sy n="84" d="100"/>
        </p:scale>
        <p:origin x="629"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FFBD364-5B38-49DE-BE0A-BF72C2DB64A0}" type="datetimeFigureOut">
              <a:rPr lang="en-US" smtClean="0"/>
              <a:t>7/13/2025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2E73AD-3358-4D94-8F74-49954A7C600B}" type="slidenum">
              <a:rPr lang="en-US" smtClean="0"/>
              <a:t>‹#›</a:t>
            </a:fld>
            <a:endParaRPr lang="en-US"/>
          </a:p>
        </p:txBody>
      </p:sp>
    </p:spTree>
    <p:extLst>
      <p:ext uri="{BB962C8B-B14F-4D97-AF65-F5344CB8AC3E}">
        <p14:creationId xmlns:p14="http://schemas.microsoft.com/office/powerpoint/2010/main" val="15872279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FFBD364-5B38-49DE-BE0A-BF72C2DB64A0}" type="datetimeFigureOut">
              <a:rPr lang="en-US" smtClean="0"/>
              <a:t>7/13/2025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2E73AD-3358-4D94-8F74-49954A7C600B}" type="slidenum">
              <a:rPr lang="en-US" smtClean="0"/>
              <a:t>‹#›</a:t>
            </a:fld>
            <a:endParaRPr lang="en-US"/>
          </a:p>
        </p:txBody>
      </p:sp>
    </p:spTree>
    <p:extLst>
      <p:ext uri="{BB962C8B-B14F-4D97-AF65-F5344CB8AC3E}">
        <p14:creationId xmlns:p14="http://schemas.microsoft.com/office/powerpoint/2010/main" val="3099792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FFBD364-5B38-49DE-BE0A-BF72C2DB64A0}" type="datetimeFigureOut">
              <a:rPr lang="en-US" smtClean="0"/>
              <a:t>7/13/2025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2E73AD-3358-4D94-8F74-49954A7C600B}" type="slidenum">
              <a:rPr lang="en-US" smtClean="0"/>
              <a:t>‹#›</a:t>
            </a:fld>
            <a:endParaRPr lang="en-US"/>
          </a:p>
        </p:txBody>
      </p:sp>
    </p:spTree>
    <p:extLst>
      <p:ext uri="{BB962C8B-B14F-4D97-AF65-F5344CB8AC3E}">
        <p14:creationId xmlns:p14="http://schemas.microsoft.com/office/powerpoint/2010/main" val="1221287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FFBD364-5B38-49DE-BE0A-BF72C2DB64A0}" type="datetimeFigureOut">
              <a:rPr lang="en-US" smtClean="0"/>
              <a:t>7/13/2025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02E73AD-3358-4D94-8F74-49954A7C600B}" type="slidenum">
              <a:rPr lang="en-US" smtClean="0"/>
              <a:t>‹#›</a:t>
            </a:fld>
            <a:endParaRPr lang="en-US"/>
          </a:p>
        </p:txBody>
      </p:sp>
    </p:spTree>
    <p:extLst>
      <p:ext uri="{BB962C8B-B14F-4D97-AF65-F5344CB8AC3E}">
        <p14:creationId xmlns:p14="http://schemas.microsoft.com/office/powerpoint/2010/main" val="37801830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FFBD364-5B38-49DE-BE0A-BF72C2DB64A0}" type="datetimeFigureOut">
              <a:rPr lang="en-US" smtClean="0"/>
              <a:t>7/13/2025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02E73AD-3358-4D94-8F74-49954A7C600B}" type="slidenum">
              <a:rPr lang="en-US" smtClean="0"/>
              <a:t>‹#›</a:t>
            </a:fld>
            <a:endParaRPr lang="en-US"/>
          </a:p>
        </p:txBody>
      </p:sp>
    </p:spTree>
    <p:extLst>
      <p:ext uri="{BB962C8B-B14F-4D97-AF65-F5344CB8AC3E}">
        <p14:creationId xmlns:p14="http://schemas.microsoft.com/office/powerpoint/2010/main" val="7139581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FFBD364-5B38-49DE-BE0A-BF72C2DB64A0}" type="datetimeFigureOut">
              <a:rPr lang="en-US" smtClean="0"/>
              <a:t>7/13/2025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02E73AD-3358-4D94-8F74-49954A7C600B}" type="slidenum">
              <a:rPr lang="en-US" smtClean="0"/>
              <a:t>‹#›</a:t>
            </a:fld>
            <a:endParaRPr lang="en-US"/>
          </a:p>
        </p:txBody>
      </p:sp>
    </p:spTree>
    <p:extLst>
      <p:ext uri="{BB962C8B-B14F-4D97-AF65-F5344CB8AC3E}">
        <p14:creationId xmlns:p14="http://schemas.microsoft.com/office/powerpoint/2010/main" val="34195169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FFBD364-5B38-49DE-BE0A-BF72C2DB64A0}" type="datetimeFigureOut">
              <a:rPr lang="en-US" smtClean="0"/>
              <a:t>7/13/2025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02E73AD-3358-4D94-8F74-49954A7C600B}" type="slidenum">
              <a:rPr lang="en-US" smtClean="0"/>
              <a:t>‹#›</a:t>
            </a:fld>
            <a:endParaRPr lang="en-US"/>
          </a:p>
        </p:txBody>
      </p:sp>
    </p:spTree>
    <p:extLst>
      <p:ext uri="{BB962C8B-B14F-4D97-AF65-F5344CB8AC3E}">
        <p14:creationId xmlns:p14="http://schemas.microsoft.com/office/powerpoint/2010/main" val="36402507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FFBD364-5B38-49DE-BE0A-BF72C2DB64A0}" type="datetimeFigureOut">
              <a:rPr lang="en-US" smtClean="0"/>
              <a:t>7/13/2025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02E73AD-3358-4D94-8F74-49954A7C600B}" type="slidenum">
              <a:rPr lang="en-US" smtClean="0"/>
              <a:t>‹#›</a:t>
            </a:fld>
            <a:endParaRPr lang="en-US"/>
          </a:p>
        </p:txBody>
      </p:sp>
    </p:spTree>
    <p:extLst>
      <p:ext uri="{BB962C8B-B14F-4D97-AF65-F5344CB8AC3E}">
        <p14:creationId xmlns:p14="http://schemas.microsoft.com/office/powerpoint/2010/main" val="29629314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FFBD364-5B38-49DE-BE0A-BF72C2DB64A0}" type="datetimeFigureOut">
              <a:rPr lang="en-US" smtClean="0"/>
              <a:t>7/13/2025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02E73AD-3358-4D94-8F74-49954A7C600B}" type="slidenum">
              <a:rPr lang="en-US" smtClean="0"/>
              <a:t>‹#›</a:t>
            </a:fld>
            <a:endParaRPr lang="en-US"/>
          </a:p>
        </p:txBody>
      </p:sp>
    </p:spTree>
    <p:extLst>
      <p:ext uri="{BB962C8B-B14F-4D97-AF65-F5344CB8AC3E}">
        <p14:creationId xmlns:p14="http://schemas.microsoft.com/office/powerpoint/2010/main" val="38123939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FFBD364-5B38-49DE-BE0A-BF72C2DB64A0}" type="datetimeFigureOut">
              <a:rPr lang="en-US" smtClean="0"/>
              <a:t>7/13/2025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2E73AD-3358-4D94-8F74-49954A7C600B}" type="slidenum">
              <a:rPr lang="en-US" smtClean="0"/>
              <a:t>‹#›</a:t>
            </a:fld>
            <a:endParaRPr lang="en-US"/>
          </a:p>
        </p:txBody>
      </p:sp>
    </p:spTree>
    <p:extLst>
      <p:ext uri="{BB962C8B-B14F-4D97-AF65-F5344CB8AC3E}">
        <p14:creationId xmlns:p14="http://schemas.microsoft.com/office/powerpoint/2010/main" val="31415400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FFBD364-5B38-49DE-BE0A-BF72C2DB64A0}" type="datetimeFigureOut">
              <a:rPr lang="en-US" smtClean="0"/>
              <a:t>7/13/2025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2E73AD-3358-4D94-8F74-49954A7C600B}" type="slidenum">
              <a:rPr lang="en-US" smtClean="0"/>
              <a:t>‹#›</a:t>
            </a:fld>
            <a:endParaRPr lang="en-US"/>
          </a:p>
        </p:txBody>
      </p:sp>
    </p:spTree>
    <p:extLst>
      <p:ext uri="{BB962C8B-B14F-4D97-AF65-F5344CB8AC3E}">
        <p14:creationId xmlns:p14="http://schemas.microsoft.com/office/powerpoint/2010/main" val="37445471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FFBD364-5B38-49DE-BE0A-BF72C2DB64A0}" type="datetimeFigureOut">
              <a:rPr lang="en-US" smtClean="0"/>
              <a:t>7/13/2025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02E73AD-3358-4D94-8F74-49954A7C600B}" type="slidenum">
              <a:rPr lang="en-US" smtClean="0"/>
              <a:t>‹#›</a:t>
            </a:fld>
            <a:endParaRPr lang="en-US"/>
          </a:p>
        </p:txBody>
      </p:sp>
    </p:spTree>
    <p:extLst>
      <p:ext uri="{BB962C8B-B14F-4D97-AF65-F5344CB8AC3E}">
        <p14:creationId xmlns:p14="http://schemas.microsoft.com/office/powerpoint/2010/main" val="18336253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59536" y="303752"/>
            <a:ext cx="10543032" cy="3477875"/>
          </a:xfrm>
          <a:prstGeom prst="rect">
            <a:avLst/>
          </a:prstGeom>
        </p:spPr>
        <p:txBody>
          <a:bodyPr wrap="square">
            <a:spAutoFit/>
          </a:bodyPr>
          <a:lstStyle/>
          <a:p>
            <a:pPr algn="just"/>
            <a:r>
              <a:rPr lang="en-US" sz="2400" b="1" dirty="0">
                <a:solidFill>
                  <a:srgbClr val="FF0000"/>
                </a:solidFill>
              </a:rPr>
              <a:t>A uniform distribution </a:t>
            </a:r>
            <a:r>
              <a:rPr lang="en-US" sz="2400" dirty="0"/>
              <a:t>is </a:t>
            </a:r>
            <a:r>
              <a:rPr lang="en-US" sz="2400" b="1" dirty="0"/>
              <a:t>a continuous random variable in which all values between a minimum value and a maximum value have the same probability</a:t>
            </a:r>
            <a:r>
              <a:rPr lang="en-US" sz="2400" dirty="0"/>
              <a:t>. The probability density function is the constant function f(x)=1/(b‐a), which creates a rectangular shape</a:t>
            </a:r>
            <a:r>
              <a:rPr lang="en-US" sz="2400" dirty="0" smtClean="0"/>
              <a:t>.</a:t>
            </a:r>
          </a:p>
          <a:p>
            <a:pPr algn="just"/>
            <a:endParaRPr lang="en-US" sz="600" dirty="0"/>
          </a:p>
          <a:p>
            <a:r>
              <a:rPr lang="en-US" b="1" dirty="0"/>
              <a:t>Graphing Distributions and Finding Probabilities</a:t>
            </a:r>
          </a:p>
          <a:p>
            <a:pPr algn="just"/>
            <a:r>
              <a:rPr lang="en-US" dirty="0"/>
              <a:t>Graphing is a great way to see what uniform distributions look like and find probabilities. Below, I’ll graph discrete and continuous forms of the distribution.</a:t>
            </a:r>
          </a:p>
          <a:p>
            <a:pPr algn="just"/>
            <a:endParaRPr lang="en-US" sz="600" dirty="0" smtClean="0"/>
          </a:p>
          <a:p>
            <a:pPr algn="just"/>
            <a:r>
              <a:rPr lang="en-US" b="1" dirty="0" smtClean="0">
                <a:solidFill>
                  <a:schemeClr val="accent6">
                    <a:lumMod val="75000"/>
                  </a:schemeClr>
                </a:solidFill>
                <a:effectLst>
                  <a:outerShdw blurRad="38100" dist="38100" dir="2700000" algn="tl">
                    <a:srgbClr val="000000">
                      <a:alpha val="43137"/>
                    </a:srgbClr>
                  </a:outerShdw>
                </a:effectLst>
              </a:rPr>
              <a:t>For </a:t>
            </a:r>
            <a:r>
              <a:rPr lang="en-US" b="1" dirty="0">
                <a:solidFill>
                  <a:schemeClr val="accent6">
                    <a:lumMod val="75000"/>
                  </a:schemeClr>
                </a:solidFill>
                <a:effectLst>
                  <a:outerShdw blurRad="38100" dist="38100" dir="2700000" algn="tl">
                    <a:srgbClr val="000000">
                      <a:alpha val="43137"/>
                    </a:srgbClr>
                  </a:outerShdw>
                </a:effectLst>
              </a:rPr>
              <a:t>discrete uniform distributions, finding the probability for each outcome is 1/n, where n is the number of outcomes. Rolling dice has six outcomes that are uniformly distributed. Therefore, each one has a likelihood of 1/6 = 0.167. The bar chart below displays the rectangular-shaped distribution</a:t>
            </a:r>
            <a:r>
              <a:rPr lang="en-US" b="1" dirty="0" smtClean="0">
                <a:solidFill>
                  <a:schemeClr val="accent6">
                    <a:lumMod val="75000"/>
                  </a:schemeClr>
                </a:solidFill>
                <a:effectLst>
                  <a:outerShdw blurRad="38100" dist="38100" dir="2700000" algn="tl">
                    <a:srgbClr val="000000">
                      <a:alpha val="43137"/>
                    </a:srgbClr>
                  </a:outerShdw>
                </a:effectLst>
              </a:rPr>
              <a:t>.</a:t>
            </a:r>
            <a:endParaRPr lang="en-US" b="1" dirty="0">
              <a:solidFill>
                <a:schemeClr val="accent6">
                  <a:lumMod val="75000"/>
                </a:schemeClr>
              </a:solidFill>
              <a:effectLst>
                <a:outerShdw blurRad="38100" dist="38100" dir="2700000" algn="tl">
                  <a:srgbClr val="000000">
                    <a:alpha val="43137"/>
                  </a:srgbClr>
                </a:outerShdw>
              </a:effectLst>
            </a:endParaRPr>
          </a:p>
        </p:txBody>
      </p:sp>
      <p:pic>
        <p:nvPicPr>
          <p:cNvPr id="3" name="Picture 2"/>
          <p:cNvPicPr>
            <a:picLocks noChangeAspect="1"/>
          </p:cNvPicPr>
          <p:nvPr/>
        </p:nvPicPr>
        <p:blipFill>
          <a:blip r:embed="rId2"/>
          <a:stretch>
            <a:fillRect/>
          </a:stretch>
        </p:blipFill>
        <p:spPr>
          <a:xfrm>
            <a:off x="3681984" y="3670756"/>
            <a:ext cx="4572000" cy="3067050"/>
          </a:xfrm>
          <a:prstGeom prst="rect">
            <a:avLst/>
          </a:prstGeom>
        </p:spPr>
      </p:pic>
    </p:spTree>
    <p:extLst>
      <p:ext uri="{BB962C8B-B14F-4D97-AF65-F5344CB8AC3E}">
        <p14:creationId xmlns:p14="http://schemas.microsoft.com/office/powerpoint/2010/main" val="115651683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261872" y="606844"/>
            <a:ext cx="9701784" cy="1200329"/>
          </a:xfrm>
          <a:prstGeom prst="rect">
            <a:avLst/>
          </a:prstGeom>
        </p:spPr>
        <p:txBody>
          <a:bodyPr wrap="square">
            <a:spAutoFit/>
          </a:bodyPr>
          <a:lstStyle/>
          <a:p>
            <a:pPr algn="just"/>
            <a:r>
              <a:rPr lang="en-US" sz="2400" b="1" dirty="0">
                <a:solidFill>
                  <a:srgbClr val="FF0000"/>
                </a:solidFill>
              </a:rPr>
              <a:t>A left-skewed distribution </a:t>
            </a:r>
            <a:r>
              <a:rPr lang="en-US" sz="2400" dirty="0"/>
              <a:t>is </a:t>
            </a:r>
            <a:r>
              <a:rPr lang="en-US" sz="2400" b="1" dirty="0"/>
              <a:t>longer on the left side of its peak than on its right</a:t>
            </a:r>
            <a:r>
              <a:rPr lang="en-US" sz="2400" dirty="0"/>
              <a:t>. In other words, a left-skewed distribution has a long tail on its left side. Left skew is also referred to as negative skew</a:t>
            </a:r>
            <a:r>
              <a:rPr lang="en-US" sz="2400" dirty="0" smtClean="0"/>
              <a:t>.    [</a:t>
            </a:r>
            <a:r>
              <a:rPr lang="en-US" sz="2400" i="1" dirty="0" smtClean="0"/>
              <a:t>epoch example</a:t>
            </a:r>
            <a:r>
              <a:rPr lang="en-US" sz="2400" dirty="0" smtClean="0"/>
              <a:t>]</a:t>
            </a:r>
            <a:endParaRPr lang="en-US" sz="2400" dirty="0"/>
          </a:p>
        </p:txBody>
      </p:sp>
      <p:pic>
        <p:nvPicPr>
          <p:cNvPr id="5" name="Picture 4"/>
          <p:cNvPicPr>
            <a:picLocks noChangeAspect="1"/>
          </p:cNvPicPr>
          <p:nvPr/>
        </p:nvPicPr>
        <p:blipFill>
          <a:blip r:embed="rId2"/>
          <a:stretch>
            <a:fillRect/>
          </a:stretch>
        </p:blipFill>
        <p:spPr>
          <a:xfrm>
            <a:off x="2814447" y="2191514"/>
            <a:ext cx="6217920" cy="4175982"/>
          </a:xfrm>
          <a:prstGeom prst="rect">
            <a:avLst/>
          </a:prstGeom>
        </p:spPr>
      </p:pic>
    </p:spTree>
    <p:extLst>
      <p:ext uri="{BB962C8B-B14F-4D97-AF65-F5344CB8AC3E}">
        <p14:creationId xmlns:p14="http://schemas.microsoft.com/office/powerpoint/2010/main" val="117229999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179576" y="715232"/>
            <a:ext cx="9875520" cy="1938992"/>
          </a:xfrm>
          <a:prstGeom prst="rect">
            <a:avLst/>
          </a:prstGeom>
        </p:spPr>
        <p:txBody>
          <a:bodyPr wrap="square">
            <a:spAutoFit/>
          </a:bodyPr>
          <a:lstStyle/>
          <a:p>
            <a:pPr algn="just"/>
            <a:r>
              <a:rPr lang="en-US" sz="2400" b="1" dirty="0">
                <a:solidFill>
                  <a:srgbClr val="FF0000"/>
                </a:solidFill>
              </a:rPr>
              <a:t>Normal distribution</a:t>
            </a:r>
            <a:r>
              <a:rPr lang="en-US" sz="2400" dirty="0"/>
              <a:t>, also known as the Gaussian distribution, is a probability distribution </a:t>
            </a:r>
            <a:r>
              <a:rPr lang="en-US" sz="2400" b="1" u="sng" dirty="0"/>
              <a:t>that is symmetric about the mean</a:t>
            </a:r>
            <a:r>
              <a:rPr lang="en-US" sz="2400" dirty="0"/>
              <a:t>, </a:t>
            </a:r>
            <a:r>
              <a:rPr lang="en-US" sz="2400" u="sng" dirty="0">
                <a:solidFill>
                  <a:srgbClr val="FF0000"/>
                </a:solidFill>
              </a:rPr>
              <a:t>showing that data near the mean are more frequent in occurrence than data far from the mean</a:t>
            </a:r>
            <a:r>
              <a:rPr lang="en-US" sz="2400" dirty="0"/>
              <a:t>. The normal distribution appears as a "bell curve" when graphed. </a:t>
            </a:r>
            <a:endParaRPr lang="en-US" sz="2400" dirty="0" smtClean="0"/>
          </a:p>
          <a:p>
            <a:pPr algn="just"/>
            <a:endParaRPr lang="en-US" sz="2400" dirty="0"/>
          </a:p>
        </p:txBody>
      </p:sp>
      <p:pic>
        <p:nvPicPr>
          <p:cNvPr id="5" name="Picture 4"/>
          <p:cNvPicPr>
            <a:picLocks noChangeAspect="1"/>
          </p:cNvPicPr>
          <p:nvPr/>
        </p:nvPicPr>
        <p:blipFill>
          <a:blip r:embed="rId2"/>
          <a:stretch>
            <a:fillRect/>
          </a:stretch>
        </p:blipFill>
        <p:spPr>
          <a:xfrm>
            <a:off x="3275457" y="2535352"/>
            <a:ext cx="5669280" cy="3765909"/>
          </a:xfrm>
          <a:prstGeom prst="rect">
            <a:avLst/>
          </a:prstGeom>
        </p:spPr>
      </p:pic>
    </p:spTree>
    <p:extLst>
      <p:ext uri="{BB962C8B-B14F-4D97-AF65-F5344CB8AC3E}">
        <p14:creationId xmlns:p14="http://schemas.microsoft.com/office/powerpoint/2010/main" val="425239611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207008" y="670852"/>
            <a:ext cx="9683496" cy="1569660"/>
          </a:xfrm>
          <a:prstGeom prst="rect">
            <a:avLst/>
          </a:prstGeom>
        </p:spPr>
        <p:txBody>
          <a:bodyPr wrap="square">
            <a:spAutoFit/>
          </a:bodyPr>
          <a:lstStyle/>
          <a:p>
            <a:pPr algn="just"/>
            <a:r>
              <a:rPr lang="en-US" sz="2400" b="1" dirty="0">
                <a:solidFill>
                  <a:srgbClr val="FF0000"/>
                </a:solidFill>
              </a:rPr>
              <a:t>Positive correlation </a:t>
            </a:r>
            <a:r>
              <a:rPr lang="en-US" sz="2400" dirty="0"/>
              <a:t>refers to a relationship between two variables where they both increase or decrease together. It is </a:t>
            </a:r>
            <a:r>
              <a:rPr lang="en-US" sz="2400" b="1" dirty="0"/>
              <a:t>represented by a correlation coefficient ranging from 0 to +1</a:t>
            </a:r>
            <a:r>
              <a:rPr lang="en-US" sz="2400" dirty="0"/>
              <a:t>, indicating a strong positive relationship between the variables.</a:t>
            </a:r>
          </a:p>
        </p:txBody>
      </p:sp>
      <p:pic>
        <p:nvPicPr>
          <p:cNvPr id="5" name="Picture 4"/>
          <p:cNvPicPr>
            <a:picLocks noChangeAspect="1"/>
          </p:cNvPicPr>
          <p:nvPr/>
        </p:nvPicPr>
        <p:blipFill>
          <a:blip r:embed="rId2"/>
          <a:stretch>
            <a:fillRect/>
          </a:stretch>
        </p:blipFill>
        <p:spPr>
          <a:xfrm>
            <a:off x="8407147" y="2043303"/>
            <a:ext cx="2197588" cy="2286000"/>
          </a:xfrm>
          <a:prstGeom prst="rect">
            <a:avLst/>
          </a:prstGeom>
        </p:spPr>
      </p:pic>
      <p:pic>
        <p:nvPicPr>
          <p:cNvPr id="6" name="Picture 5"/>
          <p:cNvPicPr>
            <a:picLocks noChangeAspect="1"/>
          </p:cNvPicPr>
          <p:nvPr/>
        </p:nvPicPr>
        <p:blipFill>
          <a:blip r:embed="rId3"/>
          <a:stretch>
            <a:fillRect/>
          </a:stretch>
        </p:blipFill>
        <p:spPr>
          <a:xfrm>
            <a:off x="3119479" y="4329303"/>
            <a:ext cx="1920240" cy="1960245"/>
          </a:xfrm>
          <a:prstGeom prst="rect">
            <a:avLst/>
          </a:prstGeom>
        </p:spPr>
      </p:pic>
      <p:pic>
        <p:nvPicPr>
          <p:cNvPr id="7" name="Picture 6"/>
          <p:cNvPicPr>
            <a:picLocks noChangeAspect="1"/>
          </p:cNvPicPr>
          <p:nvPr/>
        </p:nvPicPr>
        <p:blipFill>
          <a:blip r:embed="rId4"/>
          <a:stretch>
            <a:fillRect/>
          </a:stretch>
        </p:blipFill>
        <p:spPr>
          <a:xfrm>
            <a:off x="6202299" y="4239577"/>
            <a:ext cx="1799927" cy="2011680"/>
          </a:xfrm>
          <a:prstGeom prst="rect">
            <a:avLst/>
          </a:prstGeom>
        </p:spPr>
      </p:pic>
    </p:spTree>
    <p:extLst>
      <p:ext uri="{BB962C8B-B14F-4D97-AF65-F5344CB8AC3E}">
        <p14:creationId xmlns:p14="http://schemas.microsoft.com/office/powerpoint/2010/main" val="226583370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700784" y="1410176"/>
            <a:ext cx="8869680" cy="1569660"/>
          </a:xfrm>
          <a:prstGeom prst="rect">
            <a:avLst/>
          </a:prstGeom>
        </p:spPr>
        <p:txBody>
          <a:bodyPr wrap="square">
            <a:spAutoFit/>
          </a:bodyPr>
          <a:lstStyle/>
          <a:p>
            <a:pPr algn="just"/>
            <a:r>
              <a:rPr lang="en-US" sz="2400" b="1" dirty="0">
                <a:solidFill>
                  <a:srgbClr val="FF0000"/>
                </a:solidFill>
              </a:rPr>
              <a:t>The linear correlation </a:t>
            </a:r>
            <a:r>
              <a:rPr lang="en-US" sz="2400" dirty="0"/>
              <a:t>coefficient is a number calculated from given data that measures the strength of the linear relationship between two variables: x and y. The sign of the linear correlation coefficient indicates the direction of the linear relationship between x and y.</a:t>
            </a:r>
          </a:p>
        </p:txBody>
      </p:sp>
      <p:sp>
        <p:nvSpPr>
          <p:cNvPr id="5" name="Rectangle 4"/>
          <p:cNvSpPr/>
          <p:nvPr/>
        </p:nvSpPr>
        <p:spPr>
          <a:xfrm>
            <a:off x="1732788" y="3412712"/>
            <a:ext cx="8805672" cy="1569660"/>
          </a:xfrm>
          <a:prstGeom prst="rect">
            <a:avLst/>
          </a:prstGeom>
        </p:spPr>
        <p:txBody>
          <a:bodyPr wrap="square">
            <a:spAutoFit/>
          </a:bodyPr>
          <a:lstStyle/>
          <a:p>
            <a:pPr algn="just"/>
            <a:r>
              <a:rPr lang="en-US" sz="2400" b="1" dirty="0" smtClean="0">
                <a:solidFill>
                  <a:srgbClr val="FF0000"/>
                </a:solidFill>
              </a:rPr>
              <a:t>Non-linear correlation </a:t>
            </a:r>
            <a:r>
              <a:rPr lang="en-US" sz="2400" dirty="0" smtClean="0"/>
              <a:t>is </a:t>
            </a:r>
            <a:r>
              <a:rPr lang="en-US" sz="2400" dirty="0"/>
              <a:t>defined as when the ratio of variations between two given variables changes. Example- with the 20% increase in the income the expenditure sometimes increase by 5% sometimes by 10% or by 15%. Hence, it is non-linear correlation. </a:t>
            </a:r>
          </a:p>
        </p:txBody>
      </p:sp>
    </p:spTree>
    <p:extLst>
      <p:ext uri="{BB962C8B-B14F-4D97-AF65-F5344CB8AC3E}">
        <p14:creationId xmlns:p14="http://schemas.microsoft.com/office/powerpoint/2010/main" val="39409619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914781" y="1906332"/>
            <a:ext cx="10329738" cy="4114800"/>
          </a:xfrm>
          <a:prstGeom prst="rect">
            <a:avLst/>
          </a:prstGeom>
        </p:spPr>
      </p:pic>
      <p:sp>
        <p:nvSpPr>
          <p:cNvPr id="3" name="Rectangle 2"/>
          <p:cNvSpPr/>
          <p:nvPr/>
        </p:nvSpPr>
        <p:spPr>
          <a:xfrm>
            <a:off x="1362456" y="710107"/>
            <a:ext cx="9436608" cy="1077218"/>
          </a:xfrm>
          <a:prstGeom prst="rect">
            <a:avLst/>
          </a:prstGeom>
        </p:spPr>
        <p:txBody>
          <a:bodyPr wrap="square">
            <a:spAutoFit/>
          </a:bodyPr>
          <a:lstStyle/>
          <a:p>
            <a:pPr algn="ctr"/>
            <a:r>
              <a:rPr lang="en-US" sz="3200" b="1" dirty="0" smtClean="0">
                <a:solidFill>
                  <a:srgbClr val="FF0000"/>
                </a:solidFill>
                <a:effectLst>
                  <a:outerShdw blurRad="38100" dist="38100" dir="2700000" algn="tl">
                    <a:srgbClr val="000000">
                      <a:alpha val="43137"/>
                    </a:srgbClr>
                  </a:outerShdw>
                </a:effectLst>
              </a:rPr>
              <a:t>Evolution of Decision Support, Business Intelligence, and Analytics</a:t>
            </a:r>
            <a:endParaRPr lang="en-US" sz="32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8294427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60704" y="751344"/>
            <a:ext cx="10305288" cy="5447645"/>
          </a:xfrm>
          <a:prstGeom prst="rect">
            <a:avLst/>
          </a:prstGeom>
        </p:spPr>
        <p:txBody>
          <a:bodyPr wrap="square">
            <a:spAutoFit/>
          </a:bodyPr>
          <a:lstStyle/>
          <a:p>
            <a:pPr algn="just"/>
            <a:r>
              <a:rPr lang="en-US" sz="2200" b="1" dirty="0" smtClean="0">
                <a:solidFill>
                  <a:schemeClr val="accent6">
                    <a:lumMod val="75000"/>
                  </a:schemeClr>
                </a:solidFill>
                <a:effectLst>
                  <a:outerShdw blurRad="38100" dist="38100" dir="2700000" algn="tl">
                    <a:srgbClr val="000000">
                      <a:alpha val="43137"/>
                    </a:srgbClr>
                  </a:outerShdw>
                </a:effectLst>
              </a:rPr>
              <a:t>In the 2010s</a:t>
            </a:r>
            <a:r>
              <a:rPr lang="en-US" sz="2200" dirty="0" smtClean="0"/>
              <a:t>, we are seeing yet another paradigm shift in the way that data is captured and used. Largely because of the widespread use of the Internet, new data generation mediums have emerged. </a:t>
            </a:r>
          </a:p>
          <a:p>
            <a:pPr algn="just"/>
            <a:endParaRPr lang="en-US" sz="600" dirty="0"/>
          </a:p>
          <a:p>
            <a:pPr algn="just"/>
            <a:r>
              <a:rPr lang="en-US" sz="2200" dirty="0" smtClean="0"/>
              <a:t>Of all the new data sources (</a:t>
            </a:r>
            <a:r>
              <a:rPr lang="en-US" sz="2200" b="1" dirty="0" smtClean="0">
                <a:solidFill>
                  <a:srgbClr val="FF0000"/>
                </a:solidFill>
                <a:effectLst>
                  <a:outerShdw blurRad="38100" dist="38100" dir="2700000" algn="tl">
                    <a:srgbClr val="000000">
                      <a:alpha val="43137"/>
                    </a:srgbClr>
                  </a:outerShdw>
                </a:effectLst>
              </a:rPr>
              <a:t>e.g., radio-frequency identification [RFID] tags, digital energy meters, clickstream Web logs, smart home devices, wearable health monitoring equipment</a:t>
            </a:r>
            <a:r>
              <a:rPr lang="en-US" sz="2200" dirty="0" smtClean="0"/>
              <a:t>), perhaps the most interesting and challenging is social networking/social media. </a:t>
            </a:r>
          </a:p>
          <a:p>
            <a:pPr algn="just"/>
            <a:endParaRPr lang="en-US" sz="600" dirty="0"/>
          </a:p>
          <a:p>
            <a:pPr algn="just"/>
            <a:r>
              <a:rPr lang="en-US" sz="2200" dirty="0" smtClean="0"/>
              <a:t>This unstructured data is rich in information content, but analysis of such data sources poses </a:t>
            </a:r>
            <a:r>
              <a:rPr lang="en-US" sz="2200" b="1" u="sng" dirty="0" smtClean="0"/>
              <a:t>significant challenges to computational systems, from both software and hardware </a:t>
            </a:r>
            <a:r>
              <a:rPr lang="en-US" sz="2200" dirty="0" smtClean="0"/>
              <a:t>perspectives. </a:t>
            </a:r>
          </a:p>
          <a:p>
            <a:pPr algn="just"/>
            <a:endParaRPr lang="en-US" sz="600" dirty="0"/>
          </a:p>
          <a:p>
            <a:pPr algn="just"/>
            <a:r>
              <a:rPr lang="en-US" sz="2200" dirty="0" smtClean="0"/>
              <a:t>Recently, the term </a:t>
            </a:r>
            <a:r>
              <a:rPr lang="en-US" sz="2200" b="1" i="1" u="sng" dirty="0" smtClean="0"/>
              <a:t>Big Data </a:t>
            </a:r>
            <a:r>
              <a:rPr lang="en-US" sz="2200" dirty="0" smtClean="0"/>
              <a:t>has been coined to highlight the challenges that these new data streams have brought on us. Many advancements in both hardware (e.g., massively parallel processing with very large computational memory and highly parallel multiprocessor computing systems) and software/algorithms (</a:t>
            </a:r>
            <a:r>
              <a:rPr lang="en-US" sz="2200" b="1" u="sng" dirty="0" smtClean="0"/>
              <a:t>e.g., Hadoop with MapReduce and </a:t>
            </a:r>
            <a:r>
              <a:rPr lang="en-US" sz="2200" b="1" u="sng" dirty="0" smtClean="0">
                <a:solidFill>
                  <a:srgbClr val="FF0000"/>
                </a:solidFill>
              </a:rPr>
              <a:t>NoSQL</a:t>
            </a:r>
            <a:r>
              <a:rPr lang="en-US" sz="2200" dirty="0" smtClean="0"/>
              <a:t>) have been developed to address the challenges of Big Data.</a:t>
            </a:r>
            <a:endParaRPr lang="en-US" sz="2200" dirty="0"/>
          </a:p>
        </p:txBody>
      </p:sp>
    </p:spTree>
    <p:extLst>
      <p:ext uri="{BB962C8B-B14F-4D97-AF65-F5344CB8AC3E}">
        <p14:creationId xmlns:p14="http://schemas.microsoft.com/office/powerpoint/2010/main" val="134805833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19656" y="1548677"/>
            <a:ext cx="8650224" cy="2862322"/>
          </a:xfrm>
          <a:prstGeom prst="rect">
            <a:avLst/>
          </a:prstGeom>
        </p:spPr>
        <p:txBody>
          <a:bodyPr wrap="square">
            <a:spAutoFit/>
          </a:bodyPr>
          <a:lstStyle/>
          <a:p>
            <a:pPr algn="just">
              <a:lnSpc>
                <a:spcPct val="150000"/>
              </a:lnSpc>
            </a:pPr>
            <a:r>
              <a:rPr lang="en-US" sz="2400" b="1" dirty="0" smtClean="0">
                <a:solidFill>
                  <a:schemeClr val="accent6">
                    <a:lumMod val="75000"/>
                  </a:schemeClr>
                </a:solidFill>
                <a:effectLst>
                  <a:outerShdw blurRad="38100" dist="38100" dir="2700000" algn="tl">
                    <a:srgbClr val="000000">
                      <a:alpha val="43137"/>
                    </a:srgbClr>
                  </a:outerShdw>
                </a:effectLst>
              </a:rPr>
              <a:t>Assignment-01</a:t>
            </a:r>
          </a:p>
          <a:p>
            <a:pPr marL="457200" indent="-457200" algn="just">
              <a:lnSpc>
                <a:spcPct val="150000"/>
              </a:lnSpc>
              <a:buAutoNum type="arabicPeriod"/>
            </a:pPr>
            <a:r>
              <a:rPr lang="en-US" sz="2400" dirty="0" smtClean="0"/>
              <a:t>List three of the terms that have been predecessors of analytics. </a:t>
            </a:r>
          </a:p>
          <a:p>
            <a:pPr marL="457200" indent="-457200" algn="just">
              <a:lnSpc>
                <a:spcPct val="150000"/>
              </a:lnSpc>
              <a:buAutoNum type="arabicPeriod"/>
            </a:pPr>
            <a:r>
              <a:rPr lang="en-US" sz="2400" dirty="0" smtClean="0"/>
              <a:t>What was the primary difference between the systems called MIS, DSS, and Executive Support Systems? </a:t>
            </a:r>
          </a:p>
          <a:p>
            <a:pPr marL="457200" indent="-457200" algn="just">
              <a:lnSpc>
                <a:spcPct val="150000"/>
              </a:lnSpc>
              <a:buAutoNum type="arabicPeriod"/>
            </a:pPr>
            <a:r>
              <a:rPr lang="en-US" sz="2400" dirty="0" smtClean="0"/>
              <a:t>Did DSS evolve into BI or vice versa?</a:t>
            </a:r>
            <a:endParaRPr lang="en-US" sz="2400" dirty="0"/>
          </a:p>
        </p:txBody>
      </p:sp>
    </p:spTree>
    <p:extLst>
      <p:ext uri="{BB962C8B-B14F-4D97-AF65-F5344CB8AC3E}">
        <p14:creationId xmlns:p14="http://schemas.microsoft.com/office/powerpoint/2010/main" val="25934526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69848" y="674407"/>
            <a:ext cx="10067544" cy="5632311"/>
          </a:xfrm>
          <a:prstGeom prst="rect">
            <a:avLst/>
          </a:prstGeom>
        </p:spPr>
        <p:txBody>
          <a:bodyPr wrap="square">
            <a:spAutoFit/>
          </a:bodyPr>
          <a:lstStyle/>
          <a:p>
            <a:pPr algn="just"/>
            <a:r>
              <a:rPr lang="en-US" sz="2400" b="1" dirty="0" smtClean="0">
                <a:solidFill>
                  <a:srgbClr val="FF0000"/>
                </a:solidFill>
                <a:effectLst>
                  <a:outerShdw blurRad="38100" dist="38100" dir="2700000" algn="tl">
                    <a:srgbClr val="000000">
                      <a:alpha val="43137"/>
                    </a:srgbClr>
                  </a:outerShdw>
                </a:effectLst>
              </a:rPr>
              <a:t>Business intelligence (BI) </a:t>
            </a:r>
            <a:r>
              <a:rPr lang="en-US" sz="2400" dirty="0" smtClean="0"/>
              <a:t>is an umbrella term that combines </a:t>
            </a:r>
            <a:r>
              <a:rPr lang="en-US" sz="2400" b="1" dirty="0" smtClean="0">
                <a:solidFill>
                  <a:schemeClr val="accent2">
                    <a:lumMod val="75000"/>
                  </a:schemeClr>
                </a:solidFill>
              </a:rPr>
              <a:t>architectures</a:t>
            </a:r>
            <a:r>
              <a:rPr lang="en-US" sz="2400" dirty="0" smtClean="0"/>
              <a:t>, </a:t>
            </a:r>
            <a:r>
              <a:rPr lang="en-US" sz="2400" b="1" dirty="0" smtClean="0">
                <a:solidFill>
                  <a:schemeClr val="accent6">
                    <a:lumMod val="75000"/>
                  </a:schemeClr>
                </a:solidFill>
              </a:rPr>
              <a:t>tools</a:t>
            </a:r>
            <a:r>
              <a:rPr lang="en-US" sz="2400" dirty="0" smtClean="0"/>
              <a:t>, </a:t>
            </a:r>
            <a:r>
              <a:rPr lang="en-US" sz="2400" b="1" dirty="0" smtClean="0">
                <a:solidFill>
                  <a:srgbClr val="7030A0"/>
                </a:solidFill>
              </a:rPr>
              <a:t>databases</a:t>
            </a:r>
            <a:r>
              <a:rPr lang="en-US" sz="2400" dirty="0" smtClean="0"/>
              <a:t>, </a:t>
            </a:r>
            <a:r>
              <a:rPr lang="en-US" sz="2400" b="1" dirty="0" smtClean="0">
                <a:solidFill>
                  <a:schemeClr val="accent5"/>
                </a:solidFill>
              </a:rPr>
              <a:t>analytical tools</a:t>
            </a:r>
            <a:r>
              <a:rPr lang="en-US" sz="2400" dirty="0" smtClean="0"/>
              <a:t>, </a:t>
            </a:r>
            <a:r>
              <a:rPr lang="en-US" sz="2400" b="1" dirty="0" smtClean="0">
                <a:solidFill>
                  <a:schemeClr val="accent4">
                    <a:lumMod val="75000"/>
                  </a:schemeClr>
                </a:solidFill>
              </a:rPr>
              <a:t>applications</a:t>
            </a:r>
            <a:r>
              <a:rPr lang="en-US" sz="2400" dirty="0" smtClean="0"/>
              <a:t>, and </a:t>
            </a:r>
            <a:r>
              <a:rPr lang="en-US" sz="2400" b="1" dirty="0" smtClean="0">
                <a:solidFill>
                  <a:schemeClr val="bg1">
                    <a:lumMod val="50000"/>
                  </a:schemeClr>
                </a:solidFill>
              </a:rPr>
              <a:t>methodologies</a:t>
            </a:r>
            <a:r>
              <a:rPr lang="en-US" sz="2400" dirty="0" smtClean="0"/>
              <a:t>. It is, like </a:t>
            </a:r>
            <a:r>
              <a:rPr lang="en-US" sz="2400" b="1" dirty="0" smtClean="0">
                <a:solidFill>
                  <a:srgbClr val="FF0000"/>
                </a:solidFill>
                <a:effectLst>
                  <a:outerShdw blurRad="38100" dist="38100" dir="2700000" algn="tl">
                    <a:srgbClr val="000000">
                      <a:alpha val="43137"/>
                    </a:srgbClr>
                  </a:outerShdw>
                </a:effectLst>
              </a:rPr>
              <a:t>DSS</a:t>
            </a:r>
            <a:r>
              <a:rPr lang="en-US" sz="2400" dirty="0" smtClean="0"/>
              <a:t>, a content-free expression, so it means different things to different people. Part of the confusion about BI lies in the flurry of acronyms and buzzwords that are associated with it (e.g., </a:t>
            </a:r>
            <a:r>
              <a:rPr lang="en-US" sz="2400" b="1" i="1" u="sng" dirty="0" smtClean="0"/>
              <a:t>business performance management </a:t>
            </a:r>
            <a:r>
              <a:rPr lang="en-US" sz="2400" dirty="0" smtClean="0"/>
              <a:t>[BPM]). </a:t>
            </a:r>
          </a:p>
          <a:p>
            <a:pPr algn="just"/>
            <a:endParaRPr lang="en-US" sz="1200" dirty="0"/>
          </a:p>
          <a:p>
            <a:pPr algn="just"/>
            <a:r>
              <a:rPr lang="en-US" sz="2400" b="1" dirty="0" smtClean="0">
                <a:solidFill>
                  <a:srgbClr val="0070C0"/>
                </a:solidFill>
              </a:rPr>
              <a:t>BI’s major objective is to enable interactive access (sometimes in real time) to data, to enable manipulation of data, and to give business managers and analysts the ability to conduct appropriate analyses</a:t>
            </a:r>
            <a:r>
              <a:rPr lang="en-US" sz="2400" dirty="0" smtClean="0"/>
              <a:t>. </a:t>
            </a:r>
          </a:p>
          <a:p>
            <a:pPr algn="just"/>
            <a:endParaRPr lang="en-US" sz="1200" dirty="0"/>
          </a:p>
          <a:p>
            <a:pPr algn="just"/>
            <a:r>
              <a:rPr lang="en-US" sz="2400" i="1" u="sng" dirty="0" smtClean="0">
                <a:solidFill>
                  <a:schemeClr val="accent6">
                    <a:lumMod val="75000"/>
                  </a:schemeClr>
                </a:solidFill>
              </a:rPr>
              <a:t>By analyzing </a:t>
            </a:r>
            <a:r>
              <a:rPr lang="en-US" sz="2800" b="1" u="sng" dirty="0" smtClean="0">
                <a:solidFill>
                  <a:schemeClr val="accent2">
                    <a:lumMod val="75000"/>
                  </a:schemeClr>
                </a:solidFill>
                <a:latin typeface="Gabriola" panose="04040605051002020D02" pitchFamily="82" charset="0"/>
              </a:rPr>
              <a:t>historical and current data</a:t>
            </a:r>
            <a:r>
              <a:rPr lang="en-US" sz="2400" i="1" u="sng" dirty="0" smtClean="0">
                <a:solidFill>
                  <a:schemeClr val="accent6">
                    <a:lumMod val="75000"/>
                  </a:schemeClr>
                </a:solidFill>
              </a:rPr>
              <a:t>, situations, and performances, decision makers get valuable insights that enable them to make more informed and better decisions</a:t>
            </a:r>
            <a:r>
              <a:rPr lang="en-US" sz="2400" dirty="0" smtClean="0"/>
              <a:t>. </a:t>
            </a:r>
          </a:p>
          <a:p>
            <a:pPr algn="just"/>
            <a:endParaRPr lang="en-US" sz="1200" b="1" dirty="0"/>
          </a:p>
          <a:p>
            <a:pPr algn="just"/>
            <a:r>
              <a:rPr lang="en-US" sz="2400" b="1" dirty="0" smtClean="0"/>
              <a:t>The process of BI is based on the transformation of data to information, then to decisions, and finally to actions.</a:t>
            </a:r>
            <a:endParaRPr lang="en-US" sz="2400" b="1" dirty="0"/>
          </a:p>
        </p:txBody>
      </p:sp>
    </p:spTree>
    <p:extLst>
      <p:ext uri="{BB962C8B-B14F-4D97-AF65-F5344CB8AC3E}">
        <p14:creationId xmlns:p14="http://schemas.microsoft.com/office/powerpoint/2010/main" val="21460152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514409" y="1207579"/>
            <a:ext cx="7021581" cy="5394960"/>
          </a:xfrm>
          <a:prstGeom prst="rect">
            <a:avLst/>
          </a:prstGeom>
        </p:spPr>
      </p:pic>
      <p:sp>
        <p:nvSpPr>
          <p:cNvPr id="5" name="Rectangle 4"/>
          <p:cNvSpPr/>
          <p:nvPr/>
        </p:nvSpPr>
        <p:spPr>
          <a:xfrm>
            <a:off x="2670404" y="400550"/>
            <a:ext cx="6544997" cy="584775"/>
          </a:xfrm>
          <a:prstGeom prst="rect">
            <a:avLst/>
          </a:prstGeom>
        </p:spPr>
        <p:txBody>
          <a:bodyPr wrap="none">
            <a:spAutoFit/>
          </a:bodyPr>
          <a:lstStyle/>
          <a:p>
            <a:r>
              <a:rPr lang="en-US" sz="3200" b="1" dirty="0" smtClean="0">
                <a:solidFill>
                  <a:schemeClr val="accent6">
                    <a:lumMod val="75000"/>
                  </a:schemeClr>
                </a:solidFill>
                <a:effectLst>
                  <a:outerShdw blurRad="38100" dist="38100" dir="2700000" algn="tl">
                    <a:srgbClr val="000000">
                      <a:alpha val="43137"/>
                    </a:srgbClr>
                  </a:outerShdw>
                </a:effectLst>
              </a:rPr>
              <a:t>Evolution of Business Intelligence (BI)</a:t>
            </a:r>
            <a:endParaRPr lang="en-US" sz="3200" b="1" dirty="0">
              <a:solidFill>
                <a:schemeClr val="accent6">
                  <a:lumMod val="75000"/>
                </a:schemeClr>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88954693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094432" y="921758"/>
            <a:ext cx="3891386" cy="584775"/>
          </a:xfrm>
          <a:prstGeom prst="rect">
            <a:avLst/>
          </a:prstGeom>
        </p:spPr>
        <p:txBody>
          <a:bodyPr wrap="none">
            <a:spAutoFit/>
          </a:bodyPr>
          <a:lstStyle/>
          <a:p>
            <a:r>
              <a:rPr lang="en-US" sz="3200" b="1" dirty="0" smtClean="0">
                <a:solidFill>
                  <a:schemeClr val="accent6">
                    <a:lumMod val="75000"/>
                  </a:schemeClr>
                </a:solidFill>
                <a:effectLst>
                  <a:outerShdw blurRad="38100" dist="38100" dir="2700000" algn="tl">
                    <a:srgbClr val="000000">
                      <a:alpha val="43137"/>
                    </a:srgbClr>
                  </a:outerShdw>
                </a:effectLst>
              </a:rPr>
              <a:t>The Architecture of BI</a:t>
            </a:r>
            <a:endParaRPr lang="en-US" sz="3200" b="1" dirty="0">
              <a:solidFill>
                <a:schemeClr val="accent6">
                  <a:lumMod val="75000"/>
                </a:schemeClr>
              </a:solidFill>
              <a:effectLst>
                <a:outerShdw blurRad="38100" dist="38100" dir="2700000" algn="tl">
                  <a:srgbClr val="000000">
                    <a:alpha val="43137"/>
                  </a:srgbClr>
                </a:outerShdw>
              </a:effectLst>
            </a:endParaRPr>
          </a:p>
        </p:txBody>
      </p:sp>
      <p:pic>
        <p:nvPicPr>
          <p:cNvPr id="3" name="Picture 2"/>
          <p:cNvPicPr>
            <a:picLocks noChangeAspect="1"/>
          </p:cNvPicPr>
          <p:nvPr/>
        </p:nvPicPr>
        <p:blipFill>
          <a:blip r:embed="rId2"/>
          <a:stretch>
            <a:fillRect/>
          </a:stretch>
        </p:blipFill>
        <p:spPr>
          <a:xfrm>
            <a:off x="1037463" y="1785175"/>
            <a:ext cx="10153650" cy="3781425"/>
          </a:xfrm>
          <a:prstGeom prst="rect">
            <a:avLst/>
          </a:prstGeom>
        </p:spPr>
      </p:pic>
      <p:sp>
        <p:nvSpPr>
          <p:cNvPr id="4" name="Rectangle 3"/>
          <p:cNvSpPr/>
          <p:nvPr/>
        </p:nvSpPr>
        <p:spPr>
          <a:xfrm>
            <a:off x="4215384" y="2423160"/>
            <a:ext cx="2249424" cy="1600200"/>
          </a:xfrm>
          <a:prstGeom prst="rect">
            <a:avLst/>
          </a:prstGeom>
          <a:noFill/>
          <a:ln w="57150">
            <a:solidFill>
              <a:srgbClr val="0070C0"/>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3992574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44168" y="518958"/>
            <a:ext cx="9500616" cy="5909310"/>
          </a:xfrm>
          <a:prstGeom prst="rect">
            <a:avLst/>
          </a:prstGeom>
        </p:spPr>
        <p:txBody>
          <a:bodyPr wrap="square">
            <a:spAutoFit/>
          </a:bodyPr>
          <a:lstStyle/>
          <a:p>
            <a:pPr algn="just"/>
            <a:r>
              <a:rPr lang="en-US" sz="2400" b="1" dirty="0" smtClean="0">
                <a:solidFill>
                  <a:srgbClr val="FF0000"/>
                </a:solidFill>
                <a:effectLst>
                  <a:outerShdw blurRad="38100" dist="38100" dir="2700000" algn="tl">
                    <a:srgbClr val="000000">
                      <a:alpha val="43137"/>
                    </a:srgbClr>
                  </a:outerShdw>
                </a:effectLst>
              </a:rPr>
              <a:t>Short Notes on:</a:t>
            </a:r>
          </a:p>
          <a:p>
            <a:pPr marL="342900" indent="-342900" algn="just">
              <a:buFontTx/>
              <a:buChar char="-"/>
            </a:pPr>
            <a:r>
              <a:rPr lang="en-US" sz="2400" b="1" dirty="0" smtClean="0">
                <a:solidFill>
                  <a:schemeClr val="accent6">
                    <a:lumMod val="75000"/>
                  </a:schemeClr>
                </a:solidFill>
                <a:effectLst>
                  <a:outerShdw blurRad="38100" dist="38100" dir="2700000" algn="tl">
                    <a:srgbClr val="000000">
                      <a:alpha val="43137"/>
                    </a:srgbClr>
                  </a:outerShdw>
                </a:effectLst>
              </a:rPr>
              <a:t>OLAP</a:t>
            </a:r>
          </a:p>
          <a:p>
            <a:pPr marL="342900" indent="-342900" algn="just">
              <a:buFontTx/>
              <a:buChar char="-"/>
            </a:pPr>
            <a:r>
              <a:rPr lang="en-US" sz="2400" b="1" dirty="0" smtClean="0">
                <a:solidFill>
                  <a:schemeClr val="accent6">
                    <a:lumMod val="75000"/>
                  </a:schemeClr>
                </a:solidFill>
                <a:effectLst>
                  <a:outerShdw blurRad="38100" dist="38100" dir="2700000" algn="tl">
                    <a:srgbClr val="000000">
                      <a:alpha val="43137"/>
                    </a:srgbClr>
                  </a:outerShdw>
                </a:effectLst>
              </a:rPr>
              <a:t>OLTP</a:t>
            </a:r>
          </a:p>
          <a:p>
            <a:pPr marL="342900" indent="-342900" algn="just">
              <a:buFontTx/>
              <a:buChar char="-"/>
            </a:pPr>
            <a:r>
              <a:rPr lang="en-US" sz="2400" b="1" dirty="0" smtClean="0">
                <a:solidFill>
                  <a:schemeClr val="accent6">
                    <a:lumMod val="75000"/>
                  </a:schemeClr>
                </a:solidFill>
                <a:effectLst>
                  <a:outerShdw blurRad="38100" dist="38100" dir="2700000" algn="tl">
                    <a:srgbClr val="000000">
                      <a:alpha val="43137"/>
                    </a:srgbClr>
                  </a:outerShdw>
                </a:effectLst>
              </a:rPr>
              <a:t>SCM/CRM</a:t>
            </a:r>
          </a:p>
          <a:p>
            <a:pPr algn="just"/>
            <a:endParaRPr lang="en-US" sz="2400" b="1" dirty="0">
              <a:solidFill>
                <a:schemeClr val="accent6">
                  <a:lumMod val="75000"/>
                </a:schemeClr>
              </a:solidFill>
              <a:effectLst>
                <a:outerShdw blurRad="38100" dist="38100" dir="2700000" algn="tl">
                  <a:srgbClr val="000000">
                    <a:alpha val="43137"/>
                  </a:srgbClr>
                </a:outerShdw>
              </a:effectLst>
            </a:endParaRPr>
          </a:p>
          <a:p>
            <a:pPr algn="just"/>
            <a:endParaRPr lang="en-US" sz="2400" b="1" dirty="0" smtClean="0">
              <a:solidFill>
                <a:schemeClr val="accent6">
                  <a:lumMod val="75000"/>
                </a:schemeClr>
              </a:solidFill>
              <a:effectLst>
                <a:outerShdw blurRad="38100" dist="38100" dir="2700000" algn="tl">
                  <a:srgbClr val="000000">
                    <a:alpha val="43137"/>
                  </a:srgbClr>
                </a:outerShdw>
              </a:effectLst>
            </a:endParaRPr>
          </a:p>
          <a:p>
            <a:pPr algn="just"/>
            <a:r>
              <a:rPr lang="en-US" sz="2400" b="1" dirty="0" smtClean="0">
                <a:solidFill>
                  <a:srgbClr val="0070C0"/>
                </a:solidFill>
                <a:effectLst>
                  <a:outerShdw blurRad="38100" dist="38100" dir="2700000" algn="tl">
                    <a:srgbClr val="000000">
                      <a:alpha val="43137"/>
                    </a:srgbClr>
                  </a:outerShdw>
                </a:effectLst>
              </a:rPr>
              <a:t>Case Study. (Chapter 1)</a:t>
            </a:r>
          </a:p>
          <a:p>
            <a:pPr algn="just"/>
            <a:r>
              <a:rPr lang="en-US" sz="2400" b="1" dirty="0">
                <a:solidFill>
                  <a:srgbClr val="0070C0"/>
                </a:solidFill>
                <a:effectLst>
                  <a:outerShdw blurRad="38100" dist="38100" dir="2700000" algn="tl">
                    <a:srgbClr val="000000">
                      <a:alpha val="43137"/>
                    </a:srgbClr>
                  </a:outerShdw>
                </a:effectLst>
              </a:rPr>
              <a:t> </a:t>
            </a:r>
            <a:r>
              <a:rPr lang="en-US" sz="2400" b="1" dirty="0" smtClean="0">
                <a:solidFill>
                  <a:srgbClr val="0070C0"/>
                </a:solidFill>
                <a:effectLst>
                  <a:outerShdw blurRad="38100" dist="38100" dir="2700000" algn="tl">
                    <a:srgbClr val="000000">
                      <a:alpha val="43137"/>
                    </a:srgbClr>
                  </a:outerShdw>
                </a:effectLst>
              </a:rPr>
              <a:t>   1.1, 1.2, 1.3, 1.4, and 1.5</a:t>
            </a:r>
          </a:p>
          <a:p>
            <a:pPr algn="just"/>
            <a:endParaRPr lang="en-US" sz="2400" b="1" dirty="0" smtClean="0">
              <a:solidFill>
                <a:srgbClr val="0070C0"/>
              </a:solidFill>
              <a:effectLst>
                <a:outerShdw blurRad="38100" dist="38100" dir="2700000" algn="tl">
                  <a:srgbClr val="000000">
                    <a:alpha val="43137"/>
                  </a:srgbClr>
                </a:outerShdw>
              </a:effectLst>
            </a:endParaRPr>
          </a:p>
          <a:p>
            <a:pPr algn="just"/>
            <a:endParaRPr lang="en-US" sz="2400" b="1" dirty="0">
              <a:solidFill>
                <a:srgbClr val="0070C0"/>
              </a:solidFill>
              <a:effectLst>
                <a:outerShdw blurRad="38100" dist="38100" dir="2700000" algn="tl">
                  <a:srgbClr val="000000">
                    <a:alpha val="43137"/>
                  </a:srgbClr>
                </a:outerShdw>
              </a:effectLst>
            </a:endParaRPr>
          </a:p>
          <a:p>
            <a:pPr algn="just"/>
            <a:r>
              <a:rPr lang="en-US" sz="2400" b="1" u="sng" dirty="0" smtClean="0">
                <a:solidFill>
                  <a:schemeClr val="bg1">
                    <a:lumMod val="50000"/>
                  </a:schemeClr>
                </a:solidFill>
                <a:effectLst>
                  <a:outerShdw blurRad="38100" dist="38100" dir="2700000" algn="tl">
                    <a:srgbClr val="000000">
                      <a:alpha val="43137"/>
                    </a:srgbClr>
                  </a:outerShdw>
                </a:effectLst>
              </a:rPr>
              <a:t>Self study</a:t>
            </a:r>
            <a:r>
              <a:rPr lang="en-US" sz="2400" b="1" dirty="0" smtClean="0">
                <a:solidFill>
                  <a:schemeClr val="accent2">
                    <a:lumMod val="75000"/>
                  </a:schemeClr>
                </a:solidFill>
                <a:effectLst>
                  <a:outerShdw blurRad="38100" dist="38100" dir="2700000" algn="tl">
                    <a:srgbClr val="000000">
                      <a:alpha val="43137"/>
                    </a:srgbClr>
                  </a:outerShdw>
                </a:effectLst>
              </a:rPr>
              <a:t>:</a:t>
            </a:r>
          </a:p>
          <a:p>
            <a:pPr algn="just"/>
            <a:endParaRPr lang="en-US" sz="600" b="1" dirty="0" smtClean="0">
              <a:solidFill>
                <a:schemeClr val="accent2">
                  <a:lumMod val="75000"/>
                </a:schemeClr>
              </a:solidFill>
              <a:effectLst>
                <a:outerShdw blurRad="38100" dist="38100" dir="2700000" algn="tl">
                  <a:srgbClr val="000000">
                    <a:alpha val="43137"/>
                  </a:srgbClr>
                </a:outerShdw>
              </a:effectLst>
            </a:endParaRPr>
          </a:p>
          <a:p>
            <a:pPr marL="457200" indent="-457200" algn="just">
              <a:buAutoNum type="arabicPeriod"/>
            </a:pPr>
            <a:r>
              <a:rPr lang="en-US" sz="2400" b="1" dirty="0" smtClean="0">
                <a:solidFill>
                  <a:schemeClr val="accent2">
                    <a:lumMod val="75000"/>
                  </a:schemeClr>
                </a:solidFill>
                <a:effectLst>
                  <a:outerShdw blurRad="38100" dist="38100" dir="2700000" algn="tl">
                    <a:srgbClr val="000000">
                      <a:alpha val="43137"/>
                    </a:srgbClr>
                  </a:outerShdw>
                </a:effectLst>
              </a:rPr>
              <a:t>Is it a good idea to follow a hierarchy of descriptive and predictive analytics before applying prescriptive analytics? </a:t>
            </a:r>
          </a:p>
          <a:p>
            <a:pPr algn="just"/>
            <a:endParaRPr lang="en-US" sz="1200" b="1" dirty="0">
              <a:solidFill>
                <a:schemeClr val="accent2">
                  <a:lumMod val="75000"/>
                </a:schemeClr>
              </a:solidFill>
              <a:effectLst>
                <a:outerShdw blurRad="38100" dist="38100" dir="2700000" algn="tl">
                  <a:srgbClr val="000000">
                    <a:alpha val="43137"/>
                  </a:srgbClr>
                </a:outerShdw>
              </a:effectLst>
            </a:endParaRPr>
          </a:p>
          <a:p>
            <a:pPr algn="just"/>
            <a:r>
              <a:rPr lang="en-US" sz="2400" b="1" dirty="0" smtClean="0">
                <a:solidFill>
                  <a:schemeClr val="accent2">
                    <a:lumMod val="75000"/>
                  </a:schemeClr>
                </a:solidFill>
                <a:effectLst>
                  <a:outerShdw blurRad="38100" dist="38100" dir="2700000" algn="tl">
                    <a:srgbClr val="000000">
                      <a:alpha val="43137"/>
                    </a:srgbClr>
                  </a:outerShdw>
                </a:effectLst>
              </a:rPr>
              <a:t>2.   How can analytics aid in objective decision making?</a:t>
            </a:r>
          </a:p>
          <a:p>
            <a:pPr algn="just"/>
            <a:endParaRPr lang="en-US" sz="2400" b="1" dirty="0"/>
          </a:p>
        </p:txBody>
      </p:sp>
    </p:spTree>
    <p:extLst>
      <p:ext uri="{BB962C8B-B14F-4D97-AF65-F5344CB8AC3E}">
        <p14:creationId xmlns:p14="http://schemas.microsoft.com/office/powerpoint/2010/main" val="188852866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91056" y="845927"/>
            <a:ext cx="8833104" cy="1200329"/>
          </a:xfrm>
          <a:prstGeom prst="rect">
            <a:avLst/>
          </a:prstGeom>
        </p:spPr>
        <p:txBody>
          <a:bodyPr wrap="square">
            <a:spAutoFit/>
          </a:bodyPr>
          <a:lstStyle/>
          <a:p>
            <a:pPr algn="just"/>
            <a:r>
              <a:rPr lang="en-US" sz="2400" b="1" dirty="0" smtClean="0">
                <a:solidFill>
                  <a:schemeClr val="accent6">
                    <a:lumMod val="75000"/>
                  </a:schemeClr>
                </a:solidFill>
              </a:rPr>
              <a:t>Big Data </a:t>
            </a:r>
            <a:r>
              <a:rPr lang="en-US" sz="2400" dirty="0" smtClean="0"/>
              <a:t>is an all-inclusive term that refers to </a:t>
            </a:r>
            <a:r>
              <a:rPr lang="en-US" sz="2400" b="1" dirty="0" smtClean="0">
                <a:solidFill>
                  <a:srgbClr val="FF0000"/>
                </a:solidFill>
                <a:effectLst>
                  <a:outerShdw blurRad="38100" dist="38100" dir="2700000" algn="tl">
                    <a:srgbClr val="000000">
                      <a:alpha val="43137"/>
                    </a:srgbClr>
                  </a:outerShdw>
                </a:effectLst>
              </a:rPr>
              <a:t>extremely large, very fast, highly diverse, and complex data </a:t>
            </a:r>
            <a:r>
              <a:rPr lang="en-US" sz="2400" dirty="0" smtClean="0"/>
              <a:t>that cannot be managed with traditional data management tools. </a:t>
            </a:r>
            <a:endParaRPr lang="en-US" sz="2400" dirty="0"/>
          </a:p>
        </p:txBody>
      </p:sp>
      <p:pic>
        <p:nvPicPr>
          <p:cNvPr id="3" name="Picture 2"/>
          <p:cNvPicPr>
            <a:picLocks noChangeAspect="1"/>
          </p:cNvPicPr>
          <p:nvPr/>
        </p:nvPicPr>
        <p:blipFill>
          <a:blip r:embed="rId2"/>
          <a:stretch>
            <a:fillRect/>
          </a:stretch>
        </p:blipFill>
        <p:spPr>
          <a:xfrm>
            <a:off x="3310128" y="2214562"/>
            <a:ext cx="5486400" cy="3982062"/>
          </a:xfrm>
          <a:prstGeom prst="rect">
            <a:avLst/>
          </a:prstGeom>
        </p:spPr>
      </p:pic>
    </p:spTree>
    <p:extLst>
      <p:ext uri="{BB962C8B-B14F-4D97-AF65-F5344CB8AC3E}">
        <p14:creationId xmlns:p14="http://schemas.microsoft.com/office/powerpoint/2010/main" val="159120397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501252" y="574286"/>
            <a:ext cx="6984604" cy="584775"/>
          </a:xfrm>
          <a:prstGeom prst="rect">
            <a:avLst/>
          </a:prstGeom>
        </p:spPr>
        <p:txBody>
          <a:bodyPr wrap="none">
            <a:spAutoFit/>
          </a:bodyPr>
          <a:lstStyle/>
          <a:p>
            <a:r>
              <a:rPr lang="en-US" sz="3200" b="1" dirty="0" smtClean="0">
                <a:solidFill>
                  <a:srgbClr val="7030A0"/>
                </a:solidFill>
                <a:effectLst>
                  <a:outerShdw blurRad="38100" dist="38100" dir="2700000" algn="tl">
                    <a:srgbClr val="000000">
                      <a:alpha val="43137"/>
                    </a:srgbClr>
                  </a:outerShdw>
                </a:effectLst>
              </a:rPr>
              <a:t>An Overview of the Analytics Ecosystem</a:t>
            </a:r>
            <a:endParaRPr lang="en-US" sz="3200" b="1" dirty="0">
              <a:solidFill>
                <a:srgbClr val="7030A0"/>
              </a:solidFill>
              <a:effectLst>
                <a:outerShdw blurRad="38100" dist="38100" dir="2700000" algn="tl">
                  <a:srgbClr val="000000">
                    <a:alpha val="43137"/>
                  </a:srgbClr>
                </a:outerShdw>
              </a:effectLst>
            </a:endParaRPr>
          </a:p>
        </p:txBody>
      </p:sp>
      <p:pic>
        <p:nvPicPr>
          <p:cNvPr id="6" name="Picture 5"/>
          <p:cNvPicPr>
            <a:picLocks noChangeAspect="1"/>
          </p:cNvPicPr>
          <p:nvPr/>
        </p:nvPicPr>
        <p:blipFill>
          <a:blip r:embed="rId2"/>
          <a:stretch>
            <a:fillRect/>
          </a:stretch>
        </p:blipFill>
        <p:spPr>
          <a:xfrm>
            <a:off x="3162681" y="1355217"/>
            <a:ext cx="5848350" cy="4933950"/>
          </a:xfrm>
          <a:prstGeom prst="rect">
            <a:avLst/>
          </a:prstGeom>
        </p:spPr>
      </p:pic>
    </p:spTree>
    <p:extLst>
      <p:ext uri="{BB962C8B-B14F-4D97-AF65-F5344CB8AC3E}">
        <p14:creationId xmlns:p14="http://schemas.microsoft.com/office/powerpoint/2010/main" val="205713421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25374" y="900112"/>
            <a:ext cx="11468100" cy="5057775"/>
          </a:xfrm>
          <a:prstGeom prst="rect">
            <a:avLst/>
          </a:prstGeom>
        </p:spPr>
      </p:pic>
    </p:spTree>
    <p:extLst>
      <p:ext uri="{BB962C8B-B14F-4D97-AF65-F5344CB8AC3E}">
        <p14:creationId xmlns:p14="http://schemas.microsoft.com/office/powerpoint/2010/main" val="141883175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226</TotalTime>
  <Words>858</Words>
  <Application>Microsoft Office PowerPoint</Application>
  <PresentationFormat>Widescreen</PresentationFormat>
  <Paragraphs>49</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Calibri Light</vt:lpstr>
      <vt:lpstr>Gabriola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MN</dc:creator>
  <cp:lastModifiedBy>MN</cp:lastModifiedBy>
  <cp:revision>16</cp:revision>
  <dcterms:created xsi:type="dcterms:W3CDTF">2024-09-09T14:45:27Z</dcterms:created>
  <dcterms:modified xsi:type="dcterms:W3CDTF">2025-07-13T02:41:58Z</dcterms:modified>
</cp:coreProperties>
</file>