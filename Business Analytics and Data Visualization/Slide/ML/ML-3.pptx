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2"/>
  </p:sldMasterIdLst>
  <p:notesMasterIdLst>
    <p:notesMasterId r:id="rId27"/>
  </p:notesMasterIdLst>
  <p:handoutMasterIdLst>
    <p:handoutMasterId r:id="rId28"/>
  </p:handoutMasterIdLst>
  <p:sldIdLst>
    <p:sldId id="535" r:id="rId3"/>
    <p:sldId id="705" r:id="rId4"/>
    <p:sldId id="706" r:id="rId5"/>
    <p:sldId id="707" r:id="rId6"/>
    <p:sldId id="708" r:id="rId7"/>
    <p:sldId id="709" r:id="rId8"/>
    <p:sldId id="710" r:id="rId9"/>
    <p:sldId id="711" r:id="rId10"/>
    <p:sldId id="712" r:id="rId11"/>
    <p:sldId id="641" r:id="rId12"/>
    <p:sldId id="590" r:id="rId13"/>
    <p:sldId id="640" r:id="rId14"/>
    <p:sldId id="693" r:id="rId15"/>
    <p:sldId id="592" r:id="rId16"/>
    <p:sldId id="642" r:id="rId17"/>
    <p:sldId id="684" r:id="rId18"/>
    <p:sldId id="647" r:id="rId19"/>
    <p:sldId id="631" r:id="rId20"/>
    <p:sldId id="685" r:id="rId21"/>
    <p:sldId id="688" r:id="rId22"/>
    <p:sldId id="606" r:id="rId23"/>
    <p:sldId id="659" r:id="rId24"/>
    <p:sldId id="689" r:id="rId25"/>
    <p:sldId id="608" r:id="rId26"/>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92" userDrawn="1">
          <p15:clr>
            <a:srgbClr val="A4A3A4"/>
          </p15:clr>
        </p15:guide>
        <p15:guide id="4" pos="74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0000"/>
    <a:srgbClr val="D60093"/>
    <a:srgbClr val="1F0C8E"/>
    <a:srgbClr val="FF3300"/>
    <a:srgbClr val="FF0066"/>
    <a:srgbClr val="FFFFFF"/>
    <a:srgbClr val="FF3399"/>
    <a:srgbClr val="CC0066"/>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62" autoAdjust="0"/>
    <p:restoredTop sz="91779" autoAdjust="0"/>
  </p:normalViewPr>
  <p:slideViewPr>
    <p:cSldViewPr showGuides="1">
      <p:cViewPr varScale="1">
        <p:scale>
          <a:sx n="82" d="100"/>
          <a:sy n="82" d="100"/>
        </p:scale>
        <p:origin x="806" y="58"/>
      </p:cViewPr>
      <p:guideLst>
        <p:guide orient="horz" pos="2160"/>
        <p:guide pos="3840"/>
        <p:guide pos="192"/>
        <p:guide pos="7488"/>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4"/>
            <a:ext cx="3169463" cy="48228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249" y="4"/>
            <a:ext cx="3170708" cy="482282"/>
          </a:xfrm>
          <a:prstGeom prst="rect">
            <a:avLst/>
          </a:prstGeom>
        </p:spPr>
        <p:txBody>
          <a:bodyPr vert="horz" lIns="91440" tIns="45720" rIns="91440" bIns="45720" rtlCol="0"/>
          <a:lstStyle>
            <a:lvl1pPr algn="r">
              <a:defRPr sz="1200"/>
            </a:lvl1pPr>
          </a:lstStyle>
          <a:p>
            <a:fld id="{52B78F2A-59AF-4063-8247-742340A61E80}" type="datetimeFigureOut">
              <a:rPr lang="en-US" smtClean="0"/>
              <a:pPr/>
              <a:t>5/16/2026</a:t>
            </a:fld>
            <a:endParaRPr lang="en-US"/>
          </a:p>
        </p:txBody>
      </p:sp>
      <p:sp>
        <p:nvSpPr>
          <p:cNvPr id="4" name="Footer Placeholder 3"/>
          <p:cNvSpPr>
            <a:spLocks noGrp="1"/>
          </p:cNvSpPr>
          <p:nvPr>
            <p:ph type="ftr" sz="quarter" idx="2"/>
          </p:nvPr>
        </p:nvSpPr>
        <p:spPr>
          <a:xfrm>
            <a:off x="2" y="9118927"/>
            <a:ext cx="3169463" cy="48228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249" y="9118927"/>
            <a:ext cx="3170708" cy="482280"/>
          </a:xfrm>
          <a:prstGeom prst="rect">
            <a:avLst/>
          </a:prstGeom>
        </p:spPr>
        <p:txBody>
          <a:bodyPr vert="horz" lIns="91440" tIns="45720" rIns="91440" bIns="45720" rtlCol="0" anchor="b"/>
          <a:lstStyle>
            <a:lvl1pPr algn="r">
              <a:defRPr sz="1200"/>
            </a:lvl1pPr>
          </a:lstStyle>
          <a:p>
            <a:fld id="{28C46BC3-909A-40F1-9CA9-EF91CBAB4D9E}" type="slidenum">
              <a:rPr lang="en-US" smtClean="0"/>
              <a:pPr/>
              <a:t>‹#›</a:t>
            </a:fld>
            <a:endParaRPr lang="en-US"/>
          </a:p>
        </p:txBody>
      </p:sp>
    </p:spTree>
    <p:extLst>
      <p:ext uri="{BB962C8B-B14F-4D97-AF65-F5344CB8AC3E}">
        <p14:creationId xmlns:p14="http://schemas.microsoft.com/office/powerpoint/2010/main" val="21135842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traceFormat>
        <inkml:channelProperties>
          <inkml:channelProperty channel="X" name="resolution" value="1516.99072" units="1/cm"/>
          <inkml:channelProperty channel="Y" name="resolution" value="2427.1853" units="1/cm"/>
          <inkml:channelProperty channel="F" name="resolution" value="11.375" units="1/deg"/>
        </inkml:channelProperties>
      </inkml:inkSource>
      <inkml:timestamp xml:id="ts0" timeString="2023-12-23T06:09:20.186"/>
    </inkml:context>
    <inkml:brush xml:id="br0">
      <inkml:brushProperty name="width" value="0.05292" units="cm"/>
      <inkml:brushProperty name="height" value="0.05292" units="cm"/>
    </inkml:brush>
  </inkml:definitions>
  <inkml:trace contextRef="#ctx0" brushRef="#br0">9217 7596 164,'0'0'216,"0"0"222,0 0-266,0 0-38,0 0-50,-2 1-3,2-1-10,0 0-8,-1 2-7,-1-2 2,2 1-18,-1 1-14,1-2-16,0 0-3,0 1-6,0-1 8,0 0-6,0 0 4,0 0 12,0 0 0,0 0 3,0 0-6,0 0-4,0 0-11,12 0 44,12 0-1,7-7-7,9-3-9,11 0-8,7-3-5,2 0-14,-2 1 12,-1-1-4,-14 4-2,-10 1-6,-11 3 12,-10 1-12,-5 2 0,-7 2 0,0 0-1,0 0-65,-11 0-108,-13 10-58,4 0-43,-2-3-357</inkml:trace>
  <inkml:trace contextRef="#ctx0" brushRef="#br0" timeOffset="533.372">9200 7794 830,'0'0'172,"0"0"-52,0 0-52,0 0-12,0 0 7,0 0 15,0 0 3,30 5 15,-6-5 16,10 0 5,8-10-32,22-5 6,23-6-11,16-4-5,-6 0-28,-20 7-13,-27 7-7,-23 3-8,-1 3-10,-3-1 3,-4 2 10,-10 2 0,-6 2-1,0 0-8,-3 0-5,0 0-8,0 0 0,0 0 0,0 0 0,0 0 0,0 0-1,0 0 1,0 0 1,0 0 0,0 0-1,0 0-8,0 0-35,0 0-40,0 0-52,0 0-62,-8 0-73,1 0-72,-5 0-458</inkml:trace>
  <inkml:trace contextRef="#ctx0" brushRef="#br0" timeOffset="1559.9275">9381 8876 484,'0'0'403,"0"0"-137,0 0-61,0 0-97,0 0-40,0 0-4,0 0 18,-2 5 8,2-5-8,0 0-21,0 0-6,5 0-8,10 0 5,9 0-12,7-7-12,9-4-3,8-2 0,7 0 5,2-5-4,3 3 2,-4-1-9,-8 4-11,-6 2-2,-14 2-5,-7 4-1,-10 1 1,-7 2-1,-4 1-11,0 0-24,0 0-60,0 3-40,-12 12-80,-1-4-87,-2-1-76</inkml:trace>
  <inkml:trace contextRef="#ctx0" brushRef="#br0" timeOffset="2025.6518">9442 9088 573,'0'0'234,"0"0"-63,0 0-53,0 0-34,0 0 3,0 0-10,0 0-18,0 8-1,0-5-10,4-1 3,4 1 2,7 0-8,6 0 28,7-1 11,11-2-6,12 0 1,19-6 10,0-7 4,3-2 3,2-3-12,-16 3 1,0-2-2,-13 5-15,-15 2-13,-14 3-14,-11 4-7,-5 1-3,-1 2-22,0 0-8,-6 0-1,-6 0-29,-1 0-36,1 0-20,3 0-58,4 0-43,5-10-58,0 2-74,8-5-417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7"/>
            <a:ext cx="3169919" cy="480059"/>
          </a:xfrm>
          <a:prstGeom prst="rect">
            <a:avLst/>
          </a:prstGeom>
        </p:spPr>
        <p:txBody>
          <a:bodyPr vert="horz" lIns="88642" tIns="44321" rIns="88642" bIns="44321" rtlCol="0"/>
          <a:lstStyle>
            <a:lvl1pPr algn="l">
              <a:defRPr sz="1200"/>
            </a:lvl1pPr>
          </a:lstStyle>
          <a:p>
            <a:endParaRPr lang="en-US"/>
          </a:p>
        </p:txBody>
      </p:sp>
      <p:sp>
        <p:nvSpPr>
          <p:cNvPr id="3" name="Date Placeholder 2"/>
          <p:cNvSpPr>
            <a:spLocks noGrp="1"/>
          </p:cNvSpPr>
          <p:nvPr>
            <p:ph type="dt" idx="1"/>
          </p:nvPr>
        </p:nvSpPr>
        <p:spPr>
          <a:xfrm>
            <a:off x="4143594" y="7"/>
            <a:ext cx="3169919" cy="480059"/>
          </a:xfrm>
          <a:prstGeom prst="rect">
            <a:avLst/>
          </a:prstGeom>
        </p:spPr>
        <p:txBody>
          <a:bodyPr vert="horz" lIns="88642" tIns="44321" rIns="88642" bIns="44321" rtlCol="0"/>
          <a:lstStyle>
            <a:lvl1pPr algn="r">
              <a:defRPr sz="1200"/>
            </a:lvl1pPr>
          </a:lstStyle>
          <a:p>
            <a:fld id="{592A0791-6B8A-4268-B9A9-5477EC471AC4}" type="datetimeFigureOut">
              <a:rPr lang="en-US" smtClean="0"/>
              <a:pPr/>
              <a:t>5/16/2026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88642" tIns="44321" rIns="88642" bIns="44321" rtlCol="0" anchor="ctr"/>
          <a:lstStyle/>
          <a:p>
            <a:endParaRPr lang="en-US"/>
          </a:p>
        </p:txBody>
      </p:sp>
      <p:sp>
        <p:nvSpPr>
          <p:cNvPr id="5" name="Notes Placeholder 4"/>
          <p:cNvSpPr>
            <a:spLocks noGrp="1"/>
          </p:cNvSpPr>
          <p:nvPr>
            <p:ph type="body" sz="quarter" idx="3"/>
          </p:nvPr>
        </p:nvSpPr>
        <p:spPr>
          <a:xfrm>
            <a:off x="731521" y="4560582"/>
            <a:ext cx="5852160" cy="4320538"/>
          </a:xfrm>
          <a:prstGeom prst="rect">
            <a:avLst/>
          </a:prstGeom>
        </p:spPr>
        <p:txBody>
          <a:bodyPr vert="horz" lIns="88642" tIns="44321" rIns="88642" bIns="4432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6" y="9119479"/>
            <a:ext cx="3169919" cy="480059"/>
          </a:xfrm>
          <a:prstGeom prst="rect">
            <a:avLst/>
          </a:prstGeom>
        </p:spPr>
        <p:txBody>
          <a:bodyPr vert="horz" lIns="88642" tIns="44321" rIns="88642" bIns="44321" rtlCol="0" anchor="b"/>
          <a:lstStyle>
            <a:lvl1pPr algn="l">
              <a:defRPr sz="1200"/>
            </a:lvl1pPr>
          </a:lstStyle>
          <a:p>
            <a:endParaRPr lang="en-US"/>
          </a:p>
        </p:txBody>
      </p:sp>
      <p:sp>
        <p:nvSpPr>
          <p:cNvPr id="7" name="Slide Number Placeholder 6"/>
          <p:cNvSpPr>
            <a:spLocks noGrp="1"/>
          </p:cNvSpPr>
          <p:nvPr>
            <p:ph type="sldNum" sz="quarter" idx="5"/>
          </p:nvPr>
        </p:nvSpPr>
        <p:spPr>
          <a:xfrm>
            <a:off x="4143594" y="9119479"/>
            <a:ext cx="3169919" cy="480059"/>
          </a:xfrm>
          <a:prstGeom prst="rect">
            <a:avLst/>
          </a:prstGeom>
        </p:spPr>
        <p:txBody>
          <a:bodyPr vert="horz" lIns="88642" tIns="44321" rIns="88642" bIns="44321" rtlCol="0" anchor="b"/>
          <a:lstStyle>
            <a:lvl1pPr algn="r">
              <a:defRPr sz="1200"/>
            </a:lvl1pPr>
          </a:lstStyle>
          <a:p>
            <a:fld id="{AB5B076A-BCD3-43DB-B626-89538CF1BE16}" type="slidenum">
              <a:rPr lang="en-US" smtClean="0"/>
              <a:pPr/>
              <a:t>‹#›</a:t>
            </a:fld>
            <a:endParaRPr lang="en-US"/>
          </a:p>
        </p:txBody>
      </p:sp>
    </p:spTree>
    <p:extLst>
      <p:ext uri="{BB962C8B-B14F-4D97-AF65-F5344CB8AC3E}">
        <p14:creationId xmlns:p14="http://schemas.microsoft.com/office/powerpoint/2010/main" val="911539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https://www.youtube.com/watch?v=Z-PXfIJMVN4</a:t>
            </a:r>
            <a:endParaRPr lang="en-US"/>
          </a:p>
        </p:txBody>
      </p:sp>
      <p:sp>
        <p:nvSpPr>
          <p:cNvPr id="4" name="Slide Number Placeholder 3"/>
          <p:cNvSpPr>
            <a:spLocks noGrp="1"/>
          </p:cNvSpPr>
          <p:nvPr>
            <p:ph type="sldNum" sz="quarter" idx="10"/>
          </p:nvPr>
        </p:nvSpPr>
        <p:spPr/>
        <p:txBody>
          <a:bodyPr/>
          <a:lstStyle/>
          <a:p>
            <a:fld id="{AB5B076A-BCD3-43DB-B626-89538CF1BE16}" type="slidenum">
              <a:rPr lang="en-US" smtClean="0"/>
              <a:pPr/>
              <a:t>1</a:t>
            </a:fld>
            <a:endParaRPr lang="en-US"/>
          </a:p>
        </p:txBody>
      </p:sp>
    </p:spTree>
    <p:extLst>
      <p:ext uri="{BB962C8B-B14F-4D97-AF65-F5344CB8AC3E}">
        <p14:creationId xmlns:p14="http://schemas.microsoft.com/office/powerpoint/2010/main" val="4071916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Batch gradient descent uses the entire training set to compute the gradient at each step and update the weights accordingly, leading to a global minimum of the loss function. </a:t>
            </a:r>
          </a:p>
          <a:p>
            <a:endParaRPr lang="en-US" dirty="0"/>
          </a:p>
        </p:txBody>
      </p:sp>
      <p:sp>
        <p:nvSpPr>
          <p:cNvPr id="4" name="Slide Number Placeholder 3"/>
          <p:cNvSpPr>
            <a:spLocks noGrp="1"/>
          </p:cNvSpPr>
          <p:nvPr>
            <p:ph type="sldNum" sz="quarter" idx="10"/>
          </p:nvPr>
        </p:nvSpPr>
        <p:spPr/>
        <p:txBody>
          <a:bodyPr/>
          <a:lstStyle/>
          <a:p>
            <a:fld id="{AB5B076A-BCD3-43DB-B626-89538CF1BE16}" type="slidenum">
              <a:rPr lang="en-US" smtClean="0"/>
              <a:pPr/>
              <a:t>12</a:t>
            </a:fld>
            <a:endParaRPr lang="en-US"/>
          </a:p>
        </p:txBody>
      </p:sp>
    </p:spTree>
    <p:extLst>
      <p:ext uri="{BB962C8B-B14F-4D97-AF65-F5344CB8AC3E}">
        <p14:creationId xmlns:p14="http://schemas.microsoft.com/office/powerpoint/2010/main" val="817392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It’s also favored when training complex models, as it can handle the high computational cost more efficiently. Additionally, the stochastic nature of SGD can help the model escape local minima, potentially leading to better solutions.</a:t>
            </a:r>
            <a:endParaRPr lang="en-US" dirty="0"/>
          </a:p>
        </p:txBody>
      </p:sp>
      <p:sp>
        <p:nvSpPr>
          <p:cNvPr id="4" name="Slide Number Placeholder 3"/>
          <p:cNvSpPr>
            <a:spLocks noGrp="1"/>
          </p:cNvSpPr>
          <p:nvPr>
            <p:ph type="sldNum" sz="quarter" idx="10"/>
          </p:nvPr>
        </p:nvSpPr>
        <p:spPr/>
        <p:txBody>
          <a:bodyPr/>
          <a:lstStyle/>
          <a:p>
            <a:fld id="{AB5B076A-BCD3-43DB-B626-89538CF1BE16}" type="slidenum">
              <a:rPr lang="en-US" smtClean="0"/>
              <a:pPr/>
              <a:t>14</a:t>
            </a:fld>
            <a:endParaRPr lang="en-US"/>
          </a:p>
        </p:txBody>
      </p:sp>
    </p:spTree>
    <p:extLst>
      <p:ext uri="{BB962C8B-B14F-4D97-AF65-F5344CB8AC3E}">
        <p14:creationId xmlns:p14="http://schemas.microsoft.com/office/powerpoint/2010/main" val="2012489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correlation</a:t>
            </a:r>
            <a:endParaRPr lang="en-US" dirty="0"/>
          </a:p>
        </p:txBody>
      </p:sp>
      <p:sp>
        <p:nvSpPr>
          <p:cNvPr id="4" name="Slide Number Placeholder 3"/>
          <p:cNvSpPr>
            <a:spLocks noGrp="1"/>
          </p:cNvSpPr>
          <p:nvPr>
            <p:ph type="sldNum" sz="quarter" idx="10"/>
          </p:nvPr>
        </p:nvSpPr>
        <p:spPr/>
        <p:txBody>
          <a:bodyPr/>
          <a:lstStyle/>
          <a:p>
            <a:fld id="{AB5B076A-BCD3-43DB-B626-89538CF1BE16}" type="slidenum">
              <a:rPr lang="en-US" smtClean="0"/>
              <a:pPr/>
              <a:t>18</a:t>
            </a:fld>
            <a:endParaRPr lang="en-US"/>
          </a:p>
        </p:txBody>
      </p:sp>
    </p:spTree>
    <p:extLst>
      <p:ext uri="{BB962C8B-B14F-4D97-AF65-F5344CB8AC3E}">
        <p14:creationId xmlns:p14="http://schemas.microsoft.com/office/powerpoint/2010/main" val="3327254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ts val="0"/>
              </a:spcBef>
              <a:spcAft>
                <a:spcPts val="0"/>
              </a:spcAft>
              <a:buClrTx/>
              <a:buSzTx/>
              <a:buFontTx/>
              <a:buNone/>
              <a:tabLst/>
              <a:defRPr/>
            </a:pPr>
            <a:r>
              <a:rPr lang="en-US" dirty="0" smtClean="0"/>
              <a:t>This technique can be used in such a way that it will allow to maintain all variables or features in the model by reducing the magnitude of the variables. Hence, it maintains accuracy as well as a generalization of the model.</a:t>
            </a:r>
          </a:p>
          <a:p>
            <a:pPr fontAlgn="base"/>
            <a:endParaRPr lang="en-US" dirty="0"/>
          </a:p>
        </p:txBody>
      </p:sp>
      <p:sp>
        <p:nvSpPr>
          <p:cNvPr id="4" name="Slide Number Placeholder 3"/>
          <p:cNvSpPr>
            <a:spLocks noGrp="1"/>
          </p:cNvSpPr>
          <p:nvPr>
            <p:ph type="sldNum" sz="quarter" idx="10"/>
          </p:nvPr>
        </p:nvSpPr>
        <p:spPr/>
        <p:txBody>
          <a:bodyPr/>
          <a:lstStyle/>
          <a:p>
            <a:fld id="{AB5B076A-BCD3-43DB-B626-89538CF1BE16}" type="slidenum">
              <a:rPr lang="en-US" smtClean="0"/>
              <a:pPr/>
              <a:t>21</a:t>
            </a:fld>
            <a:endParaRPr lang="en-US"/>
          </a:p>
        </p:txBody>
      </p:sp>
    </p:spTree>
    <p:extLst>
      <p:ext uri="{BB962C8B-B14F-4D97-AF65-F5344CB8AC3E}">
        <p14:creationId xmlns:p14="http://schemas.microsoft.com/office/powerpoint/2010/main" val="2408347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When a model is too simple with </a:t>
            </a:r>
            <a:r>
              <a:rPr lang="en-US" b="1" dirty="0" smtClean="0"/>
              <a:t>relatively small</a:t>
            </a:r>
            <a:r>
              <a:rPr lang="en-US" dirty="0" smtClean="0"/>
              <a:t> </a:t>
            </a:r>
            <a:r>
              <a:rPr lang="en-US" b="1" dirty="0" smtClean="0"/>
              <a:t>training data </a:t>
            </a:r>
            <a:r>
              <a:rPr lang="en-US" dirty="0" smtClean="0"/>
              <a:t>to capture underlying data patterns</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When the </a:t>
            </a:r>
            <a:r>
              <a:rPr lang="en-US" b="1" dirty="0" smtClean="0"/>
              <a:t>training data is relatively small </a:t>
            </a:r>
            <a:r>
              <a:rPr lang="en-US" dirty="0" smtClean="0"/>
              <a:t>and is an insufficient representation of the underlying pattern that it is sampled from, then the model fails to learn a generalizable mapping.</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AB5B076A-BCD3-43DB-B626-89538CF1BE16}" type="slidenum">
              <a:rPr lang="en-US" smtClean="0"/>
              <a:pPr/>
              <a:t>23</a:t>
            </a:fld>
            <a:endParaRPr lang="en-US"/>
          </a:p>
        </p:txBody>
      </p:sp>
    </p:spTree>
    <p:extLst>
      <p:ext uri="{BB962C8B-B14F-4D97-AF65-F5344CB8AC3E}">
        <p14:creationId xmlns:p14="http://schemas.microsoft.com/office/powerpoint/2010/main" val="3187088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lvl1pPr>
              <a:defRPr b="1">
                <a:solidFill>
                  <a:srgbClr val="004274"/>
                </a:solidFill>
              </a:defRPr>
            </a:lvl1pPr>
          </a:lstStyle>
          <a:p>
            <a:r>
              <a:rPr lang="en-US" dirty="0"/>
              <a:t>Click to edit Master title style</a:t>
            </a:r>
          </a:p>
        </p:txBody>
      </p:sp>
      <p:sp>
        <p:nvSpPr>
          <p:cNvPr id="7" name="Footer Placeholder 2"/>
          <p:cNvSpPr txBox="1">
            <a:spLocks/>
          </p:cNvSpPr>
          <p:nvPr userDrawn="1"/>
        </p:nvSpPr>
        <p:spPr>
          <a:xfrm>
            <a:off x="304800" y="6492876"/>
            <a:ext cx="1046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rgbClr val="004274"/>
                </a:solidFill>
              </a:rPr>
              <a:t>Traffic modeling of 4G network under LTE and WiMAX network platform</a:t>
            </a:r>
          </a:p>
        </p:txBody>
      </p:sp>
      <p:sp>
        <p:nvSpPr>
          <p:cNvPr id="8" name="Slide Number Placeholder 3"/>
          <p:cNvSpPr txBox="1">
            <a:spLocks/>
          </p:cNvSpPr>
          <p:nvPr userDrawn="1"/>
        </p:nvSpPr>
        <p:spPr>
          <a:xfrm>
            <a:off x="10769600" y="6492876"/>
            <a:ext cx="110684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DC8AA99-7238-42D3-B68A-A4E1B56FEE73}" type="slidenum">
              <a:rPr lang="en-US" sz="1200" smtClean="0">
                <a:solidFill>
                  <a:srgbClr val="004274"/>
                </a:solidFill>
              </a:rPr>
              <a:pPr/>
              <a:t>‹#›</a:t>
            </a:fld>
            <a:endParaRPr lang="en-US" sz="1200">
              <a:solidFill>
                <a:srgbClr val="004274"/>
              </a:solidFill>
            </a:endParaRPr>
          </a:p>
        </p:txBody>
      </p:sp>
    </p:spTree>
    <p:extLst>
      <p:ext uri="{BB962C8B-B14F-4D97-AF65-F5344CB8AC3E}">
        <p14:creationId xmlns:p14="http://schemas.microsoft.com/office/powerpoint/2010/main" val="392104932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sz="4000">
                <a:latin typeface="Gill Sans MT" panose="020B0502020104020203"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marL="342900" indent="-342900">
              <a:buFont typeface="Wingdings" panose="05000000000000000000" pitchFamily="2" charset="2"/>
              <a:buChar char="ü"/>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03EE55C-EFC8-49AB-BB12-5AC9DE5C1596}"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24D71-41C7-42A6-B50A-BDF41338C8EE}" type="slidenum">
              <a:rPr lang="en-US" smtClean="0"/>
              <a:pPr/>
              <a:t>‹#›</a:t>
            </a:fld>
            <a:endParaRPr lang="en-US"/>
          </a:p>
        </p:txBody>
      </p:sp>
    </p:spTree>
    <p:extLst>
      <p:ext uri="{BB962C8B-B14F-4D97-AF65-F5344CB8AC3E}">
        <p14:creationId xmlns:p14="http://schemas.microsoft.com/office/powerpoint/2010/main" val="25501254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3EE55C-EFC8-49AB-BB12-5AC9DE5C1596}"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24D71-41C7-42A6-B50A-BDF41338C8EE}" type="slidenum">
              <a:rPr lang="en-US" smtClean="0"/>
              <a:pPr/>
              <a:t>‹#›</a:t>
            </a:fld>
            <a:endParaRPr lang="en-US"/>
          </a:p>
        </p:txBody>
      </p:sp>
    </p:spTree>
    <p:extLst>
      <p:ext uri="{BB962C8B-B14F-4D97-AF65-F5344CB8AC3E}">
        <p14:creationId xmlns:p14="http://schemas.microsoft.com/office/powerpoint/2010/main" val="589654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03EE55C-EFC8-49AB-BB12-5AC9DE5C1596}"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24D71-41C7-42A6-B50A-BDF41338C8EE}" type="slidenum">
              <a:rPr lang="en-US" smtClean="0"/>
              <a:pPr/>
              <a:t>‹#›</a:t>
            </a:fld>
            <a:endParaRPr lang="en-US"/>
          </a:p>
        </p:txBody>
      </p:sp>
    </p:spTree>
    <p:extLst>
      <p:ext uri="{BB962C8B-B14F-4D97-AF65-F5344CB8AC3E}">
        <p14:creationId xmlns:p14="http://schemas.microsoft.com/office/powerpoint/2010/main" val="951741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03EE55C-EFC8-49AB-BB12-5AC9DE5C1596}" type="datetimeFigureOut">
              <a:rPr lang="en-US" smtClean="0"/>
              <a:pPr/>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724D71-41C7-42A6-B50A-BDF41338C8EE}" type="slidenum">
              <a:rPr lang="en-US" smtClean="0"/>
              <a:pPr/>
              <a:t>‹#›</a:t>
            </a:fld>
            <a:endParaRPr lang="en-US"/>
          </a:p>
        </p:txBody>
      </p:sp>
    </p:spTree>
    <p:extLst>
      <p:ext uri="{BB962C8B-B14F-4D97-AF65-F5344CB8AC3E}">
        <p14:creationId xmlns:p14="http://schemas.microsoft.com/office/powerpoint/2010/main" val="1719680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703EE55C-EFC8-49AB-BB12-5AC9DE5C1596}" type="datetimeFigureOut">
              <a:rPr lang="en-US" smtClean="0"/>
              <a:pPr/>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724D71-41C7-42A6-B50A-BDF41338C8EE}" type="slidenum">
              <a:rPr lang="en-US" smtClean="0"/>
              <a:pPr/>
              <a:t>‹#›</a:t>
            </a:fld>
            <a:endParaRPr lang="en-US"/>
          </a:p>
        </p:txBody>
      </p:sp>
    </p:spTree>
    <p:extLst>
      <p:ext uri="{BB962C8B-B14F-4D97-AF65-F5344CB8AC3E}">
        <p14:creationId xmlns:p14="http://schemas.microsoft.com/office/powerpoint/2010/main" val="3735229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3EE55C-EFC8-49AB-BB12-5AC9DE5C1596}" type="datetimeFigureOut">
              <a:rPr lang="en-US" smtClean="0"/>
              <a:pPr/>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724D71-41C7-42A6-B50A-BDF41338C8EE}" type="slidenum">
              <a:rPr lang="en-US" smtClean="0"/>
              <a:pPr/>
              <a:t>‹#›</a:t>
            </a:fld>
            <a:endParaRPr lang="en-US"/>
          </a:p>
        </p:txBody>
      </p:sp>
    </p:spTree>
    <p:extLst>
      <p:ext uri="{BB962C8B-B14F-4D97-AF65-F5344CB8AC3E}">
        <p14:creationId xmlns:p14="http://schemas.microsoft.com/office/powerpoint/2010/main" val="3845703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3EE55C-EFC8-49AB-BB12-5AC9DE5C1596}"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24D71-41C7-42A6-B50A-BDF41338C8EE}" type="slidenum">
              <a:rPr lang="en-US" smtClean="0"/>
              <a:pPr/>
              <a:t>‹#›</a:t>
            </a:fld>
            <a:endParaRPr lang="en-US"/>
          </a:p>
        </p:txBody>
      </p:sp>
    </p:spTree>
    <p:extLst>
      <p:ext uri="{BB962C8B-B14F-4D97-AF65-F5344CB8AC3E}">
        <p14:creationId xmlns:p14="http://schemas.microsoft.com/office/powerpoint/2010/main" val="1523096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3EE55C-EFC8-49AB-BB12-5AC9DE5C1596}"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724D71-41C7-42A6-B50A-BDF41338C8EE}" type="slidenum">
              <a:rPr lang="en-US" smtClean="0"/>
              <a:pPr/>
              <a:t>‹#›</a:t>
            </a:fld>
            <a:endParaRPr lang="en-US"/>
          </a:p>
        </p:txBody>
      </p:sp>
    </p:spTree>
    <p:extLst>
      <p:ext uri="{BB962C8B-B14F-4D97-AF65-F5344CB8AC3E}">
        <p14:creationId xmlns:p14="http://schemas.microsoft.com/office/powerpoint/2010/main" val="985989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3EE55C-EFC8-49AB-BB12-5AC9DE5C1596}"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24D71-41C7-42A6-B50A-BDF41338C8EE}" type="slidenum">
              <a:rPr lang="en-US" smtClean="0"/>
              <a:pPr/>
              <a:t>‹#›</a:t>
            </a:fld>
            <a:endParaRPr lang="en-US"/>
          </a:p>
        </p:txBody>
      </p:sp>
    </p:spTree>
    <p:extLst>
      <p:ext uri="{BB962C8B-B14F-4D97-AF65-F5344CB8AC3E}">
        <p14:creationId xmlns:p14="http://schemas.microsoft.com/office/powerpoint/2010/main" val="1663228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3EE55C-EFC8-49AB-BB12-5AC9DE5C1596}"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724D71-41C7-42A6-B50A-BDF41338C8EE}" type="slidenum">
              <a:rPr lang="en-US" smtClean="0"/>
              <a:pPr/>
              <a:t>‹#›</a:t>
            </a:fld>
            <a:endParaRPr lang="en-US"/>
          </a:p>
        </p:txBody>
      </p:sp>
    </p:spTree>
    <p:extLst>
      <p:ext uri="{BB962C8B-B14F-4D97-AF65-F5344CB8AC3E}">
        <p14:creationId xmlns:p14="http://schemas.microsoft.com/office/powerpoint/2010/main" val="2904314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10363200" cy="1143000"/>
          </a:xfrm>
          <a:prstGeom prst="rect">
            <a:avLst/>
          </a:prstGeom>
        </p:spPr>
        <p:txBody>
          <a:bodyPr/>
          <a:lstStyle/>
          <a:p>
            <a:r>
              <a:rPr lang="en-US" dirty="0"/>
              <a:t>Click to edit Master title style</a:t>
            </a:r>
          </a:p>
        </p:txBody>
      </p:sp>
      <p:sp>
        <p:nvSpPr>
          <p:cNvPr id="3" name="Footer Placeholder 2"/>
          <p:cNvSpPr>
            <a:spLocks noGrp="1"/>
          </p:cNvSpPr>
          <p:nvPr>
            <p:ph type="ftr" sz="quarter" idx="10"/>
          </p:nvPr>
        </p:nvSpPr>
        <p:spPr/>
        <p:txBody>
          <a:bodyPr/>
          <a:lstStyle/>
          <a:p>
            <a:r>
              <a:rPr lang="en-US"/>
              <a:t>Traffic modeling of 4G network under LTE and WiMAX network platform</a:t>
            </a:r>
            <a:endParaRPr lang="en-US" dirty="0"/>
          </a:p>
        </p:txBody>
      </p:sp>
      <p:sp>
        <p:nvSpPr>
          <p:cNvPr id="4" name="Slide Number Placeholder 3"/>
          <p:cNvSpPr>
            <a:spLocks noGrp="1"/>
          </p:cNvSpPr>
          <p:nvPr>
            <p:ph type="sldNum" sz="quarter" idx="11"/>
          </p:nvPr>
        </p:nvSpPr>
        <p:spPr/>
        <p:txBody>
          <a:bodyPr/>
          <a:lstStyle/>
          <a:p>
            <a:fld id="{EDC8AA99-7238-42D3-B68A-A4E1B56FEE73}" type="slidenum">
              <a:rPr lang="en-US" smtClean="0"/>
              <a:pPr/>
              <a:t>‹#›</a:t>
            </a:fld>
            <a:endParaRPr lang="en-US"/>
          </a:p>
        </p:txBody>
      </p:sp>
    </p:spTree>
    <p:extLst>
      <p:ext uri="{BB962C8B-B14F-4D97-AF65-F5344CB8AC3E}">
        <p14:creationId xmlns:p14="http://schemas.microsoft.com/office/powerpoint/2010/main" val="2767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3EE55C-EFC8-49AB-BB12-5AC9DE5C1596}" type="datetimeFigureOut">
              <a:rPr lang="en-US" smtClean="0"/>
              <a:pPr/>
              <a:t>5/16/2026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4D71-41C7-42A6-B50A-BDF41338C8EE}" type="slidenum">
              <a:rPr lang="en-US" smtClean="0"/>
              <a:pPr/>
              <a:t>‹#›</a:t>
            </a:fld>
            <a:endParaRPr lang="en-US"/>
          </a:p>
        </p:txBody>
      </p:sp>
    </p:spTree>
    <p:extLst>
      <p:ext uri="{BB962C8B-B14F-4D97-AF65-F5344CB8AC3E}">
        <p14:creationId xmlns:p14="http://schemas.microsoft.com/office/powerpoint/2010/main" val="51796353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4.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9.png"/><Relationship Id="rId5" Type="http://schemas.microsoft.com/office/2007/relationships/hdphoto" Target="../media/hdphoto6.wdp"/><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1.png"/><Relationship Id="rId4" Type="http://schemas.microsoft.com/office/2007/relationships/hdphoto" Target="../media/hdphoto7.wdp"/></Relationships>
</file>

<file path=ppt/slides/_rels/slide19.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customXml" Target="../ink/ink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10972800" cy="1143000"/>
          </a:xfrm>
        </p:spPr>
        <p:txBody>
          <a:bodyPr/>
          <a:lstStyle/>
          <a:p>
            <a:pPr algn="l"/>
            <a:r>
              <a:rPr lang="en-US" dirty="0" smtClean="0">
                <a:latin typeface="Gill Sans MT" panose="020B0502020104020203" pitchFamily="34" charset="0"/>
              </a:rPr>
              <a:t>Contents</a:t>
            </a:r>
            <a:endParaRPr lang="en-US" dirty="0">
              <a:latin typeface="Gill Sans MT" panose="020B0502020104020203" pitchFamily="34" charset="0"/>
            </a:endParaRPr>
          </a:p>
        </p:txBody>
      </p:sp>
      <p:sp>
        <p:nvSpPr>
          <p:cNvPr id="3" name="Content Placeholder 2"/>
          <p:cNvSpPr>
            <a:spLocks noGrp="1"/>
          </p:cNvSpPr>
          <p:nvPr>
            <p:ph idx="1"/>
          </p:nvPr>
        </p:nvSpPr>
        <p:spPr>
          <a:xfrm>
            <a:off x="609600" y="1066800"/>
            <a:ext cx="10972800" cy="5791200"/>
          </a:xfrm>
        </p:spPr>
        <p:txBody>
          <a:bodyPr>
            <a:noAutofit/>
          </a:bodyPr>
          <a:lstStyle/>
          <a:p>
            <a:pPr marL="0" indent="0">
              <a:buNone/>
            </a:pPr>
            <a:r>
              <a:rPr lang="en-US" sz="1700" b="1" dirty="0"/>
              <a:t>The course will mainly cover the following topics:</a:t>
            </a:r>
          </a:p>
          <a:p>
            <a:pPr>
              <a:buFont typeface="Wingdings" panose="05000000000000000000" pitchFamily="2" charset="2"/>
              <a:buChar char="ü"/>
            </a:pPr>
            <a:r>
              <a:rPr lang="en-US" sz="1800" dirty="0"/>
              <a:t>A Gentle Introduction to Machine </a:t>
            </a:r>
            <a:r>
              <a:rPr lang="en-US" sz="1800" dirty="0" smtClean="0"/>
              <a:t>Learning</a:t>
            </a:r>
          </a:p>
          <a:p>
            <a:pPr>
              <a:buFont typeface="Wingdings" panose="05000000000000000000" pitchFamily="2" charset="2"/>
              <a:buChar char="ü"/>
            </a:pPr>
            <a:r>
              <a:rPr lang="en-US" sz="1800" dirty="0" smtClean="0"/>
              <a:t>Linear Regression</a:t>
            </a:r>
          </a:p>
          <a:p>
            <a:pPr>
              <a:buFont typeface="Wingdings" panose="05000000000000000000" pitchFamily="2" charset="2"/>
              <a:buChar char="ü"/>
            </a:pPr>
            <a:r>
              <a:rPr lang="en-US" sz="1800" dirty="0"/>
              <a:t>Logistic Regression</a:t>
            </a:r>
            <a:endParaRPr lang="en-US" sz="1800" dirty="0" smtClean="0"/>
          </a:p>
          <a:p>
            <a:pPr>
              <a:buFont typeface="Wingdings" panose="05000000000000000000" pitchFamily="2" charset="2"/>
              <a:buChar char="ü"/>
            </a:pPr>
            <a:r>
              <a:rPr lang="en-US" sz="1800" dirty="0" smtClean="0"/>
              <a:t>Naive Bayes</a:t>
            </a:r>
          </a:p>
          <a:p>
            <a:pPr>
              <a:buFont typeface="Wingdings" panose="05000000000000000000" pitchFamily="2" charset="2"/>
              <a:buChar char="ü"/>
            </a:pPr>
            <a:r>
              <a:rPr lang="en-US" sz="1800" dirty="0"/>
              <a:t>Support Vector Machines</a:t>
            </a:r>
            <a:endParaRPr lang="en-US" sz="1800" dirty="0" smtClean="0"/>
          </a:p>
          <a:p>
            <a:pPr>
              <a:buFont typeface="Wingdings" panose="05000000000000000000" pitchFamily="2" charset="2"/>
              <a:buChar char="ü"/>
            </a:pPr>
            <a:r>
              <a:rPr lang="en-US" sz="1800" dirty="0"/>
              <a:t>Decision Trees and Ensemble </a:t>
            </a:r>
            <a:r>
              <a:rPr lang="en-US" sz="1800" dirty="0" smtClean="0"/>
              <a:t>Learning</a:t>
            </a:r>
          </a:p>
          <a:p>
            <a:pPr>
              <a:buFont typeface="Wingdings" panose="05000000000000000000" pitchFamily="2" charset="2"/>
              <a:buChar char="ü"/>
            </a:pPr>
            <a:r>
              <a:rPr lang="en-US" sz="1800" dirty="0"/>
              <a:t>Clustering </a:t>
            </a:r>
            <a:r>
              <a:rPr lang="en-US" sz="1800" dirty="0" smtClean="0"/>
              <a:t>Fundamentals</a:t>
            </a:r>
          </a:p>
          <a:p>
            <a:pPr>
              <a:buFont typeface="Wingdings" panose="05000000000000000000" pitchFamily="2" charset="2"/>
              <a:buChar char="ü"/>
            </a:pPr>
            <a:r>
              <a:rPr lang="en-US" sz="1800" dirty="0"/>
              <a:t>Hierarchical Clustering</a:t>
            </a:r>
            <a:endParaRPr lang="en-US" sz="1800" dirty="0" smtClean="0"/>
          </a:p>
          <a:p>
            <a:pPr>
              <a:buFont typeface="Wingdings" panose="05000000000000000000" pitchFamily="2" charset="2"/>
              <a:buChar char="ü"/>
            </a:pPr>
            <a:r>
              <a:rPr lang="en-US" sz="1800" dirty="0"/>
              <a:t>Neural Networks and Deep Learning</a:t>
            </a:r>
          </a:p>
          <a:p>
            <a:pPr>
              <a:buFont typeface="Wingdings" panose="05000000000000000000" pitchFamily="2" charset="2"/>
              <a:buChar char="ü"/>
            </a:pPr>
            <a:r>
              <a:rPr lang="en-US" sz="1800" dirty="0" smtClean="0"/>
              <a:t>Unsupervised </a:t>
            </a:r>
            <a:r>
              <a:rPr lang="en-US" sz="1800" dirty="0"/>
              <a:t>Learning</a:t>
            </a:r>
            <a:endParaRPr lang="en-US" sz="1700" dirty="0"/>
          </a:p>
          <a:p>
            <a:pPr lvl="1">
              <a:buFont typeface="Gill Sans MT" panose="020B0502020104020203" pitchFamily="34" charset="0"/>
              <a:buChar char="–"/>
            </a:pPr>
            <a:endParaRPr lang="en-US" sz="1700" dirty="0"/>
          </a:p>
        </p:txBody>
      </p:sp>
    </p:spTree>
    <p:extLst>
      <p:ext uri="{BB962C8B-B14F-4D97-AF65-F5344CB8AC3E}">
        <p14:creationId xmlns:p14="http://schemas.microsoft.com/office/powerpoint/2010/main" val="22273332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43200" y="304800"/>
            <a:ext cx="6814686" cy="584775"/>
          </a:xfrm>
          <a:prstGeom prst="rect">
            <a:avLst/>
          </a:prstGeom>
        </p:spPr>
        <p:txBody>
          <a:bodyPr wrap="none">
            <a:spAutoFit/>
          </a:bodyPr>
          <a:lstStyle/>
          <a:p>
            <a:r>
              <a:rPr lang="fr-FR" sz="3200" b="1" dirty="0">
                <a:solidFill>
                  <a:srgbClr val="FF0000"/>
                </a:solidFill>
                <a:effectLst>
                  <a:outerShdw blurRad="38100" dist="38100" dir="2700000" algn="tl">
                    <a:srgbClr val="000000">
                      <a:alpha val="43137"/>
                    </a:srgbClr>
                  </a:outerShdw>
                </a:effectLst>
              </a:rPr>
              <a:t>Gradient </a:t>
            </a:r>
            <a:r>
              <a:rPr lang="en-US" sz="3200" b="1" dirty="0">
                <a:solidFill>
                  <a:srgbClr val="FF0000"/>
                </a:solidFill>
                <a:effectLst>
                  <a:outerShdw blurRad="38100" dist="38100" dir="2700000" algn="tl">
                    <a:srgbClr val="000000">
                      <a:alpha val="43137"/>
                    </a:srgbClr>
                  </a:outerShdw>
                </a:effectLst>
              </a:rPr>
              <a:t>descent</a:t>
            </a:r>
            <a:r>
              <a:rPr lang="fr-FR" sz="3200" b="1" dirty="0">
                <a:solidFill>
                  <a:srgbClr val="FF0000"/>
                </a:solidFill>
                <a:effectLst>
                  <a:outerShdw blurRad="38100" dist="38100" dir="2700000" algn="tl">
                    <a:srgbClr val="000000">
                      <a:alpha val="43137"/>
                    </a:srgbClr>
                  </a:outerShdw>
                </a:effectLst>
              </a:rPr>
              <a:t> for multiple variables</a:t>
            </a:r>
            <a:endParaRPr lang="en-US" sz="3200" b="1" dirty="0">
              <a:solidFill>
                <a:srgbClr val="FF0000"/>
              </a:solidFill>
              <a:effectLst>
                <a:outerShdw blurRad="38100" dist="38100" dir="2700000" algn="tl">
                  <a:srgbClr val="000000">
                    <a:alpha val="43137"/>
                  </a:srgbClr>
                </a:outerShdw>
              </a:effectLst>
            </a:endParaRPr>
          </a:p>
        </p:txBody>
      </p:sp>
      <p:sp>
        <p:nvSpPr>
          <p:cNvPr id="5" name="Rectangle 4"/>
          <p:cNvSpPr/>
          <p:nvPr/>
        </p:nvSpPr>
        <p:spPr>
          <a:xfrm>
            <a:off x="854643" y="1143000"/>
            <a:ext cx="10591800" cy="5278368"/>
          </a:xfrm>
          <a:prstGeom prst="rect">
            <a:avLst/>
          </a:prstGeom>
          <a:ln w="57150">
            <a:solidFill>
              <a:schemeClr val="tx1"/>
            </a:solidFill>
          </a:ln>
        </p:spPr>
        <p:txBody>
          <a:bodyPr wrap="square">
            <a:spAutoFit/>
          </a:bodyPr>
          <a:lstStyle/>
          <a:p>
            <a:pPr algn="ctr"/>
            <a:r>
              <a:rPr lang="en-US" sz="2600" b="1" dirty="0">
                <a:effectLst>
                  <a:outerShdw blurRad="38100" dist="38100" dir="2700000" algn="tl">
                    <a:srgbClr val="000000">
                      <a:alpha val="43137"/>
                    </a:srgbClr>
                  </a:outerShdw>
                </a:effectLst>
              </a:rPr>
              <a:t>Gradient Descent for Multiple Variables (Multivariable Gradient Descent</a:t>
            </a:r>
            <a:r>
              <a:rPr lang="en-US" sz="2600" b="1" dirty="0" smtClean="0">
                <a:effectLst>
                  <a:outerShdw blurRad="38100" dist="38100" dir="2700000" algn="tl">
                    <a:srgbClr val="000000">
                      <a:alpha val="43137"/>
                    </a:srgbClr>
                  </a:outerShdw>
                </a:effectLst>
              </a:rPr>
              <a:t>)</a:t>
            </a:r>
          </a:p>
          <a:p>
            <a:pPr algn="ctr"/>
            <a:endParaRPr lang="en-US" sz="1400" b="1" dirty="0">
              <a:effectLst>
                <a:outerShdw blurRad="38100" dist="38100" dir="2700000" algn="tl">
                  <a:srgbClr val="000000">
                    <a:alpha val="43137"/>
                  </a:srgbClr>
                </a:outerShdw>
              </a:effectLst>
            </a:endParaRPr>
          </a:p>
          <a:p>
            <a:pPr algn="just"/>
            <a:r>
              <a:rPr lang="en-US" sz="2600" dirty="0"/>
              <a:t>Gradient Descent is an optimization algorithm used in Machine Learning to minimize the cost function (error</a:t>
            </a:r>
            <a:r>
              <a:rPr lang="en-US" sz="2600" dirty="0" smtClean="0"/>
              <a:t>).</a:t>
            </a:r>
          </a:p>
          <a:p>
            <a:pPr algn="ctr"/>
            <a:r>
              <a:rPr lang="en-US" sz="2600" dirty="0"/>
              <a:t/>
            </a:r>
            <a:br>
              <a:rPr lang="en-US" sz="2600" dirty="0"/>
            </a:br>
            <a:r>
              <a:rPr lang="en-US" sz="2500" b="1" u="sng" dirty="0">
                <a:solidFill>
                  <a:srgbClr val="FF0000"/>
                </a:solidFill>
                <a:effectLst>
                  <a:outerShdw blurRad="38100" dist="38100" dir="2700000" algn="tl">
                    <a:srgbClr val="000000">
                      <a:alpha val="43137"/>
                    </a:srgbClr>
                  </a:outerShdw>
                </a:effectLst>
              </a:rPr>
              <a:t>When there are multiple input variables/features, </a:t>
            </a:r>
            <a:r>
              <a:rPr lang="en-US" sz="2500" b="1" u="sng" dirty="0" smtClean="0">
                <a:solidFill>
                  <a:srgbClr val="FF0000"/>
                </a:solidFill>
                <a:effectLst>
                  <a:outerShdw blurRad="38100" dist="38100" dir="2700000" algn="tl">
                    <a:srgbClr val="000000">
                      <a:alpha val="43137"/>
                    </a:srgbClr>
                  </a:outerShdw>
                </a:effectLst>
              </a:rPr>
              <a:t>one can </a:t>
            </a:r>
            <a:r>
              <a:rPr lang="en-US" sz="2500" b="1" u="sng" dirty="0">
                <a:solidFill>
                  <a:srgbClr val="FF0000"/>
                </a:solidFill>
                <a:effectLst>
                  <a:outerShdw blurRad="38100" dist="38100" dir="2700000" algn="tl">
                    <a:srgbClr val="000000">
                      <a:alpha val="43137"/>
                    </a:srgbClr>
                  </a:outerShdw>
                </a:effectLst>
              </a:rPr>
              <a:t>use Multivariable </a:t>
            </a:r>
            <a:endParaRPr lang="en-US" sz="2500" b="1" u="sng" dirty="0" smtClean="0">
              <a:solidFill>
                <a:srgbClr val="FF0000"/>
              </a:solidFill>
              <a:effectLst>
                <a:outerShdw blurRad="38100" dist="38100" dir="2700000" algn="tl">
                  <a:srgbClr val="000000">
                    <a:alpha val="43137"/>
                  </a:srgbClr>
                </a:outerShdw>
              </a:effectLst>
            </a:endParaRPr>
          </a:p>
          <a:p>
            <a:endParaRPr lang="en-US" sz="2600" b="1" dirty="0"/>
          </a:p>
          <a:p>
            <a:r>
              <a:rPr lang="en-US" sz="2600" b="1" dirty="0" smtClean="0"/>
              <a:t>Gradient </a:t>
            </a:r>
            <a:r>
              <a:rPr lang="en-US" sz="2600" b="1" dirty="0"/>
              <a:t>Descent</a:t>
            </a:r>
            <a:r>
              <a:rPr lang="en-US" sz="2600" dirty="0"/>
              <a:t>.</a:t>
            </a:r>
          </a:p>
          <a:p>
            <a:r>
              <a:rPr lang="en-US" sz="2600" dirty="0"/>
              <a:t>It is widely used in:</a:t>
            </a:r>
          </a:p>
          <a:p>
            <a:r>
              <a:rPr lang="en-US" sz="2600" dirty="0" smtClean="0"/>
              <a:t> </a:t>
            </a:r>
            <a:r>
              <a:rPr lang="en-US" sz="2600" dirty="0" smtClean="0">
                <a:sym typeface="Wingdings" panose="05000000000000000000" pitchFamily="2" charset="2"/>
              </a:rPr>
              <a:t> </a:t>
            </a:r>
            <a:r>
              <a:rPr lang="en-US" sz="2600" dirty="0" smtClean="0"/>
              <a:t>Linear </a:t>
            </a:r>
            <a:r>
              <a:rPr lang="en-US" sz="2600" dirty="0"/>
              <a:t>Regression </a:t>
            </a:r>
          </a:p>
          <a:p>
            <a:r>
              <a:rPr lang="en-US" sz="2600" dirty="0" smtClean="0"/>
              <a:t> </a:t>
            </a:r>
            <a:r>
              <a:rPr lang="en-US" sz="2600" dirty="0" smtClean="0">
                <a:sym typeface="Wingdings" panose="05000000000000000000" pitchFamily="2" charset="2"/>
              </a:rPr>
              <a:t> </a:t>
            </a:r>
            <a:r>
              <a:rPr lang="en-US" sz="2600" dirty="0" smtClean="0"/>
              <a:t>Logistic </a:t>
            </a:r>
            <a:r>
              <a:rPr lang="en-US" sz="2600" dirty="0"/>
              <a:t>Regression </a:t>
            </a:r>
          </a:p>
          <a:p>
            <a:r>
              <a:rPr lang="en-US" sz="2600" dirty="0" smtClean="0"/>
              <a:t> </a:t>
            </a:r>
            <a:r>
              <a:rPr lang="en-US" sz="2600" dirty="0" smtClean="0">
                <a:sym typeface="Wingdings" panose="05000000000000000000" pitchFamily="2" charset="2"/>
              </a:rPr>
              <a:t> </a:t>
            </a:r>
            <a:r>
              <a:rPr lang="en-US" sz="2600" dirty="0" smtClean="0"/>
              <a:t>Neural </a:t>
            </a:r>
            <a:r>
              <a:rPr lang="en-US" sz="2600" dirty="0"/>
              <a:t>Networks </a:t>
            </a:r>
          </a:p>
          <a:p>
            <a:r>
              <a:rPr lang="en-US" sz="2600" dirty="0" smtClean="0"/>
              <a:t> </a:t>
            </a:r>
            <a:r>
              <a:rPr lang="en-US" sz="2600" dirty="0" smtClean="0">
                <a:sym typeface="Wingdings" panose="05000000000000000000" pitchFamily="2" charset="2"/>
              </a:rPr>
              <a:t> </a:t>
            </a:r>
            <a:r>
              <a:rPr lang="en-US" sz="2600" dirty="0" smtClean="0"/>
              <a:t>Deep </a:t>
            </a:r>
            <a:r>
              <a:rPr lang="en-US" sz="2600" dirty="0"/>
              <a:t>Learning</a:t>
            </a:r>
          </a:p>
        </p:txBody>
      </p:sp>
    </p:spTree>
    <p:extLst>
      <p:ext uri="{BB962C8B-B14F-4D97-AF65-F5344CB8AC3E}">
        <p14:creationId xmlns:p14="http://schemas.microsoft.com/office/powerpoint/2010/main" val="346342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716316"/>
            <a:ext cx="10287000" cy="1446550"/>
          </a:xfrm>
          <a:prstGeom prst="rect">
            <a:avLst/>
          </a:prstGeom>
        </p:spPr>
        <p:txBody>
          <a:bodyPr wrap="square">
            <a:spAutoFit/>
          </a:bodyPr>
          <a:lstStyle/>
          <a:p>
            <a:pPr algn="ctr"/>
            <a:r>
              <a:rPr lang="en-US" sz="2600" b="1" dirty="0">
                <a:solidFill>
                  <a:schemeClr val="tx2"/>
                </a:solidFill>
                <a:effectLst>
                  <a:outerShdw blurRad="38100" dist="38100" dir="2700000" algn="tl">
                    <a:srgbClr val="000000">
                      <a:alpha val="43137"/>
                    </a:srgbClr>
                  </a:outerShdw>
                </a:effectLst>
              </a:rPr>
              <a:t>Linear Regression with Multiple Variables</a:t>
            </a:r>
          </a:p>
          <a:p>
            <a:endParaRPr lang="en-US" sz="1400" dirty="0" smtClean="0"/>
          </a:p>
          <a:p>
            <a:r>
              <a:rPr lang="en-US" sz="2400" dirty="0" smtClean="0"/>
              <a:t>Suppose </a:t>
            </a:r>
            <a:r>
              <a:rPr lang="en-US" sz="2400" dirty="0"/>
              <a:t>we want to predict </a:t>
            </a:r>
            <a:r>
              <a:rPr lang="en-US" sz="2400" b="1" dirty="0">
                <a:solidFill>
                  <a:srgbClr val="FF0000"/>
                </a:solidFill>
              </a:rPr>
              <a:t>house price</a:t>
            </a:r>
            <a:r>
              <a:rPr lang="en-US" sz="2400" dirty="0">
                <a:solidFill>
                  <a:srgbClr val="FF0000"/>
                </a:solidFill>
              </a:rPr>
              <a:t> </a:t>
            </a:r>
            <a:r>
              <a:rPr lang="en-US" sz="2400" dirty="0"/>
              <a:t>using:</a:t>
            </a:r>
          </a:p>
          <a:p>
            <a:r>
              <a:rPr lang="en-US" sz="2400" dirty="0" smtClean="0"/>
              <a:t>The </a:t>
            </a:r>
            <a:r>
              <a:rPr lang="en-US" sz="2400" dirty="0"/>
              <a:t>hypothesis (prediction equation) becomes:</a:t>
            </a:r>
          </a:p>
        </p:txBody>
      </p:sp>
      <p:sp>
        <p:nvSpPr>
          <p:cNvPr id="5" name="Rectangle 4"/>
          <p:cNvSpPr/>
          <p:nvPr/>
        </p:nvSpPr>
        <p:spPr>
          <a:xfrm>
            <a:off x="1861076" y="3268906"/>
            <a:ext cx="5835124" cy="446276"/>
          </a:xfrm>
          <a:prstGeom prst="rect">
            <a:avLst/>
          </a:prstGeom>
        </p:spPr>
        <p:txBody>
          <a:bodyPr wrap="none">
            <a:spAutoFit/>
          </a:bodyPr>
          <a:lstStyle/>
          <a:p>
            <a:r>
              <a:rPr lang="en-US" sz="2300" dirty="0"/>
              <a:t>The hypothesis (prediction equation) becomes:</a:t>
            </a:r>
          </a:p>
        </p:txBody>
      </p:sp>
      <p:pic>
        <p:nvPicPr>
          <p:cNvPr id="6" name="Picture 5"/>
          <p:cNvPicPr>
            <a:picLocks noChangeAspect="1"/>
          </p:cNvPicPr>
          <p:nvPr/>
        </p:nvPicPr>
        <p:blipFill>
          <a:blip r:embed="rId2"/>
          <a:stretch>
            <a:fillRect/>
          </a:stretch>
        </p:blipFill>
        <p:spPr>
          <a:xfrm>
            <a:off x="3156476" y="2340465"/>
            <a:ext cx="3872752" cy="914400"/>
          </a:xfrm>
          <a:prstGeom prst="rect">
            <a:avLst/>
          </a:prstGeom>
        </p:spPr>
      </p:pic>
      <p:pic>
        <p:nvPicPr>
          <p:cNvPr id="7" name="Picture 6"/>
          <p:cNvPicPr>
            <a:picLocks noChangeAspect="1"/>
          </p:cNvPicPr>
          <p:nvPr/>
        </p:nvPicPr>
        <p:blipFill>
          <a:blip r:embed="rId3"/>
          <a:stretch>
            <a:fillRect/>
          </a:stretch>
        </p:blipFill>
        <p:spPr>
          <a:xfrm>
            <a:off x="3081681" y="3733800"/>
            <a:ext cx="3393913" cy="640080"/>
          </a:xfrm>
          <a:prstGeom prst="rect">
            <a:avLst/>
          </a:prstGeom>
        </p:spPr>
      </p:pic>
      <p:pic>
        <p:nvPicPr>
          <p:cNvPr id="8" name="Picture 7"/>
          <p:cNvPicPr>
            <a:picLocks noChangeAspect="1"/>
          </p:cNvPicPr>
          <p:nvPr/>
        </p:nvPicPr>
        <p:blipFill>
          <a:blip r:embed="rId4"/>
          <a:stretch>
            <a:fillRect/>
          </a:stretch>
        </p:blipFill>
        <p:spPr>
          <a:xfrm>
            <a:off x="3308781" y="4373880"/>
            <a:ext cx="3445273" cy="1645920"/>
          </a:xfrm>
          <a:prstGeom prst="rect">
            <a:avLst/>
          </a:prstGeom>
        </p:spPr>
      </p:pic>
      <p:sp>
        <p:nvSpPr>
          <p:cNvPr id="9" name="Rounded Rectangle 8"/>
          <p:cNvSpPr/>
          <p:nvPr/>
        </p:nvSpPr>
        <p:spPr>
          <a:xfrm>
            <a:off x="3022586" y="3729223"/>
            <a:ext cx="4172489" cy="2290577"/>
          </a:xfrm>
          <a:prstGeom prst="round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1831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228600"/>
            <a:ext cx="5158155" cy="3657600"/>
          </a:xfrm>
          <a:prstGeom prst="rect">
            <a:avLst/>
          </a:prstGeom>
          <a:ln w="57150">
            <a:solidFill>
              <a:schemeClr val="accent6">
                <a:lumMod val="75000"/>
              </a:schemeClr>
            </a:solidFill>
          </a:ln>
        </p:spPr>
      </p:pic>
      <p:pic>
        <p:nvPicPr>
          <p:cNvPr id="5" name="Picture 4"/>
          <p:cNvPicPr>
            <a:picLocks noChangeAspect="1"/>
          </p:cNvPicPr>
          <p:nvPr/>
        </p:nvPicPr>
        <p:blipFill>
          <a:blip r:embed="rId3"/>
          <a:stretch>
            <a:fillRect/>
          </a:stretch>
        </p:blipFill>
        <p:spPr>
          <a:xfrm>
            <a:off x="6019800" y="228600"/>
            <a:ext cx="4367604" cy="2651760"/>
          </a:xfrm>
          <a:prstGeom prst="rect">
            <a:avLst/>
          </a:prstGeom>
          <a:ln w="57150">
            <a:solidFill>
              <a:srgbClr val="009900"/>
            </a:solidFill>
          </a:ln>
        </p:spPr>
      </p:pic>
      <p:cxnSp>
        <p:nvCxnSpPr>
          <p:cNvPr id="7" name="Straight Arrow Connector 6"/>
          <p:cNvCxnSpPr/>
          <p:nvPr/>
        </p:nvCxnSpPr>
        <p:spPr>
          <a:xfrm flipV="1">
            <a:off x="2209800" y="1554480"/>
            <a:ext cx="5105400" cy="20269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4"/>
          <a:stretch>
            <a:fillRect/>
          </a:stretch>
        </p:blipFill>
        <p:spPr>
          <a:xfrm>
            <a:off x="6934200" y="3429000"/>
            <a:ext cx="4963637" cy="3200400"/>
          </a:xfrm>
          <a:prstGeom prst="rect">
            <a:avLst/>
          </a:prstGeom>
          <a:ln w="57150">
            <a:solidFill>
              <a:schemeClr val="tx2">
                <a:lumMod val="60000"/>
                <a:lumOff val="40000"/>
              </a:schemeClr>
            </a:solidFill>
          </a:ln>
        </p:spPr>
      </p:pic>
      <p:cxnSp>
        <p:nvCxnSpPr>
          <p:cNvPr id="12" name="Straight Arrow Connector 11"/>
          <p:cNvCxnSpPr/>
          <p:nvPr/>
        </p:nvCxnSpPr>
        <p:spPr>
          <a:xfrm>
            <a:off x="8610600" y="2987040"/>
            <a:ext cx="0" cy="36576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6046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228601"/>
            <a:ext cx="6217920" cy="4056873"/>
          </a:xfrm>
          <a:prstGeom prst="rect">
            <a:avLst/>
          </a:prstGeom>
          <a:ln w="57150">
            <a:solidFill>
              <a:schemeClr val="accent6">
                <a:lumMod val="50000"/>
              </a:schemeClr>
            </a:solidFill>
          </a:ln>
        </p:spPr>
      </p:pic>
      <p:pic>
        <p:nvPicPr>
          <p:cNvPr id="5" name="Picture 4"/>
          <p:cNvPicPr>
            <a:picLocks noChangeAspect="1"/>
          </p:cNvPicPr>
          <p:nvPr/>
        </p:nvPicPr>
        <p:blipFill>
          <a:blip r:embed="rId3"/>
          <a:stretch>
            <a:fillRect/>
          </a:stretch>
        </p:blipFill>
        <p:spPr>
          <a:xfrm>
            <a:off x="5562600" y="2971800"/>
            <a:ext cx="6392848" cy="3657600"/>
          </a:xfrm>
          <a:prstGeom prst="rect">
            <a:avLst/>
          </a:prstGeom>
          <a:ln w="57150">
            <a:solidFill>
              <a:srgbClr val="FF0000"/>
            </a:solidFill>
          </a:ln>
        </p:spPr>
      </p:pic>
      <p:sp>
        <p:nvSpPr>
          <p:cNvPr id="6" name="Rectangle 5"/>
          <p:cNvSpPr/>
          <p:nvPr/>
        </p:nvSpPr>
        <p:spPr>
          <a:xfrm>
            <a:off x="6019800" y="3048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smtClean="0"/>
              <a:t>1</a:t>
            </a:r>
            <a:endParaRPr lang="en-US" sz="2600" b="1" dirty="0"/>
          </a:p>
        </p:txBody>
      </p:sp>
      <p:sp>
        <p:nvSpPr>
          <p:cNvPr id="7" name="Rectangle 6"/>
          <p:cNvSpPr/>
          <p:nvPr/>
        </p:nvSpPr>
        <p:spPr>
          <a:xfrm>
            <a:off x="11353800" y="30480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smtClean="0"/>
              <a:t>2</a:t>
            </a:r>
            <a:endParaRPr lang="en-US" sz="2600" b="1" dirty="0"/>
          </a:p>
        </p:txBody>
      </p:sp>
      <p:cxnSp>
        <p:nvCxnSpPr>
          <p:cNvPr id="9" name="Straight Arrow Connector 8"/>
          <p:cNvCxnSpPr/>
          <p:nvPr/>
        </p:nvCxnSpPr>
        <p:spPr>
          <a:xfrm flipV="1">
            <a:off x="8153400" y="1371600"/>
            <a:ext cx="576077" cy="26670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4"/>
          <a:stretch>
            <a:fillRect/>
          </a:stretch>
        </p:blipFill>
        <p:spPr>
          <a:xfrm>
            <a:off x="8729477" y="487680"/>
            <a:ext cx="2997448" cy="548640"/>
          </a:xfrm>
          <a:prstGeom prst="rect">
            <a:avLst/>
          </a:prstGeom>
        </p:spPr>
      </p:pic>
      <p:pic>
        <p:nvPicPr>
          <p:cNvPr id="13" name="Picture 12"/>
          <p:cNvPicPr>
            <a:picLocks noChangeAspect="1"/>
          </p:cNvPicPr>
          <p:nvPr/>
        </p:nvPicPr>
        <p:blipFill>
          <a:blip r:embed="rId5"/>
          <a:stretch>
            <a:fillRect/>
          </a:stretch>
        </p:blipFill>
        <p:spPr>
          <a:xfrm>
            <a:off x="8815008" y="990600"/>
            <a:ext cx="1177569" cy="1005840"/>
          </a:xfrm>
          <a:prstGeom prst="rect">
            <a:avLst/>
          </a:prstGeom>
        </p:spPr>
      </p:pic>
      <p:pic>
        <p:nvPicPr>
          <p:cNvPr id="16" name="Picture 15"/>
          <p:cNvPicPr>
            <a:picLocks noChangeAspect="1"/>
          </p:cNvPicPr>
          <p:nvPr/>
        </p:nvPicPr>
        <p:blipFill>
          <a:blip r:embed="rId6"/>
          <a:stretch>
            <a:fillRect/>
          </a:stretch>
        </p:blipFill>
        <p:spPr>
          <a:xfrm>
            <a:off x="348343" y="4972050"/>
            <a:ext cx="5000625" cy="1657350"/>
          </a:xfrm>
          <a:prstGeom prst="rect">
            <a:avLst/>
          </a:prstGeom>
          <a:ln w="57150">
            <a:solidFill>
              <a:schemeClr val="tx1"/>
            </a:solidFill>
          </a:ln>
        </p:spPr>
      </p:pic>
      <p:sp>
        <p:nvSpPr>
          <p:cNvPr id="17" name="Rectangle 16"/>
          <p:cNvSpPr/>
          <p:nvPr/>
        </p:nvSpPr>
        <p:spPr>
          <a:xfrm>
            <a:off x="4724400" y="5000237"/>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smtClean="0"/>
              <a:t>3</a:t>
            </a:r>
            <a:endParaRPr lang="en-US" sz="2600" b="1" dirty="0"/>
          </a:p>
        </p:txBody>
      </p:sp>
    </p:spTree>
    <p:extLst>
      <p:ext uri="{BB962C8B-B14F-4D97-AF65-F5344CB8AC3E}">
        <p14:creationId xmlns:p14="http://schemas.microsoft.com/office/powerpoint/2010/main" val="4126217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28600" y="2600325"/>
            <a:ext cx="5000625" cy="1657350"/>
          </a:xfrm>
          <a:prstGeom prst="rect">
            <a:avLst/>
          </a:prstGeom>
          <a:ln w="57150">
            <a:solidFill>
              <a:schemeClr val="tx1"/>
            </a:solidFill>
          </a:ln>
        </p:spPr>
      </p:pic>
      <p:pic>
        <p:nvPicPr>
          <p:cNvPr id="6" name="Picture 5"/>
          <p:cNvPicPr>
            <a:picLocks noChangeAspect="1"/>
          </p:cNvPicPr>
          <p:nvPr/>
        </p:nvPicPr>
        <p:blipFill>
          <a:blip r:embed="rId3"/>
          <a:stretch>
            <a:fillRect/>
          </a:stretch>
        </p:blipFill>
        <p:spPr>
          <a:xfrm>
            <a:off x="5715000" y="228600"/>
            <a:ext cx="6234433" cy="6400800"/>
          </a:xfrm>
          <a:prstGeom prst="rect">
            <a:avLst/>
          </a:prstGeom>
          <a:ln w="57150">
            <a:solidFill>
              <a:schemeClr val="tx1"/>
            </a:solidFill>
          </a:ln>
        </p:spPr>
      </p:pic>
      <p:sp>
        <p:nvSpPr>
          <p:cNvPr id="7" name="Right Arrow 6"/>
          <p:cNvSpPr/>
          <p:nvPr/>
        </p:nvSpPr>
        <p:spPr>
          <a:xfrm>
            <a:off x="5357812" y="2743200"/>
            <a:ext cx="228600" cy="1371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828800"/>
            <a:ext cx="2199064" cy="584775"/>
          </a:xfrm>
          <a:prstGeom prst="rect">
            <a:avLst/>
          </a:prstGeom>
        </p:spPr>
        <p:txBody>
          <a:bodyPr wrap="none">
            <a:spAutoFit/>
          </a:bodyPr>
          <a:lstStyle/>
          <a:p>
            <a:r>
              <a:rPr lang="en-US" sz="3200" b="1" dirty="0" smtClean="0">
                <a:solidFill>
                  <a:srgbClr val="FF0000"/>
                </a:solidFill>
                <a:effectLst>
                  <a:outerShdw blurRad="38100" dist="38100" dir="2700000" algn="tl">
                    <a:srgbClr val="000000">
                      <a:alpha val="43137"/>
                    </a:srgbClr>
                  </a:outerShdw>
                </a:effectLst>
              </a:rPr>
              <a:t>Explanation</a:t>
            </a:r>
            <a:endParaRPr lang="en-US" sz="32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03217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400" y="317289"/>
            <a:ext cx="4297680" cy="1504603"/>
          </a:xfrm>
          <a:prstGeom prst="rect">
            <a:avLst/>
          </a:prstGeom>
          <a:ln w="57150">
            <a:solidFill>
              <a:schemeClr val="tx1"/>
            </a:solidFill>
          </a:ln>
        </p:spPr>
      </p:pic>
      <p:sp>
        <p:nvSpPr>
          <p:cNvPr id="5" name="Right Arrow 4"/>
          <p:cNvSpPr/>
          <p:nvPr/>
        </p:nvSpPr>
        <p:spPr>
          <a:xfrm>
            <a:off x="4572000" y="317289"/>
            <a:ext cx="838200" cy="1371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5586412" y="214785"/>
            <a:ext cx="6400800" cy="3214215"/>
          </a:xfrm>
          <a:prstGeom prst="rect">
            <a:avLst/>
          </a:prstGeom>
          <a:ln w="57150">
            <a:solidFill>
              <a:schemeClr val="tx1"/>
            </a:solidFill>
          </a:ln>
        </p:spPr>
      </p:pic>
      <p:pic>
        <p:nvPicPr>
          <p:cNvPr id="7" name="Picture 6"/>
          <p:cNvPicPr>
            <a:picLocks noChangeAspect="1"/>
          </p:cNvPicPr>
          <p:nvPr/>
        </p:nvPicPr>
        <p:blipFill>
          <a:blip r:embed="rId4"/>
          <a:stretch>
            <a:fillRect/>
          </a:stretch>
        </p:blipFill>
        <p:spPr>
          <a:xfrm>
            <a:off x="762000" y="2971800"/>
            <a:ext cx="3878185" cy="3474720"/>
          </a:xfrm>
          <a:prstGeom prst="rect">
            <a:avLst/>
          </a:prstGeom>
          <a:ln w="57150">
            <a:solidFill>
              <a:schemeClr val="tx1"/>
            </a:solidFill>
          </a:ln>
        </p:spPr>
      </p:pic>
      <p:sp>
        <p:nvSpPr>
          <p:cNvPr id="8" name="Rectangle 7"/>
          <p:cNvSpPr/>
          <p:nvPr/>
        </p:nvSpPr>
        <p:spPr>
          <a:xfrm>
            <a:off x="11453812" y="239667"/>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smtClean="0"/>
              <a:t>1</a:t>
            </a:r>
            <a:endParaRPr lang="en-US" sz="2600" b="1" dirty="0"/>
          </a:p>
        </p:txBody>
      </p:sp>
      <p:sp>
        <p:nvSpPr>
          <p:cNvPr id="10" name="Rectangle 9"/>
          <p:cNvSpPr/>
          <p:nvPr/>
        </p:nvSpPr>
        <p:spPr>
          <a:xfrm>
            <a:off x="805786" y="59436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smtClean="0"/>
              <a:t>3</a:t>
            </a:r>
            <a:endParaRPr lang="en-US" sz="2600" b="1" dirty="0"/>
          </a:p>
        </p:txBody>
      </p:sp>
      <p:pic>
        <p:nvPicPr>
          <p:cNvPr id="11" name="Picture 10"/>
          <p:cNvPicPr>
            <a:picLocks noChangeAspect="1"/>
          </p:cNvPicPr>
          <p:nvPr/>
        </p:nvPicPr>
        <p:blipFill>
          <a:blip r:embed="rId5"/>
          <a:stretch>
            <a:fillRect/>
          </a:stretch>
        </p:blipFill>
        <p:spPr>
          <a:xfrm>
            <a:off x="8053618" y="4251960"/>
            <a:ext cx="3924263" cy="2194560"/>
          </a:xfrm>
          <a:prstGeom prst="rect">
            <a:avLst/>
          </a:prstGeom>
          <a:ln w="57150">
            <a:solidFill>
              <a:schemeClr val="tx1"/>
            </a:solidFill>
          </a:ln>
        </p:spPr>
      </p:pic>
      <p:sp>
        <p:nvSpPr>
          <p:cNvPr id="12" name="Rectangle 11"/>
          <p:cNvSpPr/>
          <p:nvPr/>
        </p:nvSpPr>
        <p:spPr>
          <a:xfrm>
            <a:off x="11353800" y="4109266"/>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smtClean="0"/>
              <a:t>2</a:t>
            </a:r>
            <a:endParaRPr lang="en-US" sz="2600" b="1" dirty="0"/>
          </a:p>
        </p:txBody>
      </p:sp>
      <p:sp>
        <p:nvSpPr>
          <p:cNvPr id="13" name="Rectangle 12"/>
          <p:cNvSpPr/>
          <p:nvPr/>
        </p:nvSpPr>
        <p:spPr>
          <a:xfrm>
            <a:off x="38256" y="1519683"/>
            <a:ext cx="2199064" cy="584775"/>
          </a:xfrm>
          <a:prstGeom prst="rect">
            <a:avLst/>
          </a:prstGeom>
        </p:spPr>
        <p:txBody>
          <a:bodyPr wrap="none">
            <a:spAutoFit/>
          </a:bodyPr>
          <a:lstStyle/>
          <a:p>
            <a:r>
              <a:rPr lang="en-US" sz="3200" b="1" dirty="0" smtClean="0">
                <a:solidFill>
                  <a:srgbClr val="FF0000"/>
                </a:solidFill>
                <a:effectLst>
                  <a:outerShdw blurRad="38100" dist="38100" dir="2700000" algn="tl">
                    <a:srgbClr val="000000">
                      <a:alpha val="43137"/>
                    </a:srgbClr>
                  </a:outerShdw>
                </a:effectLst>
              </a:rPr>
              <a:t>Explanation</a:t>
            </a:r>
            <a:endParaRPr lang="en-US" sz="3200" b="1" dirty="0">
              <a:solidFill>
                <a:srgbClr val="FF0000"/>
              </a:solidFill>
              <a:effectLst>
                <a:outerShdw blurRad="38100" dist="38100" dir="2700000" algn="tl">
                  <a:srgbClr val="000000">
                    <a:alpha val="43137"/>
                  </a:srgbClr>
                </a:outerShdw>
              </a:effectLst>
            </a:endParaRPr>
          </a:p>
        </p:txBody>
      </p:sp>
      <p:sp>
        <p:nvSpPr>
          <p:cNvPr id="14" name="Rectangle 13"/>
          <p:cNvSpPr/>
          <p:nvPr/>
        </p:nvSpPr>
        <p:spPr>
          <a:xfrm>
            <a:off x="7086600" y="990600"/>
            <a:ext cx="685800" cy="3048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23004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304800"/>
            <a:ext cx="5212080" cy="1307467"/>
          </a:xfrm>
          <a:prstGeom prst="rect">
            <a:avLst/>
          </a:prstGeom>
          <a:ln w="57150">
            <a:solidFill>
              <a:schemeClr val="tx1"/>
            </a:solidFill>
          </a:ln>
        </p:spPr>
      </p:pic>
      <p:sp>
        <p:nvSpPr>
          <p:cNvPr id="5" name="Rectangle 4"/>
          <p:cNvSpPr/>
          <p:nvPr/>
        </p:nvSpPr>
        <p:spPr>
          <a:xfrm>
            <a:off x="381000" y="1319879"/>
            <a:ext cx="2199064" cy="584775"/>
          </a:xfrm>
          <a:prstGeom prst="rect">
            <a:avLst/>
          </a:prstGeom>
        </p:spPr>
        <p:txBody>
          <a:bodyPr wrap="none">
            <a:spAutoFit/>
          </a:bodyPr>
          <a:lstStyle/>
          <a:p>
            <a:r>
              <a:rPr lang="en-US" sz="3200" b="1" dirty="0" smtClean="0">
                <a:solidFill>
                  <a:srgbClr val="FF0000"/>
                </a:solidFill>
                <a:effectLst>
                  <a:outerShdw blurRad="38100" dist="38100" dir="2700000" algn="tl">
                    <a:srgbClr val="000000">
                      <a:alpha val="43137"/>
                    </a:srgbClr>
                  </a:outerShdw>
                </a:effectLst>
              </a:rPr>
              <a:t>Explanation</a:t>
            </a:r>
            <a:endParaRPr lang="en-US" sz="3200" b="1" dirty="0">
              <a:solidFill>
                <a:srgbClr val="FF0000"/>
              </a:solidFill>
              <a:effectLst>
                <a:outerShdw blurRad="38100" dist="38100" dir="2700000" algn="tl">
                  <a:srgbClr val="000000">
                    <a:alpha val="43137"/>
                  </a:srgbClr>
                </a:outerShdw>
              </a:effectLst>
            </a:endParaRPr>
          </a:p>
        </p:txBody>
      </p:sp>
      <p:pic>
        <p:nvPicPr>
          <p:cNvPr id="6" name="Picture 5"/>
          <p:cNvPicPr>
            <a:picLocks noChangeAspect="1"/>
          </p:cNvPicPr>
          <p:nvPr/>
        </p:nvPicPr>
        <p:blipFill>
          <a:blip r:embed="rId3"/>
          <a:stretch>
            <a:fillRect/>
          </a:stretch>
        </p:blipFill>
        <p:spPr>
          <a:xfrm>
            <a:off x="381000" y="4343400"/>
            <a:ext cx="4733925" cy="2238375"/>
          </a:xfrm>
          <a:prstGeom prst="rect">
            <a:avLst/>
          </a:prstGeom>
          <a:ln w="57150">
            <a:solidFill>
              <a:schemeClr val="tx1"/>
            </a:solidFill>
          </a:ln>
        </p:spPr>
      </p:pic>
      <p:pic>
        <p:nvPicPr>
          <p:cNvPr id="7" name="Picture 6"/>
          <p:cNvPicPr>
            <a:picLocks noChangeAspect="1"/>
          </p:cNvPicPr>
          <p:nvPr/>
        </p:nvPicPr>
        <p:blipFill>
          <a:blip r:embed="rId4"/>
          <a:stretch>
            <a:fillRect/>
          </a:stretch>
        </p:blipFill>
        <p:spPr>
          <a:xfrm>
            <a:off x="5303520" y="1752600"/>
            <a:ext cx="6583680" cy="3648568"/>
          </a:xfrm>
          <a:prstGeom prst="rect">
            <a:avLst/>
          </a:prstGeom>
          <a:ln w="57150">
            <a:solidFill>
              <a:schemeClr val="tx1"/>
            </a:solidFill>
          </a:ln>
        </p:spPr>
      </p:pic>
      <p:sp>
        <p:nvSpPr>
          <p:cNvPr id="8" name="Rectangle 7"/>
          <p:cNvSpPr/>
          <p:nvPr/>
        </p:nvSpPr>
        <p:spPr>
          <a:xfrm>
            <a:off x="11277600" y="15240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smtClean="0"/>
              <a:t>1</a:t>
            </a:r>
            <a:endParaRPr lang="en-US" sz="2600" b="1" dirty="0"/>
          </a:p>
        </p:txBody>
      </p:sp>
      <p:sp>
        <p:nvSpPr>
          <p:cNvPr id="9" name="Rectangle 8"/>
          <p:cNvSpPr/>
          <p:nvPr/>
        </p:nvSpPr>
        <p:spPr>
          <a:xfrm>
            <a:off x="4495800" y="60198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smtClean="0"/>
              <a:t>3</a:t>
            </a:r>
            <a:endParaRPr lang="en-US" sz="2600" b="1" dirty="0"/>
          </a:p>
        </p:txBody>
      </p:sp>
      <p:pic>
        <p:nvPicPr>
          <p:cNvPr id="11" name="Picture 10"/>
          <p:cNvPicPr>
            <a:picLocks noChangeAspect="1"/>
          </p:cNvPicPr>
          <p:nvPr/>
        </p:nvPicPr>
        <p:blipFill>
          <a:blip r:embed="rId5"/>
          <a:stretch>
            <a:fillRect/>
          </a:stretch>
        </p:blipFill>
        <p:spPr>
          <a:xfrm>
            <a:off x="381000" y="2285827"/>
            <a:ext cx="4724400" cy="1676400"/>
          </a:xfrm>
          <a:prstGeom prst="rect">
            <a:avLst/>
          </a:prstGeom>
          <a:ln w="57150">
            <a:solidFill>
              <a:schemeClr val="tx1"/>
            </a:solidFill>
          </a:ln>
        </p:spPr>
      </p:pic>
      <p:sp>
        <p:nvSpPr>
          <p:cNvPr id="12" name="Rectangle 11"/>
          <p:cNvSpPr/>
          <p:nvPr/>
        </p:nvSpPr>
        <p:spPr>
          <a:xfrm>
            <a:off x="4495800" y="34290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dirty="0" smtClean="0"/>
              <a:t>2</a:t>
            </a:r>
            <a:endParaRPr lang="en-US" sz="2600" b="1" dirty="0"/>
          </a:p>
        </p:txBody>
      </p:sp>
      <p:sp>
        <p:nvSpPr>
          <p:cNvPr id="13" name="Oval 12"/>
          <p:cNvSpPr/>
          <p:nvPr/>
        </p:nvSpPr>
        <p:spPr>
          <a:xfrm>
            <a:off x="6477000" y="2133600"/>
            <a:ext cx="685800" cy="3810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8534400" y="3733800"/>
            <a:ext cx="457200" cy="533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64108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09800" y="1066800"/>
            <a:ext cx="7716520" cy="4480560"/>
          </a:xfrm>
          <a:prstGeom prst="rect">
            <a:avLst/>
          </a:prstGeom>
          <a:ln w="57150">
            <a:solidFill>
              <a:schemeClr val="tx1"/>
            </a:solidFill>
          </a:ln>
        </p:spPr>
      </p:pic>
    </p:spTree>
    <p:extLst>
      <p:ext uri="{BB962C8B-B14F-4D97-AF65-F5344CB8AC3E}">
        <p14:creationId xmlns:p14="http://schemas.microsoft.com/office/powerpoint/2010/main" val="1199338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Types of Gradient Descent Algorithms</a:t>
            </a:r>
          </a:p>
        </p:txBody>
      </p:sp>
      <p:sp>
        <p:nvSpPr>
          <p:cNvPr id="3" name="Content Placeholder 2"/>
          <p:cNvSpPr>
            <a:spLocks noGrp="1"/>
          </p:cNvSpPr>
          <p:nvPr>
            <p:ph idx="1"/>
          </p:nvPr>
        </p:nvSpPr>
        <p:spPr>
          <a:xfrm>
            <a:off x="609600" y="1447800"/>
            <a:ext cx="10972800" cy="4525963"/>
          </a:xfrm>
        </p:spPr>
        <p:txBody>
          <a:bodyPr/>
          <a:lstStyle/>
          <a:p>
            <a:pPr marL="0" indent="0">
              <a:buNone/>
            </a:pPr>
            <a:r>
              <a:rPr lang="en-US" dirty="0"/>
              <a:t>Gradient descent algorithm can be divided into three </a:t>
            </a:r>
            <a:r>
              <a:rPr lang="en-US" dirty="0" smtClean="0"/>
              <a:t>categories</a:t>
            </a:r>
            <a:endParaRPr lang="en-US" dirty="0"/>
          </a:p>
          <a:p>
            <a:pPr marL="857250" lvl="1" indent="-457200">
              <a:buFont typeface="+mj-lt"/>
              <a:buAutoNum type="arabicPeriod"/>
            </a:pPr>
            <a:r>
              <a:rPr lang="en-US" b="1" dirty="0"/>
              <a:t>Batch Gradient Descent</a:t>
            </a:r>
          </a:p>
          <a:p>
            <a:pPr marL="857250" lvl="1" indent="-457200">
              <a:buFont typeface="+mj-lt"/>
              <a:buAutoNum type="arabicPeriod"/>
            </a:pPr>
            <a:r>
              <a:rPr lang="en-US" b="1" dirty="0"/>
              <a:t>Stochastic Gradient Descent (SGD</a:t>
            </a:r>
            <a:r>
              <a:rPr lang="en-US" b="1" dirty="0" smtClean="0"/>
              <a:t>)</a:t>
            </a:r>
          </a:p>
          <a:p>
            <a:pPr marL="857250" lvl="1" indent="-457200">
              <a:buFont typeface="+mj-lt"/>
              <a:buAutoNum type="arabicPeriod"/>
            </a:pPr>
            <a:r>
              <a:rPr lang="en-US" b="1" dirty="0"/>
              <a:t>Mini Batch Gradient </a:t>
            </a:r>
            <a:r>
              <a:rPr lang="en-US" b="1" dirty="0" smtClean="0"/>
              <a:t>Descent</a:t>
            </a:r>
            <a:endParaRPr lang="en-US" b="1" dirty="0"/>
          </a:p>
          <a:p>
            <a:pPr marL="0" indent="0">
              <a:buNone/>
            </a:pPr>
            <a:endParaRPr lang="en-US" dirty="0"/>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438400" y="3048000"/>
            <a:ext cx="5983128" cy="3734151"/>
          </a:xfrm>
          <a:prstGeom prst="rect">
            <a:avLst/>
          </a:prstGeom>
        </p:spPr>
      </p:pic>
    </p:spTree>
    <p:extLst>
      <p:ext uri="{BB962C8B-B14F-4D97-AF65-F5344CB8AC3E}">
        <p14:creationId xmlns:p14="http://schemas.microsoft.com/office/powerpoint/2010/main" val="30915057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
            </a:r>
            <a:br>
              <a:rPr lang="en-US" sz="3600" dirty="0"/>
            </a:br>
            <a:endParaRPr lang="en-US" sz="3600" dirty="0"/>
          </a:p>
        </p:txBody>
      </p:sp>
      <p:sp>
        <p:nvSpPr>
          <p:cNvPr id="3" name="Content Placeholder 2"/>
          <p:cNvSpPr>
            <a:spLocks noGrp="1"/>
          </p:cNvSpPr>
          <p:nvPr>
            <p:ph idx="1"/>
          </p:nvPr>
        </p:nvSpPr>
        <p:spPr>
          <a:xfrm>
            <a:off x="800100" y="1159203"/>
            <a:ext cx="10591800" cy="4495799"/>
          </a:xfrm>
        </p:spPr>
        <p:txBody>
          <a:bodyPr>
            <a:normAutofit/>
          </a:bodyPr>
          <a:lstStyle/>
          <a:p>
            <a:pPr marL="0" indent="0" algn="just" fontAlgn="base">
              <a:buNone/>
            </a:pPr>
            <a:endParaRPr lang="en-US" sz="1900" b="1" dirty="0"/>
          </a:p>
          <a:p>
            <a:pPr algn="just" fontAlgn="base"/>
            <a:r>
              <a:rPr lang="en-US" sz="1900" b="1" dirty="0">
                <a:solidFill>
                  <a:srgbClr val="0070C0"/>
                </a:solidFill>
                <a:effectLst>
                  <a:outerShdw blurRad="38100" dist="38100" dir="2700000" algn="tl">
                    <a:srgbClr val="000000">
                      <a:alpha val="43137"/>
                    </a:srgbClr>
                  </a:outerShdw>
                </a:effectLst>
              </a:rPr>
              <a:t>In batch gradient descent, the update of model parameters or weights is calculated using the entire training dataset at once</a:t>
            </a:r>
            <a:r>
              <a:rPr lang="en-US" sz="1900" dirty="0"/>
              <a:t>. This means that for each step in the training process, the algorithm calculates the gradient of the cost function for the entire dataset.</a:t>
            </a:r>
          </a:p>
          <a:p>
            <a:pPr algn="just" fontAlgn="base"/>
            <a:r>
              <a:rPr lang="en-US" sz="1900" dirty="0"/>
              <a:t>This algorithm is often used when the </a:t>
            </a:r>
            <a:r>
              <a:rPr lang="en-US" sz="1900" b="1" dirty="0">
                <a:solidFill>
                  <a:srgbClr val="0070C0"/>
                </a:solidFill>
                <a:effectLst>
                  <a:outerShdw blurRad="38100" dist="38100" dir="2700000" algn="tl">
                    <a:srgbClr val="000000">
                      <a:alpha val="43137"/>
                    </a:srgbClr>
                  </a:outerShdw>
                </a:effectLst>
              </a:rPr>
              <a:t>training dataset is relatively small </a:t>
            </a:r>
            <a:r>
              <a:rPr lang="en-US" sz="1900" dirty="0"/>
              <a:t>and can fit into memory comfortably</a:t>
            </a:r>
            <a:r>
              <a:rPr lang="en-US" sz="1900" dirty="0" smtClean="0"/>
              <a:t>.</a:t>
            </a:r>
          </a:p>
          <a:p>
            <a:pPr algn="just" fontAlgn="base"/>
            <a:r>
              <a:rPr lang="en-US" sz="1900" b="1" dirty="0" smtClean="0">
                <a:solidFill>
                  <a:srgbClr val="FF0000"/>
                </a:solidFill>
              </a:rPr>
              <a:t>For </a:t>
            </a:r>
            <a:r>
              <a:rPr lang="en-US" sz="1900" b="1" dirty="0">
                <a:solidFill>
                  <a:srgbClr val="FF0000"/>
                </a:solidFill>
              </a:rPr>
              <a:t>example, consider a linear regression model where you’re predicting housing prices based on features like size and location. If your dataset is small, you could use batch gradient descent to train your model, updating the weights based on the error calculated from the entire dataset</a:t>
            </a:r>
            <a:r>
              <a:rPr lang="en-US" sz="1900" b="1" dirty="0" smtClean="0">
                <a:solidFill>
                  <a:srgbClr val="FF0000"/>
                </a:solidFill>
              </a:rPr>
              <a:t>.</a:t>
            </a:r>
          </a:p>
          <a:p>
            <a:pPr marL="0" indent="0">
              <a:buNone/>
            </a:pPr>
            <a:endParaRPr lang="en-US" sz="1900" dirty="0"/>
          </a:p>
          <a:p>
            <a:pPr algn="just"/>
            <a:endParaRPr lang="en-US" sz="1900" dirty="0"/>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962400" y="4343400"/>
            <a:ext cx="4067604" cy="2008615"/>
          </a:xfrm>
          <a:prstGeom prst="rect">
            <a:avLst/>
          </a:prstGeom>
        </p:spPr>
      </p:pic>
      <p:sp>
        <p:nvSpPr>
          <p:cNvPr id="6" name="Title 1"/>
          <p:cNvSpPr txBox="1">
            <a:spLocks/>
          </p:cNvSpPr>
          <p:nvPr/>
        </p:nvSpPr>
        <p:spPr>
          <a:xfrm>
            <a:off x="762000" y="555046"/>
            <a:ext cx="10972800" cy="1143000"/>
          </a:xfrm>
          <a:prstGeom prst="rect">
            <a:avLst/>
          </a:prstGeom>
        </p:spPr>
        <p:txBody>
          <a:bodyPr/>
          <a:lstStyle>
            <a:lvl1pPr algn="ctr" defTabSz="914400" rtl="0" eaLnBrk="1" latinLnBrk="0" hangingPunct="1">
              <a:spcBef>
                <a:spcPct val="0"/>
              </a:spcBef>
              <a:buNone/>
              <a:defRPr sz="4000" kern="1200">
                <a:solidFill>
                  <a:schemeClr val="tx1"/>
                </a:solidFill>
                <a:latin typeface="Gill Sans MT" panose="020B0502020104020203" pitchFamily="34" charset="0"/>
                <a:ea typeface="+mj-ea"/>
                <a:cs typeface="+mj-cs"/>
              </a:defRPr>
            </a:lvl1pPr>
          </a:lstStyle>
          <a:p>
            <a:pPr marL="457200" indent="-457200" fontAlgn="base"/>
            <a:r>
              <a:rPr lang="en-US" b="1" dirty="0" smtClean="0"/>
              <a:t>Batch Gradient Descent</a:t>
            </a:r>
            <a:endParaRPr lang="en-US" b="1" dirty="0"/>
          </a:p>
        </p:txBody>
      </p:sp>
    </p:spTree>
    <p:extLst>
      <p:ext uri="{BB962C8B-B14F-4D97-AF65-F5344CB8AC3E}">
        <p14:creationId xmlns:p14="http://schemas.microsoft.com/office/powerpoint/2010/main" val="16918428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457200" indent="-457200" fontAlgn="base"/>
            <a:r>
              <a:rPr lang="en-US" b="1" dirty="0"/>
              <a:t>Batch Gradient Descent</a:t>
            </a:r>
          </a:p>
        </p:txBody>
      </p:sp>
      <p:sp>
        <p:nvSpPr>
          <p:cNvPr id="3" name="Content Placeholder 2"/>
          <p:cNvSpPr>
            <a:spLocks noGrp="1"/>
          </p:cNvSpPr>
          <p:nvPr>
            <p:ph idx="1"/>
          </p:nvPr>
        </p:nvSpPr>
        <p:spPr>
          <a:xfrm>
            <a:off x="762000" y="1874837"/>
            <a:ext cx="10744200" cy="4525963"/>
          </a:xfrm>
        </p:spPr>
        <p:txBody>
          <a:bodyPr>
            <a:normAutofit/>
          </a:bodyPr>
          <a:lstStyle/>
          <a:p>
            <a:r>
              <a:rPr lang="en-US" dirty="0" smtClean="0"/>
              <a:t>Despite </a:t>
            </a:r>
            <a:r>
              <a:rPr lang="en-US" dirty="0"/>
              <a:t>its accuracy and consistency, batch gradient descent has several drawbacks. </a:t>
            </a:r>
            <a:endParaRPr lang="en-US" dirty="0" smtClean="0"/>
          </a:p>
          <a:p>
            <a:pPr lvl="1"/>
            <a:r>
              <a:rPr lang="en-US" b="1" dirty="0">
                <a:solidFill>
                  <a:srgbClr val="FF0000"/>
                </a:solidFill>
              </a:rPr>
              <a:t>The batch gradient descent method typically requires the entire training dataset in </a:t>
            </a:r>
            <a:r>
              <a:rPr lang="en-US" b="1" dirty="0" smtClean="0">
                <a:solidFill>
                  <a:srgbClr val="FF0000"/>
                </a:solidFill>
              </a:rPr>
              <a:t>memory</a:t>
            </a:r>
          </a:p>
          <a:p>
            <a:pPr lvl="1"/>
            <a:r>
              <a:rPr lang="en-US" b="1" u="sng" dirty="0">
                <a:solidFill>
                  <a:srgbClr val="009900"/>
                </a:solidFill>
                <a:effectLst>
                  <a:outerShdw blurRad="38100" dist="38100" dir="2700000" algn="tl">
                    <a:srgbClr val="000000">
                      <a:alpha val="43137"/>
                    </a:srgbClr>
                  </a:outerShdw>
                </a:effectLst>
              </a:rPr>
              <a:t>Large datasets can result in very slow model updates or training speeds.</a:t>
            </a:r>
          </a:p>
          <a:p>
            <a:pPr lvl="1"/>
            <a:r>
              <a:rPr lang="en-US" dirty="0" smtClean="0"/>
              <a:t>It </a:t>
            </a:r>
            <a:r>
              <a:rPr lang="en-US" dirty="0"/>
              <a:t>can be slow and computationally </a:t>
            </a:r>
            <a:r>
              <a:rPr lang="en-US" dirty="0" smtClean="0"/>
              <a:t>expensive(</a:t>
            </a:r>
            <a:r>
              <a:rPr lang="en-US" dirty="0"/>
              <a:t>require more computational power</a:t>
            </a:r>
            <a:r>
              <a:rPr lang="en-US" dirty="0" smtClean="0"/>
              <a:t>) </a:t>
            </a:r>
            <a:r>
              <a:rPr lang="en-US" dirty="0"/>
              <a:t>when dealing with large datasets and complex models. </a:t>
            </a:r>
            <a:endParaRPr lang="en-US" dirty="0" smtClean="0"/>
          </a:p>
          <a:p>
            <a:pPr lvl="1"/>
            <a:r>
              <a:rPr lang="en-US" dirty="0" smtClean="0"/>
              <a:t>Additionally</a:t>
            </a:r>
            <a:r>
              <a:rPr lang="en-US" dirty="0"/>
              <a:t>, it can get stuck in shallow local minima or saddle points, where the gradient is either very small or zero. </a:t>
            </a:r>
            <a:endParaRPr lang="en-US" dirty="0" smtClean="0"/>
          </a:p>
          <a:p>
            <a:pPr lvl="1"/>
            <a:r>
              <a:rPr lang="en-US" dirty="0" smtClean="0"/>
              <a:t>Furthermore</a:t>
            </a:r>
            <a:r>
              <a:rPr lang="en-US" dirty="0"/>
              <a:t>, it does not </a:t>
            </a:r>
            <a:r>
              <a:rPr lang="en-US" dirty="0" smtClean="0"/>
              <a:t>permit online or </a:t>
            </a:r>
            <a:r>
              <a:rPr lang="en-US" dirty="0"/>
              <a:t>incremental learning, meaning new data cannot be added to the training set without restarting the </a:t>
            </a:r>
            <a:r>
              <a:rPr lang="en-US" dirty="0" smtClean="0"/>
              <a:t>algorithm.</a:t>
            </a:r>
          </a:p>
        </p:txBody>
      </p:sp>
    </p:spTree>
    <p:extLst>
      <p:ext uri="{BB962C8B-B14F-4D97-AF65-F5344CB8AC3E}">
        <p14:creationId xmlns:p14="http://schemas.microsoft.com/office/powerpoint/2010/main" val="5434679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85800" y="731838"/>
            <a:ext cx="8427642" cy="6126162"/>
          </a:xfrm>
          <a:prstGeom prst="rect">
            <a:avLst/>
          </a:prstGeom>
        </p:spPr>
      </p:pic>
      <p:sp>
        <p:nvSpPr>
          <p:cNvPr id="5" name="Rectangle 4"/>
          <p:cNvSpPr/>
          <p:nvPr/>
        </p:nvSpPr>
        <p:spPr>
          <a:xfrm>
            <a:off x="838200" y="361890"/>
            <a:ext cx="9982200" cy="400110"/>
          </a:xfrm>
          <a:prstGeom prst="rect">
            <a:avLst/>
          </a:prstGeom>
          <a:solidFill>
            <a:schemeClr val="bg1"/>
          </a:solidFill>
        </p:spPr>
        <p:txBody>
          <a:bodyPr wrap="square">
            <a:spAutoFit/>
          </a:bodyPr>
          <a:lstStyle/>
          <a:p>
            <a:r>
              <a:rPr lang="en-US" sz="2000" b="1" dirty="0">
                <a:solidFill>
                  <a:srgbClr val="404040"/>
                </a:solidFill>
                <a:latin typeface="Inter"/>
              </a:rPr>
              <a:t>Let’s understand how the Gradient descent can be derived from cost function:</a:t>
            </a:r>
            <a:endParaRPr lang="en-US" sz="2000" b="1" dirty="0"/>
          </a:p>
        </p:txBody>
      </p:sp>
      <p:sp>
        <p:nvSpPr>
          <p:cNvPr id="6" name="TextBox 5"/>
          <p:cNvSpPr txBox="1"/>
          <p:nvPr/>
        </p:nvSpPr>
        <p:spPr>
          <a:xfrm>
            <a:off x="7467600" y="2986843"/>
            <a:ext cx="4419600" cy="3139321"/>
          </a:xfrm>
          <a:prstGeom prst="rect">
            <a:avLst/>
          </a:prstGeom>
          <a:noFill/>
        </p:spPr>
        <p:txBody>
          <a:bodyPr wrap="square" rtlCol="0">
            <a:spAutoFit/>
          </a:bodyPr>
          <a:lstStyle/>
          <a:p>
            <a:pPr algn="just"/>
            <a:r>
              <a:rPr lang="en-US" dirty="0"/>
              <a:t>This update rule is applied simultaneously for all </a:t>
            </a:r>
            <a:r>
              <a:rPr lang="el-GR" i="1" dirty="0" smtClean="0">
                <a:latin typeface="Calibri" panose="020F0502020204030204" pitchFamily="34" charset="0"/>
                <a:ea typeface="Calibri" panose="020F0502020204030204" pitchFamily="34" charset="0"/>
                <a:cs typeface="Calibri" panose="020F0502020204030204" pitchFamily="34" charset="0"/>
              </a:rPr>
              <a:t>ϴ</a:t>
            </a:r>
            <a:r>
              <a:rPr lang="en-US" i="1" baseline="-25000" dirty="0" smtClean="0"/>
              <a:t>j</a:t>
            </a:r>
            <a:r>
              <a:rPr lang="en-US" baseline="-25000" dirty="0"/>
              <a:t>​</a:t>
            </a:r>
            <a:r>
              <a:rPr lang="en-US" dirty="0"/>
              <a:t> until convergence is reached</a:t>
            </a:r>
            <a:r>
              <a:rPr lang="en-US" dirty="0" smtClean="0"/>
              <a:t>. The </a:t>
            </a:r>
            <a:r>
              <a:rPr lang="en-US" dirty="0"/>
              <a:t>intuition behind this process is that we update each parameter in the direction that reduces the cost function, and the size of the update is determined by the learning rate (</a:t>
            </a:r>
            <a:r>
              <a:rPr lang="en-US" i="1" dirty="0"/>
              <a:t>α</a:t>
            </a:r>
            <a:r>
              <a:rPr lang="en-US" dirty="0"/>
              <a:t>). The sum term represents the average contribution of each training example to the update. The process is repeated iteratively until the algorithm converges to parameter values that minimize the cost function.</a:t>
            </a:r>
          </a:p>
        </p:txBody>
      </p:sp>
    </p:spTree>
    <p:extLst>
      <p:ext uri="{BB962C8B-B14F-4D97-AF65-F5344CB8AC3E}">
        <p14:creationId xmlns:p14="http://schemas.microsoft.com/office/powerpoint/2010/main" val="3310960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10972800" cy="1143000"/>
          </a:xfrm>
        </p:spPr>
        <p:txBody>
          <a:bodyPr/>
          <a:lstStyle/>
          <a:p>
            <a:pPr fontAlgn="base"/>
            <a:r>
              <a:rPr lang="en-US" sz="3600" b="1" dirty="0"/>
              <a:t>Stochastic Gradient Descent (SGD)</a:t>
            </a:r>
          </a:p>
        </p:txBody>
      </p:sp>
      <p:sp>
        <p:nvSpPr>
          <p:cNvPr id="3" name="Content Placeholder 2"/>
          <p:cNvSpPr>
            <a:spLocks noGrp="1"/>
          </p:cNvSpPr>
          <p:nvPr>
            <p:ph idx="1"/>
          </p:nvPr>
        </p:nvSpPr>
        <p:spPr>
          <a:xfrm>
            <a:off x="762000" y="1828801"/>
            <a:ext cx="10210800" cy="4419599"/>
          </a:xfrm>
        </p:spPr>
        <p:txBody>
          <a:bodyPr>
            <a:normAutofit/>
          </a:bodyPr>
          <a:lstStyle/>
          <a:p>
            <a:pPr algn="just" fontAlgn="base"/>
            <a:r>
              <a:rPr lang="en-US" sz="1800" dirty="0" smtClean="0"/>
              <a:t>Stochastic </a:t>
            </a:r>
            <a:r>
              <a:rPr lang="en-US" sz="1800" dirty="0"/>
              <a:t>gradient descent updates the model’s parameters using </a:t>
            </a:r>
            <a:r>
              <a:rPr lang="en-US" sz="1800" b="1" dirty="0"/>
              <a:t>only one training example or a small batch of examples at a time. </a:t>
            </a:r>
            <a:r>
              <a:rPr lang="en-US" sz="1800" dirty="0"/>
              <a:t>This means the gradient and hence the </a:t>
            </a:r>
            <a:r>
              <a:rPr lang="en-US" sz="1800" b="1" dirty="0"/>
              <a:t>parameter update is calculated and applied </a:t>
            </a:r>
            <a:r>
              <a:rPr lang="en-US" sz="1800" b="1" dirty="0">
                <a:solidFill>
                  <a:srgbClr val="009900"/>
                </a:solidFill>
                <a:effectLst>
                  <a:outerShdw blurRad="38100" dist="38100" dir="2700000" algn="tl">
                    <a:srgbClr val="000000">
                      <a:alpha val="43137"/>
                    </a:srgbClr>
                  </a:outerShdw>
                </a:effectLst>
              </a:rPr>
              <a:t>after each example or small batch</a:t>
            </a:r>
            <a:r>
              <a:rPr lang="en-US" sz="1800" dirty="0"/>
              <a:t>, making the process more incremental.</a:t>
            </a:r>
          </a:p>
          <a:p>
            <a:pPr algn="just" fontAlgn="base"/>
            <a:r>
              <a:rPr lang="en-US" sz="1800" dirty="0"/>
              <a:t>SGD is particularly </a:t>
            </a:r>
            <a:r>
              <a:rPr lang="en-US" sz="1800" b="1" dirty="0">
                <a:solidFill>
                  <a:srgbClr val="009900"/>
                </a:solidFill>
                <a:effectLst>
                  <a:outerShdw blurRad="38100" dist="38100" dir="2700000" algn="tl">
                    <a:srgbClr val="000000">
                      <a:alpha val="43137"/>
                    </a:srgbClr>
                  </a:outerShdw>
                </a:effectLst>
              </a:rPr>
              <a:t>useful when dealing with large datasets </a:t>
            </a:r>
            <a:r>
              <a:rPr lang="en-US" sz="1800" dirty="0"/>
              <a:t>that cannot fit into memory. </a:t>
            </a:r>
            <a:r>
              <a:rPr lang="en-US" sz="1800" dirty="0" smtClean="0"/>
              <a:t>For example, the model parameters are updated incrementally as each image (or a small batch of images) is processed, enabling the </a:t>
            </a:r>
            <a:r>
              <a:rPr lang="en-US" sz="1800" b="1" dirty="0" smtClean="0"/>
              <a:t>model to learn progressively without the need to load the entire dataset into memory</a:t>
            </a:r>
            <a:r>
              <a:rPr lang="en-US" sz="1800" dirty="0" smtClean="0"/>
              <a:t>.</a:t>
            </a:r>
          </a:p>
          <a:p>
            <a:pPr algn="just" fontAlgn="base"/>
            <a:r>
              <a:rPr lang="en-US" sz="1800" b="1" dirty="0" smtClean="0">
                <a:solidFill>
                  <a:srgbClr val="009900"/>
                </a:solidFill>
                <a:effectLst>
                  <a:outerShdw blurRad="38100" dist="38100" dir="2700000" algn="tl">
                    <a:srgbClr val="000000">
                      <a:alpha val="43137"/>
                    </a:srgbClr>
                  </a:outerShdw>
                </a:effectLst>
              </a:rPr>
              <a:t>We update the values of parameters after each example of training set. It is relatively faster than other types but its accuracy is less.</a:t>
            </a:r>
          </a:p>
          <a:p>
            <a:pPr algn="just"/>
            <a:endParaRPr lang="en-US" sz="1800" dirty="0"/>
          </a:p>
        </p:txBody>
      </p:sp>
      <p:pic>
        <p:nvPicPr>
          <p:cNvPr id="6" name="Picture 5"/>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614528" y="4572000"/>
            <a:ext cx="2962944" cy="889473"/>
          </a:xfrm>
          <a:prstGeom prst="rect">
            <a:avLst/>
          </a:prstGeom>
        </p:spPr>
      </p:pic>
    </p:spTree>
    <p:extLst>
      <p:ext uri="{BB962C8B-B14F-4D97-AF65-F5344CB8AC3E}">
        <p14:creationId xmlns:p14="http://schemas.microsoft.com/office/powerpoint/2010/main" val="5092277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Stochastic Gradient Descent (SGD)</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a:solidFill>
                  <a:srgbClr val="0070C0"/>
                </a:solidFill>
                <a:effectLst>
                  <a:outerShdw blurRad="38100" dist="38100" dir="2700000" algn="tl">
                    <a:srgbClr val="000000">
                      <a:alpha val="43137"/>
                    </a:srgbClr>
                  </a:outerShdw>
                </a:effectLst>
              </a:rPr>
              <a:t>Advantages</a:t>
            </a:r>
          </a:p>
          <a:p>
            <a:r>
              <a:rPr lang="en-US" dirty="0"/>
              <a:t>You can instantly see your model’s performance and improvement rates with frequent updates.</a:t>
            </a:r>
          </a:p>
          <a:p>
            <a:r>
              <a:rPr lang="en-US" dirty="0"/>
              <a:t>This variant of the steepest descent method is probably the easiest to understand and implement, especially for beginners.</a:t>
            </a:r>
          </a:p>
          <a:p>
            <a:r>
              <a:rPr lang="en-US" dirty="0"/>
              <a:t>Increasing the frequency of model updates will allow you to learn more about some issues faster.</a:t>
            </a:r>
          </a:p>
          <a:p>
            <a:r>
              <a:rPr lang="en-US" dirty="0"/>
              <a:t>The noisy update process allows the model to avoid local minima (e.g., premature convergence).</a:t>
            </a:r>
          </a:p>
          <a:p>
            <a:r>
              <a:rPr lang="en-US" dirty="0"/>
              <a:t>Faster and require less computational power.</a:t>
            </a:r>
          </a:p>
          <a:p>
            <a:r>
              <a:rPr lang="en-US" dirty="0"/>
              <a:t>Suitable for the larger dataset.</a:t>
            </a:r>
          </a:p>
          <a:p>
            <a:pPr marL="0" indent="0">
              <a:buNone/>
            </a:pPr>
            <a:r>
              <a:rPr lang="en-US" b="1" dirty="0">
                <a:solidFill>
                  <a:srgbClr val="FF0000"/>
                </a:solidFill>
                <a:effectLst>
                  <a:outerShdw blurRad="38100" dist="38100" dir="2700000" algn="tl">
                    <a:srgbClr val="000000">
                      <a:alpha val="43137"/>
                    </a:srgbClr>
                  </a:outerShdw>
                </a:effectLst>
              </a:rPr>
              <a:t>Disadvantages</a:t>
            </a:r>
            <a:endParaRPr lang="en-US" dirty="0">
              <a:solidFill>
                <a:srgbClr val="FF0000"/>
              </a:solidFill>
              <a:effectLst>
                <a:outerShdw blurRad="38100" dist="38100" dir="2700000" algn="tl">
                  <a:srgbClr val="000000">
                    <a:alpha val="43137"/>
                  </a:srgbClr>
                </a:outerShdw>
              </a:effectLst>
            </a:endParaRPr>
          </a:p>
          <a:p>
            <a:r>
              <a:rPr lang="en-US" dirty="0"/>
              <a:t>Frequent model updates are more computationally intensive than other steepest descent configurations, and it takes considerable time to train the model with large datasets.</a:t>
            </a:r>
          </a:p>
          <a:p>
            <a:r>
              <a:rPr lang="en-US" dirty="0"/>
              <a:t>Frequent updates can result in noisy gradient signals. This can result in model parameters and cause errors to fly around (more variance across the training epoch).</a:t>
            </a:r>
          </a:p>
          <a:p>
            <a:r>
              <a:rPr lang="en-US" dirty="0"/>
              <a:t>A noisy learning process along the error gradient can also make it difficult for the algorithm to commit to the model’s minimum error.</a:t>
            </a:r>
          </a:p>
        </p:txBody>
      </p:sp>
    </p:spTree>
    <p:extLst>
      <p:ext uri="{BB962C8B-B14F-4D97-AF65-F5344CB8AC3E}">
        <p14:creationId xmlns:p14="http://schemas.microsoft.com/office/powerpoint/2010/main" val="37576817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609600"/>
          </a:xfrm>
        </p:spPr>
        <p:txBody>
          <a:bodyPr/>
          <a:lstStyle/>
          <a:p>
            <a:pPr fontAlgn="base"/>
            <a:r>
              <a:rPr lang="en-US" b="1" dirty="0"/>
              <a:t>What is Bias?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371600"/>
                <a:ext cx="10591800" cy="4876800"/>
              </a:xfrm>
            </p:spPr>
            <p:txBody>
              <a:bodyPr>
                <a:noAutofit/>
              </a:bodyPr>
              <a:lstStyle/>
              <a:p>
                <a:pPr algn="just" fontAlgn="base"/>
                <a:r>
                  <a:rPr lang="en-US" b="1" dirty="0"/>
                  <a:t>Bias</a:t>
                </a:r>
                <a:r>
                  <a:rPr lang="en-US" dirty="0"/>
                  <a:t> refers to the errors which occur when we try to fit a statistical model on real-world data which does not fit perfectly well on some mathematical </a:t>
                </a:r>
                <a:r>
                  <a:rPr lang="en-US" dirty="0" smtClean="0"/>
                  <a:t>model. It may be defined by the differences </a:t>
                </a:r>
                <a:r>
                  <a:rPr lang="en-US" dirty="0"/>
                  <a:t>or error occurring between the model’s </a:t>
                </a:r>
                <a:r>
                  <a:rPr lang="en-US" b="1" u="sng" dirty="0">
                    <a:solidFill>
                      <a:srgbClr val="FF0000"/>
                    </a:solidFill>
                    <a:effectLst>
                      <a:outerShdw blurRad="38100" dist="38100" dir="2700000" algn="tl">
                        <a:srgbClr val="000000">
                          <a:alpha val="43137"/>
                        </a:srgbClr>
                      </a:outerShdw>
                    </a:effectLst>
                  </a:rPr>
                  <a:t>predicted value and the actual </a:t>
                </a:r>
                <a:r>
                  <a:rPr lang="en-US" b="1" u="sng" dirty="0" smtClean="0">
                    <a:solidFill>
                      <a:srgbClr val="FF0000"/>
                    </a:solidFill>
                    <a:effectLst>
                      <a:outerShdw blurRad="38100" dist="38100" dir="2700000" algn="tl">
                        <a:srgbClr val="000000">
                          <a:alpha val="43137"/>
                        </a:srgbClr>
                      </a:outerShdw>
                    </a:effectLst>
                  </a:rPr>
                  <a:t>value</a:t>
                </a:r>
                <a:r>
                  <a:rPr lang="en-US" dirty="0" smtClean="0"/>
                  <a:t>.</a:t>
                </a:r>
              </a:p>
              <a:p>
                <a:pPr algn="just" fontAlgn="base"/>
                <a:r>
                  <a:rPr lang="en-US" dirty="0" smtClean="0"/>
                  <a:t>Let</a:t>
                </a:r>
                <a:r>
                  <a:rPr lang="en-US" dirty="0"/>
                  <a:t> </a:t>
                </a:r>
                <a:r>
                  <a:rPr lang="en-US" dirty="0" smtClean="0"/>
                  <a:t>Y</a:t>
                </a:r>
                <a:r>
                  <a:rPr lang="en-US" dirty="0"/>
                  <a:t> be the true value of a parameter, and let </a:t>
                </a:r>
                <a:r>
                  <a:rPr lang="en-US" dirty="0" smtClean="0"/>
                  <a:t>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𝑌</m:t>
                        </m:r>
                      </m:e>
                    </m:acc>
                  </m:oMath>
                </a14:m>
                <a:r>
                  <a:rPr lang="en-US" dirty="0"/>
                  <a:t> be an estimator of </a:t>
                </a:r>
                <a:r>
                  <a:rPr lang="en-US" dirty="0" smtClean="0"/>
                  <a:t>Y</a:t>
                </a:r>
                <a:r>
                  <a:rPr lang="en-US" dirty="0"/>
                  <a:t> based on a sample of data. Then, the bias of the estimator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𝑌</m:t>
                        </m:r>
                      </m:e>
                    </m:acc>
                  </m:oMath>
                </a14:m>
                <a:r>
                  <a:rPr lang="en-US" dirty="0"/>
                  <a:t> is given by:</a:t>
                </a:r>
              </a:p>
              <a:p>
                <a:pPr lvl="2" fontAlgn="base"/>
                <a:r>
                  <a:rPr lang="en-US" dirty="0" smtClean="0"/>
                  <a:t>Bias(</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𝑌</m:t>
                        </m:r>
                      </m:e>
                    </m:acc>
                  </m:oMath>
                </a14:m>
                <a:r>
                  <a:rPr lang="en-US" dirty="0" smtClean="0"/>
                  <a:t>)=E(</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𝑌</m:t>
                        </m:r>
                      </m:e>
                    </m:acc>
                  </m:oMath>
                </a14:m>
                <a:r>
                  <a:rPr lang="en-US" dirty="0" smtClean="0"/>
                  <a:t>)–Y</a:t>
                </a:r>
              </a:p>
              <a:p>
                <a:pPr algn="just" fontAlgn="base"/>
                <a:r>
                  <a:rPr lang="en-US" dirty="0" smtClean="0"/>
                  <a:t>where</a:t>
                </a:r>
                <a:r>
                  <a:rPr lang="en-US" dirty="0"/>
                  <a:t> </a:t>
                </a:r>
                <a:r>
                  <a:rPr lang="en-US" dirty="0" smtClean="0"/>
                  <a:t>E(</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𝑌</m:t>
                        </m:r>
                      </m:e>
                    </m:acc>
                  </m:oMath>
                </a14:m>
                <a:r>
                  <a:rPr lang="en-US" dirty="0" smtClean="0"/>
                  <a:t>)</a:t>
                </a:r>
                <a:r>
                  <a:rPr lang="en-US" dirty="0"/>
                  <a:t> is the expected value of the estimator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𝑌</m:t>
                        </m:r>
                      </m:e>
                    </m:acc>
                  </m:oMath>
                </a14:m>
                <a:r>
                  <a:rPr lang="en-US" dirty="0" smtClean="0"/>
                  <a:t>. </a:t>
                </a:r>
                <a:r>
                  <a:rPr lang="en-US" dirty="0"/>
                  <a:t>It is the measurement of the model that how well it fits the data. </a:t>
                </a:r>
              </a:p>
              <a:p>
                <a:pPr algn="just" fontAlgn="base"/>
                <a:r>
                  <a:rPr lang="en-US" dirty="0" smtClean="0"/>
                  <a:t>The </a:t>
                </a:r>
                <a:r>
                  <a:rPr lang="en-US" dirty="0"/>
                  <a:t>high-bias model will not be able to capture the dataset trend. It is considered as the underfitting model which has a high error rate. It is due to a very simplified algorithm.</a:t>
                </a:r>
              </a:p>
              <a:p>
                <a:pPr algn="just" fontAlgn="base"/>
                <a:r>
                  <a:rPr lang="en-US" dirty="0"/>
                  <a:t>For example, a linear regression model may have a high bias if the data has a non-linear relationship</a:t>
                </a:r>
                <a:r>
                  <a:rPr lang="en-US" dirty="0" smtClean="0"/>
                  <a:t>.</a:t>
                </a:r>
              </a:p>
              <a:p>
                <a:pPr fontAlgn="base"/>
                <a:r>
                  <a:rPr lang="en-US" dirty="0"/>
                  <a:t>W</a:t>
                </a:r>
                <a:r>
                  <a:rPr lang="en-US" dirty="0" smtClean="0"/>
                  <a:t>e </a:t>
                </a:r>
                <a:r>
                  <a:rPr lang="en-US" dirty="0"/>
                  <a:t>can use a more complex model like Polynomial regression for non-linear datasets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371600"/>
                <a:ext cx="10591800" cy="4876800"/>
              </a:xfrm>
              <a:blipFill rotWithShape="0">
                <a:blip r:embed="rId2"/>
                <a:stretch>
                  <a:fillRect l="-518" t="-625" r="-576"/>
                </a:stretch>
              </a:blipFill>
            </p:spPr>
            <p:txBody>
              <a:bodyPr/>
              <a:lstStyle/>
              <a:p>
                <a:r>
                  <a:rPr lang="en-US">
                    <a:noFill/>
                  </a:rPr>
                  <a:t> </a:t>
                </a:r>
              </a:p>
            </p:txBody>
          </p:sp>
        </mc:Fallback>
      </mc:AlternateContent>
    </p:spTree>
    <p:extLst>
      <p:ext uri="{BB962C8B-B14F-4D97-AF65-F5344CB8AC3E}">
        <p14:creationId xmlns:p14="http://schemas.microsoft.com/office/powerpoint/2010/main" val="35629296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905" y="274638"/>
            <a:ext cx="10972800" cy="1143000"/>
          </a:xfrm>
        </p:spPr>
        <p:txBody>
          <a:bodyPr/>
          <a:lstStyle/>
          <a:p>
            <a:r>
              <a:rPr lang="en-US" b="1" dirty="0" smtClean="0"/>
              <a:t>Variance </a:t>
            </a:r>
            <a:r>
              <a:rPr lang="en-US" sz="2000" b="1" dirty="0" smtClean="0">
                <a:solidFill>
                  <a:srgbClr val="FF0000"/>
                </a:solidFill>
              </a:rPr>
              <a:t>(</a:t>
            </a:r>
            <a:r>
              <a:rPr lang="en-US" sz="2000" b="1" dirty="0">
                <a:solidFill>
                  <a:srgbClr val="FF0000"/>
                </a:solidFill>
              </a:rPr>
              <a:t>“How sensitive the model is to small changes in training data.”</a:t>
            </a:r>
            <a:r>
              <a:rPr lang="en-US" sz="2000" b="1" dirty="0" smtClean="0">
                <a:solidFill>
                  <a:srgbClr val="FF0000"/>
                </a:solidFill>
              </a:rPr>
              <a:t>)</a:t>
            </a:r>
            <a:endParaRPr lang="en-US" sz="2000" b="1" dirty="0">
              <a:solidFill>
                <a:srgbClr val="FF0000"/>
              </a:solidFill>
            </a:endParaRPr>
          </a:p>
        </p:txBody>
      </p:sp>
      <p:sp>
        <p:nvSpPr>
          <p:cNvPr id="3" name="Content Placeholder 2"/>
          <p:cNvSpPr>
            <a:spLocks noGrp="1"/>
          </p:cNvSpPr>
          <p:nvPr>
            <p:ph idx="1"/>
          </p:nvPr>
        </p:nvSpPr>
        <p:spPr>
          <a:xfrm>
            <a:off x="609599" y="995427"/>
            <a:ext cx="10972800" cy="4525963"/>
          </a:xfrm>
        </p:spPr>
        <p:txBody>
          <a:bodyPr/>
          <a:lstStyle/>
          <a:p>
            <a:pPr algn="just" fontAlgn="base"/>
            <a:r>
              <a:rPr lang="en-US" b="1" dirty="0" smtClean="0"/>
              <a:t>Variance</a:t>
            </a:r>
            <a:r>
              <a:rPr lang="en-US" dirty="0"/>
              <a:t> </a:t>
            </a:r>
            <a:r>
              <a:rPr lang="en-US" b="1" u="sng" dirty="0" smtClean="0">
                <a:solidFill>
                  <a:srgbClr val="0070C0"/>
                </a:solidFill>
                <a:effectLst>
                  <a:outerShdw blurRad="38100" dist="38100" dir="2700000" algn="tl">
                    <a:srgbClr val="000000">
                      <a:alpha val="43137"/>
                    </a:srgbClr>
                  </a:outerShdw>
                </a:effectLst>
              </a:rPr>
              <a:t>is </a:t>
            </a:r>
            <a:r>
              <a:rPr lang="en-US" b="1" u="sng" dirty="0">
                <a:solidFill>
                  <a:srgbClr val="0070C0"/>
                </a:solidFill>
                <a:effectLst>
                  <a:outerShdw blurRad="38100" dist="38100" dir="2700000" algn="tl">
                    <a:srgbClr val="000000">
                      <a:alpha val="43137"/>
                    </a:srgbClr>
                  </a:outerShdw>
                </a:effectLst>
              </a:rPr>
              <a:t>the measure of spread in data from its mean position</a:t>
            </a:r>
            <a:r>
              <a:rPr lang="en-US" dirty="0"/>
              <a:t>. In machine learning variance is the amount by which the performance of a predictive model changes when it is trained on different subsets of the training data. More specifically, variance is the variability of the model that how much it is sensitive to another subset of the training </a:t>
            </a:r>
            <a:r>
              <a:rPr lang="en-US" dirty="0" smtClean="0"/>
              <a:t>dataset</a:t>
            </a:r>
            <a:r>
              <a:rPr lang="en-US" dirty="0"/>
              <a:t>.</a:t>
            </a:r>
            <a:endParaRPr lang="en-US" dirty="0" smtClean="0"/>
          </a:p>
          <a:p>
            <a:pPr lvl="1" fontAlgn="base"/>
            <a:r>
              <a:rPr lang="en-US" dirty="0" smtClean="0"/>
              <a:t>i.e</a:t>
            </a:r>
            <a:r>
              <a:rPr lang="en-US" dirty="0"/>
              <a:t>. how much it can adjust on the new subset of the training dataset.</a:t>
            </a:r>
          </a:p>
        </p:txBody>
      </p:sp>
      <p:pic>
        <p:nvPicPr>
          <p:cNvPr id="1026" name="Picture 2" descr="https://miro.medium.com/v2/resize:fit:875/1*9hPX9pAO3jqLrzt0IE3JzA.png"/>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863630" y="2667000"/>
            <a:ext cx="6229350" cy="2424193"/>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1524000" y="4491926"/>
            <a:ext cx="6435505" cy="2058928"/>
            <a:chOff x="6837629" y="3496502"/>
            <a:chExt cx="7697412" cy="2954547"/>
          </a:xfrm>
        </p:grpSpPr>
        <p:grpSp>
          <p:nvGrpSpPr>
            <p:cNvPr id="6" name="Group 5"/>
            <p:cNvGrpSpPr/>
            <p:nvPr/>
          </p:nvGrpSpPr>
          <p:grpSpPr>
            <a:xfrm>
              <a:off x="6837629" y="3581400"/>
              <a:ext cx="7697412" cy="2869649"/>
              <a:chOff x="6719934" y="3581400"/>
              <a:chExt cx="7697412" cy="2869649"/>
            </a:xfrm>
          </p:grpSpPr>
          <p:pic>
            <p:nvPicPr>
              <p:cNvPr id="4" name="Picture 3"/>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6719934" y="3581400"/>
                <a:ext cx="7697412" cy="2869649"/>
              </a:xfrm>
              <a:prstGeom prst="rect">
                <a:avLst/>
              </a:prstGeom>
            </p:spPr>
          </p:pic>
          <p:sp>
            <p:nvSpPr>
              <p:cNvPr id="5" name="TextBox 4"/>
              <p:cNvSpPr txBox="1"/>
              <p:nvPr/>
            </p:nvSpPr>
            <p:spPr>
              <a:xfrm>
                <a:off x="9597677" y="5943600"/>
                <a:ext cx="2492544" cy="447510"/>
              </a:xfrm>
              <a:prstGeom prst="rect">
                <a:avLst/>
              </a:prstGeom>
              <a:solidFill>
                <a:schemeClr val="bg1"/>
              </a:solidFill>
            </p:spPr>
            <p:txBody>
              <a:bodyPr wrap="square" rtlCol="0">
                <a:spAutoFit/>
              </a:bodyPr>
              <a:lstStyle/>
              <a:p>
                <a:r>
                  <a:rPr lang="en-US" sz="1700" b="1" dirty="0" smtClean="0"/>
                  <a:t>Good Balance</a:t>
                </a:r>
                <a:endParaRPr lang="en-US" sz="1700" b="1" dirty="0"/>
              </a:p>
            </p:txBody>
          </p:sp>
        </p:grpSp>
        <p:sp>
          <p:nvSpPr>
            <p:cNvPr id="7" name="TextBox 6"/>
            <p:cNvSpPr txBox="1"/>
            <p:nvPr/>
          </p:nvSpPr>
          <p:spPr>
            <a:xfrm>
              <a:off x="9558949" y="3496502"/>
              <a:ext cx="3051737" cy="428053"/>
            </a:xfrm>
            <a:prstGeom prst="rect">
              <a:avLst/>
            </a:prstGeom>
            <a:solidFill>
              <a:schemeClr val="bg1"/>
            </a:solidFill>
          </p:spPr>
          <p:txBody>
            <a:bodyPr wrap="square" rtlCol="0">
              <a:spAutoFit/>
            </a:bodyPr>
            <a:lstStyle/>
            <a:p>
              <a:r>
                <a:rPr lang="en-US" sz="1600" b="1" dirty="0" smtClean="0"/>
                <a:t>Low bias Low variance</a:t>
              </a:r>
              <a:endParaRPr lang="en-US" sz="1600" b="1" dirty="0"/>
            </a:p>
          </p:txBody>
        </p:sp>
      </p:grpSp>
      <p:pic>
        <p:nvPicPr>
          <p:cNvPr id="9" name="Picture 8"/>
          <p:cNvPicPr>
            <a:picLocks noChangeAspect="1"/>
          </p:cNvPicPr>
          <p:nvPr/>
        </p:nvPicPr>
        <p:blipFill>
          <a:blip r:embed="rId6"/>
          <a:stretch>
            <a:fillRect/>
          </a:stretch>
        </p:blipFill>
        <p:spPr>
          <a:xfrm>
            <a:off x="8613993" y="5460888"/>
            <a:ext cx="3086100" cy="762000"/>
          </a:xfrm>
          <a:prstGeom prst="rect">
            <a:avLst/>
          </a:prstGeom>
          <a:ln w="57150">
            <a:solidFill>
              <a:schemeClr val="tx1"/>
            </a:solidFill>
          </a:ln>
        </p:spPr>
      </p:pic>
    </p:spTree>
    <p:extLst>
      <p:ext uri="{BB962C8B-B14F-4D97-AF65-F5344CB8AC3E}">
        <p14:creationId xmlns:p14="http://schemas.microsoft.com/office/powerpoint/2010/main" val="14870028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Bias </a:t>
            </a:r>
            <a:r>
              <a:rPr lang="en-US" b="1" dirty="0" err="1"/>
              <a:t>vs</a:t>
            </a:r>
            <a:r>
              <a:rPr lang="en-US" b="1" dirty="0"/>
              <a:t> Variance </a:t>
            </a:r>
            <a:endParaRPr lang="en-US" dirty="0"/>
          </a:p>
        </p:txBody>
      </p:sp>
      <p:sp>
        <p:nvSpPr>
          <p:cNvPr id="3" name="Content Placeholder 2"/>
          <p:cNvSpPr>
            <a:spLocks noGrp="1"/>
          </p:cNvSpPr>
          <p:nvPr>
            <p:ph idx="1"/>
          </p:nvPr>
        </p:nvSpPr>
        <p:spPr>
          <a:xfrm>
            <a:off x="914400" y="1447800"/>
            <a:ext cx="10134600" cy="4495800"/>
          </a:xfrm>
        </p:spPr>
        <p:txBody>
          <a:bodyPr/>
          <a:lstStyle/>
          <a:p>
            <a:r>
              <a:rPr lang="en-US" b="1" dirty="0"/>
              <a:t>Low Bias:</a:t>
            </a:r>
            <a:r>
              <a:rPr lang="en-US" dirty="0"/>
              <a:t> The average prediction is very close to the target value</a:t>
            </a:r>
          </a:p>
          <a:p>
            <a:r>
              <a:rPr lang="en-US" b="1" dirty="0"/>
              <a:t>High Bias:</a:t>
            </a:r>
            <a:r>
              <a:rPr lang="en-US" dirty="0"/>
              <a:t> The predictions differ too much from the actual value</a:t>
            </a:r>
          </a:p>
          <a:p>
            <a:r>
              <a:rPr lang="en-US" b="1" dirty="0"/>
              <a:t>Low Variance:</a:t>
            </a:r>
            <a:r>
              <a:rPr lang="en-US" dirty="0"/>
              <a:t> The data points are compact and do not vary much from their mean value</a:t>
            </a:r>
          </a:p>
          <a:p>
            <a:r>
              <a:rPr lang="en-US" b="1" dirty="0"/>
              <a:t>High Variance:</a:t>
            </a:r>
            <a:r>
              <a:rPr lang="en-US" dirty="0"/>
              <a:t> Scattered data points with huge variations from the mean value and other data points.</a:t>
            </a:r>
          </a:p>
          <a:p>
            <a:r>
              <a:rPr lang="en-US" dirty="0"/>
              <a:t>To make a good fit, we need to have a correct balance of bias and variance.</a:t>
            </a:r>
          </a:p>
        </p:txBody>
      </p:sp>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7467600" y="3594422"/>
            <a:ext cx="3512007" cy="3267350"/>
          </a:xfrm>
          <a:prstGeom prst="rect">
            <a:avLst/>
          </a:prstGeom>
        </p:spPr>
      </p:pic>
      <p:pic>
        <p:nvPicPr>
          <p:cNvPr id="6" name="Picture 5"/>
          <p:cNvPicPr>
            <a:picLocks noChangeAspect="1"/>
          </p:cNvPicPr>
          <p:nvPr/>
        </p:nvPicPr>
        <p:blipFill>
          <a:blip r:embed="rId5"/>
          <a:stretch>
            <a:fillRect/>
          </a:stretch>
        </p:blipFill>
        <p:spPr>
          <a:xfrm>
            <a:off x="1601500" y="4100157"/>
            <a:ext cx="5263307" cy="2300643"/>
          </a:xfrm>
          <a:prstGeom prst="rect">
            <a:avLst/>
          </a:prstGeom>
        </p:spPr>
      </p:pic>
    </p:spTree>
    <p:extLst>
      <p:ext uri="{BB962C8B-B14F-4D97-AF65-F5344CB8AC3E}">
        <p14:creationId xmlns:p14="http://schemas.microsoft.com/office/powerpoint/2010/main" val="16389176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90790"/>
            <a:ext cx="10972800" cy="715962"/>
          </a:xfrm>
        </p:spPr>
        <p:txBody>
          <a:bodyPr/>
          <a:lstStyle/>
          <a:p>
            <a:r>
              <a:rPr lang="en-US" b="1" dirty="0"/>
              <a:t>Bias </a:t>
            </a:r>
            <a:r>
              <a:rPr lang="en-US" b="1" dirty="0" err="1"/>
              <a:t>vs</a:t>
            </a:r>
            <a:r>
              <a:rPr lang="en-US" b="1" dirty="0"/>
              <a:t> Variance </a:t>
            </a:r>
            <a:endParaRPr lang="en-US" dirty="0"/>
          </a:p>
        </p:txBody>
      </p:sp>
      <p:sp>
        <p:nvSpPr>
          <p:cNvPr id="3" name="Content Placeholder 2"/>
          <p:cNvSpPr>
            <a:spLocks noGrp="1"/>
          </p:cNvSpPr>
          <p:nvPr>
            <p:ph idx="1"/>
          </p:nvPr>
        </p:nvSpPr>
        <p:spPr>
          <a:xfrm>
            <a:off x="952500" y="1406752"/>
            <a:ext cx="10287000" cy="5181599"/>
          </a:xfrm>
        </p:spPr>
        <p:txBody>
          <a:bodyPr>
            <a:normAutofit/>
          </a:bodyPr>
          <a:lstStyle/>
          <a:p>
            <a:pPr fontAlgn="base">
              <a:lnSpc>
                <a:spcPct val="150000"/>
              </a:lnSpc>
            </a:pPr>
            <a:r>
              <a:rPr lang="en-US" dirty="0" smtClean="0"/>
              <a:t>There </a:t>
            </a:r>
            <a:r>
              <a:rPr lang="en-US" dirty="0"/>
              <a:t>can be four combinations between bias and variance.</a:t>
            </a:r>
          </a:p>
          <a:p>
            <a:pPr fontAlgn="base">
              <a:lnSpc>
                <a:spcPct val="150000"/>
              </a:lnSpc>
            </a:pPr>
            <a:r>
              <a:rPr lang="en-US" b="1" dirty="0"/>
              <a:t>High Bias, Low Variance:</a:t>
            </a:r>
            <a:r>
              <a:rPr lang="en-US" dirty="0"/>
              <a:t> A model with high bias and low variance is said to be </a:t>
            </a:r>
            <a:r>
              <a:rPr lang="en-US" dirty="0" err="1"/>
              <a:t>underfitting</a:t>
            </a:r>
            <a:r>
              <a:rPr lang="en-US" dirty="0"/>
              <a:t>.</a:t>
            </a:r>
          </a:p>
          <a:p>
            <a:pPr fontAlgn="base">
              <a:lnSpc>
                <a:spcPct val="150000"/>
              </a:lnSpc>
            </a:pPr>
            <a:r>
              <a:rPr lang="en-US" b="1" dirty="0"/>
              <a:t>High Variance, Low Bias: </a:t>
            </a:r>
            <a:r>
              <a:rPr lang="en-US" dirty="0"/>
              <a:t>A model with high variance and low bias is said to be </a:t>
            </a:r>
            <a:r>
              <a:rPr lang="en-US" dirty="0" err="1"/>
              <a:t>overfitting</a:t>
            </a:r>
            <a:r>
              <a:rPr lang="en-US" dirty="0"/>
              <a:t>.</a:t>
            </a:r>
          </a:p>
          <a:p>
            <a:pPr fontAlgn="base">
              <a:lnSpc>
                <a:spcPct val="150000"/>
              </a:lnSpc>
            </a:pPr>
            <a:r>
              <a:rPr lang="en-US" b="1" dirty="0"/>
              <a:t>High-Bias, High-Variance: </a:t>
            </a:r>
            <a:r>
              <a:rPr lang="en-US" dirty="0"/>
              <a:t>if the </a:t>
            </a:r>
            <a:r>
              <a:rPr lang="en-US" b="1" dirty="0"/>
              <a:t>predictions are scattered here and there then that is the symbol of high variance</a:t>
            </a:r>
            <a:r>
              <a:rPr lang="en-US" dirty="0"/>
              <a:t>, also if the </a:t>
            </a:r>
            <a:r>
              <a:rPr lang="en-US" b="1" dirty="0"/>
              <a:t>predictions are far from the target then that is the symbol of high bias</a:t>
            </a:r>
            <a:r>
              <a:rPr lang="en-US" dirty="0"/>
              <a:t>.</a:t>
            </a:r>
            <a:br>
              <a:rPr lang="en-US" dirty="0"/>
            </a:br>
            <a:r>
              <a:rPr lang="en-US" dirty="0" smtClean="0"/>
              <a:t>A </a:t>
            </a:r>
            <a:r>
              <a:rPr lang="en-US" dirty="0"/>
              <a:t>model has both high bias and high variance, which means that the model is not able to capture the underlying patterns in the data (high bias) and is also too sensitive to changes in the training data (high variance). As a result, the model will produce inconsistent and inaccurate predictions on average</a:t>
            </a:r>
            <a:r>
              <a:rPr lang="en-US" dirty="0" smtClean="0"/>
              <a:t>.</a:t>
            </a:r>
            <a:endParaRPr lang="en-US" dirty="0"/>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9753600" y="228600"/>
            <a:ext cx="1828800" cy="1701401"/>
          </a:xfrm>
          <a:prstGeom prst="rect">
            <a:avLst/>
          </a:prstGeom>
        </p:spPr>
      </p:pic>
    </p:spTree>
    <p:extLst>
      <p:ext uri="{BB962C8B-B14F-4D97-AF65-F5344CB8AC3E}">
        <p14:creationId xmlns:p14="http://schemas.microsoft.com/office/powerpoint/2010/main" val="33228225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Bias </a:t>
            </a:r>
            <a:r>
              <a:rPr lang="en-US" b="1" dirty="0" err="1"/>
              <a:t>vs</a:t>
            </a:r>
            <a:r>
              <a:rPr lang="en-US" b="1" dirty="0"/>
              <a:t> Variance </a:t>
            </a:r>
            <a:endParaRPr lang="en-US" dirty="0"/>
          </a:p>
        </p:txBody>
      </p:sp>
      <p:sp>
        <p:nvSpPr>
          <p:cNvPr id="3" name="Content Placeholder 2"/>
          <p:cNvSpPr>
            <a:spLocks noGrp="1"/>
          </p:cNvSpPr>
          <p:nvPr>
            <p:ph idx="1"/>
          </p:nvPr>
        </p:nvSpPr>
        <p:spPr>
          <a:xfrm>
            <a:off x="609600" y="1295400"/>
            <a:ext cx="10439400" cy="5486399"/>
          </a:xfrm>
        </p:spPr>
        <p:txBody>
          <a:bodyPr>
            <a:normAutofit lnSpcReduction="10000"/>
          </a:bodyPr>
          <a:lstStyle/>
          <a:p>
            <a:pPr algn="just" fontAlgn="base">
              <a:lnSpc>
                <a:spcPct val="110000"/>
              </a:lnSpc>
            </a:pPr>
            <a:r>
              <a:rPr lang="en-US" b="1" dirty="0" smtClean="0"/>
              <a:t>Low </a:t>
            </a:r>
            <a:r>
              <a:rPr lang="en-US" b="1" dirty="0"/>
              <a:t>Bias, Low Variance:</a:t>
            </a:r>
            <a:r>
              <a:rPr lang="en-US" dirty="0"/>
              <a:t> </a:t>
            </a:r>
            <a:r>
              <a:rPr lang="en-US" dirty="0" smtClean="0"/>
              <a:t>A </a:t>
            </a:r>
            <a:r>
              <a:rPr lang="en-US" dirty="0"/>
              <a:t>model that has low bias and low variance means that the model is able to capture the underlying patterns in the data (low bias) and is not too sensitive to changes in the training data (low variance). This is the ideal scenario for a machine learning model, as it is able to generalize well to new, unseen data and produce consistent and accurate predictions. But in practice, it’s not </a:t>
            </a:r>
            <a:r>
              <a:rPr lang="en-US" dirty="0" smtClean="0"/>
              <a:t>possible. So</a:t>
            </a:r>
            <a:r>
              <a:rPr lang="en-US" dirty="0"/>
              <a:t>, we trade off between Bias and variance to achieve a balanced bias and variance.</a:t>
            </a:r>
          </a:p>
          <a:p>
            <a:pPr lvl="1" algn="just" fontAlgn="base">
              <a:lnSpc>
                <a:spcPct val="110000"/>
              </a:lnSpc>
            </a:pPr>
            <a:r>
              <a:rPr lang="en-US" b="1" dirty="0"/>
              <a:t>A model with balanced bias and variance is said to have optimal generalization performance</a:t>
            </a:r>
            <a:r>
              <a:rPr lang="en-US" dirty="0"/>
              <a:t>. This means that the model is able to capture the underlying patterns in the data without </a:t>
            </a:r>
            <a:r>
              <a:rPr lang="en-US" dirty="0" err="1"/>
              <a:t>overfitting</a:t>
            </a:r>
            <a:r>
              <a:rPr lang="en-US" dirty="0"/>
              <a:t> or </a:t>
            </a:r>
            <a:r>
              <a:rPr lang="en-US" dirty="0" err="1"/>
              <a:t>underfitting</a:t>
            </a:r>
            <a:r>
              <a:rPr lang="en-US" dirty="0"/>
              <a:t>. The model is likely to be just complex enough to capture the complexity of the data, but not too complex to </a:t>
            </a:r>
            <a:r>
              <a:rPr lang="en-US" dirty="0" err="1"/>
              <a:t>overfit</a:t>
            </a:r>
            <a:r>
              <a:rPr lang="en-US" dirty="0"/>
              <a:t> the training data. This can happen when the model has been carefully tuned to achieve a good balance between bias and variance, by adjusting the </a:t>
            </a:r>
            <a:r>
              <a:rPr lang="en-US" dirty="0" err="1"/>
              <a:t>hyperparameters</a:t>
            </a:r>
            <a:r>
              <a:rPr lang="en-US" dirty="0"/>
              <a:t> and selecting an appropriate model architecture</a:t>
            </a:r>
            <a:r>
              <a:rPr lang="en-US" dirty="0" smtClean="0"/>
              <a:t>.</a:t>
            </a:r>
          </a:p>
          <a:p>
            <a:pPr fontAlgn="base">
              <a:lnSpc>
                <a:spcPct val="110000"/>
              </a:lnSpc>
            </a:pPr>
            <a:r>
              <a:rPr lang="en-US" dirty="0"/>
              <a:t>Sometimes we need to choose between low variance and low bias. There is an approach that prefers some bias over high variance, this approach is called </a:t>
            </a:r>
            <a:r>
              <a:rPr lang="en-US" b="1" dirty="0"/>
              <a:t>Regularization</a:t>
            </a:r>
            <a:r>
              <a:rPr lang="en-US" dirty="0"/>
              <a:t>. It works well for most of the classification/regression problems</a:t>
            </a:r>
            <a:r>
              <a:rPr lang="en-US" dirty="0" smtClean="0"/>
              <a:t>.</a:t>
            </a:r>
            <a:br>
              <a:rPr lang="en-US" dirty="0" smtClean="0"/>
            </a:br>
            <a:endParaRPr lang="en-US" dirty="0"/>
          </a:p>
        </p:txBody>
      </p:sp>
    </p:spTree>
    <p:extLst>
      <p:ext uri="{BB962C8B-B14F-4D97-AF65-F5344CB8AC3E}">
        <p14:creationId xmlns:p14="http://schemas.microsoft.com/office/powerpoint/2010/main" val="11610916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81810"/>
            <a:ext cx="10972800" cy="533400"/>
          </a:xfrm>
        </p:spPr>
        <p:txBody>
          <a:bodyPr/>
          <a:lstStyle/>
          <a:p>
            <a:r>
              <a:rPr lang="en-US" sz="3600" b="1" dirty="0"/>
              <a:t>What is Regularization?</a:t>
            </a:r>
            <a:br>
              <a:rPr lang="en-US" sz="3600" b="1" dirty="0"/>
            </a:br>
            <a:endParaRPr lang="en-US" sz="3600" b="1" dirty="0"/>
          </a:p>
        </p:txBody>
      </p:sp>
      <p:sp>
        <p:nvSpPr>
          <p:cNvPr id="3" name="Content Placeholder 2"/>
          <p:cNvSpPr>
            <a:spLocks noGrp="1"/>
          </p:cNvSpPr>
          <p:nvPr>
            <p:ph idx="1"/>
          </p:nvPr>
        </p:nvSpPr>
        <p:spPr>
          <a:xfrm>
            <a:off x="838200" y="1102769"/>
            <a:ext cx="9982200" cy="4267199"/>
          </a:xfrm>
        </p:spPr>
        <p:txBody>
          <a:bodyPr/>
          <a:lstStyle/>
          <a:p>
            <a:pPr algn="just"/>
            <a:r>
              <a:rPr lang="en-US" dirty="0" smtClean="0">
                <a:solidFill>
                  <a:srgbClr val="FF0000"/>
                </a:solidFill>
              </a:rPr>
              <a:t>Regularization is </a:t>
            </a:r>
            <a:r>
              <a:rPr lang="en-US" dirty="0">
                <a:solidFill>
                  <a:srgbClr val="FF0000"/>
                </a:solidFill>
              </a:rPr>
              <a:t>a technique to </a:t>
            </a:r>
            <a:r>
              <a:rPr lang="en-US" b="1" dirty="0">
                <a:solidFill>
                  <a:srgbClr val="FF0000"/>
                </a:solidFill>
              </a:rPr>
              <a:t>prevent the model from </a:t>
            </a:r>
            <a:r>
              <a:rPr lang="en-US" b="1" dirty="0" err="1">
                <a:solidFill>
                  <a:srgbClr val="FF0000"/>
                </a:solidFill>
              </a:rPr>
              <a:t>overfitting</a:t>
            </a:r>
            <a:r>
              <a:rPr lang="en-US" b="1" dirty="0">
                <a:solidFill>
                  <a:srgbClr val="FF0000"/>
                </a:solidFill>
              </a:rPr>
              <a:t> </a:t>
            </a:r>
            <a:r>
              <a:rPr lang="en-US" dirty="0">
                <a:solidFill>
                  <a:srgbClr val="FF0000"/>
                </a:solidFill>
              </a:rPr>
              <a:t>by </a:t>
            </a:r>
            <a:r>
              <a:rPr lang="en-US" b="1" dirty="0">
                <a:solidFill>
                  <a:srgbClr val="FF0000"/>
                </a:solidFill>
              </a:rPr>
              <a:t>adding extra information </a:t>
            </a:r>
            <a:r>
              <a:rPr lang="en-US" dirty="0">
                <a:solidFill>
                  <a:srgbClr val="FF0000"/>
                </a:solidFill>
              </a:rPr>
              <a:t>to it.</a:t>
            </a:r>
          </a:p>
          <a:p>
            <a:pPr algn="just"/>
            <a:r>
              <a:rPr lang="en-US" dirty="0"/>
              <a:t>Sometimes the machine learning </a:t>
            </a:r>
            <a:r>
              <a:rPr lang="en-US" b="1" dirty="0"/>
              <a:t>model performs well with the training data but does not perform well with the test data. It means the model </a:t>
            </a:r>
            <a:r>
              <a:rPr lang="en-US" b="1" dirty="0" smtClean="0"/>
              <a:t>is </a:t>
            </a:r>
            <a:r>
              <a:rPr lang="en-US" b="1" dirty="0"/>
              <a:t>not able to predict the output when deals with unseen </a:t>
            </a:r>
            <a:r>
              <a:rPr lang="en-US" b="1" dirty="0" smtClean="0"/>
              <a:t>data,</a:t>
            </a:r>
            <a:r>
              <a:rPr lang="en-US" dirty="0" smtClean="0"/>
              <a:t> and </a:t>
            </a:r>
            <a:r>
              <a:rPr lang="en-US" dirty="0"/>
              <a:t>hence the model is called </a:t>
            </a:r>
            <a:r>
              <a:rPr lang="en-US" dirty="0" err="1"/>
              <a:t>overfitted</a:t>
            </a:r>
            <a:r>
              <a:rPr lang="en-US" dirty="0"/>
              <a:t>. This problem can be deal with the help of a regularization technique.</a:t>
            </a:r>
          </a:p>
          <a:p>
            <a:pPr algn="just"/>
            <a:r>
              <a:rPr lang="en-US" dirty="0" smtClean="0">
                <a:solidFill>
                  <a:srgbClr val="FF0000"/>
                </a:solidFill>
                <a:effectLst>
                  <a:outerShdw blurRad="38100" dist="38100" dir="2700000" algn="tl">
                    <a:srgbClr val="000000">
                      <a:alpha val="43137"/>
                    </a:srgbClr>
                  </a:outerShdw>
                </a:effectLst>
              </a:rPr>
              <a:t>It </a:t>
            </a:r>
            <a:r>
              <a:rPr lang="en-US" dirty="0">
                <a:solidFill>
                  <a:srgbClr val="FF0000"/>
                </a:solidFill>
                <a:effectLst>
                  <a:outerShdw blurRad="38100" dist="38100" dir="2700000" algn="tl">
                    <a:srgbClr val="000000">
                      <a:alpha val="43137"/>
                    </a:srgbClr>
                  </a:outerShdw>
                </a:effectLst>
              </a:rPr>
              <a:t>mainly </a:t>
            </a:r>
            <a:r>
              <a:rPr lang="en-US" b="1" dirty="0">
                <a:solidFill>
                  <a:srgbClr val="FF0000"/>
                </a:solidFill>
                <a:effectLst>
                  <a:outerShdw blurRad="38100" dist="38100" dir="2700000" algn="tl">
                    <a:srgbClr val="000000">
                      <a:alpha val="43137"/>
                    </a:srgbClr>
                  </a:outerShdw>
                </a:effectLst>
              </a:rPr>
              <a:t>regularizes or reduces the coefficient of features toward zero</a:t>
            </a:r>
            <a:r>
              <a:rPr lang="en-US" dirty="0"/>
              <a:t>. In simple words, "In regularization technique, </a:t>
            </a:r>
            <a:r>
              <a:rPr lang="en-US" b="1" dirty="0">
                <a:solidFill>
                  <a:srgbClr val="FF0000"/>
                </a:solidFill>
                <a:effectLst>
                  <a:outerShdw blurRad="38100" dist="38100" dir="2700000" algn="tl">
                    <a:srgbClr val="000000">
                      <a:alpha val="43137"/>
                    </a:srgbClr>
                  </a:outerShdw>
                </a:effectLst>
              </a:rPr>
              <a:t>we reduce the magnitude of the features by keeping the same number of features</a:t>
            </a:r>
            <a:r>
              <a:rPr lang="en-US" dirty="0" smtClean="0"/>
              <a:t>.“</a:t>
            </a:r>
          </a:p>
          <a:p>
            <a:endParaRPr lang="en-US" dirty="0"/>
          </a:p>
        </p:txBody>
      </p:sp>
      <p:pic>
        <p:nvPicPr>
          <p:cNvPr id="4" name="Picture 3"/>
          <p:cNvPicPr>
            <a:picLocks noChangeAspect="1"/>
          </p:cNvPicPr>
          <p:nvPr/>
        </p:nvPicPr>
        <p:blipFill>
          <a:blip r:embed="rId3"/>
          <a:stretch>
            <a:fillRect/>
          </a:stretch>
        </p:blipFill>
        <p:spPr>
          <a:xfrm>
            <a:off x="1143000" y="4395233"/>
            <a:ext cx="4407863" cy="1188720"/>
          </a:xfrm>
          <a:prstGeom prst="rect">
            <a:avLst/>
          </a:prstGeom>
          <a:ln w="57150">
            <a:solidFill>
              <a:schemeClr val="tx1"/>
            </a:solidFill>
          </a:ln>
        </p:spPr>
      </p:pic>
      <p:sp>
        <p:nvSpPr>
          <p:cNvPr id="5" name="Right Arrow 4"/>
          <p:cNvSpPr/>
          <p:nvPr/>
        </p:nvSpPr>
        <p:spPr>
          <a:xfrm>
            <a:off x="5715000" y="4376571"/>
            <a:ext cx="762000" cy="10543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4"/>
          <a:stretch>
            <a:fillRect/>
          </a:stretch>
        </p:blipFill>
        <p:spPr>
          <a:xfrm>
            <a:off x="6684101" y="4349513"/>
            <a:ext cx="4680585" cy="1280160"/>
          </a:xfrm>
          <a:prstGeom prst="rect">
            <a:avLst/>
          </a:prstGeom>
          <a:ln w="57150">
            <a:solidFill>
              <a:schemeClr val="tx1"/>
            </a:solidFill>
          </a:ln>
        </p:spPr>
      </p:pic>
      <p:sp>
        <p:nvSpPr>
          <p:cNvPr id="7" name="Rectangle 6"/>
          <p:cNvSpPr/>
          <p:nvPr/>
        </p:nvSpPr>
        <p:spPr>
          <a:xfrm>
            <a:off x="4572000" y="5862935"/>
            <a:ext cx="3227102" cy="461665"/>
          </a:xfrm>
          <a:prstGeom prst="rect">
            <a:avLst/>
          </a:prstGeom>
        </p:spPr>
        <p:txBody>
          <a:bodyPr wrap="none">
            <a:spAutoFit/>
          </a:bodyPr>
          <a:lstStyle/>
          <a:p>
            <a:r>
              <a:rPr lang="en-US" sz="2400" b="1" dirty="0">
                <a:solidFill>
                  <a:srgbClr val="FF0000"/>
                </a:solidFill>
                <a:effectLst>
                  <a:outerShdw blurRad="38100" dist="38100" dir="2700000" algn="tl">
                    <a:srgbClr val="000000">
                      <a:alpha val="43137"/>
                    </a:srgbClr>
                  </a:outerShdw>
                </a:effectLst>
              </a:rPr>
              <a:t>Min-Max Normalization</a:t>
            </a:r>
          </a:p>
        </p:txBody>
      </p:sp>
    </p:spTree>
    <p:extLst>
      <p:ext uri="{BB962C8B-B14F-4D97-AF65-F5344CB8AC3E}">
        <p14:creationId xmlns:p14="http://schemas.microsoft.com/office/powerpoint/2010/main" val="23405619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Overfitting</a:t>
            </a:r>
            <a:endParaRPr lang="en-US" b="1" dirty="0"/>
          </a:p>
        </p:txBody>
      </p:sp>
      <p:sp>
        <p:nvSpPr>
          <p:cNvPr id="3" name="Content Placeholder 2"/>
          <p:cNvSpPr>
            <a:spLocks noGrp="1"/>
          </p:cNvSpPr>
          <p:nvPr>
            <p:ph idx="1"/>
          </p:nvPr>
        </p:nvSpPr>
        <p:spPr>
          <a:xfrm>
            <a:off x="609600" y="1219200"/>
            <a:ext cx="10972800" cy="5257799"/>
          </a:xfrm>
        </p:spPr>
        <p:txBody>
          <a:bodyPr>
            <a:noAutofit/>
          </a:bodyPr>
          <a:lstStyle/>
          <a:p>
            <a:pPr algn="just"/>
            <a:r>
              <a:rPr lang="en-US" dirty="0"/>
              <a:t>if </a:t>
            </a:r>
            <a:r>
              <a:rPr lang="en-US" dirty="0" smtClean="0"/>
              <a:t>we </a:t>
            </a:r>
            <a:r>
              <a:rPr lang="en-US" dirty="0"/>
              <a:t>want to predict house prices based on land area, but </a:t>
            </a:r>
            <a:r>
              <a:rPr lang="en-US" dirty="0" smtClean="0"/>
              <a:t>have only 2 </a:t>
            </a:r>
            <a:r>
              <a:rPr lang="en-US" dirty="0"/>
              <a:t>data </a:t>
            </a:r>
            <a:r>
              <a:rPr lang="en-US" dirty="0" smtClean="0"/>
              <a:t>for training. </a:t>
            </a:r>
            <a:r>
              <a:rPr lang="en-US" b="1" dirty="0" smtClean="0"/>
              <a:t>Model </a:t>
            </a:r>
            <a:r>
              <a:rPr lang="en-US" b="1" dirty="0"/>
              <a:t>performs well with </a:t>
            </a:r>
            <a:r>
              <a:rPr lang="en-US" b="1" dirty="0" smtClean="0"/>
              <a:t>these </a:t>
            </a:r>
            <a:r>
              <a:rPr lang="en-US" b="1" dirty="0"/>
              <a:t>training </a:t>
            </a:r>
            <a:r>
              <a:rPr lang="en-US" b="1" dirty="0" smtClean="0"/>
              <a:t>data (orange dot) </a:t>
            </a:r>
            <a:endParaRPr lang="en-US" dirty="0" smtClean="0"/>
          </a:p>
          <a:p>
            <a:pPr algn="just" fontAlgn="base"/>
            <a:r>
              <a:rPr lang="en-US" dirty="0"/>
              <a:t>T</a:t>
            </a:r>
            <a:r>
              <a:rPr lang="en-US" dirty="0" smtClean="0"/>
              <a:t>he </a:t>
            </a:r>
            <a:r>
              <a:rPr lang="en-US" dirty="0"/>
              <a:t>problem is </a:t>
            </a:r>
            <a:r>
              <a:rPr lang="en-US" b="1" dirty="0"/>
              <a:t>Model </a:t>
            </a:r>
            <a:r>
              <a:rPr lang="en-US" b="1" dirty="0" smtClean="0"/>
              <a:t>does </a:t>
            </a:r>
            <a:r>
              <a:rPr lang="en-US" b="1" dirty="0"/>
              <a:t>not perform well with the test </a:t>
            </a:r>
            <a:r>
              <a:rPr lang="en-US" b="1" dirty="0" smtClean="0"/>
              <a:t>data (</a:t>
            </a:r>
            <a:r>
              <a:rPr lang="en-US" dirty="0" smtClean="0"/>
              <a:t>blue dot</a:t>
            </a:r>
            <a:r>
              <a:rPr lang="en-US" b="1" dirty="0" smtClean="0"/>
              <a:t>) </a:t>
            </a:r>
            <a:r>
              <a:rPr lang="en-US" dirty="0" smtClean="0"/>
              <a:t>and </a:t>
            </a:r>
            <a:r>
              <a:rPr lang="en-US" dirty="0"/>
              <a:t>its distribution is like the blue dot </a:t>
            </a:r>
            <a:r>
              <a:rPr lang="en-US" dirty="0" smtClean="0"/>
              <a:t>below</a:t>
            </a:r>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pPr algn="just"/>
            <a:r>
              <a:rPr lang="en-US" dirty="0" smtClean="0"/>
              <a:t>Figure </a:t>
            </a:r>
            <a:r>
              <a:rPr lang="en-US" dirty="0"/>
              <a:t>above shows that if we have a regression line in orange, and want to predict test data like the blue dot above, the estimator has a very large variance even though it has a small bias value, and The regression model formed is very good for the </a:t>
            </a:r>
            <a:r>
              <a:rPr lang="en-US" dirty="0" smtClean="0"/>
              <a:t>train </a:t>
            </a:r>
            <a:r>
              <a:rPr lang="en-US" dirty="0"/>
              <a:t>data </a:t>
            </a:r>
            <a:r>
              <a:rPr lang="en-US" dirty="0" smtClean="0"/>
              <a:t>but </a:t>
            </a:r>
            <a:r>
              <a:rPr lang="en-US" dirty="0"/>
              <a:t>bad for the test data. When the phenomenon occurs, the model built is subject to </a:t>
            </a:r>
            <a:r>
              <a:rPr lang="en-US" dirty="0" err="1"/>
              <a:t>overfitting</a:t>
            </a:r>
            <a:r>
              <a:rPr lang="en-US" dirty="0"/>
              <a:t> problems.</a:t>
            </a:r>
            <a:br>
              <a:rPr lang="en-US" dirty="0"/>
            </a:br>
            <a:endParaRPr lang="en-US" dirty="0"/>
          </a:p>
        </p:txBody>
      </p:sp>
      <p:pic>
        <p:nvPicPr>
          <p:cNvPr id="1028" name="Picture 4" descr="Overfitt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81400" y="2675263"/>
            <a:ext cx="5969000" cy="2345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8178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10972800" cy="1143000"/>
          </a:xfrm>
        </p:spPr>
        <p:txBody>
          <a:bodyPr/>
          <a:lstStyle/>
          <a:p>
            <a:r>
              <a:rPr lang="en-US" b="1" dirty="0"/>
              <a:t>Why regularization?</a:t>
            </a:r>
            <a:br>
              <a:rPr lang="en-US" b="1" dirty="0"/>
            </a:br>
            <a:endParaRPr lang="en-US" dirty="0"/>
          </a:p>
        </p:txBody>
      </p:sp>
      <p:sp>
        <p:nvSpPr>
          <p:cNvPr id="3" name="Content Placeholder 2"/>
          <p:cNvSpPr>
            <a:spLocks noGrp="1"/>
          </p:cNvSpPr>
          <p:nvPr>
            <p:ph idx="1"/>
          </p:nvPr>
        </p:nvSpPr>
        <p:spPr>
          <a:xfrm>
            <a:off x="1066800" y="2209800"/>
            <a:ext cx="10058400" cy="3581400"/>
          </a:xfrm>
        </p:spPr>
        <p:txBody>
          <a:bodyPr>
            <a:normAutofit/>
          </a:bodyPr>
          <a:lstStyle/>
          <a:p>
            <a:pPr algn="just"/>
            <a:r>
              <a:rPr lang="en-US" dirty="0" smtClean="0"/>
              <a:t>Regularization </a:t>
            </a:r>
            <a:r>
              <a:rPr lang="en-US" dirty="0"/>
              <a:t>is often used as a solution to the </a:t>
            </a:r>
            <a:r>
              <a:rPr lang="en-US" b="1" dirty="0" err="1"/>
              <a:t>overfitting</a:t>
            </a:r>
            <a:r>
              <a:rPr lang="en-US" dirty="0"/>
              <a:t> problem in Machine Learning. </a:t>
            </a:r>
            <a:r>
              <a:rPr lang="en-US" b="1" dirty="0" err="1" smtClean="0">
                <a:solidFill>
                  <a:srgbClr val="FF0000"/>
                </a:solidFill>
              </a:rPr>
              <a:t>Overfitting</a:t>
            </a:r>
            <a:r>
              <a:rPr lang="en-US" b="1" dirty="0" smtClean="0">
                <a:solidFill>
                  <a:srgbClr val="FF0000"/>
                </a:solidFill>
              </a:rPr>
              <a:t> occurs when a model is too complex </a:t>
            </a:r>
            <a:r>
              <a:rPr lang="en-US" dirty="0" smtClean="0"/>
              <a:t>and </a:t>
            </a:r>
            <a:r>
              <a:rPr lang="en-US" b="1" dirty="0" smtClean="0">
                <a:solidFill>
                  <a:srgbClr val="FF0000"/>
                </a:solidFill>
              </a:rPr>
              <a:t>learns noise in the training data</a:t>
            </a:r>
            <a:r>
              <a:rPr lang="en-US" dirty="0" smtClean="0"/>
              <a:t>. </a:t>
            </a:r>
            <a:r>
              <a:rPr lang="en-US" dirty="0"/>
              <a:t>When a model gets trained with so much data, it starts learning from the noise and inaccurate data entries in our data </a:t>
            </a:r>
            <a:r>
              <a:rPr lang="en-US" dirty="0" smtClean="0"/>
              <a:t>set. </a:t>
            </a:r>
            <a:r>
              <a:rPr lang="en-US" dirty="0" err="1" smtClean="0"/>
              <a:t>Underfitting</a:t>
            </a:r>
            <a:r>
              <a:rPr lang="en-US" dirty="0" smtClean="0"/>
              <a:t> occurs when a model is too simple to capture underlying data patterns. Regularization </a:t>
            </a:r>
            <a:r>
              <a:rPr lang="en-US" dirty="0"/>
              <a:t>provides a means to find the optimal balance between these two </a:t>
            </a:r>
            <a:r>
              <a:rPr lang="en-US" dirty="0" smtClean="0"/>
              <a:t>extremes. </a:t>
            </a:r>
          </a:p>
          <a:p>
            <a:pPr marL="0" indent="0" algn="just">
              <a:buNone/>
            </a:pPr>
            <a:endParaRPr lang="en-US" dirty="0" smtClean="0"/>
          </a:p>
          <a:p>
            <a:pPr algn="just"/>
            <a:r>
              <a:rPr lang="en-US" dirty="0" smtClean="0"/>
              <a:t>The </a:t>
            </a:r>
            <a:r>
              <a:rPr lang="en-US" dirty="0"/>
              <a:t>primary goal of regularization is to reduce the model's complexity to make it more generalizable to new data, thus improving its performance on unseen datasets</a:t>
            </a:r>
            <a:r>
              <a:rPr lang="en-US" dirty="0" smtClean="0"/>
              <a:t>.</a:t>
            </a:r>
          </a:p>
          <a:p>
            <a:endParaRPr lang="en-US" dirty="0"/>
          </a:p>
          <a:p>
            <a:endParaRPr lang="en-US" dirty="0" smtClean="0"/>
          </a:p>
          <a:p>
            <a:pPr lvl="1"/>
            <a:endParaRPr lang="en-US" dirty="0"/>
          </a:p>
        </p:txBody>
      </p:sp>
    </p:spTree>
    <p:extLst>
      <p:ext uri="{BB962C8B-B14F-4D97-AF65-F5344CB8AC3E}">
        <p14:creationId xmlns:p14="http://schemas.microsoft.com/office/powerpoint/2010/main" val="25371790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10972800" cy="1143000"/>
          </a:xfrm>
        </p:spPr>
        <p:txBody>
          <a:bodyPr/>
          <a:lstStyle/>
          <a:p>
            <a:r>
              <a:rPr lang="en-US" b="1" dirty="0"/>
              <a:t>Techniques of Regularization</a:t>
            </a:r>
            <a:br>
              <a:rPr lang="en-US" b="1" dirty="0"/>
            </a:br>
            <a:endParaRPr lang="en-US" b="1" dirty="0"/>
          </a:p>
        </p:txBody>
      </p:sp>
      <p:sp>
        <p:nvSpPr>
          <p:cNvPr id="3" name="Content Placeholder 2"/>
          <p:cNvSpPr>
            <a:spLocks noGrp="1"/>
          </p:cNvSpPr>
          <p:nvPr>
            <p:ph idx="1"/>
          </p:nvPr>
        </p:nvSpPr>
        <p:spPr>
          <a:xfrm>
            <a:off x="609600" y="2103437"/>
            <a:ext cx="10972800" cy="4525963"/>
          </a:xfrm>
        </p:spPr>
        <p:txBody>
          <a:bodyPr/>
          <a:lstStyle/>
          <a:p>
            <a:r>
              <a:rPr lang="en-US" dirty="0" smtClean="0"/>
              <a:t>There </a:t>
            </a:r>
            <a:r>
              <a:rPr lang="en-US" dirty="0"/>
              <a:t>are mainly two types of regularization techniques, which are given below</a:t>
            </a:r>
            <a:r>
              <a:rPr lang="en-US" dirty="0" smtClean="0"/>
              <a:t>:</a:t>
            </a:r>
            <a:endParaRPr lang="en-US" dirty="0"/>
          </a:p>
          <a:p>
            <a:r>
              <a:rPr lang="en-US" b="1" dirty="0"/>
              <a:t>Ridge Regression</a:t>
            </a:r>
            <a:endParaRPr lang="en-US" dirty="0"/>
          </a:p>
          <a:p>
            <a:r>
              <a:rPr lang="en-US" b="1" dirty="0"/>
              <a:t>Lasso Regression</a:t>
            </a:r>
            <a:endParaRPr lang="en-US" dirty="0"/>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312000" y="2698920"/>
              <a:ext cx="329760" cy="581760"/>
            </p14:xfrm>
          </p:contentPart>
        </mc:Choice>
        <mc:Fallback xmlns="">
          <p:pic>
            <p:nvPicPr>
              <p:cNvPr id="4" name="Ink 3"/>
              <p:cNvPicPr/>
              <p:nvPr/>
            </p:nvPicPr>
            <p:blipFill>
              <a:blip r:embed="rId3"/>
              <a:stretch>
                <a:fillRect/>
              </a:stretch>
            </p:blipFill>
            <p:spPr>
              <a:xfrm>
                <a:off x="3304440" y="2689560"/>
                <a:ext cx="349200" cy="600480"/>
              </a:xfrm>
              <a:prstGeom prst="rect">
                <a:avLst/>
              </a:prstGeom>
            </p:spPr>
          </p:pic>
        </mc:Fallback>
      </mc:AlternateContent>
    </p:spTree>
    <p:extLst>
      <p:ext uri="{BB962C8B-B14F-4D97-AF65-F5344CB8AC3E}">
        <p14:creationId xmlns:p14="http://schemas.microsoft.com/office/powerpoint/2010/main" val="719910361"/>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FAEC0E0-4ABC-4077-8922-293239654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26464</TotalTime>
  <Words>1222</Words>
  <Application>Microsoft Office PowerPoint</Application>
  <PresentationFormat>Widescreen</PresentationFormat>
  <Paragraphs>143</Paragraphs>
  <Slides>24</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Cambria Math</vt:lpstr>
      <vt:lpstr>Gill Sans MT</vt:lpstr>
      <vt:lpstr>Inter</vt:lpstr>
      <vt:lpstr>Wingdings</vt:lpstr>
      <vt:lpstr>Custom Design</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Different Types of Gradient Descent Algorithms</vt:lpstr>
      <vt:lpstr> </vt:lpstr>
      <vt:lpstr>Batch Gradient Descent</vt:lpstr>
      <vt:lpstr>PowerPoint Presentation</vt:lpstr>
      <vt:lpstr>Stochastic Gradient Descent (SGD)</vt:lpstr>
      <vt:lpstr>Stochastic Gradient Descent (SGD)</vt:lpstr>
      <vt:lpstr>What is Bias?</vt:lpstr>
      <vt:lpstr>Variance (“How sensitive the model is to small changes in training data.”)</vt:lpstr>
      <vt:lpstr>Bias vs Variance </vt:lpstr>
      <vt:lpstr>Bias vs Variance </vt:lpstr>
      <vt:lpstr>Bias vs Variance </vt:lpstr>
      <vt:lpstr>What is Regularization? </vt:lpstr>
      <vt:lpstr>Overfitting</vt:lpstr>
      <vt:lpstr>Why regularization? </vt:lpstr>
      <vt:lpstr>Techniques of Regularization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ASMR</dc:creator>
  <dc:description>2010 animated abstract template from Presentationpro.com</dc:description>
  <cp:lastModifiedBy>MN</cp:lastModifiedBy>
  <cp:revision>2167</cp:revision>
  <cp:lastPrinted>2023-12-23T14:35:58Z</cp:lastPrinted>
  <dcterms:created xsi:type="dcterms:W3CDTF">2014-11-02T19:18:20Z</dcterms:created>
  <dcterms:modified xsi:type="dcterms:W3CDTF">2026-05-16T06:27:26Z</dcterms:modified>
  <cp:category>2010 abstract</cp:category>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TC018813529991</vt:lpwstr>
  </property>
</Properties>
</file>