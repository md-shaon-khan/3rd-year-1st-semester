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sldIdLst>
    <p:sldId id="257" r:id="rId2"/>
    <p:sldId id="258" r:id="rId3"/>
    <p:sldId id="259" r:id="rId4"/>
    <p:sldId id="260" r:id="rId5"/>
    <p:sldId id="261" r:id="rId6"/>
    <p:sldId id="262" r:id="rId7"/>
    <p:sldId id="263" r:id="rId8"/>
    <p:sldId id="289" r:id="rId9"/>
    <p:sldId id="290" r:id="rId10"/>
    <p:sldId id="301" r:id="rId11"/>
    <p:sldId id="291" r:id="rId12"/>
    <p:sldId id="292" r:id="rId13"/>
    <p:sldId id="293" r:id="rId14"/>
    <p:sldId id="294" r:id="rId15"/>
    <p:sldId id="295" r:id="rId16"/>
    <p:sldId id="296" r:id="rId17"/>
    <p:sldId id="297" r:id="rId18"/>
    <p:sldId id="298" r:id="rId19"/>
    <p:sldId id="299" r:id="rId20"/>
    <p:sldId id="300" r:id="rId21"/>
    <p:sldId id="302" r:id="rId22"/>
    <p:sldId id="265" r:id="rId23"/>
    <p:sldId id="266" r:id="rId24"/>
    <p:sldId id="267" r:id="rId25"/>
    <p:sldId id="268" r:id="rId26"/>
    <p:sldId id="269" r:id="rId27"/>
    <p:sldId id="270" r:id="rId28"/>
    <p:sldId id="271" r:id="rId29"/>
    <p:sldId id="272" r:id="rId30"/>
    <p:sldId id="288" r:id="rId31"/>
    <p:sldId id="273" r:id="rId32"/>
    <p:sldId id="274" r:id="rId33"/>
    <p:sldId id="287" r:id="rId34"/>
    <p:sldId id="275" r:id="rId35"/>
    <p:sldId id="276" r:id="rId36"/>
    <p:sldId id="277" r:id="rId37"/>
    <p:sldId id="278" r:id="rId38"/>
    <p:sldId id="279" r:id="rId39"/>
    <p:sldId id="280" r:id="rId40"/>
    <p:sldId id="281" r:id="rId41"/>
    <p:sldId id="282" r:id="rId42"/>
    <p:sldId id="283" r:id="rId43"/>
    <p:sldId id="284"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6" r:id="rId76"/>
    <p:sldId id="337" r:id="rId77"/>
    <p:sldId id="338" r:id="rId78"/>
    <p:sldId id="339" r:id="rId79"/>
    <p:sldId id="340" r:id="rId80"/>
    <p:sldId id="341" r:id="rId81"/>
    <p:sldId id="342" r:id="rId82"/>
    <p:sldId id="343" r:id="rId83"/>
    <p:sldId id="344" r:id="rId84"/>
    <p:sldId id="345" r:id="rId85"/>
    <p:sldId id="346"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4" d="100"/>
          <a:sy n="44" d="100"/>
        </p:scale>
        <p:origin x="62" y="3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39C8F-FFE6-4BD0-9F89-35D144D64C1D}"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4881ED-8B56-4F3A-B7C8-BF3376E5B8F4}" type="slidenum">
              <a:rPr lang="en-US" smtClean="0"/>
              <a:t>‹#›</a:t>
            </a:fld>
            <a:endParaRPr lang="en-US"/>
          </a:p>
        </p:txBody>
      </p:sp>
    </p:spTree>
    <p:extLst>
      <p:ext uri="{BB962C8B-B14F-4D97-AF65-F5344CB8AC3E}">
        <p14:creationId xmlns:p14="http://schemas.microsoft.com/office/powerpoint/2010/main" val="419849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4881ED-8B56-4F3A-B7C8-BF3376E5B8F4}" type="slidenum">
              <a:rPr lang="en-US" smtClean="0"/>
              <a:t>34</a:t>
            </a:fld>
            <a:endParaRPr lang="en-US"/>
          </a:p>
        </p:txBody>
      </p:sp>
    </p:spTree>
    <p:extLst>
      <p:ext uri="{BB962C8B-B14F-4D97-AF65-F5344CB8AC3E}">
        <p14:creationId xmlns:p14="http://schemas.microsoft.com/office/powerpoint/2010/main" val="1105466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792268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987213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1344537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E482CB-BE0E-45A2-A8F9-AF0B7F554A3D}"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13192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3E482CB-BE0E-45A2-A8F9-AF0B7F554A3D}"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19004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E482CB-BE0E-45A2-A8F9-AF0B7F554A3D}"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2589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E482CB-BE0E-45A2-A8F9-AF0B7F554A3D}"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8766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622874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5753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645177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315667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482CB-BE0E-45A2-A8F9-AF0B7F554A3D}"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E4543-BE62-4DF3-B067-5185159305E6}" type="slidenum">
              <a:rPr lang="en-US" smtClean="0"/>
              <a:t>‹#›</a:t>
            </a:fld>
            <a:endParaRPr lang="en-US"/>
          </a:p>
        </p:txBody>
      </p:sp>
    </p:spTree>
    <p:extLst>
      <p:ext uri="{BB962C8B-B14F-4D97-AF65-F5344CB8AC3E}">
        <p14:creationId xmlns:p14="http://schemas.microsoft.com/office/powerpoint/2010/main" val="329711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77162" y="281678"/>
            <a:ext cx="4039696"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2.1 The Nature of Data</a:t>
            </a:r>
          </a:p>
        </p:txBody>
      </p:sp>
      <p:sp>
        <p:nvSpPr>
          <p:cNvPr id="6" name="Rectangle 5"/>
          <p:cNvSpPr/>
          <p:nvPr/>
        </p:nvSpPr>
        <p:spPr>
          <a:xfrm>
            <a:off x="1225296" y="890308"/>
            <a:ext cx="9765792" cy="1200329"/>
          </a:xfrm>
          <a:prstGeom prst="rect">
            <a:avLst/>
          </a:prstGeom>
        </p:spPr>
        <p:txBody>
          <a:bodyPr wrap="square">
            <a:spAutoFit/>
          </a:bodyPr>
          <a:lstStyle/>
          <a:p>
            <a:pPr algn="just"/>
            <a:r>
              <a:rPr lang="en-US" sz="2400" b="1" dirty="0">
                <a:solidFill>
                  <a:srgbClr val="002060"/>
                </a:solidFill>
                <a:effectLst>
                  <a:outerShdw blurRad="38100" dist="38100" dir="2700000" algn="tl">
                    <a:srgbClr val="000000">
                      <a:alpha val="43137"/>
                    </a:srgbClr>
                  </a:outerShdw>
                </a:effectLst>
              </a:rPr>
              <a:t>Data is the main ingredient for any BI</a:t>
            </a:r>
            <a:r>
              <a:rPr lang="en-US" sz="2400" dirty="0"/>
              <a:t>, data science, and business analytics initiative. In fact, it can be viewed as the raw material for what these popular decision technologies produce—information, insight, and knowledge.</a:t>
            </a:r>
          </a:p>
        </p:txBody>
      </p:sp>
      <p:pic>
        <p:nvPicPr>
          <p:cNvPr id="7" name="Picture 6"/>
          <p:cNvPicPr>
            <a:picLocks noChangeAspect="1"/>
          </p:cNvPicPr>
          <p:nvPr/>
        </p:nvPicPr>
        <p:blipFill>
          <a:blip r:embed="rId2"/>
          <a:stretch>
            <a:fillRect/>
          </a:stretch>
        </p:blipFill>
        <p:spPr>
          <a:xfrm>
            <a:off x="3131107" y="2176281"/>
            <a:ext cx="5675744" cy="4297680"/>
          </a:xfrm>
          <a:prstGeom prst="rect">
            <a:avLst/>
          </a:prstGeom>
        </p:spPr>
      </p:pic>
    </p:spTree>
    <p:extLst>
      <p:ext uri="{BB962C8B-B14F-4D97-AF65-F5344CB8AC3E}">
        <p14:creationId xmlns:p14="http://schemas.microsoft.com/office/powerpoint/2010/main" val="1489548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82500" y="162806"/>
            <a:ext cx="5459956"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2.3 A Simple Taxonomy of Data</a:t>
            </a:r>
          </a:p>
        </p:txBody>
      </p:sp>
      <p:sp>
        <p:nvSpPr>
          <p:cNvPr id="3" name="Rectangle 2"/>
          <p:cNvSpPr/>
          <p:nvPr/>
        </p:nvSpPr>
        <p:spPr>
          <a:xfrm>
            <a:off x="822960" y="738646"/>
            <a:ext cx="10634472" cy="2492990"/>
          </a:xfrm>
          <a:prstGeom prst="rect">
            <a:avLst/>
          </a:prstGeom>
        </p:spPr>
        <p:txBody>
          <a:bodyPr wrap="square">
            <a:spAutoFit/>
          </a:bodyPr>
          <a:lstStyle/>
          <a:p>
            <a:pPr algn="just"/>
            <a:r>
              <a:rPr lang="en-US" sz="2400" dirty="0"/>
              <a:t>At the highest level of abstraction, one can classify data as structured and unstructured (or semi-structured). </a:t>
            </a:r>
          </a:p>
          <a:p>
            <a:pPr algn="just"/>
            <a:endParaRPr lang="en-US" sz="600" dirty="0"/>
          </a:p>
          <a:p>
            <a:pPr algn="just"/>
            <a:r>
              <a:rPr lang="en-US" sz="2400" dirty="0"/>
              <a:t>Unstructured data/semi-structured data is composed of any combination of textual, imagery, voice, and Web content. </a:t>
            </a:r>
          </a:p>
          <a:p>
            <a:pPr algn="just"/>
            <a:endParaRPr lang="en-US" sz="600" dirty="0"/>
          </a:p>
          <a:p>
            <a:pPr algn="just"/>
            <a:r>
              <a:rPr lang="en-US" sz="2400" dirty="0"/>
              <a:t>Structured data is what data mining algorithms use and can be classified as categorical or numeric. </a:t>
            </a:r>
          </a:p>
        </p:txBody>
      </p:sp>
      <p:pic>
        <p:nvPicPr>
          <p:cNvPr id="4" name="Picture 3"/>
          <p:cNvPicPr>
            <a:picLocks noChangeAspect="1"/>
          </p:cNvPicPr>
          <p:nvPr/>
        </p:nvPicPr>
        <p:blipFill>
          <a:blip r:embed="rId2"/>
          <a:stretch>
            <a:fillRect/>
          </a:stretch>
        </p:blipFill>
        <p:spPr>
          <a:xfrm>
            <a:off x="5474970" y="2931223"/>
            <a:ext cx="5852160" cy="3653772"/>
          </a:xfrm>
          <a:prstGeom prst="rect">
            <a:avLst/>
          </a:prstGeom>
        </p:spPr>
      </p:pic>
    </p:spTree>
    <p:extLst>
      <p:ext uri="{BB962C8B-B14F-4D97-AF65-F5344CB8AC3E}">
        <p14:creationId xmlns:p14="http://schemas.microsoft.com/office/powerpoint/2010/main" val="741586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41832" y="660368"/>
            <a:ext cx="10360152" cy="5632311"/>
          </a:xfrm>
          <a:prstGeom prst="rect">
            <a:avLst/>
          </a:prstGeom>
        </p:spPr>
        <p:txBody>
          <a:bodyPr wrap="square">
            <a:spAutoFit/>
          </a:bodyPr>
          <a:lstStyle/>
          <a:p>
            <a:pPr algn="just"/>
            <a:r>
              <a:rPr lang="en-US" sz="3200" b="1" dirty="0">
                <a:solidFill>
                  <a:srgbClr val="FF0000"/>
                </a:solidFill>
              </a:rPr>
              <a:t>&gt;&gt;</a:t>
            </a:r>
            <a:r>
              <a:rPr lang="en-US" sz="2400" b="1" dirty="0">
                <a:solidFill>
                  <a:srgbClr val="FF0000"/>
                </a:solidFill>
              </a:rPr>
              <a:t> </a:t>
            </a:r>
            <a:r>
              <a:rPr lang="en-US" sz="3200" b="1" dirty="0">
                <a:solidFill>
                  <a:srgbClr val="FF0000"/>
                </a:solidFill>
              </a:rPr>
              <a:t>Categorical data</a:t>
            </a:r>
            <a:r>
              <a:rPr lang="en-US" sz="2400" b="1" dirty="0">
                <a:solidFill>
                  <a:srgbClr val="FF0000"/>
                </a:solidFill>
              </a:rPr>
              <a:t> </a:t>
            </a:r>
            <a:r>
              <a:rPr lang="en-US" sz="2400" dirty="0"/>
              <a:t>represent the labels of multiple classes used to divide a variable into specific groups. </a:t>
            </a:r>
          </a:p>
          <a:p>
            <a:pPr algn="just"/>
            <a:r>
              <a:rPr lang="en-US" sz="2400" b="1" dirty="0">
                <a:solidFill>
                  <a:schemeClr val="accent5">
                    <a:lumMod val="75000"/>
                  </a:schemeClr>
                </a:solidFill>
                <a:effectLst>
                  <a:outerShdw blurRad="38100" dist="38100" dir="2700000" algn="tl">
                    <a:srgbClr val="000000">
                      <a:alpha val="43137"/>
                    </a:srgbClr>
                  </a:outerShdw>
                </a:effectLst>
              </a:rPr>
              <a:t>Example</a:t>
            </a:r>
            <a:r>
              <a:rPr lang="en-US" sz="2400" b="1" dirty="0">
                <a:solidFill>
                  <a:srgbClr val="0070C0"/>
                </a:solidFill>
                <a:effectLst>
                  <a:outerShdw blurRad="38100" dist="38100" dir="2700000" algn="tl">
                    <a:srgbClr val="000000">
                      <a:alpha val="43137"/>
                    </a:srgbClr>
                  </a:outerShdw>
                </a:effectLst>
              </a:rPr>
              <a:t>. </a:t>
            </a:r>
            <a:r>
              <a:rPr lang="en-US" sz="2400" dirty="0"/>
              <a:t>Categorical variables include race, sex, age group, and educational level.</a:t>
            </a:r>
          </a:p>
          <a:p>
            <a:pPr algn="just"/>
            <a:endParaRPr lang="en-US" sz="800" dirty="0"/>
          </a:p>
          <a:p>
            <a:pPr algn="just"/>
            <a:r>
              <a:rPr lang="en-US" sz="2400" b="1" u="sng" dirty="0">
                <a:solidFill>
                  <a:schemeClr val="accent6">
                    <a:lumMod val="75000"/>
                  </a:schemeClr>
                </a:solidFill>
              </a:rPr>
              <a:t>Nominal data</a:t>
            </a:r>
            <a:r>
              <a:rPr lang="en-US" sz="2400" b="1" dirty="0">
                <a:solidFill>
                  <a:srgbClr val="FF0000"/>
                </a:solidFill>
              </a:rPr>
              <a:t> </a:t>
            </a:r>
            <a:r>
              <a:rPr lang="en-US" sz="2400" dirty="0"/>
              <a:t>contain measurements of simple codes assigned to objects as labels, which are not measurements. </a:t>
            </a:r>
          </a:p>
          <a:p>
            <a:pPr algn="just"/>
            <a:r>
              <a:rPr lang="en-US" sz="2400" b="1" dirty="0">
                <a:solidFill>
                  <a:schemeClr val="accent5">
                    <a:lumMod val="75000"/>
                  </a:schemeClr>
                </a:solidFill>
                <a:effectLst>
                  <a:outerShdw blurRad="38100" dist="38100" dir="2700000" algn="tl">
                    <a:srgbClr val="000000">
                      <a:alpha val="43137"/>
                    </a:srgbClr>
                  </a:outerShdw>
                </a:effectLst>
              </a:rPr>
              <a:t>Example.</a:t>
            </a:r>
            <a:r>
              <a:rPr lang="en-US" sz="2400" dirty="0">
                <a:solidFill>
                  <a:schemeClr val="accent5">
                    <a:lumMod val="75000"/>
                  </a:schemeClr>
                </a:solidFill>
              </a:rPr>
              <a:t> </a:t>
            </a:r>
            <a:r>
              <a:rPr lang="en-US" sz="2400" dirty="0"/>
              <a:t>Generally categorized as (1) single, (2) married, and (3) divorced. Nominal data can be represented with </a:t>
            </a:r>
            <a:r>
              <a:rPr lang="en-US" sz="2400" i="1" u="sng" dirty="0"/>
              <a:t>binomial values </a:t>
            </a:r>
            <a:r>
              <a:rPr lang="en-US" sz="2400" dirty="0"/>
              <a:t>having two possible values (e.g., yes/no, true/ false, good/bad), or multinomial values having three or more possible values (brown/green/blue, white/black/Latino/Asian, Single/Divorced).</a:t>
            </a:r>
          </a:p>
          <a:p>
            <a:pPr algn="just"/>
            <a:endParaRPr lang="en-US" sz="800" dirty="0"/>
          </a:p>
          <a:p>
            <a:pPr algn="just"/>
            <a:r>
              <a:rPr lang="en-US" sz="2400" b="1" u="sng" dirty="0">
                <a:solidFill>
                  <a:schemeClr val="accent6">
                    <a:lumMod val="75000"/>
                  </a:schemeClr>
                </a:solidFill>
              </a:rPr>
              <a:t>Ordinal data</a:t>
            </a:r>
            <a:r>
              <a:rPr lang="en-US" sz="2400" b="1" dirty="0">
                <a:solidFill>
                  <a:srgbClr val="FF0000"/>
                </a:solidFill>
              </a:rPr>
              <a:t> </a:t>
            </a:r>
            <a:r>
              <a:rPr lang="en-US" sz="2400" dirty="0"/>
              <a:t>contain codes assigned to objects or events as labels that also represent the rank order among them.</a:t>
            </a:r>
          </a:p>
          <a:p>
            <a:pPr algn="just"/>
            <a:r>
              <a:rPr lang="en-US" sz="2400" b="1" dirty="0">
                <a:solidFill>
                  <a:schemeClr val="accent5">
                    <a:lumMod val="75000"/>
                  </a:schemeClr>
                </a:solidFill>
                <a:effectLst>
                  <a:outerShdw blurRad="38100" dist="38100" dir="2700000" algn="tl">
                    <a:srgbClr val="000000">
                      <a:alpha val="43137"/>
                    </a:srgbClr>
                  </a:outerShdw>
                </a:effectLst>
              </a:rPr>
              <a:t>Example</a:t>
            </a:r>
            <a:r>
              <a:rPr lang="en-US" sz="2400" dirty="0"/>
              <a:t>. categorized as (1) low, (2) medium, or (3) high. Similar ordered relationships can be seen in variables such as age group (i.e., child, young, middle-aged, elderly) and educational level (i.e., high school, college, graduate school). </a:t>
            </a:r>
          </a:p>
        </p:txBody>
      </p:sp>
    </p:spTree>
    <p:extLst>
      <p:ext uri="{BB962C8B-B14F-4D97-AF65-F5344CB8AC3E}">
        <p14:creationId xmlns:p14="http://schemas.microsoft.com/office/powerpoint/2010/main" val="3740905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832" y="658797"/>
            <a:ext cx="10433304" cy="5632311"/>
          </a:xfrm>
          <a:prstGeom prst="rect">
            <a:avLst/>
          </a:prstGeom>
        </p:spPr>
        <p:txBody>
          <a:bodyPr wrap="square">
            <a:spAutoFit/>
          </a:bodyPr>
          <a:lstStyle/>
          <a:p>
            <a:pPr algn="just"/>
            <a:r>
              <a:rPr lang="en-US" sz="3200" b="1" dirty="0">
                <a:solidFill>
                  <a:srgbClr val="FF0000"/>
                </a:solidFill>
              </a:rPr>
              <a:t>&gt;&gt; Numeric data </a:t>
            </a:r>
            <a:r>
              <a:rPr lang="en-US" sz="2400" dirty="0"/>
              <a:t>represent the numeric values of specific variables. </a:t>
            </a:r>
          </a:p>
          <a:p>
            <a:pPr algn="just"/>
            <a:r>
              <a:rPr lang="en-US" sz="2400" b="1" dirty="0">
                <a:solidFill>
                  <a:schemeClr val="accent5">
                    <a:lumMod val="75000"/>
                  </a:schemeClr>
                </a:solidFill>
                <a:effectLst>
                  <a:outerShdw blurRad="38100" dist="38100" dir="2700000" algn="tl">
                    <a:srgbClr val="000000">
                      <a:alpha val="43137"/>
                    </a:srgbClr>
                  </a:outerShdw>
                </a:effectLst>
              </a:rPr>
              <a:t>Example.</a:t>
            </a:r>
            <a:r>
              <a:rPr lang="en-US" sz="2400" dirty="0"/>
              <a:t> of numerically valued variables include age, number of children, total household income (in U.S. dollars), travel distance (in miles), and temperature (in Fahrenheit degrees). </a:t>
            </a:r>
          </a:p>
          <a:p>
            <a:pPr algn="just"/>
            <a:r>
              <a:rPr lang="en-US" sz="2400" dirty="0"/>
              <a:t>Numeric values representing a variable can be integer (taking only whole numbers) or real (taking also the fractional number). </a:t>
            </a:r>
          </a:p>
          <a:p>
            <a:pPr algn="just"/>
            <a:r>
              <a:rPr lang="en-US" sz="2400" b="1" u="sng" dirty="0"/>
              <a:t>The numeric data may also be called continuous data</a:t>
            </a:r>
            <a:r>
              <a:rPr lang="en-US" sz="2400" dirty="0"/>
              <a:t>, implying that the variable contains continuous measures on a specific scale that allows insertion of interim values. </a:t>
            </a:r>
          </a:p>
          <a:p>
            <a:pPr algn="just"/>
            <a:endParaRPr lang="en-US" sz="800" dirty="0"/>
          </a:p>
          <a:p>
            <a:pPr algn="just"/>
            <a:r>
              <a:rPr lang="en-US" sz="2400" b="1" u="sng" dirty="0">
                <a:solidFill>
                  <a:schemeClr val="accent6">
                    <a:lumMod val="75000"/>
                  </a:schemeClr>
                </a:solidFill>
              </a:rPr>
              <a:t>Interval data</a:t>
            </a:r>
            <a:r>
              <a:rPr lang="en-US" sz="2400" b="1" dirty="0">
                <a:solidFill>
                  <a:schemeClr val="accent6">
                    <a:lumMod val="75000"/>
                  </a:schemeClr>
                </a:solidFill>
              </a:rPr>
              <a:t> </a:t>
            </a:r>
            <a:r>
              <a:rPr lang="en-US" sz="2400" dirty="0"/>
              <a:t>are variables that can be measured on interval scales. </a:t>
            </a:r>
          </a:p>
          <a:p>
            <a:pPr algn="just"/>
            <a:r>
              <a:rPr lang="en-US" sz="2400" b="1" dirty="0">
                <a:solidFill>
                  <a:schemeClr val="accent5">
                    <a:lumMod val="75000"/>
                  </a:schemeClr>
                </a:solidFill>
                <a:effectLst>
                  <a:outerShdw blurRad="38100" dist="38100" dir="2700000" algn="tl">
                    <a:srgbClr val="000000">
                      <a:alpha val="43137"/>
                    </a:srgbClr>
                  </a:outerShdw>
                </a:effectLst>
              </a:rPr>
              <a:t>Example.</a:t>
            </a:r>
            <a:r>
              <a:rPr lang="en-US" sz="2400" dirty="0"/>
              <a:t> Interval scale measurement is temperature on the Celsius scale.</a:t>
            </a:r>
          </a:p>
          <a:p>
            <a:pPr algn="just"/>
            <a:endParaRPr lang="en-US" sz="800" dirty="0"/>
          </a:p>
          <a:p>
            <a:pPr algn="just"/>
            <a:r>
              <a:rPr lang="en-US" sz="2400" b="1" u="sng" dirty="0">
                <a:solidFill>
                  <a:schemeClr val="accent6">
                    <a:lumMod val="75000"/>
                  </a:schemeClr>
                </a:solidFill>
              </a:rPr>
              <a:t>Ratio data</a:t>
            </a:r>
            <a:r>
              <a:rPr lang="en-US" sz="2400" dirty="0">
                <a:solidFill>
                  <a:schemeClr val="accent6">
                    <a:lumMod val="75000"/>
                  </a:schemeClr>
                </a:solidFill>
              </a:rPr>
              <a:t> </a:t>
            </a:r>
            <a:r>
              <a:rPr lang="en-US" sz="2400" dirty="0"/>
              <a:t>include measurement variables commonly found in the physical sciences and engineering. Mass, length, time, plane angle, energy, and electric charge are examples of physical measures that are ratio scales.</a:t>
            </a:r>
          </a:p>
        </p:txBody>
      </p:sp>
    </p:spTree>
    <p:extLst>
      <p:ext uri="{BB962C8B-B14F-4D97-AF65-F5344CB8AC3E}">
        <p14:creationId xmlns:p14="http://schemas.microsoft.com/office/powerpoint/2010/main" val="3689377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140500"/>
            <a:ext cx="8129016" cy="584775"/>
          </a:xfrm>
          <a:prstGeom prst="rect">
            <a:avLst/>
          </a:prstGeom>
        </p:spPr>
        <p:txBody>
          <a:bodyPr wrap="square">
            <a:spAutoFit/>
          </a:bodyPr>
          <a:lstStyle/>
          <a:p>
            <a:pPr algn="ctr"/>
            <a:r>
              <a:rPr lang="en-US" sz="3200" b="1" dirty="0">
                <a:solidFill>
                  <a:schemeClr val="accent5">
                    <a:lumMod val="50000"/>
                  </a:schemeClr>
                </a:solidFill>
                <a:effectLst>
                  <a:outerShdw blurRad="38100" dist="38100" dir="2700000" algn="tl">
                    <a:srgbClr val="000000">
                      <a:alpha val="43137"/>
                    </a:srgbClr>
                  </a:outerShdw>
                </a:effectLst>
              </a:rPr>
              <a:t>2.4 The Art and Science of Data Preprocessing</a:t>
            </a:r>
          </a:p>
        </p:txBody>
      </p:sp>
      <p:pic>
        <p:nvPicPr>
          <p:cNvPr id="3" name="Picture 2"/>
          <p:cNvPicPr>
            <a:picLocks noChangeAspect="1"/>
          </p:cNvPicPr>
          <p:nvPr/>
        </p:nvPicPr>
        <p:blipFill>
          <a:blip r:embed="rId2"/>
          <a:stretch>
            <a:fillRect/>
          </a:stretch>
        </p:blipFill>
        <p:spPr>
          <a:xfrm>
            <a:off x="9148149" y="731520"/>
            <a:ext cx="1968723" cy="5943600"/>
          </a:xfrm>
          <a:prstGeom prst="rect">
            <a:avLst/>
          </a:prstGeom>
        </p:spPr>
      </p:pic>
      <p:pic>
        <p:nvPicPr>
          <p:cNvPr id="4" name="Picture 3"/>
          <p:cNvPicPr>
            <a:picLocks noChangeAspect="1"/>
          </p:cNvPicPr>
          <p:nvPr/>
        </p:nvPicPr>
        <p:blipFill>
          <a:blip r:embed="rId3"/>
          <a:stretch>
            <a:fillRect/>
          </a:stretch>
        </p:blipFill>
        <p:spPr>
          <a:xfrm>
            <a:off x="1137285" y="1058748"/>
            <a:ext cx="7680960" cy="5245905"/>
          </a:xfrm>
          <a:prstGeom prst="rect">
            <a:avLst/>
          </a:prstGeom>
        </p:spPr>
      </p:pic>
      <p:sp>
        <p:nvSpPr>
          <p:cNvPr id="5" name="Rectangle 4"/>
          <p:cNvSpPr/>
          <p:nvPr/>
        </p:nvSpPr>
        <p:spPr>
          <a:xfrm>
            <a:off x="1137285" y="2103120"/>
            <a:ext cx="1139571" cy="530352"/>
          </a:xfrm>
          <a:prstGeom prst="rect">
            <a:avLst/>
          </a:prstGeom>
          <a:noFill/>
          <a:ln w="571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0274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2854" y="620006"/>
            <a:ext cx="7951344" cy="584775"/>
          </a:xfrm>
          <a:prstGeom prst="rect">
            <a:avLst/>
          </a:prstGeom>
        </p:spPr>
        <p:txBody>
          <a:bodyPr wrap="none">
            <a:spAutoFit/>
          </a:bodyPr>
          <a:lstStyle/>
          <a:p>
            <a:r>
              <a:rPr lang="en-US" sz="3200" b="1" dirty="0">
                <a:solidFill>
                  <a:schemeClr val="accent5">
                    <a:lumMod val="50000"/>
                  </a:schemeClr>
                </a:solidFill>
                <a:effectLst>
                  <a:outerShdw blurRad="38100" dist="38100" dir="2700000" algn="tl">
                    <a:srgbClr val="000000">
                      <a:alpha val="43137"/>
                    </a:srgbClr>
                  </a:outerShdw>
                </a:effectLst>
              </a:rPr>
              <a:t>2.5 Statistical Modeling for Business Analytics</a:t>
            </a:r>
          </a:p>
        </p:txBody>
      </p:sp>
      <p:pic>
        <p:nvPicPr>
          <p:cNvPr id="3" name="Picture 2"/>
          <p:cNvPicPr>
            <a:picLocks noChangeAspect="1"/>
          </p:cNvPicPr>
          <p:nvPr/>
        </p:nvPicPr>
        <p:blipFill>
          <a:blip r:embed="rId2"/>
          <a:stretch>
            <a:fillRect/>
          </a:stretch>
        </p:blipFill>
        <p:spPr>
          <a:xfrm>
            <a:off x="3069566" y="1408938"/>
            <a:ext cx="6217920" cy="4783008"/>
          </a:xfrm>
          <a:prstGeom prst="rect">
            <a:avLst/>
          </a:prstGeom>
        </p:spPr>
      </p:pic>
    </p:spTree>
    <p:extLst>
      <p:ext uri="{BB962C8B-B14F-4D97-AF65-F5344CB8AC3E}">
        <p14:creationId xmlns:p14="http://schemas.microsoft.com/office/powerpoint/2010/main" val="310407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0051" y="620006"/>
            <a:ext cx="8409033" cy="584775"/>
          </a:xfrm>
          <a:prstGeom prst="rect">
            <a:avLst/>
          </a:prstGeom>
        </p:spPr>
        <p:txBody>
          <a:bodyPr wrap="none">
            <a:spAutoFit/>
          </a:bodyPr>
          <a:lstStyle/>
          <a:p>
            <a:r>
              <a:rPr lang="en-US" sz="3200" b="1" dirty="0">
                <a:solidFill>
                  <a:schemeClr val="accent5">
                    <a:lumMod val="50000"/>
                  </a:schemeClr>
                </a:solidFill>
                <a:effectLst>
                  <a:outerShdw blurRad="38100" dist="38100" dir="2700000" algn="tl">
                    <a:srgbClr val="000000">
                      <a:alpha val="43137"/>
                    </a:srgbClr>
                  </a:outerShdw>
                </a:effectLst>
              </a:rPr>
              <a:t>2.6 Regression Modeling for Inferential Statistics</a:t>
            </a:r>
          </a:p>
        </p:txBody>
      </p:sp>
      <p:sp>
        <p:nvSpPr>
          <p:cNvPr id="3" name="Rectangle 2"/>
          <p:cNvSpPr/>
          <p:nvPr/>
        </p:nvSpPr>
        <p:spPr>
          <a:xfrm>
            <a:off x="1051560" y="1362456"/>
            <a:ext cx="10131552" cy="4828758"/>
          </a:xfrm>
          <a:prstGeom prst="rect">
            <a:avLst/>
          </a:prstGeom>
        </p:spPr>
        <p:txBody>
          <a:bodyPr wrap="square">
            <a:spAutoFit/>
          </a:bodyPr>
          <a:lstStyle/>
          <a:p>
            <a:pPr algn="just">
              <a:lnSpc>
                <a:spcPct val="114000"/>
              </a:lnSpc>
            </a:pPr>
            <a:r>
              <a:rPr lang="en-US" sz="2400" b="1" dirty="0">
                <a:solidFill>
                  <a:srgbClr val="FF0000"/>
                </a:solidFill>
              </a:rPr>
              <a:t>Regression</a:t>
            </a:r>
            <a:r>
              <a:rPr lang="en-US" sz="2400" dirty="0"/>
              <a:t>, especially linear regression, is perhaps the most widely known and used analytics technique in statistics.</a:t>
            </a:r>
          </a:p>
          <a:p>
            <a:pPr algn="just">
              <a:lnSpc>
                <a:spcPct val="114000"/>
              </a:lnSpc>
            </a:pPr>
            <a:endParaRPr lang="en-US" sz="1000" dirty="0"/>
          </a:p>
          <a:p>
            <a:pPr algn="just">
              <a:lnSpc>
                <a:spcPct val="114000"/>
              </a:lnSpc>
            </a:pPr>
            <a:r>
              <a:rPr lang="en-US" sz="2400" dirty="0"/>
              <a:t>As popular as it is, essentially, regression is a relatively simple statistical technique to model the dependence of a variable (response or output variable) on one (or more) explanatory (input) variables.</a:t>
            </a:r>
          </a:p>
          <a:p>
            <a:pPr algn="just">
              <a:lnSpc>
                <a:spcPct val="114000"/>
              </a:lnSpc>
            </a:pPr>
            <a:endParaRPr lang="en-US" sz="800" dirty="0"/>
          </a:p>
          <a:p>
            <a:pPr algn="just">
              <a:lnSpc>
                <a:spcPct val="114000"/>
              </a:lnSpc>
            </a:pPr>
            <a:r>
              <a:rPr lang="en-US" sz="2400" dirty="0"/>
              <a:t>Regression can be used for one of two purposes: </a:t>
            </a:r>
          </a:p>
          <a:p>
            <a:pPr algn="just">
              <a:lnSpc>
                <a:spcPct val="114000"/>
              </a:lnSpc>
            </a:pPr>
            <a:r>
              <a:rPr lang="en-US" sz="2400" b="1" i="1" u="sng" dirty="0"/>
              <a:t>hypothesis testing</a:t>
            </a:r>
            <a:r>
              <a:rPr lang="en-US" sz="2400" dirty="0"/>
              <a:t>—investigating potential relationships between different variables.</a:t>
            </a:r>
          </a:p>
          <a:p>
            <a:pPr algn="just">
              <a:lnSpc>
                <a:spcPct val="114000"/>
              </a:lnSpc>
            </a:pPr>
            <a:endParaRPr lang="en-US" sz="1200" dirty="0"/>
          </a:p>
          <a:p>
            <a:pPr algn="just">
              <a:lnSpc>
                <a:spcPct val="114000"/>
              </a:lnSpc>
            </a:pPr>
            <a:r>
              <a:rPr lang="en-US" sz="2400" b="1" i="1" dirty="0"/>
              <a:t>prediction/forecasting</a:t>
            </a:r>
            <a:r>
              <a:rPr lang="en-US" sz="2400" dirty="0"/>
              <a:t>—estimating values of a response variables based on one or more explanatory variables.</a:t>
            </a:r>
          </a:p>
        </p:txBody>
      </p:sp>
    </p:spTree>
    <p:extLst>
      <p:ext uri="{BB962C8B-B14F-4D97-AF65-F5344CB8AC3E}">
        <p14:creationId xmlns:p14="http://schemas.microsoft.com/office/powerpoint/2010/main" val="2960778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2891" y="766310"/>
            <a:ext cx="8687186" cy="4263347"/>
          </a:xfrm>
          <a:prstGeom prst="rect">
            <a:avLst/>
          </a:prstGeom>
        </p:spPr>
        <p:txBody>
          <a:bodyPr wrap="none">
            <a:spAutoFit/>
          </a:bodyPr>
          <a:lstStyle/>
          <a:p>
            <a:pPr marL="457200" indent="-457200">
              <a:lnSpc>
                <a:spcPct val="300000"/>
              </a:lnSpc>
              <a:buFontTx/>
              <a:buChar char="-"/>
            </a:pPr>
            <a:r>
              <a:rPr lang="en-US" sz="3200" b="1" dirty="0">
                <a:solidFill>
                  <a:schemeClr val="accent5">
                    <a:lumMod val="50000"/>
                  </a:schemeClr>
                </a:solidFill>
                <a:effectLst>
                  <a:outerShdw blurRad="38100" dist="38100" dir="2700000" algn="tl">
                    <a:srgbClr val="000000">
                      <a:alpha val="43137"/>
                    </a:srgbClr>
                  </a:outerShdw>
                </a:effectLst>
              </a:rPr>
              <a:t>Difference between Correlation and regression</a:t>
            </a:r>
          </a:p>
          <a:p>
            <a:pPr marL="457200" indent="-457200">
              <a:lnSpc>
                <a:spcPct val="300000"/>
              </a:lnSpc>
              <a:buFontTx/>
              <a:buChar char="-"/>
            </a:pPr>
            <a:r>
              <a:rPr lang="en-US" sz="3200" b="1" dirty="0">
                <a:solidFill>
                  <a:schemeClr val="accent5">
                    <a:lumMod val="50000"/>
                  </a:schemeClr>
                </a:solidFill>
                <a:effectLst>
                  <a:outerShdw blurRad="38100" dist="38100" dir="2700000" algn="tl">
                    <a:srgbClr val="000000">
                      <a:alpha val="43137"/>
                    </a:srgbClr>
                  </a:outerShdw>
                </a:effectLst>
              </a:rPr>
              <a:t>Applications of both Correlation and regression</a:t>
            </a:r>
          </a:p>
          <a:p>
            <a:pPr marL="457200" indent="-457200">
              <a:lnSpc>
                <a:spcPct val="300000"/>
              </a:lnSpc>
              <a:buFontTx/>
              <a:buChar char="-"/>
            </a:pPr>
            <a:r>
              <a:rPr lang="en-US" sz="3200" b="1" dirty="0">
                <a:solidFill>
                  <a:schemeClr val="accent5">
                    <a:lumMod val="50000"/>
                  </a:schemeClr>
                </a:solidFill>
                <a:effectLst>
                  <a:outerShdw blurRad="38100" dist="38100" dir="2700000" algn="tl">
                    <a:srgbClr val="000000">
                      <a:alpha val="43137"/>
                    </a:srgbClr>
                  </a:outerShdw>
                </a:effectLst>
              </a:rPr>
              <a:t>Examples of both Correlation and regression</a:t>
            </a:r>
          </a:p>
        </p:txBody>
      </p:sp>
    </p:spTree>
    <p:extLst>
      <p:ext uri="{BB962C8B-B14F-4D97-AF65-F5344CB8AC3E}">
        <p14:creationId xmlns:p14="http://schemas.microsoft.com/office/powerpoint/2010/main" val="2794038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9848" y="622221"/>
            <a:ext cx="10094976" cy="5447645"/>
          </a:xfrm>
          <a:prstGeom prst="rect">
            <a:avLst/>
          </a:prstGeom>
        </p:spPr>
        <p:txBody>
          <a:bodyPr wrap="square">
            <a:spAutoFit/>
          </a:bodyPr>
          <a:lstStyle/>
          <a:p>
            <a:pPr algn="ctr"/>
            <a:r>
              <a:rPr lang="en-US" sz="3200" b="1" dirty="0">
                <a:solidFill>
                  <a:schemeClr val="accent5">
                    <a:lumMod val="75000"/>
                  </a:schemeClr>
                </a:solidFill>
              </a:rPr>
              <a:t>Simple versus Multiple Regression</a:t>
            </a:r>
            <a:endParaRPr lang="en-US" sz="1000" b="1" dirty="0">
              <a:solidFill>
                <a:schemeClr val="accent5">
                  <a:lumMod val="75000"/>
                </a:schemeClr>
              </a:solidFill>
            </a:endParaRPr>
          </a:p>
          <a:p>
            <a:pPr algn="ctr"/>
            <a:r>
              <a:rPr lang="en-US" sz="3200" b="1" dirty="0">
                <a:solidFill>
                  <a:schemeClr val="accent5">
                    <a:lumMod val="75000"/>
                  </a:schemeClr>
                </a:solidFill>
              </a:rPr>
              <a:t> </a:t>
            </a:r>
          </a:p>
          <a:p>
            <a:pPr algn="just"/>
            <a:r>
              <a:rPr lang="en-US" sz="2400" dirty="0"/>
              <a:t>If the regression equation is built between </a:t>
            </a:r>
            <a:r>
              <a:rPr lang="en-US" sz="2400" b="1" dirty="0">
                <a:solidFill>
                  <a:schemeClr val="accent5">
                    <a:lumMod val="75000"/>
                  </a:schemeClr>
                </a:solidFill>
              </a:rPr>
              <a:t>one response variable and one explanatory variable</a:t>
            </a:r>
            <a:r>
              <a:rPr lang="en-US" sz="2400" dirty="0"/>
              <a:t>, then it is called </a:t>
            </a:r>
            <a:r>
              <a:rPr lang="en-US" sz="2400" b="1" dirty="0">
                <a:solidFill>
                  <a:srgbClr val="FF0000"/>
                </a:solidFill>
              </a:rPr>
              <a:t>simple regression</a:t>
            </a:r>
            <a:r>
              <a:rPr lang="en-US" sz="2400" dirty="0"/>
              <a:t>. </a:t>
            </a:r>
          </a:p>
          <a:p>
            <a:pPr algn="just"/>
            <a:endParaRPr lang="en-US" sz="800" b="1" dirty="0">
              <a:solidFill>
                <a:schemeClr val="accent6">
                  <a:lumMod val="75000"/>
                </a:schemeClr>
              </a:solidFill>
            </a:endParaRPr>
          </a:p>
          <a:p>
            <a:pPr algn="just"/>
            <a:r>
              <a:rPr lang="en-US" sz="2400" b="1" dirty="0">
                <a:solidFill>
                  <a:schemeClr val="accent6">
                    <a:lumMod val="75000"/>
                  </a:schemeClr>
                </a:solidFill>
              </a:rPr>
              <a:t>Example. </a:t>
            </a:r>
            <a:r>
              <a:rPr lang="en-US" sz="2400" dirty="0"/>
              <a:t>the regression equation built to predict/explain the relationship between a height of a person (explanatory variable) and the weight of a person (response variable) is a good example of simple regression. </a:t>
            </a:r>
          </a:p>
          <a:p>
            <a:pPr algn="just"/>
            <a:endParaRPr lang="en-US" sz="1200" dirty="0"/>
          </a:p>
          <a:p>
            <a:pPr algn="just"/>
            <a:endParaRPr lang="en-US" sz="1200" dirty="0"/>
          </a:p>
          <a:p>
            <a:pPr algn="just"/>
            <a:r>
              <a:rPr lang="en-US" sz="2400" b="1" dirty="0">
                <a:solidFill>
                  <a:schemeClr val="accent5">
                    <a:lumMod val="75000"/>
                  </a:schemeClr>
                </a:solidFill>
              </a:rPr>
              <a:t>Multiple regression </a:t>
            </a:r>
            <a:r>
              <a:rPr lang="en-US" sz="2400" dirty="0"/>
              <a:t>is the extension of simple regression where the explanatory variables are more than one. </a:t>
            </a:r>
          </a:p>
          <a:p>
            <a:pPr algn="just"/>
            <a:r>
              <a:rPr lang="en-US" sz="1200" dirty="0"/>
              <a:t>.</a:t>
            </a:r>
          </a:p>
          <a:p>
            <a:pPr algn="just"/>
            <a:r>
              <a:rPr lang="en-US" sz="2400" b="1" dirty="0">
                <a:solidFill>
                  <a:schemeClr val="accent6">
                    <a:lumMod val="75000"/>
                  </a:schemeClr>
                </a:solidFill>
              </a:rPr>
              <a:t>Example.</a:t>
            </a:r>
            <a:r>
              <a:rPr lang="en-US" sz="2400" dirty="0"/>
              <a:t> in the previous example, if we were to include not only the height of the person but also other personal characteristics (e.g., BMI, gender, ethnicity) to predict the weight of a person, then it is called multiple regression analysis.</a:t>
            </a:r>
          </a:p>
        </p:txBody>
      </p:sp>
    </p:spTree>
    <p:extLst>
      <p:ext uri="{BB962C8B-B14F-4D97-AF65-F5344CB8AC3E}">
        <p14:creationId xmlns:p14="http://schemas.microsoft.com/office/powerpoint/2010/main" val="549096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91993" y="481393"/>
            <a:ext cx="6126480" cy="4412616"/>
          </a:xfrm>
          <a:prstGeom prst="rect">
            <a:avLst/>
          </a:prstGeom>
        </p:spPr>
      </p:pic>
      <p:sp>
        <p:nvSpPr>
          <p:cNvPr id="4" name="Rectangle 3"/>
          <p:cNvSpPr/>
          <p:nvPr/>
        </p:nvSpPr>
        <p:spPr>
          <a:xfrm>
            <a:off x="1399032" y="5031169"/>
            <a:ext cx="9546336" cy="1200329"/>
          </a:xfrm>
          <a:prstGeom prst="rect">
            <a:avLst/>
          </a:prstGeom>
        </p:spPr>
        <p:txBody>
          <a:bodyPr wrap="square">
            <a:spAutoFit/>
          </a:bodyPr>
          <a:lstStyle/>
          <a:p>
            <a:pPr algn="just"/>
            <a:r>
              <a:rPr lang="en-US" sz="2400" dirty="0"/>
              <a:t>Even though there are several methods/algorithms proposed to identify the regression line, the one that is most commonly used is called the </a:t>
            </a:r>
            <a:r>
              <a:rPr lang="en-US" sz="2400" b="1" dirty="0">
                <a:solidFill>
                  <a:srgbClr val="FF0000"/>
                </a:solidFill>
                <a:effectLst>
                  <a:outerShdw blurRad="38100" dist="38100" dir="2700000" algn="tl">
                    <a:srgbClr val="000000">
                      <a:alpha val="43137"/>
                    </a:srgbClr>
                  </a:outerShdw>
                </a:effectLst>
              </a:rPr>
              <a:t>ordinary least squares (OLS) method</a:t>
            </a:r>
            <a:r>
              <a:rPr lang="en-US" sz="2400" dirty="0"/>
              <a:t>.</a:t>
            </a:r>
          </a:p>
        </p:txBody>
      </p:sp>
    </p:spTree>
    <p:extLst>
      <p:ext uri="{BB962C8B-B14F-4D97-AF65-F5344CB8AC3E}">
        <p14:creationId xmlns:p14="http://schemas.microsoft.com/office/powerpoint/2010/main" val="3087840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63040" y="1610005"/>
            <a:ext cx="9290304" cy="2862322"/>
          </a:xfrm>
          <a:prstGeom prst="rect">
            <a:avLst/>
          </a:prstGeom>
        </p:spPr>
        <p:txBody>
          <a:bodyPr wrap="square">
            <a:spAutoFit/>
          </a:bodyPr>
          <a:lstStyle/>
          <a:p>
            <a:pPr algn="just"/>
            <a:r>
              <a:rPr lang="en-US" sz="2400" b="1" dirty="0">
                <a:solidFill>
                  <a:srgbClr val="FF0000"/>
                </a:solidFill>
                <a:effectLst>
                  <a:outerShdw blurRad="38100" dist="38100" dir="2700000" algn="tl">
                    <a:srgbClr val="000000">
                      <a:alpha val="43137"/>
                    </a:srgbClr>
                  </a:outerShdw>
                </a:effectLst>
              </a:rPr>
              <a:t>Important example to understand the Model</a:t>
            </a:r>
            <a:r>
              <a:rPr lang="en-US" sz="2400" dirty="0"/>
              <a:t>.</a:t>
            </a:r>
          </a:p>
          <a:p>
            <a:pPr algn="just"/>
            <a:endParaRPr lang="en-US" sz="1200" dirty="0"/>
          </a:p>
          <a:p>
            <a:pPr algn="just"/>
            <a:r>
              <a:rPr lang="en-US" sz="2400" dirty="0"/>
              <a:t>For example, </a:t>
            </a:r>
            <a:r>
              <a:rPr lang="en-US" sz="2400" b="1" dirty="0"/>
              <a:t>it can be used to predict the relationship between reckless driving and the total number of road accidents caused by a driver</a:t>
            </a:r>
            <a:r>
              <a:rPr lang="en-US" sz="2400" dirty="0"/>
              <a:t>, or, to use a business example, the effect on sales and spending a certain amount of money on advertising.</a:t>
            </a:r>
          </a:p>
          <a:p>
            <a:pPr algn="just"/>
            <a:endParaRPr lang="en-US" sz="2400" dirty="0"/>
          </a:p>
          <a:p>
            <a:pPr algn="just"/>
            <a:r>
              <a:rPr lang="en-US" sz="2400" b="1" dirty="0">
                <a:solidFill>
                  <a:schemeClr val="accent6">
                    <a:lumMod val="75000"/>
                  </a:schemeClr>
                </a:solidFill>
              </a:rPr>
              <a:t>Regression is one of the most common models of machine learning.</a:t>
            </a:r>
          </a:p>
        </p:txBody>
      </p:sp>
    </p:spTree>
    <p:extLst>
      <p:ext uri="{BB962C8B-B14F-4D97-AF65-F5344CB8AC3E}">
        <p14:creationId xmlns:p14="http://schemas.microsoft.com/office/powerpoint/2010/main" val="3096965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1872" y="326470"/>
            <a:ext cx="9784080" cy="6309420"/>
          </a:xfrm>
          <a:prstGeom prst="rect">
            <a:avLst/>
          </a:prstGeom>
        </p:spPr>
        <p:txBody>
          <a:bodyPr wrap="square">
            <a:spAutoFit/>
          </a:bodyPr>
          <a:lstStyle/>
          <a:p>
            <a:pPr algn="ctr"/>
            <a:r>
              <a:rPr lang="en-US" sz="3200" b="1" dirty="0">
                <a:solidFill>
                  <a:srgbClr val="FF0000"/>
                </a:solidFill>
                <a:effectLst>
                  <a:outerShdw blurRad="38100" dist="38100" dir="2700000" algn="tl">
                    <a:srgbClr val="000000">
                      <a:alpha val="43137"/>
                    </a:srgbClr>
                  </a:outerShdw>
                </a:effectLst>
              </a:rPr>
              <a:t>How Do We Know If the Model Is good enough?</a:t>
            </a:r>
          </a:p>
          <a:p>
            <a:endParaRPr lang="en-US" sz="1200" dirty="0"/>
          </a:p>
          <a:p>
            <a:pPr algn="just"/>
            <a:r>
              <a:rPr lang="en-US" sz="2400" dirty="0"/>
              <a:t>Sometimes models as representations of the reality do not prove to be good. Regardless of the number of explanatory variables included, there is always a possibility of not having a good model.</a:t>
            </a:r>
          </a:p>
          <a:p>
            <a:pPr algn="just"/>
            <a:endParaRPr lang="en-US" sz="1200" dirty="0"/>
          </a:p>
          <a:p>
            <a:pPr algn="just"/>
            <a:r>
              <a:rPr lang="en-US" sz="2400" b="1" u="sng" dirty="0">
                <a:solidFill>
                  <a:srgbClr val="7030A0"/>
                </a:solidFill>
                <a:effectLst>
                  <a:outerShdw blurRad="38100" dist="38100" dir="2700000" algn="tl">
                    <a:srgbClr val="000000">
                      <a:alpha val="43137"/>
                    </a:srgbClr>
                  </a:outerShdw>
                </a:effectLst>
              </a:rPr>
              <a:t>In the simplest sense, a well-fitting regression model results in predicted values close to the observed data values.</a:t>
            </a:r>
            <a:r>
              <a:rPr lang="en-US" sz="2400" dirty="0"/>
              <a:t> </a:t>
            </a:r>
          </a:p>
          <a:p>
            <a:pPr algn="just"/>
            <a:endParaRPr lang="en-US" sz="1200" dirty="0"/>
          </a:p>
          <a:p>
            <a:pPr algn="just"/>
            <a:r>
              <a:rPr lang="en-US" sz="2400" dirty="0"/>
              <a:t>For the numerical assessment, three statistical measures are often used in evaluating the fit of a regression model. </a:t>
            </a:r>
          </a:p>
          <a:p>
            <a:pPr marL="342900" indent="-342900" algn="just">
              <a:buFontTx/>
              <a:buChar char="-"/>
            </a:pPr>
            <a:r>
              <a:rPr lang="en-US" sz="2400" dirty="0"/>
              <a:t>R</a:t>
            </a:r>
            <a:r>
              <a:rPr lang="en-US" sz="2400" baseline="30000" dirty="0"/>
              <a:t>2</a:t>
            </a:r>
            <a:r>
              <a:rPr lang="en-US" sz="2400" dirty="0"/>
              <a:t> (R-squared)</a:t>
            </a:r>
          </a:p>
          <a:p>
            <a:pPr marL="342900" indent="-342900" algn="just">
              <a:buFontTx/>
              <a:buChar char="-"/>
            </a:pPr>
            <a:r>
              <a:rPr lang="en-US" sz="2400" dirty="0"/>
              <a:t>the overall F-test</a:t>
            </a:r>
          </a:p>
          <a:p>
            <a:pPr marL="342900" indent="-342900" algn="just">
              <a:buFontTx/>
              <a:buChar char="-"/>
            </a:pPr>
            <a:r>
              <a:rPr lang="en-US" sz="2400" dirty="0"/>
              <a:t>the root mean square error (RMSE)</a:t>
            </a:r>
          </a:p>
          <a:p>
            <a:pPr algn="just"/>
            <a:endParaRPr lang="en-US" sz="1200" dirty="0"/>
          </a:p>
          <a:p>
            <a:pPr algn="just"/>
            <a:r>
              <a:rPr lang="en-US" sz="2400" dirty="0"/>
              <a:t>All three of these measures are based on the sums of the square errors (how </a:t>
            </a:r>
            <a:r>
              <a:rPr lang="en-US" sz="2400" i="1" u="sng" dirty="0"/>
              <a:t>far the data are from the mean and how far the data are from the model’s predicted values</a:t>
            </a:r>
            <a:r>
              <a:rPr lang="en-US" sz="2400" dirty="0"/>
              <a:t>).</a:t>
            </a:r>
          </a:p>
        </p:txBody>
      </p:sp>
    </p:spTree>
    <p:extLst>
      <p:ext uri="{BB962C8B-B14F-4D97-AF65-F5344CB8AC3E}">
        <p14:creationId xmlns:p14="http://schemas.microsoft.com/office/powerpoint/2010/main" val="3591010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2728" y="512493"/>
            <a:ext cx="9692640" cy="5816977"/>
          </a:xfrm>
          <a:prstGeom prst="rect">
            <a:avLst/>
          </a:prstGeom>
        </p:spPr>
        <p:txBody>
          <a:bodyPr wrap="square">
            <a:spAutoFit/>
          </a:bodyPr>
          <a:lstStyle/>
          <a:p>
            <a:pPr algn="just"/>
            <a:r>
              <a:rPr lang="en-US" sz="2400" dirty="0"/>
              <a:t>Of the three: </a:t>
            </a:r>
          </a:p>
          <a:p>
            <a:pPr algn="just"/>
            <a:endParaRPr lang="en-US" sz="1200" b="1" dirty="0">
              <a:solidFill>
                <a:srgbClr val="FF0000"/>
              </a:solidFill>
            </a:endParaRPr>
          </a:p>
          <a:p>
            <a:pPr algn="just"/>
            <a:r>
              <a:rPr lang="en-US" sz="2400" b="1" dirty="0">
                <a:solidFill>
                  <a:srgbClr val="FF0000"/>
                </a:solidFill>
              </a:rPr>
              <a:t>R</a:t>
            </a:r>
            <a:r>
              <a:rPr lang="en-US" sz="2400" b="1" baseline="30000" dirty="0">
                <a:solidFill>
                  <a:srgbClr val="FF0000"/>
                </a:solidFill>
              </a:rPr>
              <a:t>2</a:t>
            </a:r>
            <a:r>
              <a:rPr lang="en-US" sz="2400" b="1" dirty="0">
                <a:solidFill>
                  <a:srgbClr val="FF0000"/>
                </a:solidFill>
              </a:rPr>
              <a:t> has the most</a:t>
            </a:r>
            <a:r>
              <a:rPr lang="en-US" sz="2400" dirty="0"/>
              <a:t> useful and understandable meaning because of its intuitive scale. </a:t>
            </a:r>
          </a:p>
          <a:p>
            <a:pPr algn="just"/>
            <a:endParaRPr lang="en-US" sz="1200" dirty="0"/>
          </a:p>
          <a:p>
            <a:pPr algn="just"/>
            <a:r>
              <a:rPr lang="en-US" sz="2400" dirty="0"/>
              <a:t>The value of </a:t>
            </a:r>
            <a:r>
              <a:rPr lang="en-US" sz="2400" b="1" dirty="0">
                <a:solidFill>
                  <a:srgbClr val="FF0000"/>
                </a:solidFill>
              </a:rPr>
              <a:t>R</a:t>
            </a:r>
            <a:r>
              <a:rPr lang="en-US" sz="2400" b="1" baseline="30000" dirty="0">
                <a:solidFill>
                  <a:srgbClr val="FF0000"/>
                </a:solidFill>
              </a:rPr>
              <a:t>2</a:t>
            </a:r>
            <a:r>
              <a:rPr lang="en-US" sz="2400" dirty="0"/>
              <a:t> ranges from </a:t>
            </a:r>
            <a:r>
              <a:rPr lang="en-US" sz="2400" b="1" dirty="0">
                <a:solidFill>
                  <a:schemeClr val="accent6">
                    <a:lumMod val="75000"/>
                  </a:schemeClr>
                </a:solidFill>
              </a:rPr>
              <a:t>zero to one (corresponding to the amount of variability explained in percentage) with zero indicating that the relationship and the prediction power of the proposed model is not good, and one indicating that the proposed model is a perfect fit that produces exact predictions (which is almost never the case). </a:t>
            </a:r>
          </a:p>
          <a:p>
            <a:pPr algn="just"/>
            <a:endParaRPr lang="en-US" sz="1200" b="1" dirty="0">
              <a:solidFill>
                <a:schemeClr val="accent6">
                  <a:lumMod val="75000"/>
                </a:schemeClr>
              </a:solidFill>
            </a:endParaRPr>
          </a:p>
          <a:p>
            <a:pPr algn="just"/>
            <a:r>
              <a:rPr lang="en-US" sz="2400" dirty="0"/>
              <a:t>The good </a:t>
            </a:r>
            <a:r>
              <a:rPr lang="en-US" sz="2400" b="1" dirty="0">
                <a:solidFill>
                  <a:srgbClr val="FF0000"/>
                </a:solidFill>
              </a:rPr>
              <a:t>R</a:t>
            </a:r>
            <a:r>
              <a:rPr lang="en-US" sz="2400" b="1" baseline="30000" dirty="0">
                <a:solidFill>
                  <a:srgbClr val="FF0000"/>
                </a:solidFill>
              </a:rPr>
              <a:t>2</a:t>
            </a:r>
            <a:r>
              <a:rPr lang="en-US" sz="2400" dirty="0"/>
              <a:t> values would usually come close to one, and the closeness is a matter of the phenomenon being modeled.</a:t>
            </a:r>
          </a:p>
          <a:p>
            <a:pPr algn="just"/>
            <a:endParaRPr lang="en-US" sz="1200" dirty="0"/>
          </a:p>
          <a:p>
            <a:pPr algn="just"/>
            <a:r>
              <a:rPr lang="en-US" sz="2400" b="1" dirty="0">
                <a:solidFill>
                  <a:srgbClr val="0070C0"/>
                </a:solidFill>
                <a:effectLst>
                  <a:outerShdw blurRad="38100" dist="38100" dir="2700000" algn="tl">
                    <a:srgbClr val="000000">
                      <a:alpha val="43137"/>
                    </a:srgbClr>
                  </a:outerShdw>
                </a:effectLst>
              </a:rPr>
              <a:t>For example.</a:t>
            </a:r>
            <a:r>
              <a:rPr lang="en-US" sz="2400" dirty="0"/>
              <a:t> whereas an </a:t>
            </a:r>
            <a:r>
              <a:rPr lang="en-US" sz="2400" b="1" dirty="0">
                <a:solidFill>
                  <a:srgbClr val="FF0000"/>
                </a:solidFill>
              </a:rPr>
              <a:t>R</a:t>
            </a:r>
            <a:r>
              <a:rPr lang="en-US" sz="2400" b="1" baseline="30000" dirty="0">
                <a:solidFill>
                  <a:srgbClr val="FF0000"/>
                </a:solidFill>
              </a:rPr>
              <a:t>2</a:t>
            </a:r>
            <a:r>
              <a:rPr lang="en-US" sz="2400" dirty="0"/>
              <a:t> value of </a:t>
            </a:r>
            <a:r>
              <a:rPr lang="en-US" sz="2400" b="1" u="sng" dirty="0"/>
              <a:t>0.3 for a linear regression model in social sciences can be considered good enough</a:t>
            </a:r>
            <a:r>
              <a:rPr lang="en-US" sz="2400" dirty="0"/>
              <a:t>, an </a:t>
            </a:r>
            <a:r>
              <a:rPr lang="en-US" sz="2400" b="1" dirty="0">
                <a:solidFill>
                  <a:srgbClr val="FF0000"/>
                </a:solidFill>
              </a:rPr>
              <a:t>R</a:t>
            </a:r>
            <a:r>
              <a:rPr lang="en-US" sz="2400" b="1" baseline="30000" dirty="0">
                <a:solidFill>
                  <a:srgbClr val="FF0000"/>
                </a:solidFill>
              </a:rPr>
              <a:t>2</a:t>
            </a:r>
            <a:r>
              <a:rPr lang="en-US" sz="2400" dirty="0"/>
              <a:t> </a:t>
            </a:r>
            <a:r>
              <a:rPr lang="en-US" sz="2400" b="1" i="1" u="sng" dirty="0"/>
              <a:t>value of 0.7 in engineering may be considered as not a good-enough fit</a:t>
            </a:r>
            <a:r>
              <a:rPr lang="en-US" sz="2400" dirty="0"/>
              <a:t>.</a:t>
            </a:r>
          </a:p>
        </p:txBody>
      </p:sp>
    </p:spTree>
    <p:extLst>
      <p:ext uri="{BB962C8B-B14F-4D97-AF65-F5344CB8AC3E}">
        <p14:creationId xmlns:p14="http://schemas.microsoft.com/office/powerpoint/2010/main" val="3629950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86584" y="1249603"/>
            <a:ext cx="7854696" cy="4401205"/>
          </a:xfrm>
          <a:prstGeom prst="rect">
            <a:avLst/>
          </a:prstGeom>
        </p:spPr>
        <p:txBody>
          <a:bodyPr wrap="square">
            <a:spAutoFit/>
          </a:bodyPr>
          <a:lstStyle/>
          <a:p>
            <a:pPr algn="ctr"/>
            <a:r>
              <a:rPr lang="en-US" sz="3200" b="1" dirty="0">
                <a:solidFill>
                  <a:schemeClr val="accent6">
                    <a:lumMod val="75000"/>
                  </a:schemeClr>
                </a:solidFill>
                <a:effectLst>
                  <a:outerShdw blurRad="38100" dist="38100" dir="2700000" algn="tl">
                    <a:srgbClr val="000000">
                      <a:alpha val="43137"/>
                    </a:srgbClr>
                  </a:outerShdw>
                </a:effectLst>
              </a:rPr>
              <a:t>What Are the Most Important Assumptions in Linear Regression?</a:t>
            </a:r>
          </a:p>
          <a:p>
            <a:pPr algn="ctr"/>
            <a:r>
              <a:rPr lang="en-US" sz="3200" b="1" dirty="0">
                <a:solidFill>
                  <a:schemeClr val="accent6">
                    <a:lumMod val="75000"/>
                  </a:schemeClr>
                </a:solidFill>
                <a:effectLst>
                  <a:outerShdw blurRad="38100" dist="38100" dir="2700000" algn="tl">
                    <a:srgbClr val="000000">
                      <a:alpha val="43137"/>
                    </a:srgbClr>
                  </a:outerShdw>
                </a:effectLst>
              </a:rPr>
              <a:t>(self study)</a:t>
            </a:r>
          </a:p>
          <a:p>
            <a:pPr marL="457200" indent="-457200">
              <a:buFontTx/>
              <a:buChar char="-"/>
            </a:pPr>
            <a:r>
              <a:rPr lang="en-US" sz="2400" dirty="0"/>
              <a:t>Linearity</a:t>
            </a:r>
          </a:p>
          <a:p>
            <a:pPr marL="457200" indent="-457200">
              <a:buFontTx/>
              <a:buChar char="-"/>
            </a:pPr>
            <a:r>
              <a:rPr lang="en-US" sz="2400" dirty="0"/>
              <a:t>Independence</a:t>
            </a:r>
          </a:p>
          <a:p>
            <a:pPr marL="457200" indent="-457200">
              <a:buFontTx/>
              <a:buChar char="-"/>
            </a:pPr>
            <a:r>
              <a:rPr lang="en-US" sz="2400" dirty="0"/>
              <a:t>Normality</a:t>
            </a:r>
          </a:p>
          <a:p>
            <a:pPr marL="457200" indent="-457200">
              <a:buFontTx/>
              <a:buChar char="-"/>
            </a:pPr>
            <a:r>
              <a:rPr lang="en-US" sz="2400" dirty="0"/>
              <a:t>Constant variance</a:t>
            </a:r>
          </a:p>
          <a:p>
            <a:pPr marL="457200" indent="-457200">
              <a:buFontTx/>
              <a:buChar char="-"/>
            </a:pPr>
            <a:r>
              <a:rPr lang="en-US" sz="2400" dirty="0"/>
              <a:t>Multicollinearity</a:t>
            </a:r>
          </a:p>
          <a:p>
            <a:pPr marL="457200" indent="-457200">
              <a:buFontTx/>
              <a:buChar char="-"/>
            </a:pPr>
            <a:endParaRPr lang="en-US" sz="3200" b="1" dirty="0">
              <a:solidFill>
                <a:schemeClr val="accent6">
                  <a:lumMod val="75000"/>
                </a:schemeClr>
              </a:solidFill>
              <a:effectLst>
                <a:outerShdw blurRad="38100" dist="38100" dir="2700000" algn="tl">
                  <a:srgbClr val="000000">
                    <a:alpha val="43137"/>
                  </a:srgbClr>
                </a:outerShdw>
              </a:effectLst>
            </a:endParaRPr>
          </a:p>
          <a:p>
            <a:pPr marL="457200" indent="-457200">
              <a:buFontTx/>
              <a:buChar char="-"/>
            </a:pPr>
            <a:endParaRPr lang="en-US" sz="3200" b="1" dirty="0">
              <a:solidFill>
                <a:schemeClr val="accent6">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215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71623" y="107942"/>
            <a:ext cx="3383427"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Logistic Regression</a:t>
            </a:r>
          </a:p>
        </p:txBody>
      </p:sp>
      <p:sp>
        <p:nvSpPr>
          <p:cNvPr id="3" name="Rectangle 2"/>
          <p:cNvSpPr/>
          <p:nvPr/>
        </p:nvSpPr>
        <p:spPr>
          <a:xfrm>
            <a:off x="758952" y="732181"/>
            <a:ext cx="10661904" cy="5940088"/>
          </a:xfrm>
          <a:prstGeom prst="rect">
            <a:avLst/>
          </a:prstGeom>
        </p:spPr>
        <p:txBody>
          <a:bodyPr wrap="square">
            <a:spAutoFit/>
          </a:bodyPr>
          <a:lstStyle/>
          <a:p>
            <a:pPr algn="just"/>
            <a:r>
              <a:rPr lang="en-US" sz="2400" b="1" dirty="0">
                <a:solidFill>
                  <a:schemeClr val="accent6">
                    <a:lumMod val="75000"/>
                  </a:schemeClr>
                </a:solidFill>
              </a:rPr>
              <a:t>Logistic regression (LR) </a:t>
            </a:r>
            <a:r>
              <a:rPr lang="en-US" sz="2400" dirty="0"/>
              <a:t>is a very popular, statistically sound, probability-based classification algorithm that employs supervised learning. It has been used extensively in </a:t>
            </a:r>
            <a:r>
              <a:rPr lang="en-US" sz="2400" b="1" dirty="0">
                <a:solidFill>
                  <a:srgbClr val="FF0000"/>
                </a:solidFill>
              </a:rPr>
              <a:t>numerous disciplines</a:t>
            </a:r>
            <a:r>
              <a:rPr lang="en-US" sz="2400" dirty="0"/>
              <a:t>, including the </a:t>
            </a:r>
            <a:r>
              <a:rPr lang="en-US" sz="2400" b="1" dirty="0">
                <a:solidFill>
                  <a:schemeClr val="accent6">
                    <a:lumMod val="75000"/>
                  </a:schemeClr>
                </a:solidFill>
                <a:effectLst>
                  <a:outerShdw blurRad="38100" dist="38100" dir="2700000" algn="tl">
                    <a:srgbClr val="000000">
                      <a:alpha val="43137"/>
                    </a:srgbClr>
                  </a:outerShdw>
                </a:effectLst>
              </a:rPr>
              <a:t>medical and social sciences fields</a:t>
            </a:r>
            <a:r>
              <a:rPr lang="en-US" sz="2400" dirty="0"/>
              <a:t>.</a:t>
            </a:r>
          </a:p>
          <a:p>
            <a:pPr algn="just"/>
            <a:endParaRPr lang="en-US" sz="1000" dirty="0"/>
          </a:p>
          <a:p>
            <a:pPr algn="just"/>
            <a:r>
              <a:rPr lang="en-US" sz="2400" b="1" dirty="0">
                <a:solidFill>
                  <a:schemeClr val="accent6">
                    <a:lumMod val="75000"/>
                  </a:schemeClr>
                </a:solidFill>
              </a:rPr>
              <a:t>LR</a:t>
            </a:r>
            <a:r>
              <a:rPr lang="en-US" sz="2400" dirty="0"/>
              <a:t> differs from </a:t>
            </a:r>
            <a:r>
              <a:rPr lang="en-US" sz="2400" b="1" i="1" u="sng" dirty="0">
                <a:solidFill>
                  <a:srgbClr val="7030A0"/>
                </a:solidFill>
              </a:rPr>
              <a:t>linear regression</a:t>
            </a:r>
            <a:r>
              <a:rPr lang="en-US" sz="2400" dirty="0"/>
              <a:t> with one major point: its output (response variable) is a class as opposed to a numerical variable. </a:t>
            </a:r>
            <a:r>
              <a:rPr lang="en-US" sz="2400" b="1" dirty="0">
                <a:solidFill>
                  <a:schemeClr val="accent6">
                    <a:lumMod val="75000"/>
                  </a:schemeClr>
                </a:solidFill>
              </a:rPr>
              <a:t>LR</a:t>
            </a:r>
            <a:r>
              <a:rPr lang="en-US" sz="2400" dirty="0"/>
              <a:t> is used to classify a </a:t>
            </a:r>
            <a:r>
              <a:rPr lang="en-US" sz="2400" i="1" u="sng" dirty="0"/>
              <a:t>categorical variable</a:t>
            </a:r>
            <a:r>
              <a:rPr lang="en-US" sz="2400" dirty="0"/>
              <a:t>. </a:t>
            </a:r>
          </a:p>
          <a:p>
            <a:pPr algn="just"/>
            <a:endParaRPr lang="en-US" sz="1000" dirty="0"/>
          </a:p>
          <a:p>
            <a:pPr algn="just"/>
            <a:r>
              <a:rPr lang="en-US" sz="2400" dirty="0"/>
              <a:t>Even though the original form of </a:t>
            </a:r>
            <a:r>
              <a:rPr lang="en-US" sz="2400" b="1" dirty="0">
                <a:solidFill>
                  <a:schemeClr val="accent6">
                    <a:lumMod val="75000"/>
                  </a:schemeClr>
                </a:solidFill>
              </a:rPr>
              <a:t>LR </a:t>
            </a:r>
            <a:r>
              <a:rPr lang="en-US" sz="2400" dirty="0"/>
              <a:t>was developed for a </a:t>
            </a:r>
            <a:r>
              <a:rPr lang="en-US" sz="2400" b="1" u="sng" dirty="0">
                <a:solidFill>
                  <a:schemeClr val="accent2">
                    <a:lumMod val="75000"/>
                  </a:schemeClr>
                </a:solidFill>
              </a:rPr>
              <a:t>binary output variable </a:t>
            </a:r>
            <a:r>
              <a:rPr lang="en-US" sz="2400" dirty="0"/>
              <a:t>(e.g., </a:t>
            </a:r>
            <a:r>
              <a:rPr lang="en-US" sz="2400" u="sng" dirty="0">
                <a:solidFill>
                  <a:schemeClr val="accent2">
                    <a:lumMod val="75000"/>
                  </a:schemeClr>
                </a:solidFill>
              </a:rPr>
              <a:t>1/0, yes/no, pass/fail, accept/reject</a:t>
            </a:r>
            <a:r>
              <a:rPr lang="en-US" sz="2400" dirty="0"/>
              <a:t>), the present-day modified version is capable of predicting multiclass output variables (i.e., multinomial </a:t>
            </a:r>
            <a:r>
              <a:rPr lang="en-US" sz="2400" b="1" dirty="0">
                <a:solidFill>
                  <a:schemeClr val="accent6">
                    <a:lumMod val="75000"/>
                  </a:schemeClr>
                </a:solidFill>
              </a:rPr>
              <a:t>LR</a:t>
            </a:r>
            <a:r>
              <a:rPr lang="en-US" sz="2400" dirty="0"/>
              <a:t>).</a:t>
            </a:r>
          </a:p>
          <a:p>
            <a:pPr algn="just"/>
            <a:endParaRPr lang="en-US" sz="1200" dirty="0"/>
          </a:p>
          <a:p>
            <a:pPr algn="just"/>
            <a:r>
              <a:rPr lang="en-US" sz="2400" b="1" dirty="0">
                <a:solidFill>
                  <a:schemeClr val="bg1">
                    <a:lumMod val="50000"/>
                  </a:schemeClr>
                </a:solidFill>
                <a:effectLst>
                  <a:outerShdw blurRad="38100" dist="38100" dir="2700000" algn="tl">
                    <a:srgbClr val="000000">
                      <a:alpha val="43137"/>
                    </a:srgbClr>
                  </a:outerShdw>
                </a:effectLst>
              </a:rPr>
              <a:t>In predictive analytics</a:t>
            </a:r>
            <a:r>
              <a:rPr lang="en-US" sz="2400" dirty="0"/>
              <a:t>, </a:t>
            </a:r>
            <a:r>
              <a:rPr lang="en-US" sz="2400" b="1" dirty="0">
                <a:solidFill>
                  <a:schemeClr val="accent6">
                    <a:lumMod val="75000"/>
                  </a:schemeClr>
                </a:solidFill>
              </a:rPr>
              <a:t>LR</a:t>
            </a:r>
            <a:r>
              <a:rPr lang="en-US" sz="2400" dirty="0"/>
              <a:t> models are used to develop probabilistic models between one or more explanatory/predictor variables (which may be a mix of both continuous and categorical in nature) and a class/response variable (which may be binomial/binary or multinomial/multiclass)</a:t>
            </a:r>
          </a:p>
        </p:txBody>
      </p:sp>
    </p:spTree>
    <p:extLst>
      <p:ext uri="{BB962C8B-B14F-4D97-AF65-F5344CB8AC3E}">
        <p14:creationId xmlns:p14="http://schemas.microsoft.com/office/powerpoint/2010/main" val="2807972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3468" y="537710"/>
            <a:ext cx="4040273"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2.7 Business Reporting</a:t>
            </a:r>
          </a:p>
        </p:txBody>
      </p:sp>
      <p:sp>
        <p:nvSpPr>
          <p:cNvPr id="3" name="Rectangle 2"/>
          <p:cNvSpPr/>
          <p:nvPr/>
        </p:nvSpPr>
        <p:spPr>
          <a:xfrm>
            <a:off x="941832" y="1216813"/>
            <a:ext cx="10469880" cy="4832092"/>
          </a:xfrm>
          <a:prstGeom prst="rect">
            <a:avLst/>
          </a:prstGeom>
        </p:spPr>
        <p:txBody>
          <a:bodyPr wrap="square">
            <a:spAutoFit/>
          </a:bodyPr>
          <a:lstStyle/>
          <a:p>
            <a:pPr algn="just"/>
            <a:r>
              <a:rPr lang="en-US" sz="2400" b="1" dirty="0">
                <a:solidFill>
                  <a:schemeClr val="accent6">
                    <a:lumMod val="75000"/>
                  </a:schemeClr>
                </a:solidFill>
                <a:effectLst>
                  <a:outerShdw blurRad="38100" dist="38100" dir="2700000" algn="tl">
                    <a:srgbClr val="000000">
                      <a:alpha val="43137"/>
                    </a:srgbClr>
                  </a:outerShdw>
                </a:effectLst>
              </a:rPr>
              <a:t>Decision makers </a:t>
            </a:r>
            <a:r>
              <a:rPr lang="en-US" sz="2400" dirty="0"/>
              <a:t>are in need of information to make accurate and timely decisions. </a:t>
            </a:r>
          </a:p>
          <a:p>
            <a:pPr algn="just"/>
            <a:endParaRPr lang="en-US" sz="1000" dirty="0"/>
          </a:p>
          <a:p>
            <a:pPr algn="just"/>
            <a:r>
              <a:rPr lang="en-US" sz="2400" dirty="0"/>
              <a:t>Information is essentially the contextualization of data. In addition to statistical means, information (descriptive analytics) can also be obtained using online analytics processing [OLTP] systems.</a:t>
            </a:r>
          </a:p>
          <a:p>
            <a:pPr algn="just"/>
            <a:endParaRPr lang="en-US" sz="1000" dirty="0"/>
          </a:p>
          <a:p>
            <a:pPr algn="just"/>
            <a:r>
              <a:rPr lang="en-US" sz="2400" b="1" dirty="0">
                <a:solidFill>
                  <a:schemeClr val="accent4">
                    <a:lumMod val="50000"/>
                  </a:schemeClr>
                </a:solidFill>
                <a:effectLst>
                  <a:outerShdw blurRad="38100" dist="38100" dir="2700000" algn="tl">
                    <a:srgbClr val="000000">
                      <a:alpha val="43137"/>
                    </a:srgbClr>
                  </a:outerShdw>
                </a:effectLst>
              </a:rPr>
              <a:t>Business reporting (also called OLAP or BI)</a:t>
            </a:r>
            <a:r>
              <a:rPr lang="en-US" sz="2400" dirty="0"/>
              <a:t> is an essential part of the larger drive toward improved, evidence-based, optimal managerial decision making. </a:t>
            </a:r>
          </a:p>
          <a:p>
            <a:pPr algn="just"/>
            <a:endParaRPr lang="en-US" sz="1200" dirty="0"/>
          </a:p>
          <a:p>
            <a:pPr algn="just"/>
            <a:r>
              <a:rPr lang="en-US" sz="2400" dirty="0"/>
              <a:t>The foundation of these business reports is various sources of data coming from both inside and outside the organization (online transaction processing [OLTP] systems). </a:t>
            </a:r>
          </a:p>
          <a:p>
            <a:pPr algn="just"/>
            <a:endParaRPr lang="en-US" sz="1200" dirty="0"/>
          </a:p>
          <a:p>
            <a:pPr algn="just"/>
            <a:r>
              <a:rPr lang="en-US" sz="2400" dirty="0"/>
              <a:t>Creation of these reports involves </a:t>
            </a:r>
            <a:r>
              <a:rPr lang="en-US" sz="2400" b="1" dirty="0">
                <a:solidFill>
                  <a:srgbClr val="C00000"/>
                </a:solidFill>
              </a:rPr>
              <a:t>ETL</a:t>
            </a:r>
            <a:r>
              <a:rPr lang="en-US" sz="2400" dirty="0"/>
              <a:t> (</a:t>
            </a:r>
            <a:r>
              <a:rPr lang="en-US" sz="2400" b="1" u="sng" dirty="0"/>
              <a:t>extract, transform, and load</a:t>
            </a:r>
            <a:r>
              <a:rPr lang="en-US" sz="2400" dirty="0"/>
              <a:t>) procedures in coordination with a data warehouse and then using one or more reporting tools.</a:t>
            </a:r>
          </a:p>
        </p:txBody>
      </p:sp>
    </p:spTree>
    <p:extLst>
      <p:ext uri="{BB962C8B-B14F-4D97-AF65-F5344CB8AC3E}">
        <p14:creationId xmlns:p14="http://schemas.microsoft.com/office/powerpoint/2010/main" val="200250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43075" y="648270"/>
            <a:ext cx="8879006" cy="5669280"/>
          </a:xfrm>
          <a:prstGeom prst="rect">
            <a:avLst/>
          </a:prstGeom>
        </p:spPr>
      </p:pic>
    </p:spTree>
    <p:extLst>
      <p:ext uri="{BB962C8B-B14F-4D97-AF65-F5344CB8AC3E}">
        <p14:creationId xmlns:p14="http://schemas.microsoft.com/office/powerpoint/2010/main" val="2131371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46211" y="1305806"/>
            <a:ext cx="3864391"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2.8 Data Visualization</a:t>
            </a:r>
          </a:p>
        </p:txBody>
      </p:sp>
      <p:sp>
        <p:nvSpPr>
          <p:cNvPr id="3" name="Rectangle 2"/>
          <p:cNvSpPr/>
          <p:nvPr/>
        </p:nvSpPr>
        <p:spPr>
          <a:xfrm>
            <a:off x="1069848" y="2054043"/>
            <a:ext cx="10076688" cy="2831544"/>
          </a:xfrm>
          <a:prstGeom prst="rect">
            <a:avLst/>
          </a:prstGeom>
        </p:spPr>
        <p:txBody>
          <a:bodyPr wrap="square">
            <a:spAutoFit/>
          </a:bodyPr>
          <a:lstStyle/>
          <a:p>
            <a:pPr algn="just"/>
            <a:r>
              <a:rPr lang="en-US" sz="2400" b="1" dirty="0">
                <a:solidFill>
                  <a:schemeClr val="accent6">
                    <a:lumMod val="75000"/>
                  </a:schemeClr>
                </a:solidFill>
              </a:rPr>
              <a:t>Data visualization </a:t>
            </a:r>
            <a:r>
              <a:rPr lang="en-US" sz="2400" dirty="0"/>
              <a:t>(information visualization) has been defined as “the use of visual representations to explore, make sense of, and communicate data”. Although the name that is commonly used is data visualization, usually what is meant by this is </a:t>
            </a:r>
            <a:r>
              <a:rPr lang="en-US" sz="2400" b="1" dirty="0">
                <a:solidFill>
                  <a:schemeClr val="accent6">
                    <a:lumMod val="75000"/>
                  </a:schemeClr>
                </a:solidFill>
                <a:effectLst>
                  <a:outerShdw blurRad="38100" dist="38100" dir="2700000" algn="tl">
                    <a:srgbClr val="000000">
                      <a:alpha val="43137"/>
                    </a:srgbClr>
                  </a:outerShdw>
                </a:effectLst>
              </a:rPr>
              <a:t>information visualization (IR)</a:t>
            </a:r>
            <a:r>
              <a:rPr lang="en-US" sz="2400" dirty="0"/>
              <a:t>. </a:t>
            </a:r>
          </a:p>
          <a:p>
            <a:pPr algn="just"/>
            <a:endParaRPr lang="en-US" sz="1000" dirty="0"/>
          </a:p>
          <a:p>
            <a:pPr algn="just"/>
            <a:r>
              <a:rPr lang="en-US" sz="2400" dirty="0"/>
              <a:t>Because information is the aggregation, summarization, and contextualization of data (raw facts), what is portrayed in visualizations is the information and not the data. </a:t>
            </a:r>
          </a:p>
        </p:txBody>
      </p:sp>
    </p:spTree>
    <p:extLst>
      <p:ext uri="{BB962C8B-B14F-4D97-AF65-F5344CB8AC3E}">
        <p14:creationId xmlns:p14="http://schemas.microsoft.com/office/powerpoint/2010/main" val="1623214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4685" y="2668262"/>
            <a:ext cx="7054495" cy="954107"/>
          </a:xfrm>
          <a:prstGeom prst="rect">
            <a:avLst/>
          </a:prstGeom>
        </p:spPr>
        <p:txBody>
          <a:bodyPr wrap="none">
            <a:spAutoFit/>
          </a:bodyPr>
          <a:lstStyle/>
          <a:p>
            <a:r>
              <a:rPr lang="en-US" sz="3200" b="1" dirty="0">
                <a:solidFill>
                  <a:srgbClr val="002060"/>
                </a:solidFill>
              </a:rPr>
              <a:t>2.9 Different Types of Charts and Graphs</a:t>
            </a:r>
          </a:p>
          <a:p>
            <a:pPr algn="ctr"/>
            <a:r>
              <a:rPr lang="en-US" sz="2400" dirty="0"/>
              <a:t>Self study</a:t>
            </a:r>
          </a:p>
        </p:txBody>
      </p:sp>
    </p:spTree>
    <p:extLst>
      <p:ext uri="{BB962C8B-B14F-4D97-AF65-F5344CB8AC3E}">
        <p14:creationId xmlns:p14="http://schemas.microsoft.com/office/powerpoint/2010/main" val="85114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04462" y="144518"/>
            <a:ext cx="6815455" cy="584775"/>
          </a:xfrm>
          <a:prstGeom prst="rect">
            <a:avLst/>
          </a:prstGeom>
        </p:spPr>
        <p:txBody>
          <a:bodyPr wrap="none">
            <a:spAutoFit/>
          </a:bodyPr>
          <a:lstStyle/>
          <a:p>
            <a:r>
              <a:rPr lang="en-US" sz="3200" b="1" dirty="0">
                <a:effectLst>
                  <a:outerShdw blurRad="38100" dist="38100" dir="2700000" algn="tl">
                    <a:srgbClr val="000000">
                      <a:alpha val="43137"/>
                    </a:srgbClr>
                  </a:outerShdw>
                </a:effectLst>
              </a:rPr>
              <a:t>2.10 The Emergence of Visual Analytics</a:t>
            </a:r>
          </a:p>
        </p:txBody>
      </p:sp>
      <p:sp>
        <p:nvSpPr>
          <p:cNvPr id="3" name="Rectangle 2"/>
          <p:cNvSpPr/>
          <p:nvPr/>
        </p:nvSpPr>
        <p:spPr>
          <a:xfrm>
            <a:off x="941832" y="787045"/>
            <a:ext cx="10296144" cy="5770811"/>
          </a:xfrm>
          <a:prstGeom prst="rect">
            <a:avLst/>
          </a:prstGeom>
        </p:spPr>
        <p:txBody>
          <a:bodyPr wrap="square">
            <a:spAutoFit/>
          </a:bodyPr>
          <a:lstStyle/>
          <a:p>
            <a:pPr algn="just"/>
            <a:r>
              <a:rPr lang="en-US" sz="2300" dirty="0"/>
              <a:t>As Seth Grimes (2009a,b) has noted, there is a </a:t>
            </a:r>
            <a:r>
              <a:rPr lang="en-US" sz="2300" b="1" u="sng" dirty="0">
                <a:solidFill>
                  <a:schemeClr val="accent3">
                    <a:lumMod val="75000"/>
                  </a:schemeClr>
                </a:solidFill>
                <a:effectLst>
                  <a:outerShdw blurRad="38100" dist="38100" dir="2700000" algn="tl">
                    <a:srgbClr val="000000">
                      <a:alpha val="43137"/>
                    </a:srgbClr>
                  </a:outerShdw>
                </a:effectLst>
              </a:rPr>
              <a:t>“growing palate” of data visualization</a:t>
            </a:r>
            <a:r>
              <a:rPr lang="en-US" sz="2300" b="1" dirty="0">
                <a:solidFill>
                  <a:schemeClr val="accent3">
                    <a:lumMod val="75000"/>
                  </a:schemeClr>
                </a:solidFill>
                <a:effectLst>
                  <a:outerShdw blurRad="38100" dist="38100" dir="2700000" algn="tl">
                    <a:srgbClr val="000000">
                      <a:alpha val="43137"/>
                    </a:srgbClr>
                  </a:outerShdw>
                </a:effectLst>
              </a:rPr>
              <a:t> </a:t>
            </a:r>
            <a:r>
              <a:rPr lang="en-US" sz="2300" dirty="0"/>
              <a:t>techniques and tools that enable the users of business analytics and BI systems to better “communicate relationships, add historical context, uncover hidden correlations, and tell persuasive stories that clarify and call to action.”</a:t>
            </a:r>
          </a:p>
          <a:p>
            <a:pPr algn="just"/>
            <a:endParaRPr lang="en-US" sz="800" dirty="0"/>
          </a:p>
          <a:p>
            <a:pPr algn="just"/>
            <a:r>
              <a:rPr lang="en-US" sz="2300" dirty="0"/>
              <a:t>In BI and analytics, </a:t>
            </a:r>
            <a:r>
              <a:rPr lang="en-US" sz="2300" b="1" u="sng" dirty="0">
                <a:solidFill>
                  <a:srgbClr val="FF0000"/>
                </a:solidFill>
                <a:effectLst>
                  <a:outerShdw blurRad="38100" dist="38100" dir="2700000" algn="tl">
                    <a:srgbClr val="000000">
                      <a:alpha val="43137"/>
                    </a:srgbClr>
                  </a:outerShdw>
                </a:effectLst>
              </a:rPr>
              <a:t>the key challenges for visualization </a:t>
            </a:r>
            <a:r>
              <a:rPr lang="en-US" sz="2300" dirty="0"/>
              <a:t>have revolved around the intuitive representation of large, complex data sets with </a:t>
            </a:r>
            <a:r>
              <a:rPr lang="en-US" sz="2300" b="1" u="sng" dirty="0">
                <a:solidFill>
                  <a:srgbClr val="FF0000"/>
                </a:solidFill>
              </a:rPr>
              <a:t>multiple dimensions and measures</a:t>
            </a:r>
            <a:r>
              <a:rPr lang="en-US" sz="2300" dirty="0"/>
              <a:t>. </a:t>
            </a:r>
          </a:p>
          <a:p>
            <a:pPr algn="just"/>
            <a:endParaRPr lang="en-US" sz="800" dirty="0"/>
          </a:p>
          <a:p>
            <a:pPr algn="just"/>
            <a:r>
              <a:rPr lang="en-US" sz="2300" b="1" dirty="0">
                <a:solidFill>
                  <a:schemeClr val="accent6">
                    <a:lumMod val="75000"/>
                  </a:schemeClr>
                </a:solidFill>
                <a:effectLst>
                  <a:outerShdw blurRad="38100" dist="38100" dir="2700000" algn="tl">
                    <a:srgbClr val="000000">
                      <a:alpha val="43137"/>
                    </a:srgbClr>
                  </a:outerShdw>
                </a:effectLst>
              </a:rPr>
              <a:t>For the most part</a:t>
            </a:r>
            <a:r>
              <a:rPr lang="en-US" sz="2300" dirty="0"/>
              <a:t>, the typical charts, graphs, and other visual elements used in these applications usually involve </a:t>
            </a:r>
            <a:r>
              <a:rPr lang="en-US" sz="2300" b="1" u="sng" dirty="0">
                <a:solidFill>
                  <a:srgbClr val="7030A0"/>
                </a:solidFill>
              </a:rPr>
              <a:t>two dimensions, sometimes three, and fairly small subsets of data sets</a:t>
            </a:r>
            <a:r>
              <a:rPr lang="en-US" sz="2300" dirty="0"/>
              <a:t>. In contrast, the data in these systems reside in a data warehouse. </a:t>
            </a:r>
          </a:p>
          <a:p>
            <a:pPr algn="just"/>
            <a:endParaRPr lang="en-US" sz="800" dirty="0"/>
          </a:p>
          <a:p>
            <a:pPr algn="just"/>
            <a:r>
              <a:rPr lang="en-US" sz="2300" dirty="0"/>
              <a:t>At a minimum these warehouses involve a range of dimensions (e.g., product, location, organizational structure, time), a range of measures, and millions of cells of data. In an effort to address these challenges, </a:t>
            </a:r>
            <a:r>
              <a:rPr lang="en-US" sz="2300" i="1" u="sng" dirty="0"/>
              <a:t>a number of researchers have developed a variety of new visualization techniques</a:t>
            </a:r>
            <a:r>
              <a:rPr lang="en-US" sz="2300" dirty="0"/>
              <a:t>. </a:t>
            </a:r>
          </a:p>
        </p:txBody>
      </p:sp>
    </p:spTree>
    <p:extLst>
      <p:ext uri="{BB962C8B-B14F-4D97-AF65-F5344CB8AC3E}">
        <p14:creationId xmlns:p14="http://schemas.microsoft.com/office/powerpoint/2010/main" val="1399980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32242" y="217670"/>
            <a:ext cx="5148012"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2.11 Information Dashboards</a:t>
            </a:r>
          </a:p>
        </p:txBody>
      </p:sp>
      <p:sp>
        <p:nvSpPr>
          <p:cNvPr id="5" name="Rectangle 4"/>
          <p:cNvSpPr/>
          <p:nvPr/>
        </p:nvSpPr>
        <p:spPr>
          <a:xfrm>
            <a:off x="832104" y="968586"/>
            <a:ext cx="10597896" cy="5278368"/>
          </a:xfrm>
          <a:prstGeom prst="rect">
            <a:avLst/>
          </a:prstGeom>
        </p:spPr>
        <p:txBody>
          <a:bodyPr wrap="square">
            <a:spAutoFit/>
          </a:bodyPr>
          <a:lstStyle/>
          <a:p>
            <a:pPr algn="just"/>
            <a:r>
              <a:rPr lang="en-US" sz="2400" b="1" dirty="0">
                <a:solidFill>
                  <a:schemeClr val="accent6">
                    <a:lumMod val="75000"/>
                  </a:schemeClr>
                </a:solidFill>
                <a:effectLst>
                  <a:outerShdw blurRad="38100" dist="38100" dir="2700000" algn="tl">
                    <a:srgbClr val="000000">
                      <a:alpha val="43137"/>
                    </a:srgbClr>
                  </a:outerShdw>
                </a:effectLst>
              </a:rPr>
              <a:t>Information dashboards </a:t>
            </a:r>
            <a:r>
              <a:rPr lang="en-US" sz="2400" dirty="0"/>
              <a:t>are common components of most, if not all, BI or business analytics platforms, business performance management systems, and performance measurement software suites. </a:t>
            </a:r>
          </a:p>
          <a:p>
            <a:pPr algn="just"/>
            <a:endParaRPr lang="en-US" sz="900" dirty="0"/>
          </a:p>
          <a:p>
            <a:pPr algn="just"/>
            <a:r>
              <a:rPr lang="en-US" sz="2400" dirty="0"/>
              <a:t>Dashboards provide visual displays of important information that is consolidated and arranged on a single screen so that information can be digested at a single glance and easily drilled in and further explored.</a:t>
            </a:r>
          </a:p>
          <a:p>
            <a:pPr algn="just"/>
            <a:endParaRPr lang="en-US" sz="1000" dirty="0"/>
          </a:p>
          <a:p>
            <a:pPr algn="just"/>
            <a:r>
              <a:rPr lang="en-US" sz="2400" b="1" dirty="0">
                <a:solidFill>
                  <a:schemeClr val="accent2">
                    <a:lumMod val="75000"/>
                  </a:schemeClr>
                </a:solidFill>
                <a:effectLst>
                  <a:outerShdw blurRad="38100" dist="38100" dir="2700000" algn="tl">
                    <a:srgbClr val="000000">
                      <a:alpha val="43137"/>
                    </a:srgbClr>
                  </a:outerShdw>
                </a:effectLst>
              </a:rPr>
              <a:t>Dashboard Design </a:t>
            </a:r>
            <a:r>
              <a:rPr lang="en-US" sz="2400" dirty="0"/>
              <a:t>Dashboards are not a new concept.</a:t>
            </a:r>
          </a:p>
          <a:p>
            <a:pPr algn="just"/>
            <a:r>
              <a:rPr lang="en-US" sz="2400" dirty="0"/>
              <a:t>According to </a:t>
            </a:r>
            <a:r>
              <a:rPr lang="en-US" sz="2400" dirty="0" err="1"/>
              <a:t>Eckerson</a:t>
            </a:r>
            <a:r>
              <a:rPr lang="en-US" sz="2400" dirty="0"/>
              <a:t> (2006), a well-known expert on BI in general and dashboards in particular has three layers of information: </a:t>
            </a:r>
          </a:p>
          <a:p>
            <a:pPr algn="just"/>
            <a:endParaRPr lang="en-US" sz="600" dirty="0"/>
          </a:p>
          <a:p>
            <a:pPr marL="457200" indent="-457200" algn="just">
              <a:buAutoNum type="arabicPeriod"/>
            </a:pPr>
            <a:r>
              <a:rPr lang="en-US" sz="2400" b="1" dirty="0">
                <a:solidFill>
                  <a:srgbClr val="FFC000"/>
                </a:solidFill>
              </a:rPr>
              <a:t>Monitoring:</a:t>
            </a:r>
            <a:r>
              <a:rPr lang="en-US" sz="2400" dirty="0"/>
              <a:t> Graphical, abstracted data to monitor key performance metrics. </a:t>
            </a:r>
          </a:p>
          <a:p>
            <a:pPr marL="457200" indent="-457200" algn="just">
              <a:buAutoNum type="arabicPeriod"/>
            </a:pPr>
            <a:r>
              <a:rPr lang="en-US" sz="2400" b="1" dirty="0">
                <a:solidFill>
                  <a:srgbClr val="FFC000"/>
                </a:solidFill>
              </a:rPr>
              <a:t>Analysis: </a:t>
            </a:r>
            <a:r>
              <a:rPr lang="en-US" sz="2400" dirty="0"/>
              <a:t>Summarized dimensional data to analyze the root cause of problems. </a:t>
            </a:r>
          </a:p>
          <a:p>
            <a:pPr marL="457200" indent="-457200" algn="just">
              <a:buAutoNum type="arabicPeriod"/>
            </a:pPr>
            <a:r>
              <a:rPr lang="en-US" sz="2400" b="1" dirty="0">
                <a:solidFill>
                  <a:srgbClr val="FFC000"/>
                </a:solidFill>
              </a:rPr>
              <a:t>Management: </a:t>
            </a:r>
            <a:r>
              <a:rPr lang="en-US" sz="2400" dirty="0"/>
              <a:t>Detailed operational data that identify what actions to take to resolve a problem</a:t>
            </a:r>
          </a:p>
        </p:txBody>
      </p:sp>
    </p:spTree>
    <p:extLst>
      <p:ext uri="{BB962C8B-B14F-4D97-AF65-F5344CB8AC3E}">
        <p14:creationId xmlns:p14="http://schemas.microsoft.com/office/powerpoint/2010/main" val="2187071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49224" y="1435285"/>
            <a:ext cx="10972800" cy="4773764"/>
          </a:xfrm>
          <a:prstGeom prst="rect">
            <a:avLst/>
          </a:prstGeom>
        </p:spPr>
      </p:pic>
      <p:sp>
        <p:nvSpPr>
          <p:cNvPr id="3" name="Rectangle 2"/>
          <p:cNvSpPr/>
          <p:nvPr/>
        </p:nvSpPr>
        <p:spPr>
          <a:xfrm>
            <a:off x="4476363" y="610862"/>
            <a:ext cx="3045834" cy="584775"/>
          </a:xfrm>
          <a:prstGeom prst="rect">
            <a:avLst/>
          </a:prstGeom>
        </p:spPr>
        <p:txBody>
          <a:bodyPr wrap="none">
            <a:spAutoFit/>
          </a:bodyPr>
          <a:lstStyle/>
          <a:p>
            <a:pPr algn="ctr"/>
            <a:r>
              <a:rPr lang="en-US" sz="3200" b="1" dirty="0">
                <a:solidFill>
                  <a:schemeClr val="accent5">
                    <a:lumMod val="50000"/>
                  </a:schemeClr>
                </a:solidFill>
                <a:effectLst>
                  <a:outerShdw blurRad="38100" dist="38100" dir="2700000" algn="tl">
                    <a:srgbClr val="000000">
                      <a:alpha val="43137"/>
                    </a:srgbClr>
                  </a:outerShdw>
                </a:effectLst>
              </a:rPr>
              <a:t>Go for Anaconda</a:t>
            </a:r>
          </a:p>
        </p:txBody>
      </p:sp>
      <p:sp>
        <p:nvSpPr>
          <p:cNvPr id="4" name="Rectangle 3"/>
          <p:cNvSpPr/>
          <p:nvPr/>
        </p:nvSpPr>
        <p:spPr>
          <a:xfrm>
            <a:off x="6720840" y="1004403"/>
            <a:ext cx="3813048" cy="861763"/>
          </a:xfrm>
          <a:prstGeom prst="rect">
            <a:avLst/>
          </a:prstGeom>
          <a:noFill/>
          <a:ln w="571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Click the free download</a:t>
            </a:r>
          </a:p>
        </p:txBody>
      </p:sp>
    </p:spTree>
    <p:extLst>
      <p:ext uri="{BB962C8B-B14F-4D97-AF65-F5344CB8AC3E}">
        <p14:creationId xmlns:p14="http://schemas.microsoft.com/office/powerpoint/2010/main" val="226577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7240" y="868089"/>
            <a:ext cx="10698480" cy="5007937"/>
          </a:xfrm>
          <a:prstGeom prst="rect">
            <a:avLst/>
          </a:prstGeom>
        </p:spPr>
      </p:pic>
    </p:spTree>
    <p:extLst>
      <p:ext uri="{BB962C8B-B14F-4D97-AF65-F5344CB8AC3E}">
        <p14:creationId xmlns:p14="http://schemas.microsoft.com/office/powerpoint/2010/main" val="3763690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93164" y="1547686"/>
            <a:ext cx="8906256" cy="584775"/>
          </a:xfrm>
          <a:prstGeom prst="rect">
            <a:avLst/>
          </a:prstGeom>
        </p:spPr>
        <p:txBody>
          <a:bodyPr wrap="square">
            <a:spAutoFit/>
          </a:bodyPr>
          <a:lstStyle/>
          <a:p>
            <a:pPr algn="just"/>
            <a:r>
              <a:rPr lang="en-US" sz="3200" b="1" dirty="0">
                <a:solidFill>
                  <a:srgbClr val="002060"/>
                </a:solidFill>
                <a:effectLst>
                  <a:outerShdw blurRad="38100" dist="38100" dir="2700000" algn="tl">
                    <a:srgbClr val="000000">
                      <a:alpha val="43137"/>
                    </a:srgbClr>
                  </a:outerShdw>
                </a:effectLst>
              </a:rPr>
              <a:t>Go to email and click the link and go for download</a:t>
            </a:r>
          </a:p>
        </p:txBody>
      </p:sp>
      <p:pic>
        <p:nvPicPr>
          <p:cNvPr id="5" name="Picture 4"/>
          <p:cNvPicPr>
            <a:picLocks noChangeAspect="1"/>
          </p:cNvPicPr>
          <p:nvPr/>
        </p:nvPicPr>
        <p:blipFill>
          <a:blip r:embed="rId2"/>
          <a:stretch>
            <a:fillRect/>
          </a:stretch>
        </p:blipFill>
        <p:spPr>
          <a:xfrm>
            <a:off x="2576131" y="2410015"/>
            <a:ext cx="6600825" cy="3629025"/>
          </a:xfrm>
          <a:prstGeom prst="rect">
            <a:avLst/>
          </a:prstGeom>
        </p:spPr>
      </p:pic>
    </p:spTree>
    <p:extLst>
      <p:ext uri="{BB962C8B-B14F-4D97-AF65-F5344CB8AC3E}">
        <p14:creationId xmlns:p14="http://schemas.microsoft.com/office/powerpoint/2010/main" val="1035499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930842" y="1365676"/>
            <a:ext cx="5934075" cy="4648200"/>
          </a:xfrm>
          <a:prstGeom prst="rect">
            <a:avLst/>
          </a:prstGeom>
        </p:spPr>
      </p:pic>
    </p:spTree>
    <p:extLst>
      <p:ext uri="{BB962C8B-B14F-4D97-AF65-F5344CB8AC3E}">
        <p14:creationId xmlns:p14="http://schemas.microsoft.com/office/powerpoint/2010/main" val="1092563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63811" y="1537029"/>
            <a:ext cx="4846320" cy="3786671"/>
          </a:xfrm>
          <a:prstGeom prst="rect">
            <a:avLst/>
          </a:prstGeom>
        </p:spPr>
      </p:pic>
      <p:pic>
        <p:nvPicPr>
          <p:cNvPr id="5" name="Picture 4"/>
          <p:cNvPicPr>
            <a:picLocks noChangeAspect="1"/>
          </p:cNvPicPr>
          <p:nvPr/>
        </p:nvPicPr>
        <p:blipFill>
          <a:blip r:embed="rId3"/>
          <a:stretch>
            <a:fillRect/>
          </a:stretch>
        </p:blipFill>
        <p:spPr>
          <a:xfrm>
            <a:off x="6675437" y="1531943"/>
            <a:ext cx="4846320" cy="3791757"/>
          </a:xfrm>
          <a:prstGeom prst="rect">
            <a:avLst/>
          </a:prstGeom>
        </p:spPr>
      </p:pic>
    </p:spTree>
    <p:extLst>
      <p:ext uri="{BB962C8B-B14F-4D97-AF65-F5344CB8AC3E}">
        <p14:creationId xmlns:p14="http://schemas.microsoft.com/office/powerpoint/2010/main" val="177593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90100" y="1807637"/>
            <a:ext cx="4389120" cy="3438024"/>
          </a:xfrm>
          <a:prstGeom prst="rect">
            <a:avLst/>
          </a:prstGeom>
        </p:spPr>
      </p:pic>
      <p:pic>
        <p:nvPicPr>
          <p:cNvPr id="5" name="Picture 4"/>
          <p:cNvPicPr>
            <a:picLocks noChangeAspect="1"/>
          </p:cNvPicPr>
          <p:nvPr/>
        </p:nvPicPr>
        <p:blipFill>
          <a:blip r:embed="rId3"/>
          <a:stretch>
            <a:fillRect/>
          </a:stretch>
        </p:blipFill>
        <p:spPr>
          <a:xfrm>
            <a:off x="6620933" y="1806105"/>
            <a:ext cx="4389120" cy="3439556"/>
          </a:xfrm>
          <a:prstGeom prst="rect">
            <a:avLst/>
          </a:prstGeom>
        </p:spPr>
      </p:pic>
    </p:spTree>
    <p:extLst>
      <p:ext uri="{BB962C8B-B14F-4D97-AF65-F5344CB8AC3E}">
        <p14:creationId xmlns:p14="http://schemas.microsoft.com/office/powerpoint/2010/main" val="3812903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9659" y="321214"/>
            <a:ext cx="3749040" cy="2920616"/>
          </a:xfrm>
          <a:prstGeom prst="rect">
            <a:avLst/>
          </a:prstGeom>
        </p:spPr>
      </p:pic>
      <p:pic>
        <p:nvPicPr>
          <p:cNvPr id="3" name="Picture 2"/>
          <p:cNvPicPr>
            <a:picLocks noChangeAspect="1"/>
          </p:cNvPicPr>
          <p:nvPr/>
        </p:nvPicPr>
        <p:blipFill>
          <a:blip r:embed="rId3"/>
          <a:stretch>
            <a:fillRect/>
          </a:stretch>
        </p:blipFill>
        <p:spPr>
          <a:xfrm>
            <a:off x="4186236" y="2058613"/>
            <a:ext cx="3657600" cy="2862463"/>
          </a:xfrm>
          <a:prstGeom prst="rect">
            <a:avLst/>
          </a:prstGeom>
        </p:spPr>
      </p:pic>
      <p:pic>
        <p:nvPicPr>
          <p:cNvPr id="4" name="Picture 3"/>
          <p:cNvPicPr>
            <a:picLocks noChangeAspect="1"/>
          </p:cNvPicPr>
          <p:nvPr/>
        </p:nvPicPr>
        <p:blipFill>
          <a:blip r:embed="rId4"/>
          <a:stretch>
            <a:fillRect/>
          </a:stretch>
        </p:blipFill>
        <p:spPr>
          <a:xfrm>
            <a:off x="8060266" y="3582778"/>
            <a:ext cx="3749040" cy="2929307"/>
          </a:xfrm>
          <a:prstGeom prst="rect">
            <a:avLst/>
          </a:prstGeom>
        </p:spPr>
      </p:pic>
    </p:spTree>
    <p:extLst>
      <p:ext uri="{BB962C8B-B14F-4D97-AF65-F5344CB8AC3E}">
        <p14:creationId xmlns:p14="http://schemas.microsoft.com/office/powerpoint/2010/main" val="3223695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34884" y="790590"/>
            <a:ext cx="8595360" cy="5263719"/>
          </a:xfrm>
          <a:prstGeom prst="rect">
            <a:avLst/>
          </a:prstGeom>
        </p:spPr>
      </p:pic>
    </p:spTree>
    <p:extLst>
      <p:ext uri="{BB962C8B-B14F-4D97-AF65-F5344CB8AC3E}">
        <p14:creationId xmlns:p14="http://schemas.microsoft.com/office/powerpoint/2010/main" val="570762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71687" y="1238250"/>
            <a:ext cx="8048625" cy="4381500"/>
          </a:xfrm>
          <a:prstGeom prst="rect">
            <a:avLst/>
          </a:prstGeom>
        </p:spPr>
      </p:pic>
      <p:sp>
        <p:nvSpPr>
          <p:cNvPr id="5" name="Rectangle 4"/>
          <p:cNvSpPr/>
          <p:nvPr/>
        </p:nvSpPr>
        <p:spPr>
          <a:xfrm>
            <a:off x="5276088" y="704088"/>
            <a:ext cx="6364224" cy="795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Create a folder “</a:t>
            </a:r>
            <a:r>
              <a:rPr lang="en-US" dirty="0" err="1"/>
              <a:t>JupyterCode</a:t>
            </a:r>
            <a:r>
              <a:rPr lang="en-US" dirty="0"/>
              <a:t>”</a:t>
            </a:r>
          </a:p>
          <a:p>
            <a:pPr algn="ctr"/>
            <a:r>
              <a:rPr lang="en-US" dirty="0"/>
              <a:t>that we can save out python program</a:t>
            </a:r>
          </a:p>
        </p:txBody>
      </p:sp>
    </p:spTree>
    <p:extLst>
      <p:ext uri="{BB962C8B-B14F-4D97-AF65-F5344CB8AC3E}">
        <p14:creationId xmlns:p14="http://schemas.microsoft.com/office/powerpoint/2010/main" val="126928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19212" y="538163"/>
            <a:ext cx="9692640" cy="5738257"/>
          </a:xfrm>
          <a:prstGeom prst="rect">
            <a:avLst/>
          </a:prstGeom>
        </p:spPr>
      </p:pic>
      <p:sp>
        <p:nvSpPr>
          <p:cNvPr id="3" name="Rectangle 2"/>
          <p:cNvSpPr/>
          <p:nvPr/>
        </p:nvSpPr>
        <p:spPr>
          <a:xfrm>
            <a:off x="10011727" y="495301"/>
            <a:ext cx="2000250" cy="4238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00"/>
                </a:solidFill>
              </a:rPr>
              <a:t>Into MN folder</a:t>
            </a:r>
          </a:p>
        </p:txBody>
      </p:sp>
    </p:spTree>
    <p:extLst>
      <p:ext uri="{BB962C8B-B14F-4D97-AF65-F5344CB8AC3E}">
        <p14:creationId xmlns:p14="http://schemas.microsoft.com/office/powerpoint/2010/main" val="3769144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19225" y="628655"/>
            <a:ext cx="9509760" cy="5505650"/>
          </a:xfrm>
          <a:prstGeom prst="rect">
            <a:avLst/>
          </a:prstGeom>
        </p:spPr>
      </p:pic>
    </p:spTree>
    <p:extLst>
      <p:ext uri="{BB962C8B-B14F-4D97-AF65-F5344CB8AC3E}">
        <p14:creationId xmlns:p14="http://schemas.microsoft.com/office/powerpoint/2010/main" val="3537449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14475" y="533400"/>
            <a:ext cx="9326880" cy="5761212"/>
          </a:xfrm>
          <a:prstGeom prst="rect">
            <a:avLst/>
          </a:prstGeom>
        </p:spPr>
      </p:pic>
    </p:spTree>
    <p:extLst>
      <p:ext uri="{BB962C8B-B14F-4D97-AF65-F5344CB8AC3E}">
        <p14:creationId xmlns:p14="http://schemas.microsoft.com/office/powerpoint/2010/main" val="597019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42900" y="705558"/>
            <a:ext cx="11440213" cy="5486400"/>
          </a:xfrm>
          <a:prstGeom prst="rect">
            <a:avLst/>
          </a:prstGeom>
        </p:spPr>
      </p:pic>
      <p:cxnSp>
        <p:nvCxnSpPr>
          <p:cNvPr id="4" name="Straight Connector 3"/>
          <p:cNvCxnSpPr/>
          <p:nvPr/>
        </p:nvCxnSpPr>
        <p:spPr>
          <a:xfrm flipV="1">
            <a:off x="1304925" y="5172075"/>
            <a:ext cx="146304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75340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61975" y="651058"/>
            <a:ext cx="10972800" cy="5497508"/>
          </a:xfrm>
          <a:prstGeom prst="rect">
            <a:avLst/>
          </a:prstGeom>
        </p:spPr>
      </p:pic>
    </p:spTree>
    <p:extLst>
      <p:ext uri="{BB962C8B-B14F-4D97-AF65-F5344CB8AC3E}">
        <p14:creationId xmlns:p14="http://schemas.microsoft.com/office/powerpoint/2010/main" val="2544830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4875" y="1120137"/>
            <a:ext cx="10698480" cy="4302800"/>
          </a:xfrm>
          <a:prstGeom prst="rect">
            <a:avLst/>
          </a:prstGeom>
        </p:spPr>
      </p:pic>
    </p:spTree>
    <p:extLst>
      <p:ext uri="{BB962C8B-B14F-4D97-AF65-F5344CB8AC3E}">
        <p14:creationId xmlns:p14="http://schemas.microsoft.com/office/powerpoint/2010/main" val="4018483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00087" y="571500"/>
            <a:ext cx="10791825" cy="5715000"/>
          </a:xfrm>
          <a:prstGeom prst="rect">
            <a:avLst/>
          </a:prstGeom>
        </p:spPr>
      </p:pic>
    </p:spTree>
    <p:extLst>
      <p:ext uri="{BB962C8B-B14F-4D97-AF65-F5344CB8AC3E}">
        <p14:creationId xmlns:p14="http://schemas.microsoft.com/office/powerpoint/2010/main" val="34854555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71650" y="96257"/>
            <a:ext cx="9052560" cy="2261677"/>
          </a:xfrm>
          <a:prstGeom prst="rect">
            <a:avLst/>
          </a:prstGeom>
        </p:spPr>
      </p:pic>
      <p:pic>
        <p:nvPicPr>
          <p:cNvPr id="3" name="Picture 2"/>
          <p:cNvPicPr>
            <a:picLocks noChangeAspect="1"/>
          </p:cNvPicPr>
          <p:nvPr/>
        </p:nvPicPr>
        <p:blipFill>
          <a:blip r:embed="rId3"/>
          <a:stretch>
            <a:fillRect/>
          </a:stretch>
        </p:blipFill>
        <p:spPr>
          <a:xfrm>
            <a:off x="1162050" y="2595782"/>
            <a:ext cx="10515600" cy="2023828"/>
          </a:xfrm>
          <a:prstGeom prst="rect">
            <a:avLst/>
          </a:prstGeom>
        </p:spPr>
      </p:pic>
      <p:sp>
        <p:nvSpPr>
          <p:cNvPr id="4" name="Down Arrow 3"/>
          <p:cNvSpPr/>
          <p:nvPr/>
        </p:nvSpPr>
        <p:spPr>
          <a:xfrm>
            <a:off x="4959667" y="2248396"/>
            <a:ext cx="2676525" cy="2190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4"/>
          <a:stretch>
            <a:fillRect/>
          </a:stretch>
        </p:blipFill>
        <p:spPr>
          <a:xfrm>
            <a:off x="1085849" y="4857458"/>
            <a:ext cx="10424160" cy="1908452"/>
          </a:xfrm>
          <a:prstGeom prst="rect">
            <a:avLst/>
          </a:prstGeom>
        </p:spPr>
      </p:pic>
      <p:sp>
        <p:nvSpPr>
          <p:cNvPr id="6" name="Down Arrow 5"/>
          <p:cNvSpPr/>
          <p:nvPr/>
        </p:nvSpPr>
        <p:spPr>
          <a:xfrm>
            <a:off x="4959666" y="4747921"/>
            <a:ext cx="2676525" cy="2190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70589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28675" y="1028455"/>
            <a:ext cx="10698480" cy="1170590"/>
          </a:xfrm>
          <a:prstGeom prst="rect">
            <a:avLst/>
          </a:prstGeom>
        </p:spPr>
      </p:pic>
      <p:sp>
        <p:nvSpPr>
          <p:cNvPr id="3" name="Rectangle 2"/>
          <p:cNvSpPr/>
          <p:nvPr/>
        </p:nvSpPr>
        <p:spPr>
          <a:xfrm>
            <a:off x="1740789" y="338011"/>
            <a:ext cx="8906256" cy="584775"/>
          </a:xfrm>
          <a:prstGeom prst="rect">
            <a:avLst/>
          </a:prstGeom>
        </p:spPr>
        <p:txBody>
          <a:bodyPr wrap="square">
            <a:spAutoFit/>
          </a:bodyPr>
          <a:lstStyle/>
          <a:p>
            <a:pPr algn="ctr"/>
            <a:r>
              <a:rPr lang="en-US" sz="3200" b="1" dirty="0">
                <a:solidFill>
                  <a:srgbClr val="002060"/>
                </a:solidFill>
                <a:effectLst>
                  <a:outerShdw blurRad="38100" dist="38100" dir="2700000" algn="tl">
                    <a:srgbClr val="000000">
                      <a:alpha val="43137"/>
                    </a:srgbClr>
                  </a:outerShdw>
                </a:effectLst>
              </a:rPr>
              <a:t>Output of our first program</a:t>
            </a:r>
          </a:p>
        </p:txBody>
      </p:sp>
      <p:pic>
        <p:nvPicPr>
          <p:cNvPr id="4" name="Picture 3"/>
          <p:cNvPicPr>
            <a:picLocks noChangeAspect="1"/>
          </p:cNvPicPr>
          <p:nvPr/>
        </p:nvPicPr>
        <p:blipFill>
          <a:blip r:embed="rId3"/>
          <a:stretch>
            <a:fillRect/>
          </a:stretch>
        </p:blipFill>
        <p:spPr>
          <a:xfrm>
            <a:off x="1164717" y="3157537"/>
            <a:ext cx="10058400" cy="3279365"/>
          </a:xfrm>
          <a:prstGeom prst="rect">
            <a:avLst/>
          </a:prstGeom>
        </p:spPr>
      </p:pic>
      <p:sp>
        <p:nvSpPr>
          <p:cNvPr id="5" name="Rectangle 4"/>
          <p:cNvSpPr/>
          <p:nvPr/>
        </p:nvSpPr>
        <p:spPr>
          <a:xfrm>
            <a:off x="1874139" y="2966911"/>
            <a:ext cx="8906256" cy="584775"/>
          </a:xfrm>
          <a:prstGeom prst="rect">
            <a:avLst/>
          </a:prstGeom>
        </p:spPr>
        <p:txBody>
          <a:bodyPr wrap="square">
            <a:spAutoFit/>
          </a:bodyPr>
          <a:lstStyle/>
          <a:p>
            <a:pPr algn="ctr"/>
            <a:r>
              <a:rPr lang="en-US" sz="3200" b="1" dirty="0">
                <a:solidFill>
                  <a:srgbClr val="002060"/>
                </a:solidFill>
                <a:effectLst>
                  <a:outerShdw blurRad="38100" dist="38100" dir="2700000" algn="tl">
                    <a:srgbClr val="000000">
                      <a:alpha val="43137"/>
                    </a:srgbClr>
                  </a:outerShdw>
                </a:effectLst>
              </a:rPr>
              <a:t>Another important point</a:t>
            </a:r>
          </a:p>
        </p:txBody>
      </p:sp>
    </p:spTree>
    <p:extLst>
      <p:ext uri="{BB962C8B-B14F-4D97-AF65-F5344CB8AC3E}">
        <p14:creationId xmlns:p14="http://schemas.microsoft.com/office/powerpoint/2010/main" val="34881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205036" y="447675"/>
            <a:ext cx="7406640" cy="3764252"/>
          </a:xfrm>
          <a:prstGeom prst="rect">
            <a:avLst/>
          </a:prstGeom>
        </p:spPr>
      </p:pic>
      <p:sp>
        <p:nvSpPr>
          <p:cNvPr id="4" name="Rectangle 3"/>
          <p:cNvSpPr/>
          <p:nvPr/>
        </p:nvSpPr>
        <p:spPr>
          <a:xfrm>
            <a:off x="2881311" y="4297652"/>
            <a:ext cx="8906256" cy="2062103"/>
          </a:xfrm>
          <a:prstGeom prst="rect">
            <a:avLst/>
          </a:prstGeom>
        </p:spPr>
        <p:txBody>
          <a:bodyPr wrap="square">
            <a:spAutoFit/>
          </a:bodyPr>
          <a:lstStyle/>
          <a:p>
            <a:pPr algn="just"/>
            <a:r>
              <a:rPr lang="en-US" sz="3200" b="1" dirty="0" err="1">
                <a:solidFill>
                  <a:srgbClr val="002060"/>
                </a:solidFill>
                <a:effectLst>
                  <a:outerShdw blurRad="38100" dist="38100" dir="2700000" algn="tl">
                    <a:srgbClr val="000000">
                      <a:alpha val="43137"/>
                    </a:srgbClr>
                  </a:outerShdw>
                </a:effectLst>
              </a:rPr>
              <a:t>Numpy</a:t>
            </a:r>
            <a:r>
              <a:rPr lang="en-US" sz="3200" b="1" dirty="0">
                <a:solidFill>
                  <a:srgbClr val="002060"/>
                </a:solidFill>
                <a:effectLst>
                  <a:outerShdw blurRad="38100" dist="38100" dir="2700000" algn="tl">
                    <a:srgbClr val="000000">
                      <a:alpha val="43137"/>
                    </a:srgbClr>
                  </a:outerShdw>
                </a:effectLst>
              </a:rPr>
              <a:t> library:</a:t>
            </a:r>
          </a:p>
          <a:p>
            <a:r>
              <a:rPr lang="en-US" sz="2400" dirty="0">
                <a:sym typeface="Wingdings" panose="05000000000000000000" pitchFamily="2" charset="2"/>
              </a:rPr>
              <a:t></a:t>
            </a:r>
            <a:r>
              <a:rPr lang="en-US" sz="2400" dirty="0" err="1"/>
              <a:t>NumPy</a:t>
            </a:r>
            <a:r>
              <a:rPr lang="en-US" sz="2400" dirty="0"/>
              <a:t> is a Python library</a:t>
            </a:r>
          </a:p>
          <a:p>
            <a:r>
              <a:rPr lang="en-US" sz="2400" dirty="0">
                <a:sym typeface="Wingdings" panose="05000000000000000000" pitchFamily="2" charset="2"/>
              </a:rPr>
              <a:t></a:t>
            </a:r>
            <a:r>
              <a:rPr lang="en-US" sz="2400" dirty="0" err="1"/>
              <a:t>NumPy</a:t>
            </a:r>
            <a:r>
              <a:rPr lang="en-US" sz="2400" dirty="0"/>
              <a:t> is used for working with arrays</a:t>
            </a:r>
          </a:p>
          <a:p>
            <a:r>
              <a:rPr lang="en-US" sz="2400" dirty="0">
                <a:sym typeface="Wingdings" panose="05000000000000000000" pitchFamily="2" charset="2"/>
              </a:rPr>
              <a:t></a:t>
            </a:r>
            <a:r>
              <a:rPr lang="en-US" sz="2400" dirty="0" err="1"/>
              <a:t>NumPy</a:t>
            </a:r>
            <a:r>
              <a:rPr lang="en-US" sz="2400" dirty="0"/>
              <a:t> is short for "Numerical Python"</a:t>
            </a:r>
          </a:p>
          <a:p>
            <a:r>
              <a:rPr lang="en-US" sz="2400" dirty="0">
                <a:solidFill>
                  <a:srgbClr val="FF0000"/>
                </a:solidFill>
              </a:rPr>
              <a:t>https://www.w3schools.com/python/numpy/default.asp</a:t>
            </a:r>
            <a:endParaRPr lang="en-US" sz="32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882464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8514" y="552450"/>
            <a:ext cx="7000875" cy="5753100"/>
          </a:xfrm>
          <a:prstGeom prst="rect">
            <a:avLst/>
          </a:prstGeom>
        </p:spPr>
      </p:pic>
      <p:sp>
        <p:nvSpPr>
          <p:cNvPr id="3" name="Rectangle 2"/>
          <p:cNvSpPr/>
          <p:nvPr/>
        </p:nvSpPr>
        <p:spPr>
          <a:xfrm>
            <a:off x="7919655" y="3005911"/>
            <a:ext cx="4433889" cy="1200329"/>
          </a:xfrm>
          <a:prstGeom prst="rect">
            <a:avLst/>
          </a:prstGeom>
        </p:spPr>
        <p:txBody>
          <a:bodyPr wrap="square">
            <a:spAutoFit/>
          </a:bodyPr>
          <a:lstStyle/>
          <a:p>
            <a:pPr algn="ctr"/>
            <a:r>
              <a:rPr lang="en-US" sz="3600" b="1" dirty="0">
                <a:solidFill>
                  <a:srgbClr val="FF0000"/>
                </a:solidFill>
                <a:effectLst>
                  <a:outerShdw blurRad="38100" dist="38100" dir="2700000" algn="tl">
                    <a:srgbClr val="000000">
                      <a:alpha val="43137"/>
                    </a:srgbClr>
                  </a:outerShdw>
                </a:effectLst>
              </a:rPr>
              <a:t>Is there any other errors?</a:t>
            </a:r>
          </a:p>
        </p:txBody>
      </p:sp>
    </p:spTree>
    <p:extLst>
      <p:ext uri="{BB962C8B-B14F-4D97-AF65-F5344CB8AC3E}">
        <p14:creationId xmlns:p14="http://schemas.microsoft.com/office/powerpoint/2010/main" val="2644645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66175" y="637032"/>
            <a:ext cx="8107925" cy="5486400"/>
          </a:xfrm>
          <a:prstGeom prst="rect">
            <a:avLst/>
          </a:prstGeom>
        </p:spPr>
      </p:pic>
    </p:spTree>
    <p:extLst>
      <p:ext uri="{BB962C8B-B14F-4D97-AF65-F5344CB8AC3E}">
        <p14:creationId xmlns:p14="http://schemas.microsoft.com/office/powerpoint/2010/main" val="2452060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5386" y="3136587"/>
            <a:ext cx="11338560" cy="1593020"/>
          </a:xfrm>
          <a:prstGeom prst="rect">
            <a:avLst/>
          </a:prstGeom>
        </p:spPr>
      </p:pic>
      <p:sp>
        <p:nvSpPr>
          <p:cNvPr id="3" name="Rectangle 2"/>
          <p:cNvSpPr/>
          <p:nvPr/>
        </p:nvSpPr>
        <p:spPr>
          <a:xfrm>
            <a:off x="3877721" y="1561159"/>
            <a:ext cx="4433889" cy="1200329"/>
          </a:xfrm>
          <a:prstGeom prst="rect">
            <a:avLst/>
          </a:prstGeom>
        </p:spPr>
        <p:txBody>
          <a:bodyPr wrap="square">
            <a:spAutoFit/>
          </a:bodyPr>
          <a:lstStyle/>
          <a:p>
            <a:pPr algn="ctr"/>
            <a:r>
              <a:rPr lang="en-US" sz="3600" b="1" dirty="0">
                <a:solidFill>
                  <a:srgbClr val="FF0000"/>
                </a:solidFill>
                <a:effectLst>
                  <a:outerShdw blurRad="38100" dist="38100" dir="2700000" algn="tl">
                    <a:srgbClr val="000000">
                      <a:alpha val="43137"/>
                    </a:srgbClr>
                  </a:outerShdw>
                </a:effectLst>
              </a:rPr>
              <a:t>Find out the shape of the matrix</a:t>
            </a:r>
          </a:p>
        </p:txBody>
      </p:sp>
    </p:spTree>
    <p:extLst>
      <p:ext uri="{BB962C8B-B14F-4D97-AF65-F5344CB8AC3E}">
        <p14:creationId xmlns:p14="http://schemas.microsoft.com/office/powerpoint/2010/main" val="4153060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55981" y="725613"/>
            <a:ext cx="9144000" cy="2629984"/>
          </a:xfrm>
          <a:prstGeom prst="rect">
            <a:avLst/>
          </a:prstGeom>
        </p:spPr>
      </p:pic>
      <p:pic>
        <p:nvPicPr>
          <p:cNvPr id="5" name="Picture 4"/>
          <p:cNvPicPr>
            <a:picLocks noChangeAspect="1"/>
          </p:cNvPicPr>
          <p:nvPr/>
        </p:nvPicPr>
        <p:blipFill>
          <a:blip r:embed="rId3"/>
          <a:stretch>
            <a:fillRect/>
          </a:stretch>
        </p:blipFill>
        <p:spPr>
          <a:xfrm>
            <a:off x="2513453" y="3570159"/>
            <a:ext cx="8055427" cy="2286000"/>
          </a:xfrm>
          <a:prstGeom prst="rect">
            <a:avLst/>
          </a:prstGeom>
        </p:spPr>
      </p:pic>
    </p:spTree>
    <p:extLst>
      <p:ext uri="{BB962C8B-B14F-4D97-AF65-F5344CB8AC3E}">
        <p14:creationId xmlns:p14="http://schemas.microsoft.com/office/powerpoint/2010/main" val="2554795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76337" y="1779270"/>
            <a:ext cx="4385431" cy="1737360"/>
          </a:xfrm>
          <a:prstGeom prst="rect">
            <a:avLst/>
          </a:prstGeom>
        </p:spPr>
      </p:pic>
      <p:pic>
        <p:nvPicPr>
          <p:cNvPr id="5" name="Picture 4"/>
          <p:cNvPicPr>
            <a:picLocks noChangeAspect="1"/>
          </p:cNvPicPr>
          <p:nvPr/>
        </p:nvPicPr>
        <p:blipFill>
          <a:blip r:embed="rId3"/>
          <a:stretch>
            <a:fillRect/>
          </a:stretch>
        </p:blipFill>
        <p:spPr>
          <a:xfrm>
            <a:off x="782382" y="407670"/>
            <a:ext cx="6394078" cy="1371600"/>
          </a:xfrm>
          <a:prstGeom prst="rect">
            <a:avLst/>
          </a:prstGeom>
        </p:spPr>
      </p:pic>
      <p:pic>
        <p:nvPicPr>
          <p:cNvPr id="6" name="Picture 5"/>
          <p:cNvPicPr>
            <a:picLocks noChangeAspect="1"/>
          </p:cNvPicPr>
          <p:nvPr/>
        </p:nvPicPr>
        <p:blipFill>
          <a:blip r:embed="rId4"/>
          <a:stretch>
            <a:fillRect/>
          </a:stretch>
        </p:blipFill>
        <p:spPr>
          <a:xfrm>
            <a:off x="5723763" y="3516630"/>
            <a:ext cx="5929461" cy="3108960"/>
          </a:xfrm>
          <a:prstGeom prst="rect">
            <a:avLst/>
          </a:prstGeom>
        </p:spPr>
      </p:pic>
      <p:sp>
        <p:nvSpPr>
          <p:cNvPr id="7" name="Rectangle 6"/>
          <p:cNvSpPr/>
          <p:nvPr/>
        </p:nvSpPr>
        <p:spPr>
          <a:xfrm>
            <a:off x="4254604" y="5494991"/>
            <a:ext cx="4433889" cy="523220"/>
          </a:xfrm>
          <a:prstGeom prst="rect">
            <a:avLst/>
          </a:prstGeom>
        </p:spPr>
        <p:txBody>
          <a:bodyPr wrap="square">
            <a:spAutoFit/>
          </a:bodyPr>
          <a:lstStyle/>
          <a:p>
            <a:pPr algn="ctr"/>
            <a:r>
              <a:rPr lang="en-US" sz="2800" b="1" dirty="0">
                <a:solidFill>
                  <a:srgbClr val="FF0000"/>
                </a:solidFill>
                <a:effectLst>
                  <a:outerShdw blurRad="38100" dist="38100" dir="2700000" algn="tl">
                    <a:srgbClr val="000000">
                      <a:alpha val="43137"/>
                    </a:srgbClr>
                  </a:outerShdw>
                </a:effectLst>
              </a:rPr>
              <a:t>Problem-2</a:t>
            </a:r>
          </a:p>
        </p:txBody>
      </p:sp>
      <p:sp>
        <p:nvSpPr>
          <p:cNvPr id="8" name="Rectangle 7"/>
          <p:cNvSpPr/>
          <p:nvPr/>
        </p:nvSpPr>
        <p:spPr>
          <a:xfrm>
            <a:off x="6270401" y="790299"/>
            <a:ext cx="4433889" cy="861774"/>
          </a:xfrm>
          <a:prstGeom prst="rect">
            <a:avLst/>
          </a:prstGeom>
        </p:spPr>
        <p:txBody>
          <a:bodyPr wrap="square">
            <a:spAutoFit/>
          </a:bodyPr>
          <a:lstStyle/>
          <a:p>
            <a:pPr algn="ctr"/>
            <a:r>
              <a:rPr lang="en-US" sz="2800" b="1" dirty="0">
                <a:solidFill>
                  <a:srgbClr val="FF0000"/>
                </a:solidFill>
                <a:effectLst>
                  <a:outerShdw blurRad="38100" dist="38100" dir="2700000" algn="tl">
                    <a:srgbClr val="000000">
                      <a:alpha val="43137"/>
                    </a:srgbClr>
                  </a:outerShdw>
                </a:effectLst>
              </a:rPr>
              <a:t>Problem-1</a:t>
            </a:r>
          </a:p>
          <a:p>
            <a:pPr algn="ctr"/>
            <a:r>
              <a:rPr lang="en-US" sz="2200" b="1" dirty="0">
                <a:solidFill>
                  <a:schemeClr val="accent5">
                    <a:lumMod val="75000"/>
                  </a:schemeClr>
                </a:solidFill>
                <a:effectLst>
                  <a:outerShdw blurRad="38100" dist="38100" dir="2700000" algn="tl">
                    <a:srgbClr val="000000">
                      <a:alpha val="43137"/>
                    </a:srgbClr>
                  </a:outerShdw>
                </a:effectLst>
              </a:rPr>
              <a:t>To create zero matrix</a:t>
            </a:r>
          </a:p>
        </p:txBody>
      </p:sp>
    </p:spTree>
    <p:extLst>
      <p:ext uri="{BB962C8B-B14F-4D97-AF65-F5344CB8AC3E}">
        <p14:creationId xmlns:p14="http://schemas.microsoft.com/office/powerpoint/2010/main" val="3829019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80281" y="463104"/>
            <a:ext cx="5669280" cy="2979594"/>
          </a:xfrm>
          <a:prstGeom prst="rect">
            <a:avLst/>
          </a:prstGeom>
        </p:spPr>
      </p:pic>
      <p:pic>
        <p:nvPicPr>
          <p:cNvPr id="6" name="Picture 5"/>
          <p:cNvPicPr>
            <a:picLocks noChangeAspect="1"/>
          </p:cNvPicPr>
          <p:nvPr/>
        </p:nvPicPr>
        <p:blipFill>
          <a:blip r:embed="rId3"/>
          <a:stretch>
            <a:fillRect/>
          </a:stretch>
        </p:blipFill>
        <p:spPr>
          <a:xfrm>
            <a:off x="6004554" y="3688080"/>
            <a:ext cx="5586149" cy="2926080"/>
          </a:xfrm>
          <a:prstGeom prst="rect">
            <a:avLst/>
          </a:prstGeom>
        </p:spPr>
      </p:pic>
      <p:sp>
        <p:nvSpPr>
          <p:cNvPr id="5" name="Rectangle 4"/>
          <p:cNvSpPr/>
          <p:nvPr/>
        </p:nvSpPr>
        <p:spPr>
          <a:xfrm>
            <a:off x="5535027" y="393762"/>
            <a:ext cx="3048848" cy="430887"/>
          </a:xfrm>
          <a:prstGeom prst="rect">
            <a:avLst/>
          </a:prstGeom>
        </p:spPr>
        <p:txBody>
          <a:bodyPr wrap="none">
            <a:spAutoFit/>
          </a:bodyPr>
          <a:lstStyle/>
          <a:p>
            <a:r>
              <a:rPr lang="en-US" sz="2200" b="1" dirty="0">
                <a:solidFill>
                  <a:srgbClr val="FF0000"/>
                </a:solidFill>
              </a:rPr>
              <a:t>To create identity matrix</a:t>
            </a:r>
          </a:p>
        </p:txBody>
      </p:sp>
      <p:sp>
        <p:nvSpPr>
          <p:cNvPr id="7" name="Rectangle 6"/>
          <p:cNvSpPr/>
          <p:nvPr/>
        </p:nvSpPr>
        <p:spPr>
          <a:xfrm>
            <a:off x="6074523" y="3318748"/>
            <a:ext cx="5853654" cy="369332"/>
          </a:xfrm>
          <a:prstGeom prst="rect">
            <a:avLst/>
          </a:prstGeom>
        </p:spPr>
        <p:txBody>
          <a:bodyPr wrap="none">
            <a:spAutoFit/>
          </a:bodyPr>
          <a:lstStyle/>
          <a:p>
            <a:r>
              <a:rPr lang="en-US" b="1" dirty="0">
                <a:solidFill>
                  <a:srgbClr val="FF0000"/>
                </a:solidFill>
              </a:rPr>
              <a:t>Reference. https://docs.python.org/3/library/random.html</a:t>
            </a:r>
          </a:p>
        </p:txBody>
      </p:sp>
    </p:spTree>
    <p:extLst>
      <p:ext uri="{BB962C8B-B14F-4D97-AF65-F5344CB8AC3E}">
        <p14:creationId xmlns:p14="http://schemas.microsoft.com/office/powerpoint/2010/main" val="2424919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67334" y="741234"/>
            <a:ext cx="7877906" cy="2194560"/>
          </a:xfrm>
          <a:prstGeom prst="rect">
            <a:avLst/>
          </a:prstGeom>
        </p:spPr>
      </p:pic>
      <p:pic>
        <p:nvPicPr>
          <p:cNvPr id="2" name="Picture 1"/>
          <p:cNvPicPr>
            <a:picLocks noChangeAspect="1"/>
          </p:cNvPicPr>
          <p:nvPr/>
        </p:nvPicPr>
        <p:blipFill>
          <a:blip r:embed="rId3"/>
          <a:stretch>
            <a:fillRect/>
          </a:stretch>
        </p:blipFill>
        <p:spPr>
          <a:xfrm>
            <a:off x="5698649" y="3589401"/>
            <a:ext cx="5893181" cy="2926080"/>
          </a:xfrm>
          <a:prstGeom prst="rect">
            <a:avLst/>
          </a:prstGeom>
        </p:spPr>
      </p:pic>
      <p:sp>
        <p:nvSpPr>
          <p:cNvPr id="3" name="Rectangle 2"/>
          <p:cNvSpPr/>
          <p:nvPr/>
        </p:nvSpPr>
        <p:spPr>
          <a:xfrm>
            <a:off x="4706287" y="404074"/>
            <a:ext cx="7136697" cy="430887"/>
          </a:xfrm>
          <a:prstGeom prst="rect">
            <a:avLst/>
          </a:prstGeom>
        </p:spPr>
        <p:txBody>
          <a:bodyPr wrap="none">
            <a:spAutoFit/>
          </a:bodyPr>
          <a:lstStyle/>
          <a:p>
            <a:r>
              <a:rPr lang="en-US" sz="2200" b="1" dirty="0">
                <a:solidFill>
                  <a:srgbClr val="FF0000"/>
                </a:solidFill>
              </a:rPr>
              <a:t>Reference. https://docs.python.org/3/library/random.html</a:t>
            </a:r>
          </a:p>
        </p:txBody>
      </p:sp>
      <p:sp>
        <p:nvSpPr>
          <p:cNvPr id="5" name="Rectangle 4"/>
          <p:cNvSpPr/>
          <p:nvPr/>
        </p:nvSpPr>
        <p:spPr>
          <a:xfrm>
            <a:off x="3283002" y="3158514"/>
            <a:ext cx="8443081" cy="430887"/>
          </a:xfrm>
          <a:prstGeom prst="rect">
            <a:avLst/>
          </a:prstGeom>
        </p:spPr>
        <p:txBody>
          <a:bodyPr wrap="none">
            <a:spAutoFit/>
          </a:bodyPr>
          <a:lstStyle/>
          <a:p>
            <a:r>
              <a:rPr lang="en-US" sz="2200" b="1" dirty="0">
                <a:solidFill>
                  <a:srgbClr val="FF0000"/>
                </a:solidFill>
              </a:rPr>
              <a:t>Reference. https://www.geeksforgeeks.org/numpy-arrange-in-python/</a:t>
            </a:r>
          </a:p>
        </p:txBody>
      </p:sp>
    </p:spTree>
    <p:extLst>
      <p:ext uri="{BB962C8B-B14F-4D97-AF65-F5344CB8AC3E}">
        <p14:creationId xmlns:p14="http://schemas.microsoft.com/office/powerpoint/2010/main" val="21456214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01065" y="710946"/>
            <a:ext cx="10572750" cy="2400300"/>
          </a:xfrm>
          <a:prstGeom prst="rect">
            <a:avLst/>
          </a:prstGeom>
        </p:spPr>
      </p:pic>
      <p:pic>
        <p:nvPicPr>
          <p:cNvPr id="6" name="Picture 5"/>
          <p:cNvPicPr>
            <a:picLocks noChangeAspect="1"/>
          </p:cNvPicPr>
          <p:nvPr/>
        </p:nvPicPr>
        <p:blipFill>
          <a:blip r:embed="rId3"/>
          <a:stretch>
            <a:fillRect/>
          </a:stretch>
        </p:blipFill>
        <p:spPr>
          <a:xfrm>
            <a:off x="3290697" y="3447288"/>
            <a:ext cx="7817172" cy="2651760"/>
          </a:xfrm>
          <a:prstGeom prst="rect">
            <a:avLst/>
          </a:prstGeom>
        </p:spPr>
      </p:pic>
    </p:spTree>
    <p:extLst>
      <p:ext uri="{BB962C8B-B14F-4D97-AF65-F5344CB8AC3E}">
        <p14:creationId xmlns:p14="http://schemas.microsoft.com/office/powerpoint/2010/main" val="1977170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36481" y="754950"/>
            <a:ext cx="7834132" cy="2834640"/>
          </a:xfrm>
          <a:prstGeom prst="rect">
            <a:avLst/>
          </a:prstGeom>
        </p:spPr>
      </p:pic>
      <p:sp>
        <p:nvSpPr>
          <p:cNvPr id="5" name="Rectangle 4"/>
          <p:cNvSpPr/>
          <p:nvPr/>
        </p:nvSpPr>
        <p:spPr>
          <a:xfrm>
            <a:off x="2550559" y="4432375"/>
            <a:ext cx="7405975" cy="1384995"/>
          </a:xfrm>
          <a:prstGeom prst="rect">
            <a:avLst/>
          </a:prstGeom>
        </p:spPr>
        <p:txBody>
          <a:bodyPr wrap="square">
            <a:spAutoFit/>
          </a:bodyPr>
          <a:lstStyle/>
          <a:p>
            <a:pPr marL="342900" indent="-342900">
              <a:buFontTx/>
              <a:buChar char="-"/>
            </a:pPr>
            <a:r>
              <a:rPr lang="en-US" sz="2800" b="1" dirty="0">
                <a:solidFill>
                  <a:srgbClr val="FF0000"/>
                </a:solidFill>
                <a:effectLst>
                  <a:outerShdw blurRad="38100" dist="38100" dir="2700000" algn="tl">
                    <a:srgbClr val="000000">
                      <a:alpha val="43137"/>
                    </a:srgbClr>
                  </a:outerShdw>
                </a:effectLst>
              </a:rPr>
              <a:t>Do yourself to find the min. value from the given array</a:t>
            </a:r>
          </a:p>
          <a:p>
            <a:pPr marL="342900" indent="-342900">
              <a:buFontTx/>
              <a:buChar char="-"/>
            </a:pPr>
            <a:r>
              <a:rPr lang="en-US" sz="2800" b="1" dirty="0">
                <a:solidFill>
                  <a:srgbClr val="FF0000"/>
                </a:solidFill>
                <a:effectLst>
                  <a:outerShdw blurRad="38100" dist="38100" dir="2700000" algn="tl">
                    <a:srgbClr val="000000">
                      <a:alpha val="43137"/>
                    </a:srgbClr>
                  </a:outerShdw>
                </a:effectLst>
              </a:rPr>
              <a:t>Find the array-index of the smallest number</a:t>
            </a:r>
          </a:p>
        </p:txBody>
      </p:sp>
    </p:spTree>
    <p:extLst>
      <p:ext uri="{BB962C8B-B14F-4D97-AF65-F5344CB8AC3E}">
        <p14:creationId xmlns:p14="http://schemas.microsoft.com/office/powerpoint/2010/main" val="31000220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52384" y="919161"/>
            <a:ext cx="9262731" cy="2560320"/>
          </a:xfrm>
          <a:prstGeom prst="rect">
            <a:avLst/>
          </a:prstGeom>
        </p:spPr>
      </p:pic>
      <p:sp>
        <p:nvSpPr>
          <p:cNvPr id="5" name="Rectangle 4"/>
          <p:cNvSpPr/>
          <p:nvPr/>
        </p:nvSpPr>
        <p:spPr>
          <a:xfrm>
            <a:off x="2550559" y="4432375"/>
            <a:ext cx="7405975" cy="584775"/>
          </a:xfrm>
          <a:prstGeom prst="rect">
            <a:avLst/>
          </a:prstGeom>
        </p:spPr>
        <p:txBody>
          <a:bodyPr wrap="square">
            <a:spAutoFit/>
          </a:bodyPr>
          <a:lstStyle/>
          <a:p>
            <a:pPr marL="342900" indent="-342900">
              <a:buFontTx/>
              <a:buChar char="-"/>
            </a:pPr>
            <a:r>
              <a:rPr lang="en-US" sz="3200" b="1" dirty="0">
                <a:solidFill>
                  <a:srgbClr val="FF0000"/>
                </a:solidFill>
                <a:effectLst>
                  <a:outerShdw blurRad="38100" dist="38100" dir="2700000" algn="tl">
                    <a:srgbClr val="000000">
                      <a:alpha val="43137"/>
                    </a:srgbClr>
                  </a:outerShdw>
                </a:effectLst>
              </a:rPr>
              <a:t>Find out sin, cosine, tan value</a:t>
            </a:r>
          </a:p>
        </p:txBody>
      </p:sp>
    </p:spTree>
    <p:extLst>
      <p:ext uri="{BB962C8B-B14F-4D97-AF65-F5344CB8AC3E}">
        <p14:creationId xmlns:p14="http://schemas.microsoft.com/office/powerpoint/2010/main" val="3098628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927668" y="672654"/>
            <a:ext cx="8129078" cy="2103120"/>
          </a:xfrm>
          <a:prstGeom prst="rect">
            <a:avLst/>
          </a:prstGeom>
        </p:spPr>
      </p:pic>
      <p:cxnSp>
        <p:nvCxnSpPr>
          <p:cNvPr id="7" name="Straight Arrow Connector 6"/>
          <p:cNvCxnSpPr/>
          <p:nvPr/>
        </p:nvCxnSpPr>
        <p:spPr>
          <a:xfrm>
            <a:off x="5010912" y="1929384"/>
            <a:ext cx="2606040" cy="132588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875671" y="3291840"/>
            <a:ext cx="3356465" cy="646331"/>
          </a:xfrm>
          <a:prstGeom prst="rect">
            <a:avLst/>
          </a:prstGeom>
        </p:spPr>
        <p:txBody>
          <a:bodyPr wrap="square">
            <a:spAutoFit/>
          </a:bodyPr>
          <a:lstStyle/>
          <a:p>
            <a:r>
              <a:rPr lang="en-US" sz="3600" b="1" dirty="0">
                <a:solidFill>
                  <a:srgbClr val="FF0000"/>
                </a:solidFill>
                <a:effectLst>
                  <a:outerShdw blurRad="38100" dist="38100" dir="2700000" algn="tl">
                    <a:srgbClr val="000000">
                      <a:alpha val="43137"/>
                    </a:srgbClr>
                  </a:outerShdw>
                </a:effectLst>
              </a:rPr>
              <a:t>?   ?   ?</a:t>
            </a:r>
          </a:p>
        </p:txBody>
      </p:sp>
    </p:spTree>
    <p:extLst>
      <p:ext uri="{BB962C8B-B14F-4D97-AF65-F5344CB8AC3E}">
        <p14:creationId xmlns:p14="http://schemas.microsoft.com/office/powerpoint/2010/main" val="25653952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05807" y="4882896"/>
            <a:ext cx="3356465" cy="1692771"/>
          </a:xfrm>
          <a:prstGeom prst="rect">
            <a:avLst/>
          </a:prstGeom>
        </p:spPr>
        <p:txBody>
          <a:bodyPr wrap="square">
            <a:spAutoFit/>
          </a:bodyPr>
          <a:lstStyle/>
          <a:p>
            <a:r>
              <a:rPr lang="en-US" sz="2600" b="1" dirty="0">
                <a:solidFill>
                  <a:srgbClr val="FF0000"/>
                </a:solidFill>
                <a:effectLst>
                  <a:outerShdw blurRad="38100" dist="38100" dir="2700000" algn="tl">
                    <a:srgbClr val="000000">
                      <a:alpha val="43137"/>
                    </a:srgbClr>
                  </a:outerShdw>
                </a:effectLst>
              </a:rPr>
              <a:t>Broadcast Array: </a:t>
            </a:r>
            <a:r>
              <a:rPr lang="en-US" sz="2600" b="1" dirty="0">
                <a:solidFill>
                  <a:srgbClr val="002060"/>
                </a:solidFill>
                <a:effectLst>
                  <a:outerShdw blurRad="38100" dist="38100" dir="2700000" algn="tl">
                    <a:srgbClr val="000000">
                      <a:alpha val="43137"/>
                    </a:srgbClr>
                  </a:outerShdw>
                </a:effectLst>
              </a:rPr>
              <a:t>if ones to change more than one index value at a time</a:t>
            </a:r>
          </a:p>
        </p:txBody>
      </p:sp>
      <p:cxnSp>
        <p:nvCxnSpPr>
          <p:cNvPr id="7" name="Straight Connector 6"/>
          <p:cNvCxnSpPr/>
          <p:nvPr/>
        </p:nvCxnSpPr>
        <p:spPr>
          <a:xfrm>
            <a:off x="5824728" y="411480"/>
            <a:ext cx="0" cy="6007608"/>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744682" y="393192"/>
            <a:ext cx="4151866" cy="4572000"/>
          </a:xfrm>
          <a:prstGeom prst="rect">
            <a:avLst/>
          </a:prstGeom>
        </p:spPr>
      </p:pic>
      <p:pic>
        <p:nvPicPr>
          <p:cNvPr id="9" name="Picture 8"/>
          <p:cNvPicPr>
            <a:picLocks noChangeAspect="1"/>
          </p:cNvPicPr>
          <p:nvPr/>
        </p:nvPicPr>
        <p:blipFill>
          <a:blip r:embed="rId3"/>
          <a:stretch>
            <a:fillRect/>
          </a:stretch>
        </p:blipFill>
        <p:spPr>
          <a:xfrm>
            <a:off x="6240716" y="1031367"/>
            <a:ext cx="5389981" cy="2468880"/>
          </a:xfrm>
          <a:prstGeom prst="rect">
            <a:avLst/>
          </a:prstGeom>
        </p:spPr>
      </p:pic>
      <p:sp>
        <p:nvSpPr>
          <p:cNvPr id="10" name="Rectangle 9"/>
          <p:cNvSpPr/>
          <p:nvPr/>
        </p:nvSpPr>
        <p:spPr>
          <a:xfrm>
            <a:off x="7649863" y="3636400"/>
            <a:ext cx="3356465" cy="2092881"/>
          </a:xfrm>
          <a:prstGeom prst="rect">
            <a:avLst/>
          </a:prstGeom>
        </p:spPr>
        <p:txBody>
          <a:bodyPr wrap="square">
            <a:spAutoFit/>
          </a:bodyPr>
          <a:lstStyle/>
          <a:p>
            <a:r>
              <a:rPr lang="en-US" sz="2600" b="1" dirty="0">
                <a:solidFill>
                  <a:srgbClr val="FF0000"/>
                </a:solidFill>
                <a:effectLst>
                  <a:outerShdw blurRad="38100" dist="38100" dir="2700000" algn="tl">
                    <a:srgbClr val="000000">
                      <a:alpha val="43137"/>
                    </a:srgbClr>
                  </a:outerShdw>
                </a:effectLst>
              </a:rPr>
              <a:t>Array arithmetic operation</a:t>
            </a:r>
          </a:p>
          <a:p>
            <a:endParaRPr lang="en-US" sz="2600" b="1" dirty="0">
              <a:solidFill>
                <a:srgbClr val="FF0000"/>
              </a:solidFill>
              <a:effectLst>
                <a:outerShdw blurRad="38100" dist="38100" dir="2700000" algn="tl">
                  <a:srgbClr val="000000">
                    <a:alpha val="43137"/>
                  </a:srgbClr>
                </a:outerShdw>
              </a:effectLst>
            </a:endParaRPr>
          </a:p>
          <a:p>
            <a:r>
              <a:rPr lang="en-US" sz="2600" b="1" dirty="0">
                <a:solidFill>
                  <a:srgbClr val="002060"/>
                </a:solidFill>
                <a:effectLst>
                  <a:outerShdw blurRad="38100" dist="38100" dir="2700000" algn="tl">
                    <a:srgbClr val="000000">
                      <a:alpha val="43137"/>
                    </a:srgbClr>
                  </a:outerShdw>
                </a:effectLst>
                <a:sym typeface="Wingdings" panose="05000000000000000000" pitchFamily="2" charset="2"/>
              </a:rPr>
              <a:t>perform -, *, / by yourself</a:t>
            </a:r>
            <a:endParaRPr lang="en-US" sz="2600" b="1" dirty="0">
              <a:solidFill>
                <a:srgbClr val="002060"/>
              </a:solidFill>
              <a:effectLst>
                <a:outerShdw blurRad="38100" dist="38100" dir="2700000" algn="tl">
                  <a:srgbClr val="000000">
                    <a:alpha val="43137"/>
                  </a:srgbClr>
                </a:outerShdw>
              </a:effectLst>
            </a:endParaRPr>
          </a:p>
        </p:txBody>
      </p:sp>
      <p:sp>
        <p:nvSpPr>
          <p:cNvPr id="11" name="Rectangle 10"/>
          <p:cNvSpPr/>
          <p:nvPr/>
        </p:nvSpPr>
        <p:spPr>
          <a:xfrm>
            <a:off x="9941959" y="222640"/>
            <a:ext cx="1926953" cy="508880"/>
          </a:xfrm>
          <a:prstGeom prst="rect">
            <a:avLst/>
          </a:prstGeom>
        </p:spPr>
        <p:txBody>
          <a:bodyPr wrap="square">
            <a:spAutoFit/>
          </a:bodyPr>
          <a:lstStyle/>
          <a:p>
            <a:r>
              <a:rPr lang="en-US" sz="2600" b="1" dirty="0">
                <a:solidFill>
                  <a:srgbClr val="002060"/>
                </a:solidFill>
                <a:effectLst>
                  <a:outerShdw blurRad="38100" dist="38100" dir="2700000" algn="tl">
                    <a:srgbClr val="000000">
                      <a:alpha val="43137"/>
                    </a:srgbClr>
                  </a:outerShdw>
                </a:effectLst>
              </a:rPr>
              <a:t>29/09/2024</a:t>
            </a:r>
          </a:p>
        </p:txBody>
      </p:sp>
    </p:spTree>
    <p:extLst>
      <p:ext uri="{BB962C8B-B14F-4D97-AF65-F5344CB8AC3E}">
        <p14:creationId xmlns:p14="http://schemas.microsoft.com/office/powerpoint/2010/main" val="5317052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80744" y="574054"/>
            <a:ext cx="9537192" cy="3293209"/>
          </a:xfrm>
          <a:prstGeom prst="rect">
            <a:avLst/>
          </a:prstGeom>
        </p:spPr>
        <p:txBody>
          <a:bodyPr wrap="square">
            <a:spAutoFit/>
          </a:bodyPr>
          <a:lstStyle/>
          <a:p>
            <a:pPr algn="just"/>
            <a:r>
              <a:rPr lang="en-US" sz="2400" dirty="0"/>
              <a:t>The </a:t>
            </a:r>
            <a:r>
              <a:rPr lang="en-US" sz="2400" b="1" dirty="0" err="1">
                <a:solidFill>
                  <a:srgbClr val="FF0000"/>
                </a:solidFill>
                <a:effectLst>
                  <a:outerShdw blurRad="38100" dist="38100" dir="2700000" algn="tl">
                    <a:srgbClr val="000000">
                      <a:alpha val="43137"/>
                    </a:srgbClr>
                  </a:outerShdw>
                </a:effectLst>
              </a:rPr>
              <a:t>genfromtxt</a:t>
            </a:r>
            <a:r>
              <a:rPr lang="en-US" sz="2400" b="1" dirty="0">
                <a:solidFill>
                  <a:srgbClr val="FF0000"/>
                </a:solidFill>
                <a:effectLst>
                  <a:outerShdw blurRad="38100" dist="38100" dir="2700000" algn="tl">
                    <a:srgbClr val="000000">
                      <a:alpha val="43137"/>
                    </a:srgbClr>
                  </a:outerShdw>
                </a:effectLst>
              </a:rPr>
              <a:t>() </a:t>
            </a:r>
            <a:r>
              <a:rPr lang="en-US" sz="2400" dirty="0"/>
              <a:t>function is used to load data in a program from a text file. It takes multiple argument values to clean the data of the text file. </a:t>
            </a:r>
          </a:p>
          <a:p>
            <a:pPr algn="just"/>
            <a:r>
              <a:rPr lang="en-US" sz="2400" dirty="0"/>
              <a:t>It also has the ability to deal with missing or null values through the processes of filtering, removing, and replacing.</a:t>
            </a:r>
          </a:p>
          <a:p>
            <a:pPr algn="just"/>
            <a:endParaRPr lang="en-US" sz="1200" dirty="0"/>
          </a:p>
          <a:p>
            <a:pPr algn="just"/>
            <a:r>
              <a:rPr lang="en-US" sz="2400" dirty="0"/>
              <a:t>The </a:t>
            </a:r>
            <a:r>
              <a:rPr lang="en-US" sz="2400" b="1" dirty="0" err="1">
                <a:solidFill>
                  <a:srgbClr val="FF0000"/>
                </a:solidFill>
                <a:effectLst>
                  <a:outerShdw blurRad="38100" dist="38100" dir="2700000" algn="tl">
                    <a:srgbClr val="000000">
                      <a:alpha val="43137"/>
                    </a:srgbClr>
                  </a:outerShdw>
                </a:effectLst>
              </a:rPr>
              <a:t>genfromtxt</a:t>
            </a:r>
            <a:r>
              <a:rPr lang="en-US" sz="2400" b="1" dirty="0">
                <a:solidFill>
                  <a:srgbClr val="FF0000"/>
                </a:solidFill>
                <a:effectLst>
                  <a:outerShdw blurRad="38100" dist="38100" dir="2700000" algn="tl">
                    <a:srgbClr val="000000">
                      <a:alpha val="43137"/>
                    </a:srgbClr>
                  </a:outerShdw>
                </a:effectLst>
              </a:rPr>
              <a:t>() </a:t>
            </a:r>
            <a:r>
              <a:rPr lang="en-US" sz="2400" dirty="0"/>
              <a:t>function from the </a:t>
            </a:r>
            <a:r>
              <a:rPr lang="en-US" sz="2400" dirty="0" err="1"/>
              <a:t>Numpy</a:t>
            </a:r>
            <a:r>
              <a:rPr lang="en-US" sz="2400" dirty="0"/>
              <a:t> module is perfect for </a:t>
            </a:r>
            <a:r>
              <a:rPr lang="en-US" sz="2400" b="1" dirty="0">
                <a:solidFill>
                  <a:schemeClr val="accent6">
                    <a:lumMod val="75000"/>
                  </a:schemeClr>
                </a:solidFill>
                <a:effectLst>
                  <a:outerShdw blurRad="38100" dist="38100" dir="2700000" algn="tl">
                    <a:srgbClr val="000000">
                      <a:alpha val="43137"/>
                    </a:srgbClr>
                  </a:outerShdw>
                </a:effectLst>
              </a:rPr>
              <a:t>data loading and cleaning.</a:t>
            </a:r>
          </a:p>
          <a:p>
            <a:pPr algn="just"/>
            <a:endParaRPr lang="en-US" sz="2400" b="1" dirty="0">
              <a:solidFill>
                <a:schemeClr val="accent6">
                  <a:lumMod val="75000"/>
                </a:schemeClr>
              </a:solidFill>
              <a:effectLst>
                <a:outerShdw blurRad="38100" dist="38100" dir="2700000" algn="tl">
                  <a:srgbClr val="000000">
                    <a:alpha val="43137"/>
                  </a:srgbClr>
                </a:outerShdw>
              </a:effectLst>
            </a:endParaRPr>
          </a:p>
          <a:p>
            <a:pPr algn="ctr"/>
            <a:r>
              <a:rPr lang="en-US" sz="2800" b="1" u="sng" dirty="0">
                <a:solidFill>
                  <a:srgbClr val="7030A0"/>
                </a:solidFill>
                <a:effectLst>
                  <a:outerShdw blurRad="38100" dist="38100" dir="2700000" algn="tl">
                    <a:srgbClr val="000000">
                      <a:alpha val="43137"/>
                    </a:srgbClr>
                  </a:outerShdw>
                </a:effectLst>
              </a:rPr>
              <a:t>From text/notepad/</a:t>
            </a:r>
            <a:r>
              <a:rPr lang="en-US" sz="2800" b="1" u="sng" dirty="0" err="1">
                <a:solidFill>
                  <a:srgbClr val="7030A0"/>
                </a:solidFill>
                <a:effectLst>
                  <a:outerShdw blurRad="38100" dist="38100" dir="2700000" algn="tl">
                    <a:srgbClr val="000000">
                      <a:alpha val="43137"/>
                    </a:srgbClr>
                  </a:outerShdw>
                </a:effectLst>
              </a:rPr>
              <a:t>wordpad</a:t>
            </a:r>
            <a:r>
              <a:rPr lang="en-US" sz="2800" b="1" u="sng" dirty="0">
                <a:solidFill>
                  <a:srgbClr val="7030A0"/>
                </a:solidFill>
                <a:effectLst>
                  <a:outerShdw blurRad="38100" dist="38100" dir="2700000" algn="tl">
                    <a:srgbClr val="000000">
                      <a:alpha val="43137"/>
                    </a:srgbClr>
                  </a:outerShdw>
                </a:effectLst>
              </a:rPr>
              <a:t> file</a:t>
            </a:r>
          </a:p>
        </p:txBody>
      </p:sp>
      <p:pic>
        <p:nvPicPr>
          <p:cNvPr id="6" name="Picture 5"/>
          <p:cNvPicPr>
            <a:picLocks noChangeAspect="1"/>
          </p:cNvPicPr>
          <p:nvPr/>
        </p:nvPicPr>
        <p:blipFill>
          <a:blip r:embed="rId2"/>
          <a:stretch>
            <a:fillRect/>
          </a:stretch>
        </p:blipFill>
        <p:spPr>
          <a:xfrm>
            <a:off x="883535" y="3843909"/>
            <a:ext cx="10623853" cy="2560320"/>
          </a:xfrm>
          <a:prstGeom prst="rect">
            <a:avLst/>
          </a:prstGeom>
        </p:spPr>
      </p:pic>
    </p:spTree>
    <p:extLst>
      <p:ext uri="{BB962C8B-B14F-4D97-AF65-F5344CB8AC3E}">
        <p14:creationId xmlns:p14="http://schemas.microsoft.com/office/powerpoint/2010/main" val="26593752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91178" y="936498"/>
            <a:ext cx="10044755" cy="3657600"/>
          </a:xfrm>
          <a:prstGeom prst="rect">
            <a:avLst/>
          </a:prstGeom>
        </p:spPr>
      </p:pic>
      <p:sp>
        <p:nvSpPr>
          <p:cNvPr id="3" name="Rectangle 2"/>
          <p:cNvSpPr/>
          <p:nvPr/>
        </p:nvSpPr>
        <p:spPr>
          <a:xfrm>
            <a:off x="2423161" y="4989712"/>
            <a:ext cx="7869936" cy="492443"/>
          </a:xfrm>
          <a:prstGeom prst="rect">
            <a:avLst/>
          </a:prstGeom>
        </p:spPr>
        <p:txBody>
          <a:bodyPr wrap="square">
            <a:spAutoFit/>
          </a:bodyPr>
          <a:lstStyle/>
          <a:p>
            <a:r>
              <a:rPr lang="en-US" sz="2600" b="1" dirty="0">
                <a:solidFill>
                  <a:srgbClr val="FF0000"/>
                </a:solidFill>
                <a:effectLst>
                  <a:outerShdw blurRad="38100" dist="38100" dir="2700000" algn="tl">
                    <a:srgbClr val="000000">
                      <a:alpha val="43137"/>
                    </a:srgbClr>
                  </a:outerShdw>
                </a:effectLst>
              </a:rPr>
              <a:t>Previous output type is float, hence convert into </a:t>
            </a:r>
            <a:r>
              <a:rPr lang="en-US" sz="2600" b="1" dirty="0" err="1">
                <a:solidFill>
                  <a:srgbClr val="FF0000"/>
                </a:solidFill>
                <a:effectLst>
                  <a:outerShdw blurRad="38100" dist="38100" dir="2700000" algn="tl">
                    <a:srgbClr val="000000">
                      <a:alpha val="43137"/>
                    </a:srgbClr>
                  </a:outerShdw>
                </a:effectLst>
              </a:rPr>
              <a:t>intger</a:t>
            </a:r>
            <a:endParaRPr lang="en-US" sz="26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842414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2608" y="829902"/>
            <a:ext cx="11612880" cy="2059674"/>
          </a:xfrm>
          <a:prstGeom prst="rect">
            <a:avLst/>
          </a:prstGeom>
        </p:spPr>
      </p:pic>
    </p:spTree>
    <p:extLst>
      <p:ext uri="{BB962C8B-B14F-4D97-AF65-F5344CB8AC3E}">
        <p14:creationId xmlns:p14="http://schemas.microsoft.com/office/powerpoint/2010/main" val="32837747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2849" y="481720"/>
            <a:ext cx="7869936" cy="584775"/>
          </a:xfrm>
          <a:prstGeom prst="rect">
            <a:avLst/>
          </a:prstGeom>
        </p:spPr>
        <p:txBody>
          <a:bodyPr wrap="square">
            <a:spAutoFit/>
          </a:bodyPr>
          <a:lstStyle/>
          <a:p>
            <a:pPr algn="ctr"/>
            <a:r>
              <a:rPr lang="en-US" sz="3200" b="1" dirty="0">
                <a:solidFill>
                  <a:srgbClr val="7030A0"/>
                </a:solidFill>
                <a:effectLst>
                  <a:outerShdw blurRad="38100" dist="38100" dir="2700000" algn="tl">
                    <a:srgbClr val="000000">
                      <a:alpha val="43137"/>
                    </a:srgbClr>
                  </a:outerShdw>
                </a:effectLst>
              </a:rPr>
              <a:t>From CSV</a:t>
            </a:r>
          </a:p>
        </p:txBody>
      </p:sp>
      <p:pic>
        <p:nvPicPr>
          <p:cNvPr id="3" name="Picture 2"/>
          <p:cNvPicPr>
            <a:picLocks noChangeAspect="1"/>
          </p:cNvPicPr>
          <p:nvPr/>
        </p:nvPicPr>
        <p:blipFill>
          <a:blip r:embed="rId2"/>
          <a:stretch>
            <a:fillRect/>
          </a:stretch>
        </p:blipFill>
        <p:spPr>
          <a:xfrm>
            <a:off x="1040511" y="1379790"/>
            <a:ext cx="5442812" cy="4663440"/>
          </a:xfrm>
          <a:prstGeom prst="rect">
            <a:avLst/>
          </a:prstGeom>
        </p:spPr>
      </p:pic>
      <p:sp>
        <p:nvSpPr>
          <p:cNvPr id="4" name="Rectangle 3"/>
          <p:cNvSpPr/>
          <p:nvPr/>
        </p:nvSpPr>
        <p:spPr>
          <a:xfrm>
            <a:off x="7205472" y="2556760"/>
            <a:ext cx="4114800" cy="2092881"/>
          </a:xfrm>
          <a:prstGeom prst="rect">
            <a:avLst/>
          </a:prstGeom>
        </p:spPr>
        <p:txBody>
          <a:bodyPr wrap="square">
            <a:spAutoFit/>
          </a:bodyPr>
          <a:lstStyle/>
          <a:p>
            <a:pPr algn="just"/>
            <a:r>
              <a:rPr lang="en-US" sz="2600" b="1" dirty="0" err="1">
                <a:solidFill>
                  <a:srgbClr val="002060"/>
                </a:solidFill>
              </a:rPr>
              <a:t>loadtxt</a:t>
            </a:r>
            <a:r>
              <a:rPr lang="en-US" sz="2600" b="1" dirty="0">
                <a:solidFill>
                  <a:srgbClr val="002060"/>
                </a:solidFill>
              </a:rPr>
              <a:t> library file has to be imported if you want to load data from csv file. After that “csv” file will be accessed using open() function. </a:t>
            </a:r>
          </a:p>
        </p:txBody>
      </p:sp>
    </p:spTree>
    <p:extLst>
      <p:ext uri="{BB962C8B-B14F-4D97-AF65-F5344CB8AC3E}">
        <p14:creationId xmlns:p14="http://schemas.microsoft.com/office/powerpoint/2010/main" val="36514558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3312" y="858858"/>
            <a:ext cx="10332720" cy="5093702"/>
          </a:xfrm>
          <a:prstGeom prst="rect">
            <a:avLst/>
          </a:prstGeom>
        </p:spPr>
        <p:txBody>
          <a:bodyPr wrap="square">
            <a:spAutoFit/>
          </a:bodyPr>
          <a:lstStyle/>
          <a:p>
            <a:pPr>
              <a:lnSpc>
                <a:spcPct val="125000"/>
              </a:lnSpc>
            </a:pPr>
            <a:r>
              <a:rPr lang="en-US" sz="3200" b="1" dirty="0">
                <a:solidFill>
                  <a:srgbClr val="FF0000"/>
                </a:solidFill>
                <a:effectLst>
                  <a:outerShdw blurRad="38100" dist="38100" dir="2700000" algn="tl">
                    <a:srgbClr val="000000">
                      <a:alpha val="43137"/>
                    </a:srgbClr>
                  </a:outerShdw>
                </a:effectLst>
              </a:rPr>
              <a:t>What is Pandas?</a:t>
            </a:r>
          </a:p>
          <a:p>
            <a:pPr>
              <a:lnSpc>
                <a:spcPct val="125000"/>
              </a:lnSpc>
            </a:pPr>
            <a:r>
              <a:rPr lang="en-US" sz="2400" dirty="0">
                <a:sym typeface="Wingdings" panose="05000000000000000000" pitchFamily="2" charset="2"/>
              </a:rPr>
              <a:t> </a:t>
            </a:r>
            <a:r>
              <a:rPr lang="en-US" sz="2400" dirty="0"/>
              <a:t>Pandas is a Python library used for working with data sets</a:t>
            </a:r>
          </a:p>
          <a:p>
            <a:pPr>
              <a:lnSpc>
                <a:spcPct val="125000"/>
              </a:lnSpc>
            </a:pPr>
            <a:r>
              <a:rPr lang="en-US" sz="2400" dirty="0">
                <a:sym typeface="Wingdings" panose="05000000000000000000" pitchFamily="2" charset="2"/>
              </a:rPr>
              <a:t> </a:t>
            </a:r>
            <a:r>
              <a:rPr lang="en-US" sz="2400" dirty="0"/>
              <a:t>It has functions for analyzing, cleaning, exploring, and manipulating data</a:t>
            </a:r>
          </a:p>
          <a:p>
            <a:pPr marL="342900" indent="-342900">
              <a:lnSpc>
                <a:spcPct val="125000"/>
              </a:lnSpc>
              <a:buFont typeface="Wingdings" panose="05000000000000000000" pitchFamily="2" charset="2"/>
              <a:buChar char="à"/>
            </a:pPr>
            <a:r>
              <a:rPr lang="en-US" sz="2400" dirty="0"/>
              <a:t>The name "Pandas" has a reference to both "Panel Data", and "Python</a:t>
            </a:r>
          </a:p>
          <a:p>
            <a:pPr>
              <a:lnSpc>
                <a:spcPct val="125000"/>
              </a:lnSpc>
            </a:pPr>
            <a:r>
              <a:rPr lang="en-US" sz="2400" dirty="0"/>
              <a:t>     Data Analysis" and was created by Wes McKinney in 2008</a:t>
            </a:r>
          </a:p>
          <a:p>
            <a:pPr>
              <a:lnSpc>
                <a:spcPct val="125000"/>
              </a:lnSpc>
            </a:pPr>
            <a:endParaRPr lang="en-US" sz="1200" dirty="0"/>
          </a:p>
          <a:p>
            <a:pPr>
              <a:lnSpc>
                <a:spcPct val="125000"/>
              </a:lnSpc>
            </a:pPr>
            <a:r>
              <a:rPr lang="en-US" sz="2400" b="1" dirty="0">
                <a:solidFill>
                  <a:srgbClr val="7030A0"/>
                </a:solidFill>
                <a:effectLst>
                  <a:outerShdw blurRad="38100" dist="38100" dir="2700000" algn="tl">
                    <a:srgbClr val="000000">
                      <a:alpha val="43137"/>
                    </a:srgbClr>
                  </a:outerShdw>
                </a:effectLst>
              </a:rPr>
              <a:t>Why Use Pandas?</a:t>
            </a:r>
          </a:p>
          <a:p>
            <a:pPr marL="342900" indent="-342900">
              <a:lnSpc>
                <a:spcPct val="125000"/>
              </a:lnSpc>
              <a:buFont typeface="Wingdings" panose="05000000000000000000" pitchFamily="2" charset="2"/>
              <a:buChar char="à"/>
            </a:pPr>
            <a:r>
              <a:rPr lang="en-US" sz="2400" dirty="0"/>
              <a:t>Pandas allows us to </a:t>
            </a:r>
            <a:r>
              <a:rPr lang="en-US" sz="2400" b="1" dirty="0">
                <a:solidFill>
                  <a:srgbClr val="7030A0"/>
                </a:solidFill>
                <a:effectLst>
                  <a:outerShdw blurRad="38100" dist="38100" dir="2700000" algn="tl">
                    <a:srgbClr val="000000">
                      <a:alpha val="43137"/>
                    </a:srgbClr>
                  </a:outerShdw>
                </a:effectLst>
              </a:rPr>
              <a:t>analyze big data and make conclusions based on </a:t>
            </a:r>
          </a:p>
          <a:p>
            <a:pPr>
              <a:lnSpc>
                <a:spcPct val="125000"/>
              </a:lnSpc>
            </a:pPr>
            <a:r>
              <a:rPr lang="en-US" sz="2400" b="1" dirty="0">
                <a:solidFill>
                  <a:srgbClr val="7030A0"/>
                </a:solidFill>
                <a:effectLst>
                  <a:outerShdw blurRad="38100" dist="38100" dir="2700000" algn="tl">
                    <a:srgbClr val="000000">
                      <a:alpha val="43137"/>
                    </a:srgbClr>
                  </a:outerShdw>
                </a:effectLst>
              </a:rPr>
              <a:t>     statistical theories</a:t>
            </a:r>
            <a:r>
              <a:rPr lang="en-US" sz="2400" dirty="0"/>
              <a:t>.</a:t>
            </a:r>
          </a:p>
          <a:p>
            <a:pPr>
              <a:lnSpc>
                <a:spcPct val="125000"/>
              </a:lnSpc>
            </a:pPr>
            <a:r>
              <a:rPr lang="en-US" sz="2400" dirty="0">
                <a:sym typeface="Wingdings" panose="05000000000000000000" pitchFamily="2" charset="2"/>
              </a:rPr>
              <a:t> </a:t>
            </a:r>
            <a:r>
              <a:rPr lang="en-US" sz="2400" dirty="0"/>
              <a:t>Pandas can </a:t>
            </a:r>
            <a:r>
              <a:rPr lang="en-US" sz="2400" b="1" dirty="0">
                <a:solidFill>
                  <a:schemeClr val="accent6">
                    <a:lumMod val="50000"/>
                  </a:schemeClr>
                </a:solidFill>
                <a:effectLst>
                  <a:outerShdw blurRad="38100" dist="38100" dir="2700000" algn="tl">
                    <a:srgbClr val="000000">
                      <a:alpha val="43137"/>
                    </a:srgbClr>
                  </a:outerShdw>
                </a:effectLst>
              </a:rPr>
              <a:t>clean messy data sets, and make them readable </a:t>
            </a:r>
            <a:r>
              <a:rPr lang="en-US" sz="2400" dirty="0"/>
              <a:t>and relevant</a:t>
            </a:r>
          </a:p>
          <a:p>
            <a:pPr marL="342900" indent="-342900">
              <a:lnSpc>
                <a:spcPct val="125000"/>
              </a:lnSpc>
              <a:buFont typeface="Wingdings" panose="05000000000000000000" pitchFamily="2" charset="2"/>
              <a:buChar char="à"/>
            </a:pPr>
            <a:r>
              <a:rPr lang="en-US" sz="2400" dirty="0"/>
              <a:t>Relevant data is very </a:t>
            </a:r>
            <a:r>
              <a:rPr lang="en-US" sz="2400" b="1" dirty="0">
                <a:solidFill>
                  <a:schemeClr val="accent2">
                    <a:lumMod val="75000"/>
                  </a:schemeClr>
                </a:solidFill>
                <a:effectLst>
                  <a:outerShdw blurRad="38100" dist="38100" dir="2700000" algn="tl">
                    <a:srgbClr val="000000">
                      <a:alpha val="43137"/>
                    </a:srgbClr>
                  </a:outerShdw>
                </a:effectLst>
              </a:rPr>
              <a:t>important in data science</a:t>
            </a:r>
          </a:p>
        </p:txBody>
      </p:sp>
    </p:spTree>
    <p:extLst>
      <p:ext uri="{BB962C8B-B14F-4D97-AF65-F5344CB8AC3E}">
        <p14:creationId xmlns:p14="http://schemas.microsoft.com/office/powerpoint/2010/main" val="40869977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34440" y="883611"/>
            <a:ext cx="9765792" cy="5001369"/>
          </a:xfrm>
          <a:prstGeom prst="rect">
            <a:avLst/>
          </a:prstGeom>
        </p:spPr>
        <p:txBody>
          <a:bodyPr wrap="square">
            <a:spAutoFit/>
          </a:bodyPr>
          <a:lstStyle/>
          <a:p>
            <a:r>
              <a:rPr lang="en-US" sz="3200" b="1" dirty="0">
                <a:solidFill>
                  <a:srgbClr val="FF0000"/>
                </a:solidFill>
                <a:effectLst>
                  <a:outerShdw blurRad="38100" dist="38100" dir="2700000" algn="tl">
                    <a:srgbClr val="000000">
                      <a:alpha val="43137"/>
                    </a:srgbClr>
                  </a:outerShdw>
                </a:effectLst>
              </a:rPr>
              <a:t>What Can Pandas Do?</a:t>
            </a:r>
          </a:p>
          <a:p>
            <a:endParaRPr lang="en-US" sz="1200" b="1" dirty="0">
              <a:solidFill>
                <a:srgbClr val="FF0000"/>
              </a:solidFill>
              <a:effectLst>
                <a:outerShdw blurRad="38100" dist="38100" dir="2700000" algn="tl">
                  <a:srgbClr val="000000">
                    <a:alpha val="43137"/>
                  </a:srgbClr>
                </a:outerShdw>
              </a:effectLst>
            </a:endParaRPr>
          </a:p>
          <a:p>
            <a:pPr>
              <a:lnSpc>
                <a:spcPct val="125000"/>
              </a:lnSpc>
            </a:pPr>
            <a:r>
              <a:rPr lang="en-US" sz="2600" dirty="0"/>
              <a:t>Pandas gives you answers about the data. Like:</a:t>
            </a:r>
          </a:p>
          <a:p>
            <a:pPr>
              <a:lnSpc>
                <a:spcPct val="125000"/>
              </a:lnSpc>
            </a:pPr>
            <a:r>
              <a:rPr lang="en-US" sz="2600" dirty="0">
                <a:sym typeface="Wingdings" panose="05000000000000000000" pitchFamily="2" charset="2"/>
              </a:rPr>
              <a:t>  </a:t>
            </a:r>
            <a:r>
              <a:rPr lang="en-US" sz="2600" dirty="0"/>
              <a:t>Is there a correlation between two or more columns?</a:t>
            </a:r>
          </a:p>
          <a:p>
            <a:pPr>
              <a:lnSpc>
                <a:spcPct val="125000"/>
              </a:lnSpc>
            </a:pPr>
            <a:r>
              <a:rPr lang="en-US" sz="2600" dirty="0">
                <a:sym typeface="Wingdings" panose="05000000000000000000" pitchFamily="2" charset="2"/>
              </a:rPr>
              <a:t>  </a:t>
            </a:r>
            <a:r>
              <a:rPr lang="en-US" sz="2600" dirty="0"/>
              <a:t>What is average value?</a:t>
            </a:r>
          </a:p>
          <a:p>
            <a:pPr>
              <a:lnSpc>
                <a:spcPct val="125000"/>
              </a:lnSpc>
            </a:pPr>
            <a:r>
              <a:rPr lang="en-US" sz="2600" dirty="0">
                <a:sym typeface="Wingdings" panose="05000000000000000000" pitchFamily="2" charset="2"/>
              </a:rPr>
              <a:t>  </a:t>
            </a:r>
            <a:r>
              <a:rPr lang="en-US" sz="2600" dirty="0"/>
              <a:t>Max value?</a:t>
            </a:r>
          </a:p>
          <a:p>
            <a:pPr marL="457200" indent="-457200">
              <a:lnSpc>
                <a:spcPct val="125000"/>
              </a:lnSpc>
              <a:buFont typeface="Wingdings" panose="05000000000000000000" pitchFamily="2" charset="2"/>
              <a:buChar char="à"/>
            </a:pPr>
            <a:r>
              <a:rPr lang="en-US" sz="2600" dirty="0"/>
              <a:t>Min value?</a:t>
            </a:r>
          </a:p>
          <a:p>
            <a:pPr>
              <a:lnSpc>
                <a:spcPct val="125000"/>
              </a:lnSpc>
            </a:pPr>
            <a:endParaRPr lang="en-US" sz="1200" dirty="0"/>
          </a:p>
          <a:p>
            <a:pPr algn="just">
              <a:lnSpc>
                <a:spcPct val="125000"/>
              </a:lnSpc>
            </a:pPr>
            <a:r>
              <a:rPr lang="en-US" sz="2600" dirty="0"/>
              <a:t>Pandas are also able to </a:t>
            </a:r>
            <a:r>
              <a:rPr lang="en-US" sz="2600" b="1" dirty="0">
                <a:solidFill>
                  <a:srgbClr val="00B0F0"/>
                </a:solidFill>
                <a:effectLst>
                  <a:outerShdw blurRad="38100" dist="38100" dir="2700000" algn="tl">
                    <a:srgbClr val="000000">
                      <a:alpha val="43137"/>
                    </a:srgbClr>
                  </a:outerShdw>
                </a:effectLst>
              </a:rPr>
              <a:t>delete rows that are not relevant</a:t>
            </a:r>
            <a:r>
              <a:rPr lang="en-US" sz="2600" dirty="0"/>
              <a:t>, or contains wrong values, like empty or NULL values. This is called </a:t>
            </a:r>
            <a:r>
              <a:rPr lang="en-US" sz="2600" b="1" i="1" dirty="0">
                <a:solidFill>
                  <a:srgbClr val="7030A0"/>
                </a:solidFill>
                <a:effectLst>
                  <a:outerShdw blurRad="38100" dist="38100" dir="2700000" algn="tl">
                    <a:srgbClr val="000000">
                      <a:alpha val="43137"/>
                    </a:srgbClr>
                  </a:outerShdw>
                </a:effectLst>
              </a:rPr>
              <a:t>cleaning</a:t>
            </a:r>
            <a:r>
              <a:rPr lang="en-US" sz="2600" dirty="0"/>
              <a:t> the data.</a:t>
            </a:r>
          </a:p>
        </p:txBody>
      </p:sp>
    </p:spTree>
    <p:extLst>
      <p:ext uri="{BB962C8B-B14F-4D97-AF65-F5344CB8AC3E}">
        <p14:creationId xmlns:p14="http://schemas.microsoft.com/office/powerpoint/2010/main" val="38308827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6464" y="712554"/>
            <a:ext cx="9573768" cy="4093428"/>
          </a:xfrm>
          <a:prstGeom prst="rect">
            <a:avLst/>
          </a:prstGeom>
        </p:spPr>
        <p:txBody>
          <a:bodyPr wrap="square">
            <a:spAutoFit/>
          </a:bodyPr>
          <a:lstStyle/>
          <a:p>
            <a:r>
              <a:rPr lang="en-US" sz="3200" b="1" dirty="0">
                <a:solidFill>
                  <a:srgbClr val="FF0000"/>
                </a:solidFill>
                <a:effectLst>
                  <a:outerShdw blurRad="38100" dist="38100" dir="2700000" algn="tl">
                    <a:srgbClr val="000000">
                      <a:alpha val="43137"/>
                    </a:srgbClr>
                  </a:outerShdw>
                </a:effectLst>
              </a:rPr>
              <a:t>Data Cleaning</a:t>
            </a:r>
          </a:p>
          <a:p>
            <a:endParaRPr lang="en-US" sz="1200" b="1" dirty="0">
              <a:solidFill>
                <a:srgbClr val="FF0000"/>
              </a:solidFill>
              <a:effectLst>
                <a:outerShdw blurRad="38100" dist="38100" dir="2700000" algn="tl">
                  <a:srgbClr val="000000">
                    <a:alpha val="43137"/>
                  </a:srgbClr>
                </a:outerShdw>
              </a:effectLst>
            </a:endParaRPr>
          </a:p>
          <a:p>
            <a:pPr>
              <a:lnSpc>
                <a:spcPct val="150000"/>
              </a:lnSpc>
            </a:pPr>
            <a:r>
              <a:rPr lang="en-US" sz="2400" dirty="0"/>
              <a:t>Data cleaning means fixing bad data in your data set.</a:t>
            </a:r>
          </a:p>
          <a:p>
            <a:pPr>
              <a:lnSpc>
                <a:spcPct val="150000"/>
              </a:lnSpc>
            </a:pPr>
            <a:r>
              <a:rPr lang="en-US" sz="2400" dirty="0"/>
              <a:t>Bad data could be:  </a:t>
            </a:r>
          </a:p>
          <a:p>
            <a:pPr lvl="1">
              <a:lnSpc>
                <a:spcPct val="150000"/>
              </a:lnSpc>
              <a:buFont typeface="Arial" panose="020B0604020202020204" pitchFamily="34" charset="0"/>
              <a:buChar char="•"/>
            </a:pPr>
            <a:r>
              <a:rPr lang="en-US" sz="2400" dirty="0"/>
              <a:t> Empty cells</a:t>
            </a:r>
          </a:p>
          <a:p>
            <a:pPr lvl="1">
              <a:lnSpc>
                <a:spcPct val="150000"/>
              </a:lnSpc>
              <a:buFont typeface="Arial" panose="020B0604020202020204" pitchFamily="34" charset="0"/>
              <a:buChar char="•"/>
            </a:pPr>
            <a:r>
              <a:rPr lang="en-US" sz="2400" dirty="0"/>
              <a:t> Data in wrong format</a:t>
            </a:r>
          </a:p>
          <a:p>
            <a:pPr lvl="1">
              <a:lnSpc>
                <a:spcPct val="150000"/>
              </a:lnSpc>
              <a:buFont typeface="Arial" panose="020B0604020202020204" pitchFamily="34" charset="0"/>
              <a:buChar char="•"/>
            </a:pPr>
            <a:r>
              <a:rPr lang="en-US" sz="2400" dirty="0"/>
              <a:t> Wrong data</a:t>
            </a:r>
          </a:p>
          <a:p>
            <a:pPr lvl="1">
              <a:lnSpc>
                <a:spcPct val="150000"/>
              </a:lnSpc>
              <a:buFont typeface="Arial" panose="020B0604020202020204" pitchFamily="34" charset="0"/>
              <a:buChar char="•"/>
            </a:pPr>
            <a:r>
              <a:rPr lang="en-US" sz="2400" dirty="0"/>
              <a:t> Duplicates</a:t>
            </a:r>
          </a:p>
        </p:txBody>
      </p:sp>
    </p:spTree>
    <p:extLst>
      <p:ext uri="{BB962C8B-B14F-4D97-AF65-F5344CB8AC3E}">
        <p14:creationId xmlns:p14="http://schemas.microsoft.com/office/powerpoint/2010/main" val="14183065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99541" y="696657"/>
            <a:ext cx="5217813" cy="3200400"/>
          </a:xfrm>
          <a:prstGeom prst="rect">
            <a:avLst/>
          </a:prstGeom>
        </p:spPr>
      </p:pic>
      <p:sp>
        <p:nvSpPr>
          <p:cNvPr id="5" name="Rectangle 4"/>
          <p:cNvSpPr/>
          <p:nvPr/>
        </p:nvSpPr>
        <p:spPr>
          <a:xfrm>
            <a:off x="1353312" y="2816352"/>
            <a:ext cx="347472" cy="1188720"/>
          </a:xfrm>
          <a:prstGeom prst="rect">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noFill/>
            </a:endParaRPr>
          </a:p>
        </p:txBody>
      </p:sp>
      <p:cxnSp>
        <p:nvCxnSpPr>
          <p:cNvPr id="7" name="Straight Arrow Connector 6"/>
          <p:cNvCxnSpPr/>
          <p:nvPr/>
        </p:nvCxnSpPr>
        <p:spPr>
          <a:xfrm flipH="1">
            <a:off x="1216152" y="3897057"/>
            <a:ext cx="329184" cy="76638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31520" y="4663440"/>
            <a:ext cx="2121408" cy="67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By default index</a:t>
            </a:r>
          </a:p>
        </p:txBody>
      </p:sp>
      <p:cxnSp>
        <p:nvCxnSpPr>
          <p:cNvPr id="10" name="Straight Connector 9"/>
          <p:cNvCxnSpPr/>
          <p:nvPr/>
        </p:nvCxnSpPr>
        <p:spPr>
          <a:xfrm flipH="1">
            <a:off x="6254496" y="256032"/>
            <a:ext cx="0" cy="6291072"/>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3"/>
          <a:stretch>
            <a:fillRect/>
          </a:stretch>
        </p:blipFill>
        <p:spPr>
          <a:xfrm>
            <a:off x="6424821" y="1755648"/>
            <a:ext cx="5505053" cy="2651760"/>
          </a:xfrm>
          <a:prstGeom prst="rect">
            <a:avLst/>
          </a:prstGeom>
        </p:spPr>
      </p:pic>
      <p:sp>
        <p:nvSpPr>
          <p:cNvPr id="13" name="Rectangle 12"/>
          <p:cNvSpPr/>
          <p:nvPr/>
        </p:nvSpPr>
        <p:spPr>
          <a:xfrm>
            <a:off x="6946392" y="3218688"/>
            <a:ext cx="277368" cy="932688"/>
          </a:xfrm>
          <a:prstGeom prst="rect">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noFill/>
            </a:endParaRPr>
          </a:p>
        </p:txBody>
      </p:sp>
      <p:cxnSp>
        <p:nvCxnSpPr>
          <p:cNvPr id="14" name="Straight Arrow Connector 13"/>
          <p:cNvCxnSpPr/>
          <p:nvPr/>
        </p:nvCxnSpPr>
        <p:spPr>
          <a:xfrm>
            <a:off x="7065264" y="4087368"/>
            <a:ext cx="1383792" cy="9135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7842504" y="5050057"/>
            <a:ext cx="2121408" cy="67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Customized</a:t>
            </a:r>
          </a:p>
          <a:p>
            <a:pPr algn="ctr"/>
            <a:r>
              <a:rPr lang="en-US" sz="2400" b="1" dirty="0"/>
              <a:t>index</a:t>
            </a:r>
          </a:p>
        </p:txBody>
      </p:sp>
    </p:spTree>
    <p:extLst>
      <p:ext uri="{BB962C8B-B14F-4D97-AF65-F5344CB8AC3E}">
        <p14:creationId xmlns:p14="http://schemas.microsoft.com/office/powerpoint/2010/main" val="27403312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8620" y="1552002"/>
            <a:ext cx="11449367" cy="3840480"/>
          </a:xfrm>
          <a:prstGeom prst="rect">
            <a:avLst/>
          </a:prstGeom>
        </p:spPr>
      </p:pic>
    </p:spTree>
    <p:extLst>
      <p:ext uri="{BB962C8B-B14F-4D97-AF65-F5344CB8AC3E}">
        <p14:creationId xmlns:p14="http://schemas.microsoft.com/office/powerpoint/2010/main" val="40450441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30174" y="518541"/>
            <a:ext cx="5242965" cy="3383280"/>
          </a:xfrm>
          <a:prstGeom prst="rect">
            <a:avLst/>
          </a:prstGeom>
        </p:spPr>
      </p:pic>
      <p:pic>
        <p:nvPicPr>
          <p:cNvPr id="5" name="Picture 4"/>
          <p:cNvPicPr>
            <a:picLocks noChangeAspect="1"/>
          </p:cNvPicPr>
          <p:nvPr/>
        </p:nvPicPr>
        <p:blipFill>
          <a:blip r:embed="rId3"/>
          <a:stretch>
            <a:fillRect/>
          </a:stretch>
        </p:blipFill>
        <p:spPr>
          <a:xfrm>
            <a:off x="6159435" y="3320224"/>
            <a:ext cx="5577840" cy="3085399"/>
          </a:xfrm>
          <a:prstGeom prst="rect">
            <a:avLst/>
          </a:prstGeom>
        </p:spPr>
      </p:pic>
    </p:spTree>
    <p:extLst>
      <p:ext uri="{BB962C8B-B14F-4D97-AF65-F5344CB8AC3E}">
        <p14:creationId xmlns:p14="http://schemas.microsoft.com/office/powerpoint/2010/main" val="472602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88310" y="1397508"/>
            <a:ext cx="4709158" cy="3931920"/>
          </a:xfrm>
          <a:prstGeom prst="rect">
            <a:avLst/>
          </a:prstGeom>
        </p:spPr>
      </p:pic>
      <p:pic>
        <p:nvPicPr>
          <p:cNvPr id="3" name="Picture 2"/>
          <p:cNvPicPr>
            <a:picLocks noChangeAspect="1"/>
          </p:cNvPicPr>
          <p:nvPr/>
        </p:nvPicPr>
        <p:blipFill>
          <a:blip r:embed="rId3"/>
          <a:stretch>
            <a:fillRect/>
          </a:stretch>
        </p:blipFill>
        <p:spPr>
          <a:xfrm>
            <a:off x="6668258" y="401382"/>
            <a:ext cx="4377302" cy="6035040"/>
          </a:xfrm>
          <a:prstGeom prst="rect">
            <a:avLst/>
          </a:prstGeom>
        </p:spPr>
      </p:pic>
    </p:spTree>
    <p:extLst>
      <p:ext uri="{BB962C8B-B14F-4D97-AF65-F5344CB8AC3E}">
        <p14:creationId xmlns:p14="http://schemas.microsoft.com/office/powerpoint/2010/main" val="5151117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04822" y="413385"/>
            <a:ext cx="8688885" cy="6035040"/>
          </a:xfrm>
          <a:prstGeom prst="rect">
            <a:avLst/>
          </a:prstGeom>
        </p:spPr>
      </p:pic>
    </p:spTree>
    <p:extLst>
      <p:ext uri="{BB962C8B-B14F-4D97-AF65-F5344CB8AC3E}">
        <p14:creationId xmlns:p14="http://schemas.microsoft.com/office/powerpoint/2010/main" val="37247522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22169" y="228600"/>
            <a:ext cx="5553157" cy="6400800"/>
          </a:xfrm>
          <a:prstGeom prst="rect">
            <a:avLst/>
          </a:prstGeom>
        </p:spPr>
      </p:pic>
      <p:sp>
        <p:nvSpPr>
          <p:cNvPr id="4" name="Rectangle 3"/>
          <p:cNvSpPr/>
          <p:nvPr/>
        </p:nvSpPr>
        <p:spPr>
          <a:xfrm>
            <a:off x="7205472" y="1674549"/>
            <a:ext cx="4453128" cy="2523768"/>
          </a:xfrm>
          <a:prstGeom prst="rect">
            <a:avLst/>
          </a:prstGeom>
        </p:spPr>
        <p:txBody>
          <a:bodyPr wrap="square">
            <a:spAutoFit/>
          </a:bodyPr>
          <a:lstStyle/>
          <a:p>
            <a:r>
              <a:rPr lang="en-US" sz="2400" dirty="0"/>
              <a:t>Another way of dealing with empty cells is to insert a new value instead.</a:t>
            </a:r>
          </a:p>
          <a:p>
            <a:endParaRPr lang="en-US" sz="1200" dirty="0"/>
          </a:p>
          <a:p>
            <a:r>
              <a:rPr lang="en-US" sz="2400" b="1" dirty="0">
                <a:solidFill>
                  <a:srgbClr val="FF0000"/>
                </a:solidFill>
                <a:effectLst>
                  <a:outerShdw blurRad="38100" dist="38100" dir="2700000" algn="tl">
                    <a:srgbClr val="000000">
                      <a:alpha val="43137"/>
                    </a:srgbClr>
                  </a:outerShdw>
                </a:effectLst>
              </a:rPr>
              <a:t>The </a:t>
            </a:r>
            <a:r>
              <a:rPr lang="en-US" sz="2400" b="1" dirty="0" err="1">
                <a:solidFill>
                  <a:srgbClr val="FF0000"/>
                </a:solidFill>
                <a:effectLst>
                  <a:outerShdw blurRad="38100" dist="38100" dir="2700000" algn="tl">
                    <a:srgbClr val="000000">
                      <a:alpha val="43137"/>
                    </a:srgbClr>
                  </a:outerShdw>
                </a:effectLst>
              </a:rPr>
              <a:t>fillna</a:t>
            </a:r>
            <a:r>
              <a:rPr lang="en-US" sz="2400" b="1" dirty="0">
                <a:solidFill>
                  <a:srgbClr val="FF0000"/>
                </a:solidFill>
                <a:effectLst>
                  <a:outerShdw blurRad="38100" dist="38100" dir="2700000" algn="tl">
                    <a:srgbClr val="000000">
                      <a:alpha val="43137"/>
                    </a:srgbClr>
                  </a:outerShdw>
                </a:effectLst>
              </a:rPr>
              <a:t>() method allows us to replace </a:t>
            </a:r>
            <a:r>
              <a:rPr lang="en-US" sz="2600" b="1" u="sng" dirty="0">
                <a:solidFill>
                  <a:srgbClr val="7030A0"/>
                </a:solidFill>
                <a:effectLst>
                  <a:outerShdw blurRad="38100" dist="38100" dir="2700000" algn="tl">
                    <a:srgbClr val="000000">
                      <a:alpha val="43137"/>
                    </a:srgbClr>
                  </a:outerShdw>
                </a:effectLst>
              </a:rPr>
              <a:t>all empty cells </a:t>
            </a:r>
            <a:r>
              <a:rPr lang="en-US" sz="2400" b="1" dirty="0">
                <a:solidFill>
                  <a:srgbClr val="FF0000"/>
                </a:solidFill>
                <a:effectLst>
                  <a:outerShdw blurRad="38100" dist="38100" dir="2700000" algn="tl">
                    <a:srgbClr val="000000">
                      <a:alpha val="43137"/>
                    </a:srgbClr>
                  </a:outerShdw>
                </a:effectLst>
              </a:rPr>
              <a:t>with a value</a:t>
            </a:r>
          </a:p>
        </p:txBody>
      </p:sp>
      <p:sp>
        <p:nvSpPr>
          <p:cNvPr id="5" name="Rectangle 4"/>
          <p:cNvSpPr/>
          <p:nvPr/>
        </p:nvSpPr>
        <p:spPr>
          <a:xfrm>
            <a:off x="1837944" y="1060704"/>
            <a:ext cx="3255264" cy="237744"/>
          </a:xfrm>
          <a:prstGeom prst="rect">
            <a:avLst/>
          </a:prstGeom>
          <a:noFill/>
          <a:ln w="38100">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flipV="1">
            <a:off x="5184648" y="1216152"/>
            <a:ext cx="2075688" cy="18745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9941959" y="222640"/>
            <a:ext cx="1926953" cy="508880"/>
          </a:xfrm>
          <a:prstGeom prst="rect">
            <a:avLst/>
          </a:prstGeom>
        </p:spPr>
        <p:txBody>
          <a:bodyPr wrap="square">
            <a:spAutoFit/>
          </a:bodyPr>
          <a:lstStyle/>
          <a:p>
            <a:r>
              <a:rPr lang="en-US" sz="2600" b="1" dirty="0">
                <a:solidFill>
                  <a:srgbClr val="002060"/>
                </a:solidFill>
                <a:effectLst>
                  <a:outerShdw blurRad="38100" dist="38100" dir="2700000" algn="tl">
                    <a:srgbClr val="000000">
                      <a:alpha val="43137"/>
                    </a:srgbClr>
                  </a:outerShdw>
                </a:effectLst>
              </a:rPr>
              <a:t>02/10/2024</a:t>
            </a:r>
          </a:p>
        </p:txBody>
      </p:sp>
    </p:spTree>
    <p:extLst>
      <p:ext uri="{BB962C8B-B14F-4D97-AF65-F5344CB8AC3E}">
        <p14:creationId xmlns:p14="http://schemas.microsoft.com/office/powerpoint/2010/main" val="40638710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10685" y="276606"/>
            <a:ext cx="4608969" cy="6309360"/>
          </a:xfrm>
          <a:prstGeom prst="rect">
            <a:avLst/>
          </a:prstGeom>
        </p:spPr>
      </p:pic>
      <p:sp>
        <p:nvSpPr>
          <p:cNvPr id="3" name="Rectangle 2"/>
          <p:cNvSpPr/>
          <p:nvPr/>
        </p:nvSpPr>
        <p:spPr>
          <a:xfrm>
            <a:off x="1774693" y="950976"/>
            <a:ext cx="4543811" cy="237744"/>
          </a:xfrm>
          <a:prstGeom prst="rect">
            <a:avLst/>
          </a:prstGeom>
          <a:noFill/>
          <a:ln w="38100">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60000"/>
                  <a:lumOff val="40000"/>
                </a:schemeClr>
              </a:solidFill>
            </a:endParaRPr>
          </a:p>
        </p:txBody>
      </p:sp>
      <p:sp>
        <p:nvSpPr>
          <p:cNvPr id="4" name="Rectangle 3"/>
          <p:cNvSpPr/>
          <p:nvPr/>
        </p:nvSpPr>
        <p:spPr>
          <a:xfrm>
            <a:off x="7123176" y="3128445"/>
            <a:ext cx="4453128" cy="1077218"/>
          </a:xfrm>
          <a:prstGeom prst="rect">
            <a:avLst/>
          </a:prstGeom>
        </p:spPr>
        <p:txBody>
          <a:bodyPr wrap="square">
            <a:spAutoFit/>
          </a:bodyPr>
          <a:lstStyle/>
          <a:p>
            <a:pPr algn="ctr"/>
            <a:r>
              <a:rPr lang="en-US" sz="3200" b="1" dirty="0">
                <a:effectLst>
                  <a:outerShdw blurRad="38100" dist="38100" dir="2700000" algn="tl">
                    <a:srgbClr val="000000">
                      <a:alpha val="43137"/>
                    </a:srgbClr>
                  </a:outerShdw>
                </a:effectLst>
              </a:rPr>
              <a:t>If you want to specify any column</a:t>
            </a:r>
            <a:endParaRPr lang="en-US" sz="3200" b="1" dirty="0">
              <a:solidFill>
                <a:srgbClr val="FF0000"/>
              </a:solidFill>
              <a:effectLst>
                <a:outerShdw blurRad="38100" dist="38100" dir="2700000" algn="tl">
                  <a:srgbClr val="000000">
                    <a:alpha val="43137"/>
                  </a:srgbClr>
                </a:outerShdw>
              </a:effectLst>
            </a:endParaRPr>
          </a:p>
        </p:txBody>
      </p:sp>
      <p:cxnSp>
        <p:nvCxnSpPr>
          <p:cNvPr id="5" name="Straight Arrow Connector 4"/>
          <p:cNvCxnSpPr/>
          <p:nvPr/>
        </p:nvCxnSpPr>
        <p:spPr>
          <a:xfrm flipH="1" flipV="1">
            <a:off x="4014216" y="1188720"/>
            <a:ext cx="4910328" cy="202996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5175504" y="6080760"/>
            <a:ext cx="11430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28016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3643" y="263271"/>
            <a:ext cx="4328261" cy="6309360"/>
          </a:xfrm>
          <a:prstGeom prst="rect">
            <a:avLst/>
          </a:prstGeom>
        </p:spPr>
      </p:pic>
      <p:sp>
        <p:nvSpPr>
          <p:cNvPr id="3" name="Rectangle 2"/>
          <p:cNvSpPr/>
          <p:nvPr/>
        </p:nvSpPr>
        <p:spPr>
          <a:xfrm>
            <a:off x="719805" y="914400"/>
            <a:ext cx="4543811" cy="237744"/>
          </a:xfrm>
          <a:prstGeom prst="rect">
            <a:avLst/>
          </a:prstGeom>
          <a:noFill/>
          <a:ln w="381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60000"/>
                  <a:lumOff val="40000"/>
                </a:schemeClr>
              </a:solidFill>
            </a:endParaRPr>
          </a:p>
        </p:txBody>
      </p:sp>
      <p:sp>
        <p:nvSpPr>
          <p:cNvPr id="4" name="Rectangle 3"/>
          <p:cNvSpPr/>
          <p:nvPr/>
        </p:nvSpPr>
        <p:spPr>
          <a:xfrm>
            <a:off x="7123176" y="3256461"/>
            <a:ext cx="4453128" cy="1569660"/>
          </a:xfrm>
          <a:prstGeom prst="rect">
            <a:avLst/>
          </a:prstGeom>
        </p:spPr>
        <p:txBody>
          <a:bodyPr wrap="square">
            <a:spAutoFit/>
          </a:bodyPr>
          <a:lstStyle/>
          <a:p>
            <a:pPr algn="ctr"/>
            <a:r>
              <a:rPr lang="en-US" sz="3200" b="1" dirty="0">
                <a:effectLst>
                  <a:outerShdw blurRad="38100" dist="38100" dir="2700000" algn="tl">
                    <a:srgbClr val="000000">
                      <a:alpha val="43137"/>
                    </a:srgbClr>
                  </a:outerShdw>
                </a:effectLst>
              </a:rPr>
              <a:t>If you want to specify any column and </a:t>
            </a:r>
            <a:r>
              <a:rPr lang="en-US" sz="3200" b="1" i="1" u="sng" dirty="0">
                <a:solidFill>
                  <a:schemeClr val="accent2">
                    <a:lumMod val="75000"/>
                  </a:schemeClr>
                </a:solidFill>
                <a:effectLst>
                  <a:outerShdw blurRad="38100" dist="38100" dir="2700000" algn="tl">
                    <a:srgbClr val="000000">
                      <a:alpha val="43137"/>
                    </a:srgbClr>
                  </a:outerShdw>
                </a:effectLst>
              </a:rPr>
              <a:t>mean value</a:t>
            </a:r>
          </a:p>
        </p:txBody>
      </p:sp>
      <p:cxnSp>
        <p:nvCxnSpPr>
          <p:cNvPr id="5" name="Straight Arrow Connector 4"/>
          <p:cNvCxnSpPr/>
          <p:nvPr/>
        </p:nvCxnSpPr>
        <p:spPr>
          <a:xfrm flipH="1" flipV="1">
            <a:off x="5263616" y="1033272"/>
            <a:ext cx="3514624" cy="238467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6931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51376" y="2570661"/>
            <a:ext cx="4453128" cy="830997"/>
          </a:xfrm>
          <a:prstGeom prst="rect">
            <a:avLst/>
          </a:prstGeom>
        </p:spPr>
        <p:txBody>
          <a:bodyPr wrap="square">
            <a:spAutoFit/>
          </a:bodyPr>
          <a:lstStyle/>
          <a:p>
            <a:pPr algn="ctr"/>
            <a:r>
              <a:rPr lang="en-US" sz="4800" b="1" dirty="0">
                <a:solidFill>
                  <a:srgbClr val="FF0000"/>
                </a:solidFill>
                <a:effectLst>
                  <a:outerShdw blurRad="38100" dist="38100" dir="2700000" algn="tl">
                    <a:srgbClr val="000000">
                      <a:alpha val="43137"/>
                    </a:srgbClr>
                  </a:outerShdw>
                </a:effectLst>
              </a:rPr>
              <a:t>Find median</a:t>
            </a:r>
            <a:endParaRPr lang="en-US" sz="4800" b="1" i="1" u="sng"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02281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51376" y="2570661"/>
            <a:ext cx="4453128" cy="830997"/>
          </a:xfrm>
          <a:prstGeom prst="rect">
            <a:avLst/>
          </a:prstGeom>
        </p:spPr>
        <p:txBody>
          <a:bodyPr wrap="square">
            <a:spAutoFit/>
          </a:bodyPr>
          <a:lstStyle/>
          <a:p>
            <a:pPr algn="ctr"/>
            <a:r>
              <a:rPr lang="en-US" sz="4800" b="1" dirty="0">
                <a:solidFill>
                  <a:srgbClr val="FF0000"/>
                </a:solidFill>
                <a:effectLst>
                  <a:outerShdw blurRad="38100" dist="38100" dir="2700000" algn="tl">
                    <a:srgbClr val="000000">
                      <a:alpha val="43137"/>
                    </a:srgbClr>
                  </a:outerShdw>
                </a:effectLst>
              </a:rPr>
              <a:t>Find mode</a:t>
            </a:r>
            <a:endParaRPr lang="en-US" sz="4800" b="1" i="1" u="sng"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946120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9031" y="662559"/>
            <a:ext cx="5772694" cy="5577840"/>
          </a:xfrm>
          <a:prstGeom prst="rect">
            <a:avLst/>
          </a:prstGeom>
        </p:spPr>
      </p:pic>
      <p:sp>
        <p:nvSpPr>
          <p:cNvPr id="3" name="Rectangle 2"/>
          <p:cNvSpPr/>
          <p:nvPr/>
        </p:nvSpPr>
        <p:spPr>
          <a:xfrm>
            <a:off x="7123176" y="3256461"/>
            <a:ext cx="4453128" cy="1569660"/>
          </a:xfrm>
          <a:prstGeom prst="rect">
            <a:avLst/>
          </a:prstGeom>
        </p:spPr>
        <p:txBody>
          <a:bodyPr wrap="square">
            <a:spAutoFit/>
          </a:bodyPr>
          <a:lstStyle/>
          <a:p>
            <a:pPr algn="ctr"/>
            <a:r>
              <a:rPr lang="en-US" sz="3200" b="1" dirty="0">
                <a:effectLst>
                  <a:outerShdw blurRad="38100" dist="38100" dir="2700000" algn="tl">
                    <a:srgbClr val="000000">
                      <a:alpha val="43137"/>
                    </a:srgbClr>
                  </a:outerShdw>
                </a:effectLst>
              </a:rPr>
              <a:t>Try to find out wrong value and make correction</a:t>
            </a:r>
            <a:endParaRPr lang="en-US" sz="3200" b="1" i="1" u="sng" dirty="0">
              <a:solidFill>
                <a:schemeClr val="accent2">
                  <a:lumMod val="75000"/>
                </a:schemeClr>
              </a:solidFill>
              <a:effectLst>
                <a:outerShdw blurRad="38100" dist="38100" dir="2700000" algn="tl">
                  <a:srgbClr val="000000">
                    <a:alpha val="43137"/>
                  </a:srgbClr>
                </a:outerShdw>
              </a:effectLst>
            </a:endParaRPr>
          </a:p>
        </p:txBody>
      </p:sp>
      <p:cxnSp>
        <p:nvCxnSpPr>
          <p:cNvPr id="4" name="Straight Arrow Connector 3"/>
          <p:cNvCxnSpPr/>
          <p:nvPr/>
        </p:nvCxnSpPr>
        <p:spPr>
          <a:xfrm flipH="1" flipV="1">
            <a:off x="3630168" y="1984248"/>
            <a:ext cx="5148072" cy="143370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0834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71906" y="323850"/>
            <a:ext cx="7886700" cy="6210300"/>
          </a:xfrm>
          <a:prstGeom prst="rect">
            <a:avLst/>
          </a:prstGeom>
        </p:spPr>
      </p:pic>
      <p:sp>
        <p:nvSpPr>
          <p:cNvPr id="5" name="Rectangle 4"/>
          <p:cNvSpPr/>
          <p:nvPr/>
        </p:nvSpPr>
        <p:spPr>
          <a:xfrm>
            <a:off x="7123176" y="3347901"/>
            <a:ext cx="4453128" cy="2554545"/>
          </a:xfrm>
          <a:prstGeom prst="rect">
            <a:avLst/>
          </a:prstGeom>
        </p:spPr>
        <p:txBody>
          <a:bodyPr wrap="square">
            <a:spAutoFit/>
          </a:bodyPr>
          <a:lstStyle/>
          <a:p>
            <a:pPr algn="ctr"/>
            <a:r>
              <a:rPr lang="en-US" sz="3200" b="1" dirty="0">
                <a:effectLst>
                  <a:outerShdw blurRad="38100" dist="38100" dir="2700000" algn="tl">
                    <a:srgbClr val="000000">
                      <a:alpha val="43137"/>
                    </a:srgbClr>
                  </a:outerShdw>
                </a:effectLst>
              </a:rPr>
              <a:t>Try to find out wrong value and make correction</a:t>
            </a:r>
          </a:p>
          <a:p>
            <a:pPr algn="ctr"/>
            <a:r>
              <a:rPr lang="en-US" sz="3200" b="1" i="1" u="sng" dirty="0">
                <a:solidFill>
                  <a:schemeClr val="accent2">
                    <a:lumMod val="75000"/>
                  </a:schemeClr>
                </a:solidFill>
                <a:effectLst>
                  <a:outerShdw blurRad="38100" dist="38100" dir="2700000" algn="tl">
                    <a:srgbClr val="000000">
                      <a:alpha val="43137"/>
                    </a:srgbClr>
                  </a:outerShdw>
                </a:effectLst>
              </a:rPr>
              <a:t>** based on certain condition</a:t>
            </a:r>
          </a:p>
        </p:txBody>
      </p:sp>
      <p:cxnSp>
        <p:nvCxnSpPr>
          <p:cNvPr id="6" name="Straight Arrow Connector 5"/>
          <p:cNvCxnSpPr/>
          <p:nvPr/>
        </p:nvCxnSpPr>
        <p:spPr>
          <a:xfrm flipH="1" flipV="1">
            <a:off x="4379976" y="1691640"/>
            <a:ext cx="4398264" cy="172631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Right Brace 7"/>
          <p:cNvSpPr/>
          <p:nvPr/>
        </p:nvSpPr>
        <p:spPr>
          <a:xfrm>
            <a:off x="3648456" y="1298448"/>
            <a:ext cx="457200" cy="685800"/>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937290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8685" y="304989"/>
            <a:ext cx="6307289" cy="6217920"/>
          </a:xfrm>
          <a:prstGeom prst="rect">
            <a:avLst/>
          </a:prstGeom>
        </p:spPr>
      </p:pic>
      <p:sp>
        <p:nvSpPr>
          <p:cNvPr id="3" name="Rectangle 2"/>
          <p:cNvSpPr/>
          <p:nvPr/>
        </p:nvSpPr>
        <p:spPr>
          <a:xfrm>
            <a:off x="1179577" y="1700784"/>
            <a:ext cx="4617720" cy="502920"/>
          </a:xfrm>
          <a:prstGeom prst="rect">
            <a:avLst/>
          </a:prstGeom>
          <a:noFill/>
          <a:ln w="571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60000"/>
                  <a:lumOff val="40000"/>
                </a:schemeClr>
              </a:solidFill>
            </a:endParaRPr>
          </a:p>
        </p:txBody>
      </p:sp>
      <p:sp>
        <p:nvSpPr>
          <p:cNvPr id="4" name="Rectangle 3"/>
          <p:cNvSpPr/>
          <p:nvPr/>
        </p:nvSpPr>
        <p:spPr>
          <a:xfrm>
            <a:off x="7836408" y="4051989"/>
            <a:ext cx="4453128" cy="1569660"/>
          </a:xfrm>
          <a:prstGeom prst="rect">
            <a:avLst/>
          </a:prstGeom>
        </p:spPr>
        <p:txBody>
          <a:bodyPr wrap="square">
            <a:spAutoFit/>
          </a:bodyPr>
          <a:lstStyle/>
          <a:p>
            <a:pPr algn="ctr"/>
            <a:r>
              <a:rPr lang="en-US" sz="3200" b="1" dirty="0">
                <a:effectLst>
                  <a:outerShdw blurRad="38100" dist="38100" dir="2700000" algn="tl">
                    <a:srgbClr val="000000">
                      <a:alpha val="43137"/>
                    </a:srgbClr>
                  </a:outerShdw>
                </a:effectLst>
              </a:rPr>
              <a:t>Drop the rows</a:t>
            </a:r>
          </a:p>
          <a:p>
            <a:pPr algn="ctr"/>
            <a:r>
              <a:rPr lang="en-US" sz="3200" b="1" dirty="0">
                <a:solidFill>
                  <a:srgbClr val="FF0000"/>
                </a:solidFill>
                <a:effectLst>
                  <a:outerShdw blurRad="38100" dist="38100" dir="2700000" algn="tl">
                    <a:srgbClr val="000000">
                      <a:alpha val="43137"/>
                    </a:srgbClr>
                  </a:outerShdw>
                </a:effectLst>
              </a:rPr>
              <a:t>Based on </a:t>
            </a:r>
          </a:p>
          <a:p>
            <a:pPr algn="ctr"/>
            <a:r>
              <a:rPr lang="en-US" sz="3200" b="1" dirty="0">
                <a:solidFill>
                  <a:srgbClr val="FFC000"/>
                </a:solidFill>
                <a:effectLst>
                  <a:outerShdw blurRad="38100" dist="38100" dir="2700000" algn="tl">
                    <a:srgbClr val="000000">
                      <a:alpha val="43137"/>
                    </a:srgbClr>
                  </a:outerShdw>
                </a:effectLst>
              </a:rPr>
              <a:t>Certain condition</a:t>
            </a:r>
          </a:p>
        </p:txBody>
      </p:sp>
      <p:cxnSp>
        <p:nvCxnSpPr>
          <p:cNvPr id="5" name="Straight Arrow Connector 4"/>
          <p:cNvCxnSpPr/>
          <p:nvPr/>
        </p:nvCxnSpPr>
        <p:spPr>
          <a:xfrm flipH="1" flipV="1">
            <a:off x="5971032" y="2039112"/>
            <a:ext cx="3666744" cy="2103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02793" y="6489192"/>
            <a:ext cx="2481071" cy="45719"/>
          </a:xfrm>
          <a:prstGeom prst="rect">
            <a:avLst/>
          </a:prstGeom>
          <a:noFill/>
          <a:ln w="571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60000"/>
                  <a:lumOff val="40000"/>
                </a:schemeClr>
              </a:solidFill>
            </a:endParaRPr>
          </a:p>
        </p:txBody>
      </p:sp>
    </p:spTree>
    <p:extLst>
      <p:ext uri="{BB962C8B-B14F-4D97-AF65-F5344CB8AC3E}">
        <p14:creationId xmlns:p14="http://schemas.microsoft.com/office/powerpoint/2010/main" val="30089773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41996" y="572070"/>
            <a:ext cx="7157280" cy="5669280"/>
          </a:xfrm>
          <a:prstGeom prst="rect">
            <a:avLst/>
          </a:prstGeom>
        </p:spPr>
      </p:pic>
      <p:sp>
        <p:nvSpPr>
          <p:cNvPr id="3" name="Rectangle 2"/>
          <p:cNvSpPr/>
          <p:nvPr/>
        </p:nvSpPr>
        <p:spPr>
          <a:xfrm>
            <a:off x="7836408" y="4051989"/>
            <a:ext cx="4453128" cy="1077218"/>
          </a:xfrm>
          <a:prstGeom prst="rect">
            <a:avLst/>
          </a:prstGeom>
        </p:spPr>
        <p:txBody>
          <a:bodyPr wrap="square">
            <a:spAutoFit/>
          </a:bodyPr>
          <a:lstStyle/>
          <a:p>
            <a:pPr algn="ctr"/>
            <a:r>
              <a:rPr lang="en-US" sz="3200" b="1" dirty="0">
                <a:effectLst>
                  <a:outerShdw blurRad="38100" dist="38100" dir="2700000" algn="tl">
                    <a:srgbClr val="000000">
                      <a:alpha val="43137"/>
                    </a:srgbClr>
                  </a:outerShdw>
                </a:effectLst>
              </a:rPr>
              <a:t>Fill using </a:t>
            </a:r>
          </a:p>
          <a:p>
            <a:pPr algn="ctr"/>
            <a:r>
              <a:rPr lang="en-US" sz="3200" b="1" dirty="0">
                <a:effectLst>
                  <a:outerShdw blurRad="38100" dist="38100" dir="2700000" algn="tl">
                    <a:srgbClr val="000000">
                      <a:alpha val="43137"/>
                    </a:srgbClr>
                  </a:outerShdw>
                </a:effectLst>
              </a:rPr>
              <a:t>forward value</a:t>
            </a:r>
            <a:endParaRPr lang="en-US" sz="3200" b="1" dirty="0">
              <a:solidFill>
                <a:srgbClr val="FFC000"/>
              </a:solidFill>
              <a:effectLst>
                <a:outerShdw blurRad="38100" dist="38100" dir="2700000" algn="tl">
                  <a:srgbClr val="000000">
                    <a:alpha val="43137"/>
                  </a:srgbClr>
                </a:outerShdw>
              </a:effectLst>
            </a:endParaRPr>
          </a:p>
        </p:txBody>
      </p:sp>
      <p:cxnSp>
        <p:nvCxnSpPr>
          <p:cNvPr id="4" name="Straight Arrow Connector 3"/>
          <p:cNvCxnSpPr/>
          <p:nvPr/>
        </p:nvCxnSpPr>
        <p:spPr>
          <a:xfrm flipH="1" flipV="1">
            <a:off x="4453128" y="1636776"/>
            <a:ext cx="5184648" cy="25054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flipV="1">
            <a:off x="829057" y="3832860"/>
            <a:ext cx="1813559" cy="618744"/>
          </a:xfrm>
          <a:prstGeom prst="rect">
            <a:avLst/>
          </a:prstGeom>
          <a:noFill/>
          <a:ln w="571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60000"/>
                  <a:lumOff val="40000"/>
                </a:schemeClr>
              </a:solidFill>
            </a:endParaRPr>
          </a:p>
        </p:txBody>
      </p:sp>
    </p:spTree>
    <p:extLst>
      <p:ext uri="{BB962C8B-B14F-4D97-AF65-F5344CB8AC3E}">
        <p14:creationId xmlns:p14="http://schemas.microsoft.com/office/powerpoint/2010/main" val="33037875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36408" y="4051989"/>
            <a:ext cx="4187952" cy="1077218"/>
          </a:xfrm>
          <a:prstGeom prst="rect">
            <a:avLst/>
          </a:prstGeom>
        </p:spPr>
        <p:txBody>
          <a:bodyPr wrap="square">
            <a:spAutoFit/>
          </a:bodyPr>
          <a:lstStyle/>
          <a:p>
            <a:pPr algn="ctr"/>
            <a:r>
              <a:rPr lang="en-US" sz="3200" b="1" dirty="0">
                <a:effectLst>
                  <a:outerShdw blurRad="38100" dist="38100" dir="2700000" algn="tl">
                    <a:srgbClr val="000000">
                      <a:alpha val="43137"/>
                    </a:srgbClr>
                  </a:outerShdw>
                </a:effectLst>
              </a:rPr>
              <a:t>Fill using </a:t>
            </a:r>
          </a:p>
          <a:p>
            <a:pPr algn="ctr"/>
            <a:r>
              <a:rPr lang="en-US" sz="3200" b="1" dirty="0">
                <a:effectLst>
                  <a:outerShdw blurRad="38100" dist="38100" dir="2700000" algn="tl">
                    <a:srgbClr val="000000">
                      <a:alpha val="43137"/>
                    </a:srgbClr>
                  </a:outerShdw>
                </a:effectLst>
              </a:rPr>
              <a:t>backward value</a:t>
            </a:r>
            <a:endParaRPr lang="en-US" sz="3200" b="1" dirty="0">
              <a:solidFill>
                <a:srgbClr val="FFC000"/>
              </a:solidFill>
              <a:effectLst>
                <a:outerShdw blurRad="38100" dist="38100" dir="2700000" algn="tl">
                  <a:srgbClr val="000000">
                    <a:alpha val="43137"/>
                  </a:srgbClr>
                </a:outerShdw>
              </a:effectLst>
            </a:endParaRPr>
          </a:p>
        </p:txBody>
      </p:sp>
      <p:cxnSp>
        <p:nvCxnSpPr>
          <p:cNvPr id="3" name="Straight Arrow Connector 2"/>
          <p:cNvCxnSpPr/>
          <p:nvPr/>
        </p:nvCxnSpPr>
        <p:spPr>
          <a:xfrm flipH="1" flipV="1">
            <a:off x="4453128" y="1636776"/>
            <a:ext cx="5184648" cy="25054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1277112" y="1388037"/>
            <a:ext cx="4187952" cy="3170099"/>
          </a:xfrm>
          <a:prstGeom prst="rect">
            <a:avLst/>
          </a:prstGeom>
        </p:spPr>
        <p:txBody>
          <a:bodyPr wrap="square">
            <a:spAutoFit/>
          </a:bodyPr>
          <a:lstStyle/>
          <a:p>
            <a:pPr algn="ctr"/>
            <a:r>
              <a:rPr lang="en-US" sz="20000" b="1" dirty="0">
                <a:effectLst>
                  <a:outerShdw blurRad="38100" dist="38100" dir="2700000" algn="tl">
                    <a:srgbClr val="000000">
                      <a:alpha val="43137"/>
                    </a:srgbClr>
                  </a:outerShdw>
                </a:effectLst>
              </a:rPr>
              <a:t>?</a:t>
            </a:r>
            <a:endParaRPr lang="en-US" sz="20000" b="1" dirty="0">
              <a:solidFill>
                <a:srgbClr val="FFC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130730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5885" y="640514"/>
            <a:ext cx="5254965" cy="584775"/>
          </a:xfrm>
          <a:prstGeom prst="rect">
            <a:avLst/>
          </a:prstGeom>
        </p:spPr>
        <p:txBody>
          <a:bodyPr wrap="none">
            <a:spAutoFit/>
          </a:bodyPr>
          <a:lstStyle/>
          <a:p>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Handling of Duplicates value</a:t>
            </a:r>
          </a:p>
        </p:txBody>
      </p:sp>
      <p:sp>
        <p:nvSpPr>
          <p:cNvPr id="5" name="Rectangle 4"/>
          <p:cNvSpPr/>
          <p:nvPr/>
        </p:nvSpPr>
        <p:spPr>
          <a:xfrm>
            <a:off x="495885" y="1225289"/>
            <a:ext cx="8942832" cy="1938992"/>
          </a:xfrm>
          <a:prstGeom prst="rect">
            <a:avLst/>
          </a:prstGeom>
        </p:spPr>
        <p:txBody>
          <a:bodyPr wrap="square">
            <a:spAutoFit/>
          </a:bodyPr>
          <a:lstStyle/>
          <a:p>
            <a:pPr marL="342900" indent="-342900">
              <a:buFont typeface="Wingdings" panose="05000000000000000000" pitchFamily="2" charset="2"/>
              <a:buChar char="à"/>
            </a:pPr>
            <a:r>
              <a:rPr lang="en-US" sz="2400" dirty="0"/>
              <a:t>The duplicated() method returns a Boolean values </a:t>
            </a:r>
          </a:p>
          <a:p>
            <a:r>
              <a:rPr lang="en-US" sz="2400" dirty="0"/>
              <a:t>     for </a:t>
            </a:r>
            <a:r>
              <a:rPr lang="en-US" sz="2400" u="sng" dirty="0">
                <a:solidFill>
                  <a:schemeClr val="accent6">
                    <a:lumMod val="75000"/>
                  </a:schemeClr>
                </a:solidFill>
                <a:effectLst>
                  <a:outerShdw blurRad="38100" dist="38100" dir="2700000" algn="tl">
                    <a:srgbClr val="000000">
                      <a:alpha val="43137"/>
                    </a:srgbClr>
                  </a:outerShdw>
                </a:effectLst>
              </a:rPr>
              <a:t>each row</a:t>
            </a:r>
          </a:p>
          <a:p>
            <a:r>
              <a:rPr lang="en-US" sz="2400" dirty="0"/>
              <a:t>For example, </a:t>
            </a:r>
          </a:p>
          <a:p>
            <a:r>
              <a:rPr lang="en-US" sz="2400" dirty="0"/>
              <a:t>   - Returns </a:t>
            </a:r>
            <a:r>
              <a:rPr lang="en-US" sz="2400" b="1" dirty="0">
                <a:solidFill>
                  <a:srgbClr val="FF0000"/>
                </a:solidFill>
              </a:rPr>
              <a:t>True for every row </a:t>
            </a:r>
            <a:r>
              <a:rPr lang="en-US" sz="2400" dirty="0"/>
              <a:t>that is a duplicate, </a:t>
            </a:r>
          </a:p>
          <a:p>
            <a:r>
              <a:rPr lang="en-US" sz="2400" b="1" dirty="0">
                <a:solidFill>
                  <a:srgbClr val="7030A0"/>
                </a:solidFill>
                <a:effectLst>
                  <a:outerShdw blurRad="38100" dist="38100" dir="2700000" algn="tl">
                    <a:srgbClr val="000000">
                      <a:alpha val="43137"/>
                    </a:srgbClr>
                  </a:outerShdw>
                </a:effectLst>
              </a:rPr>
              <a:t>     otherwise False</a:t>
            </a:r>
          </a:p>
        </p:txBody>
      </p:sp>
      <p:sp>
        <p:nvSpPr>
          <p:cNvPr id="6" name="Rectangle 5"/>
          <p:cNvSpPr/>
          <p:nvPr/>
        </p:nvSpPr>
        <p:spPr>
          <a:xfrm>
            <a:off x="605612" y="3287391"/>
            <a:ext cx="7075347" cy="1446550"/>
          </a:xfrm>
          <a:prstGeom prst="rect">
            <a:avLst/>
          </a:prstGeom>
        </p:spPr>
        <p:txBody>
          <a:bodyPr wrap="square">
            <a:spAutoFit/>
          </a:bodyPr>
          <a:lstStyle/>
          <a:p>
            <a:r>
              <a:rPr lang="en-US" sz="2200" dirty="0"/>
              <a:t># handling of duplicate value (</a:t>
            </a:r>
            <a:r>
              <a:rPr lang="en-US" sz="2200" b="1" dirty="0">
                <a:solidFill>
                  <a:srgbClr val="FF0000"/>
                </a:solidFill>
                <a:effectLst>
                  <a:outerShdw blurRad="38100" dist="38100" dir="2700000" algn="tl">
                    <a:srgbClr val="000000">
                      <a:alpha val="43137"/>
                    </a:srgbClr>
                  </a:outerShdw>
                </a:effectLst>
              </a:rPr>
              <a:t>current data set view</a:t>
            </a:r>
            <a:r>
              <a:rPr lang="en-US" sz="2200" dirty="0"/>
              <a:t>)</a:t>
            </a:r>
          </a:p>
          <a:p>
            <a:r>
              <a:rPr lang="en-US" sz="2200" dirty="0"/>
              <a:t>import pandas as RPD</a:t>
            </a:r>
          </a:p>
          <a:p>
            <a:r>
              <a:rPr lang="en-US" sz="2200" dirty="0" err="1"/>
              <a:t>vovo</a:t>
            </a:r>
            <a:r>
              <a:rPr lang="en-US" sz="2200" dirty="0"/>
              <a:t> = </a:t>
            </a:r>
            <a:r>
              <a:rPr lang="en-US" sz="2200" dirty="0" err="1"/>
              <a:t>RPD.read_csv</a:t>
            </a:r>
            <a:r>
              <a:rPr lang="en-US" sz="2200" dirty="0"/>
              <a:t>('panda_edit.csv')</a:t>
            </a:r>
          </a:p>
          <a:p>
            <a:r>
              <a:rPr lang="en-US" sz="2200" dirty="0"/>
              <a:t>print(</a:t>
            </a:r>
            <a:r>
              <a:rPr lang="en-US" sz="2200" dirty="0" err="1"/>
              <a:t>vovo.head</a:t>
            </a:r>
            <a:r>
              <a:rPr lang="en-US" sz="2200" dirty="0"/>
              <a:t>(40))</a:t>
            </a:r>
          </a:p>
        </p:txBody>
      </p:sp>
      <p:pic>
        <p:nvPicPr>
          <p:cNvPr id="7" name="Picture 6"/>
          <p:cNvPicPr>
            <a:picLocks noChangeAspect="1"/>
          </p:cNvPicPr>
          <p:nvPr/>
        </p:nvPicPr>
        <p:blipFill>
          <a:blip r:embed="rId2"/>
          <a:stretch>
            <a:fillRect/>
          </a:stretch>
        </p:blipFill>
        <p:spPr>
          <a:xfrm>
            <a:off x="7452353" y="640514"/>
            <a:ext cx="4373138" cy="5943600"/>
          </a:xfrm>
          <a:prstGeom prst="rect">
            <a:avLst/>
          </a:prstGeom>
        </p:spPr>
      </p:pic>
    </p:spTree>
    <p:extLst>
      <p:ext uri="{BB962C8B-B14F-4D97-AF65-F5344CB8AC3E}">
        <p14:creationId xmlns:p14="http://schemas.microsoft.com/office/powerpoint/2010/main" val="37728978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91424" y="878776"/>
            <a:ext cx="6429375" cy="4752975"/>
          </a:xfrm>
          <a:prstGeom prst="rect">
            <a:avLst/>
          </a:prstGeom>
        </p:spPr>
      </p:pic>
    </p:spTree>
    <p:extLst>
      <p:ext uri="{BB962C8B-B14F-4D97-AF65-F5344CB8AC3E}">
        <p14:creationId xmlns:p14="http://schemas.microsoft.com/office/powerpoint/2010/main" val="34994693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0978" y="711898"/>
            <a:ext cx="5019675" cy="2124075"/>
          </a:xfrm>
          <a:prstGeom prst="rect">
            <a:avLst/>
          </a:prstGeom>
        </p:spPr>
      </p:pic>
      <p:pic>
        <p:nvPicPr>
          <p:cNvPr id="3" name="Picture 2"/>
          <p:cNvPicPr>
            <a:picLocks noChangeAspect="1"/>
          </p:cNvPicPr>
          <p:nvPr/>
        </p:nvPicPr>
        <p:blipFill>
          <a:blip r:embed="rId3"/>
          <a:stretch>
            <a:fillRect/>
          </a:stretch>
        </p:blipFill>
        <p:spPr>
          <a:xfrm>
            <a:off x="5210556" y="2377821"/>
            <a:ext cx="6121555" cy="3931920"/>
          </a:xfrm>
          <a:prstGeom prst="rect">
            <a:avLst/>
          </a:prstGeom>
        </p:spPr>
      </p:pic>
      <p:sp>
        <p:nvSpPr>
          <p:cNvPr id="5" name="Curved Left Arrow 4"/>
          <p:cNvSpPr/>
          <p:nvPr/>
        </p:nvSpPr>
        <p:spPr>
          <a:xfrm>
            <a:off x="6638544" y="1216152"/>
            <a:ext cx="722376" cy="181965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915056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1913" y="1110043"/>
            <a:ext cx="10601325" cy="5534025"/>
          </a:xfrm>
          <a:prstGeom prst="rect">
            <a:avLst/>
          </a:prstGeom>
        </p:spPr>
      </p:pic>
      <p:sp>
        <p:nvSpPr>
          <p:cNvPr id="6" name="Rectangle 5"/>
          <p:cNvSpPr/>
          <p:nvPr/>
        </p:nvSpPr>
        <p:spPr>
          <a:xfrm>
            <a:off x="752856" y="443591"/>
            <a:ext cx="6096000" cy="1384995"/>
          </a:xfrm>
          <a:prstGeom prst="rect">
            <a:avLst/>
          </a:prstGeom>
        </p:spPr>
        <p:txBody>
          <a:bodyPr>
            <a:spAutoFit/>
          </a:bodyPr>
          <a:lstStyle/>
          <a:p>
            <a:r>
              <a:rPr lang="en-US" sz="2800" b="1" dirty="0">
                <a:solidFill>
                  <a:srgbClr val="FF0000"/>
                </a:solidFill>
              </a:rPr>
              <a:t>Plotting:</a:t>
            </a:r>
          </a:p>
          <a:p>
            <a:r>
              <a:rPr lang="en-US" sz="2800" b="1" dirty="0">
                <a:solidFill>
                  <a:schemeClr val="accent6">
                    <a:lumMod val="75000"/>
                  </a:schemeClr>
                </a:solidFill>
              </a:rPr>
              <a:t>Pandas uses the plot() </a:t>
            </a:r>
          </a:p>
          <a:p>
            <a:r>
              <a:rPr lang="en-US" sz="2800" b="1" dirty="0">
                <a:solidFill>
                  <a:schemeClr val="accent6">
                    <a:lumMod val="75000"/>
                  </a:schemeClr>
                </a:solidFill>
              </a:rPr>
              <a:t>method to create diagrams.</a:t>
            </a:r>
          </a:p>
        </p:txBody>
      </p:sp>
    </p:spTree>
    <p:extLst>
      <p:ext uri="{BB962C8B-B14F-4D97-AF65-F5344CB8AC3E}">
        <p14:creationId xmlns:p14="http://schemas.microsoft.com/office/powerpoint/2010/main" val="41521631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038" y="348615"/>
            <a:ext cx="11620500" cy="5886450"/>
          </a:xfrm>
          <a:prstGeom prst="rect">
            <a:avLst/>
          </a:prstGeom>
        </p:spPr>
      </p:pic>
      <p:sp>
        <p:nvSpPr>
          <p:cNvPr id="3" name="Rectangle 2"/>
          <p:cNvSpPr/>
          <p:nvPr/>
        </p:nvSpPr>
        <p:spPr>
          <a:xfrm>
            <a:off x="304038" y="983087"/>
            <a:ext cx="6096000" cy="1384995"/>
          </a:xfrm>
          <a:prstGeom prst="rect">
            <a:avLst/>
          </a:prstGeom>
        </p:spPr>
        <p:txBody>
          <a:bodyPr>
            <a:spAutoFit/>
          </a:bodyPr>
          <a:lstStyle/>
          <a:p>
            <a:r>
              <a:rPr lang="en-US" sz="2800" b="1" dirty="0">
                <a:solidFill>
                  <a:srgbClr val="FF0000"/>
                </a:solidFill>
              </a:rPr>
              <a:t>Plotting:</a:t>
            </a:r>
          </a:p>
          <a:p>
            <a:r>
              <a:rPr lang="en-US" sz="2800" b="1" dirty="0">
                <a:solidFill>
                  <a:schemeClr val="accent6">
                    <a:lumMod val="75000"/>
                  </a:schemeClr>
                </a:solidFill>
              </a:rPr>
              <a:t>Pandas uses the plot() </a:t>
            </a:r>
          </a:p>
          <a:p>
            <a:r>
              <a:rPr lang="en-US" sz="2800" b="1" dirty="0">
                <a:solidFill>
                  <a:schemeClr val="accent6">
                    <a:lumMod val="75000"/>
                  </a:schemeClr>
                </a:solidFill>
              </a:rPr>
              <a:t>scatter graph-&gt; two columns based </a:t>
            </a:r>
          </a:p>
        </p:txBody>
      </p:sp>
    </p:spTree>
    <p:extLst>
      <p:ext uri="{BB962C8B-B14F-4D97-AF65-F5344CB8AC3E}">
        <p14:creationId xmlns:p14="http://schemas.microsoft.com/office/powerpoint/2010/main" val="32293614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365694" y="641985"/>
            <a:ext cx="9515475" cy="5391150"/>
          </a:xfrm>
          <a:prstGeom prst="rect">
            <a:avLst/>
          </a:prstGeom>
        </p:spPr>
      </p:pic>
      <p:sp>
        <p:nvSpPr>
          <p:cNvPr id="7" name="Rectangle 6"/>
          <p:cNvSpPr/>
          <p:nvPr/>
        </p:nvSpPr>
        <p:spPr>
          <a:xfrm>
            <a:off x="1163574" y="626471"/>
            <a:ext cx="6096000" cy="2246769"/>
          </a:xfrm>
          <a:prstGeom prst="rect">
            <a:avLst/>
          </a:prstGeom>
        </p:spPr>
        <p:txBody>
          <a:bodyPr>
            <a:spAutoFit/>
          </a:bodyPr>
          <a:lstStyle/>
          <a:p>
            <a:r>
              <a:rPr lang="en-US" sz="2800" b="1" dirty="0">
                <a:solidFill>
                  <a:srgbClr val="FF0000"/>
                </a:solidFill>
              </a:rPr>
              <a:t>Plotting:</a:t>
            </a:r>
          </a:p>
          <a:p>
            <a:r>
              <a:rPr lang="en-US" sz="2800" b="1" dirty="0">
                <a:solidFill>
                  <a:schemeClr val="accent6">
                    <a:lumMod val="75000"/>
                  </a:schemeClr>
                </a:solidFill>
              </a:rPr>
              <a:t>Pandas uses the plot() </a:t>
            </a:r>
          </a:p>
          <a:p>
            <a:r>
              <a:rPr lang="en-US" sz="2800" b="1" u="sng" dirty="0">
                <a:solidFill>
                  <a:srgbClr val="7030A0"/>
                </a:solidFill>
                <a:effectLst>
                  <a:outerShdw blurRad="38100" dist="38100" dir="2700000" algn="tl">
                    <a:srgbClr val="000000">
                      <a:alpha val="43137"/>
                    </a:srgbClr>
                  </a:outerShdw>
                </a:effectLst>
              </a:rPr>
              <a:t>histogram:</a:t>
            </a:r>
          </a:p>
          <a:p>
            <a:r>
              <a:rPr lang="en-US" sz="2800" b="1" dirty="0">
                <a:solidFill>
                  <a:schemeClr val="accent6">
                    <a:lumMod val="75000"/>
                  </a:schemeClr>
                </a:solidFill>
              </a:rPr>
              <a:t>  </a:t>
            </a:r>
            <a:r>
              <a:rPr lang="en-US" sz="2600" b="1" dirty="0">
                <a:solidFill>
                  <a:srgbClr val="7030A0"/>
                </a:solidFill>
              </a:rPr>
              <a:t>based on single column</a:t>
            </a:r>
          </a:p>
          <a:p>
            <a:endParaRPr lang="en-US" sz="2800" b="1" dirty="0">
              <a:solidFill>
                <a:schemeClr val="accent6">
                  <a:lumMod val="75000"/>
                </a:schemeClr>
              </a:solidFill>
            </a:endParaRPr>
          </a:p>
        </p:txBody>
      </p:sp>
    </p:spTree>
    <p:extLst>
      <p:ext uri="{BB962C8B-B14F-4D97-AF65-F5344CB8AC3E}">
        <p14:creationId xmlns:p14="http://schemas.microsoft.com/office/powerpoint/2010/main" val="5659541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2603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9216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3871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7576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6248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3098</TotalTime>
  <Words>2626</Words>
  <Application>Microsoft Office PowerPoint</Application>
  <PresentationFormat>Widescreen</PresentationFormat>
  <Paragraphs>237</Paragraphs>
  <Slides>85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dc:creator>
  <cp:lastModifiedBy>Shaon Khan</cp:lastModifiedBy>
  <cp:revision>117</cp:revision>
  <dcterms:created xsi:type="dcterms:W3CDTF">2024-09-10T14:03:28Z</dcterms:created>
  <dcterms:modified xsi:type="dcterms:W3CDTF">2026-04-20T17:53:34Z</dcterms:modified>
</cp:coreProperties>
</file>