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6" r:id="rId2"/>
    <p:sldId id="287" r:id="rId3"/>
    <p:sldId id="288" r:id="rId4"/>
    <p:sldId id="256" r:id="rId5"/>
    <p:sldId id="257" r:id="rId6"/>
    <p:sldId id="258" r:id="rId7"/>
    <p:sldId id="259" r:id="rId8"/>
    <p:sldId id="260" r:id="rId9"/>
    <p:sldId id="261" r:id="rId10"/>
    <p:sldId id="262" r:id="rId11"/>
    <p:sldId id="263" r:id="rId12"/>
    <p:sldId id="264" r:id="rId13"/>
    <p:sldId id="289" r:id="rId14"/>
    <p:sldId id="290" r:id="rId15"/>
    <p:sldId id="291" r:id="rId16"/>
    <p:sldId id="292" r:id="rId17"/>
    <p:sldId id="293" r:id="rId18"/>
    <p:sldId id="294" r:id="rId19"/>
    <p:sldId id="295" r:id="rId20"/>
    <p:sldId id="296" r:id="rId21"/>
    <p:sldId id="297" r:id="rId22"/>
    <p:sldId id="298" r:id="rId23"/>
    <p:sldId id="265" r:id="rId24"/>
    <p:sldId id="266" r:id="rId25"/>
    <p:sldId id="267" r:id="rId26"/>
    <p:sldId id="268" r:id="rId27"/>
    <p:sldId id="299" r:id="rId28"/>
    <p:sldId id="269" r:id="rId29"/>
    <p:sldId id="270" r:id="rId30"/>
    <p:sldId id="271" r:id="rId31"/>
    <p:sldId id="272" r:id="rId32"/>
    <p:sldId id="273" r:id="rId33"/>
    <p:sldId id="300" r:id="rId34"/>
    <p:sldId id="274" r:id="rId35"/>
    <p:sldId id="275" r:id="rId36"/>
    <p:sldId id="276" r:id="rId37"/>
    <p:sldId id="277" r:id="rId38"/>
    <p:sldId id="278" r:id="rId39"/>
    <p:sldId id="279" r:id="rId40"/>
    <p:sldId id="280" r:id="rId41"/>
    <p:sldId id="281" r:id="rId42"/>
    <p:sldId id="282" r:id="rId43"/>
    <p:sldId id="283" r:id="rId44"/>
    <p:sldId id="284"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EA28585-CDDA-49AD-8F0F-745A75BDCBC0}" type="datetimeFigureOut">
              <a:rPr lang="en-US" smtClean="0"/>
              <a:t>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18D0CC-5502-47F5-B00D-B6D57C5AAC9E}" type="slidenum">
              <a:rPr lang="en-US" smtClean="0"/>
              <a:t>‹#›</a:t>
            </a:fld>
            <a:endParaRPr lang="en-US"/>
          </a:p>
        </p:txBody>
      </p:sp>
    </p:spTree>
    <p:extLst>
      <p:ext uri="{BB962C8B-B14F-4D97-AF65-F5344CB8AC3E}">
        <p14:creationId xmlns:p14="http://schemas.microsoft.com/office/powerpoint/2010/main" val="5634641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EA28585-CDDA-49AD-8F0F-745A75BDCBC0}" type="datetimeFigureOut">
              <a:rPr lang="en-US" smtClean="0"/>
              <a:t>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18D0CC-5502-47F5-B00D-B6D57C5AAC9E}" type="slidenum">
              <a:rPr lang="en-US" smtClean="0"/>
              <a:t>‹#›</a:t>
            </a:fld>
            <a:endParaRPr lang="en-US"/>
          </a:p>
        </p:txBody>
      </p:sp>
    </p:spTree>
    <p:extLst>
      <p:ext uri="{BB962C8B-B14F-4D97-AF65-F5344CB8AC3E}">
        <p14:creationId xmlns:p14="http://schemas.microsoft.com/office/powerpoint/2010/main" val="37440244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EA28585-CDDA-49AD-8F0F-745A75BDCBC0}" type="datetimeFigureOut">
              <a:rPr lang="en-US" smtClean="0"/>
              <a:t>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18D0CC-5502-47F5-B00D-B6D57C5AAC9E}" type="slidenum">
              <a:rPr lang="en-US" smtClean="0"/>
              <a:t>‹#›</a:t>
            </a:fld>
            <a:endParaRPr lang="en-US"/>
          </a:p>
        </p:txBody>
      </p:sp>
    </p:spTree>
    <p:extLst>
      <p:ext uri="{BB962C8B-B14F-4D97-AF65-F5344CB8AC3E}">
        <p14:creationId xmlns:p14="http://schemas.microsoft.com/office/powerpoint/2010/main" val="30503607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EA28585-CDDA-49AD-8F0F-745A75BDCBC0}" type="datetimeFigureOut">
              <a:rPr lang="en-US" smtClean="0"/>
              <a:t>12/8/2024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18D0CC-5502-47F5-B00D-B6D57C5AAC9E}" type="slidenum">
              <a:rPr lang="en-US" smtClean="0"/>
              <a:t>‹#›</a:t>
            </a:fld>
            <a:endParaRPr lang="en-US"/>
          </a:p>
        </p:txBody>
      </p:sp>
    </p:spTree>
    <p:extLst>
      <p:ext uri="{BB962C8B-B14F-4D97-AF65-F5344CB8AC3E}">
        <p14:creationId xmlns:p14="http://schemas.microsoft.com/office/powerpoint/2010/main" val="24123439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EA28585-CDDA-49AD-8F0F-745A75BDCBC0}" type="datetimeFigureOut">
              <a:rPr lang="en-US" smtClean="0"/>
              <a:t>12/8/2024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318D0CC-5502-47F5-B00D-B6D57C5AAC9E}" type="slidenum">
              <a:rPr lang="en-US" smtClean="0"/>
              <a:t>‹#›</a:t>
            </a:fld>
            <a:endParaRPr lang="en-US"/>
          </a:p>
        </p:txBody>
      </p:sp>
    </p:spTree>
    <p:extLst>
      <p:ext uri="{BB962C8B-B14F-4D97-AF65-F5344CB8AC3E}">
        <p14:creationId xmlns:p14="http://schemas.microsoft.com/office/powerpoint/2010/main" val="4032743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EA28585-CDDA-49AD-8F0F-745A75BDCBC0}" type="datetimeFigureOut">
              <a:rPr lang="en-US" smtClean="0"/>
              <a:t>12/8/2024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318D0CC-5502-47F5-B00D-B6D57C5AAC9E}" type="slidenum">
              <a:rPr lang="en-US" smtClean="0"/>
              <a:t>‹#›</a:t>
            </a:fld>
            <a:endParaRPr lang="en-US"/>
          </a:p>
        </p:txBody>
      </p:sp>
    </p:spTree>
    <p:extLst>
      <p:ext uri="{BB962C8B-B14F-4D97-AF65-F5344CB8AC3E}">
        <p14:creationId xmlns:p14="http://schemas.microsoft.com/office/powerpoint/2010/main" val="14483028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A28585-CDDA-49AD-8F0F-745A75BDCBC0}" type="datetimeFigureOut">
              <a:rPr lang="en-US" smtClean="0"/>
              <a:t>12/8/2024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318D0CC-5502-47F5-B00D-B6D57C5AAC9E}" type="slidenum">
              <a:rPr lang="en-US" smtClean="0"/>
              <a:t>‹#›</a:t>
            </a:fld>
            <a:endParaRPr lang="en-US"/>
          </a:p>
        </p:txBody>
      </p:sp>
    </p:spTree>
    <p:extLst>
      <p:ext uri="{BB962C8B-B14F-4D97-AF65-F5344CB8AC3E}">
        <p14:creationId xmlns:p14="http://schemas.microsoft.com/office/powerpoint/2010/main" val="7830434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EA28585-CDDA-49AD-8F0F-745A75BDCBC0}" type="datetimeFigureOut">
              <a:rPr lang="en-US" smtClean="0"/>
              <a:t>12/8/2024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18D0CC-5502-47F5-B00D-B6D57C5AAC9E}" type="slidenum">
              <a:rPr lang="en-US" smtClean="0"/>
              <a:t>‹#›</a:t>
            </a:fld>
            <a:endParaRPr lang="en-US"/>
          </a:p>
        </p:txBody>
      </p:sp>
    </p:spTree>
    <p:extLst>
      <p:ext uri="{BB962C8B-B14F-4D97-AF65-F5344CB8AC3E}">
        <p14:creationId xmlns:p14="http://schemas.microsoft.com/office/powerpoint/2010/main" val="34722394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EA28585-CDDA-49AD-8F0F-745A75BDCBC0}" type="datetimeFigureOut">
              <a:rPr lang="en-US" smtClean="0"/>
              <a:t>12/8/2024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18D0CC-5502-47F5-B00D-B6D57C5AAC9E}" type="slidenum">
              <a:rPr lang="en-US" smtClean="0"/>
              <a:t>‹#›</a:t>
            </a:fld>
            <a:endParaRPr lang="en-US"/>
          </a:p>
        </p:txBody>
      </p:sp>
    </p:spTree>
    <p:extLst>
      <p:ext uri="{BB962C8B-B14F-4D97-AF65-F5344CB8AC3E}">
        <p14:creationId xmlns:p14="http://schemas.microsoft.com/office/powerpoint/2010/main" val="2899346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EA28585-CDDA-49AD-8F0F-745A75BDCBC0}" type="datetimeFigureOut">
              <a:rPr lang="en-US" smtClean="0"/>
              <a:t>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18D0CC-5502-47F5-B00D-B6D57C5AAC9E}" type="slidenum">
              <a:rPr lang="en-US" smtClean="0"/>
              <a:t>‹#›</a:t>
            </a:fld>
            <a:endParaRPr lang="en-US"/>
          </a:p>
        </p:txBody>
      </p:sp>
    </p:spTree>
    <p:extLst>
      <p:ext uri="{BB962C8B-B14F-4D97-AF65-F5344CB8AC3E}">
        <p14:creationId xmlns:p14="http://schemas.microsoft.com/office/powerpoint/2010/main" val="39517342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EA28585-CDDA-49AD-8F0F-745A75BDCBC0}" type="datetimeFigureOut">
              <a:rPr lang="en-US" smtClean="0"/>
              <a:t>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18D0CC-5502-47F5-B00D-B6D57C5AAC9E}" type="slidenum">
              <a:rPr lang="en-US" smtClean="0"/>
              <a:t>‹#›</a:t>
            </a:fld>
            <a:endParaRPr lang="en-US"/>
          </a:p>
        </p:txBody>
      </p:sp>
    </p:spTree>
    <p:extLst>
      <p:ext uri="{BB962C8B-B14F-4D97-AF65-F5344CB8AC3E}">
        <p14:creationId xmlns:p14="http://schemas.microsoft.com/office/powerpoint/2010/main" val="190388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A28585-CDDA-49AD-8F0F-745A75BDCBC0}" type="datetimeFigureOut">
              <a:rPr lang="en-US" smtClean="0"/>
              <a:t>12/8/2024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18D0CC-5502-47F5-B00D-B6D57C5AAC9E}" type="slidenum">
              <a:rPr lang="en-US" smtClean="0"/>
              <a:t>‹#›</a:t>
            </a:fld>
            <a:endParaRPr lang="en-US"/>
          </a:p>
        </p:txBody>
      </p:sp>
    </p:spTree>
    <p:extLst>
      <p:ext uri="{BB962C8B-B14F-4D97-AF65-F5344CB8AC3E}">
        <p14:creationId xmlns:p14="http://schemas.microsoft.com/office/powerpoint/2010/main" val="38892934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data.gov/" TargetMode="External"/><Relationship Id="rId2" Type="http://schemas.openxmlformats.org/officeDocument/2006/relationships/hyperlink" Target="https://journals.asm.org/list-data-repositories" TargetMode="External"/><Relationship Id="rId1" Type="http://schemas.openxmlformats.org/officeDocument/2006/relationships/slideLayout" Target="../slideLayouts/slideLayout1.xml"/><Relationship Id="rId4" Type="http://schemas.openxmlformats.org/officeDocument/2006/relationships/hyperlink" Target="https://careerfoundry.com/en/blog/data-analytics/where-to-find-free-datasets/"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hyperlink" Target="https://careerfoundry.com/en/blog/data-analytics/what-is-a-decision-tree/"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hyperlink" Target="https://www.hubspot.com/?__hstc=152111590.a60635eb48c0b4ac12fd5b53bd79df2b.1725779526976.1725809038283.1725810926531.5&amp;__hssc=152111590.1.1725810926531&amp;__hsfp=2142326758" TargetMode="External"/><Relationship Id="rId2" Type="http://schemas.openxmlformats.org/officeDocument/2006/relationships/hyperlink" Target="https://analytics.google.com/analytics/" TargetMode="Externa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232743" y="940046"/>
            <a:ext cx="4108817" cy="584775"/>
          </a:xfrm>
          <a:prstGeom prst="rect">
            <a:avLst/>
          </a:prstGeom>
        </p:spPr>
        <p:txBody>
          <a:bodyPr wrap="none">
            <a:spAutoFit/>
          </a:bodyPr>
          <a:lstStyle/>
          <a:p>
            <a:r>
              <a:rPr lang="en-US" sz="3200" b="1" dirty="0" smtClean="0">
                <a:effectLst>
                  <a:outerShdw blurRad="38100" dist="38100" dir="2700000" algn="tl">
                    <a:srgbClr val="000000">
                      <a:alpha val="43137"/>
                    </a:srgbClr>
                  </a:outerShdw>
                </a:effectLst>
              </a:rPr>
              <a:t>What is data analytics?</a:t>
            </a:r>
            <a:endParaRPr lang="en-US" sz="3200" b="1" dirty="0">
              <a:effectLst>
                <a:outerShdw blurRad="38100" dist="38100" dir="2700000" algn="tl">
                  <a:srgbClr val="000000">
                    <a:alpha val="43137"/>
                  </a:srgbClr>
                </a:outerShdw>
              </a:effectLst>
            </a:endParaRPr>
          </a:p>
        </p:txBody>
      </p:sp>
      <p:sp>
        <p:nvSpPr>
          <p:cNvPr id="5" name="Rectangle 4"/>
          <p:cNvSpPr/>
          <p:nvPr/>
        </p:nvSpPr>
        <p:spPr>
          <a:xfrm>
            <a:off x="1374648" y="1978212"/>
            <a:ext cx="9753600" cy="3970318"/>
          </a:xfrm>
          <a:prstGeom prst="rect">
            <a:avLst/>
          </a:prstGeom>
        </p:spPr>
        <p:txBody>
          <a:bodyPr wrap="square">
            <a:spAutoFit/>
          </a:bodyPr>
          <a:lstStyle/>
          <a:p>
            <a:pPr algn="just"/>
            <a:r>
              <a:rPr lang="en-US" sz="2400" dirty="0" smtClean="0"/>
              <a:t>If one has to sum it up in a single sentence:</a:t>
            </a:r>
          </a:p>
          <a:p>
            <a:pPr algn="just"/>
            <a:endParaRPr lang="en-US" sz="1200" dirty="0"/>
          </a:p>
          <a:p>
            <a:pPr algn="just"/>
            <a:r>
              <a:rPr lang="en-US" sz="2400" dirty="0" smtClean="0"/>
              <a:t>we’d say it’s the process of analyzing </a:t>
            </a:r>
            <a:r>
              <a:rPr lang="en-US" sz="2400" b="1" dirty="0" smtClean="0">
                <a:solidFill>
                  <a:schemeClr val="accent1"/>
                </a:solidFill>
                <a:effectLst>
                  <a:outerShdw blurRad="38100" dist="38100" dir="2700000" algn="tl">
                    <a:srgbClr val="000000">
                      <a:alpha val="43137"/>
                    </a:srgbClr>
                  </a:outerShdw>
                </a:effectLst>
              </a:rPr>
              <a:t>raw data in order to draw out meaningful, actionable insights. </a:t>
            </a:r>
          </a:p>
          <a:p>
            <a:pPr algn="just"/>
            <a:r>
              <a:rPr lang="en-US" sz="2400" b="1" dirty="0" smtClean="0">
                <a:solidFill>
                  <a:srgbClr val="FF0000"/>
                </a:solidFill>
                <a:effectLst>
                  <a:outerShdw blurRad="38100" dist="38100" dir="2700000" algn="tl">
                    <a:srgbClr val="000000">
                      <a:alpha val="43137"/>
                    </a:srgbClr>
                  </a:outerShdw>
                </a:effectLst>
              </a:rPr>
              <a:t>It’s a form of business intelligence, enabling companies and organizations to make smart decisions based on what the data is telling them.</a:t>
            </a:r>
          </a:p>
          <a:p>
            <a:endParaRPr lang="en-US" sz="2400" dirty="0" smtClean="0"/>
          </a:p>
          <a:p>
            <a:pPr algn="just"/>
            <a:r>
              <a:rPr lang="en-US" sz="2400" dirty="0" smtClean="0"/>
              <a:t>Data analytics encompasses the extraction (or collection) of raw data, the preparation and subsequent analysis of that data, and storytelling—sharing key insights from the data, using them to explain or predict certain scenarios and outcomes, and to inform decisions, strategies, and next steps.</a:t>
            </a:r>
            <a:endParaRPr lang="en-US" sz="2400" dirty="0"/>
          </a:p>
        </p:txBody>
      </p:sp>
    </p:spTree>
    <p:extLst>
      <p:ext uri="{BB962C8B-B14F-4D97-AF65-F5344CB8AC3E}">
        <p14:creationId xmlns:p14="http://schemas.microsoft.com/office/powerpoint/2010/main" val="157595281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13232" y="1024325"/>
            <a:ext cx="10789920" cy="5447645"/>
          </a:xfrm>
          <a:prstGeom prst="rect">
            <a:avLst/>
          </a:prstGeom>
        </p:spPr>
        <p:txBody>
          <a:bodyPr wrap="square">
            <a:spAutoFit/>
          </a:bodyPr>
          <a:lstStyle/>
          <a:p>
            <a:pPr algn="just"/>
            <a:r>
              <a:rPr lang="en-US" sz="2400" dirty="0" smtClean="0">
                <a:solidFill>
                  <a:srgbClr val="FF0000"/>
                </a:solidFill>
                <a:effectLst>
                  <a:outerShdw blurRad="38100" dist="38100" dir="2700000" algn="tl">
                    <a:srgbClr val="000000">
                      <a:alpha val="43137"/>
                    </a:srgbClr>
                  </a:outerShdw>
                </a:effectLst>
              </a:rPr>
              <a:t>Imagine you’re a data analyst working for a public transport network—think MTA in New York City, or TFL in London. </a:t>
            </a:r>
            <a:r>
              <a:rPr lang="en-US" sz="2400" dirty="0" smtClean="0"/>
              <a:t>There’s a major sporting event coming up in the city, and you know that people will be flying in from all over to attend.</a:t>
            </a:r>
          </a:p>
          <a:p>
            <a:pPr algn="just"/>
            <a:endParaRPr lang="en-US" sz="1200" dirty="0" smtClean="0"/>
          </a:p>
          <a:p>
            <a:pPr algn="just"/>
            <a:r>
              <a:rPr lang="en-US" sz="2400" dirty="0" smtClean="0">
                <a:solidFill>
                  <a:schemeClr val="accent5">
                    <a:lumMod val="75000"/>
                  </a:schemeClr>
                </a:solidFill>
                <a:effectLst>
                  <a:outerShdw blurRad="38100" dist="38100" dir="2700000" algn="tl">
                    <a:srgbClr val="000000">
                      <a:alpha val="43137"/>
                    </a:srgbClr>
                  </a:outerShdw>
                </a:effectLst>
              </a:rPr>
              <a:t>In order to avoid absolute chaos, you need to adapt the usual public transport schedule to accommodate for this influx of people and increase in travel throughout the city. How do you plan ahead with accuracy? </a:t>
            </a:r>
          </a:p>
          <a:p>
            <a:pPr algn="just"/>
            <a:endParaRPr lang="en-US" sz="1200" dirty="0" smtClean="0"/>
          </a:p>
          <a:p>
            <a:pPr algn="just"/>
            <a:r>
              <a:rPr lang="en-US" sz="2400" dirty="0" smtClean="0"/>
              <a:t>You guessed it…data analytics! </a:t>
            </a:r>
            <a:r>
              <a:rPr lang="en-US" sz="2400" b="1" dirty="0" smtClean="0">
                <a:solidFill>
                  <a:schemeClr val="accent6">
                    <a:lumMod val="75000"/>
                  </a:schemeClr>
                </a:solidFill>
              </a:rPr>
              <a:t>You analyze data from similar events that have happened in the past and use it to predict the number, frequency, and types of journeys that are likely to occur around this event.</a:t>
            </a:r>
            <a:r>
              <a:rPr lang="en-US" sz="2400" dirty="0" smtClean="0"/>
              <a:t> With these insights, you’re able to ensure that public transportation continues to run smoothly </a:t>
            </a:r>
          </a:p>
          <a:p>
            <a:pPr algn="just"/>
            <a:endParaRPr lang="en-US" sz="1200" dirty="0" smtClean="0"/>
          </a:p>
          <a:p>
            <a:pPr algn="just"/>
            <a:r>
              <a:rPr lang="en-US" sz="2400" b="1" dirty="0" smtClean="0">
                <a:solidFill>
                  <a:schemeClr val="accent6">
                    <a:lumMod val="75000"/>
                  </a:schemeClr>
                </a:solidFill>
                <a:effectLst>
                  <a:outerShdw blurRad="38100" dist="38100" dir="2700000" algn="tl">
                    <a:srgbClr val="000000">
                      <a:alpha val="43137"/>
                    </a:srgbClr>
                  </a:outerShdw>
                </a:effectLst>
              </a:rPr>
              <a:t>As you can see, data analytics replaces guesswork with data-driven insights</a:t>
            </a:r>
            <a:r>
              <a:rPr lang="en-US" sz="2400" dirty="0" smtClean="0"/>
              <a:t>. It helps you make sense of the past and predict future trends and behaviors, leaving you much better equipped to make smart decisions.</a:t>
            </a:r>
            <a:endParaRPr lang="en-US" sz="2400" dirty="0"/>
          </a:p>
        </p:txBody>
      </p:sp>
      <p:sp>
        <p:nvSpPr>
          <p:cNvPr id="5" name="Rectangle 4"/>
          <p:cNvSpPr/>
          <p:nvPr/>
        </p:nvSpPr>
        <p:spPr>
          <a:xfrm>
            <a:off x="2185416" y="318254"/>
            <a:ext cx="7411584" cy="584775"/>
          </a:xfrm>
          <a:prstGeom prst="rect">
            <a:avLst/>
          </a:prstGeom>
        </p:spPr>
        <p:txBody>
          <a:bodyPr wrap="square">
            <a:spAutoFit/>
          </a:bodyPr>
          <a:lstStyle/>
          <a:p>
            <a:pPr algn="ctr"/>
            <a:r>
              <a:rPr lang="en-US" sz="3200" b="1" dirty="0" smtClean="0">
                <a:latin typeface="Times New Roman" panose="02020603050405020304" pitchFamily="18" charset="0"/>
                <a:cs typeface="Times New Roman" panose="02020603050405020304" pitchFamily="18" charset="0"/>
              </a:rPr>
              <a:t>An example</a:t>
            </a:r>
            <a:endParaRPr lang="en-US"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46735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423469" y="309110"/>
            <a:ext cx="5202450" cy="584775"/>
          </a:xfrm>
          <a:prstGeom prst="rect">
            <a:avLst/>
          </a:prstGeom>
        </p:spPr>
        <p:txBody>
          <a:bodyPr wrap="none">
            <a:spAutoFit/>
          </a:bodyPr>
          <a:lstStyle/>
          <a:p>
            <a:r>
              <a:rPr lang="en-US" sz="3200" b="1" dirty="0" smtClean="0"/>
              <a:t>What does a data analyst do?</a:t>
            </a:r>
            <a:endParaRPr lang="en-US" sz="3200" b="1" dirty="0"/>
          </a:p>
        </p:txBody>
      </p:sp>
      <p:sp>
        <p:nvSpPr>
          <p:cNvPr id="5" name="Rectangle 4"/>
          <p:cNvSpPr/>
          <p:nvPr/>
        </p:nvSpPr>
        <p:spPr>
          <a:xfrm>
            <a:off x="850392" y="999804"/>
            <a:ext cx="10506456" cy="3416320"/>
          </a:xfrm>
          <a:prstGeom prst="rect">
            <a:avLst/>
          </a:prstGeom>
        </p:spPr>
        <p:txBody>
          <a:bodyPr wrap="square">
            <a:spAutoFit/>
          </a:bodyPr>
          <a:lstStyle/>
          <a:p>
            <a:pPr algn="just"/>
            <a:r>
              <a:rPr lang="en-US" sz="2400" b="1" u="sng" dirty="0" smtClean="0">
                <a:solidFill>
                  <a:schemeClr val="accent6">
                    <a:lumMod val="75000"/>
                  </a:schemeClr>
                </a:solidFill>
                <a:effectLst>
                  <a:outerShdw blurRad="38100" dist="38100" dir="2700000" algn="tl">
                    <a:srgbClr val="000000">
                      <a:alpha val="43137"/>
                    </a:srgbClr>
                  </a:outerShdw>
                </a:effectLst>
              </a:rPr>
              <a:t>As a data analyst, it’s your job to turn raw data into meaningful insights.</a:t>
            </a:r>
          </a:p>
          <a:p>
            <a:pPr algn="just"/>
            <a:endParaRPr lang="en-US" sz="1200" dirty="0" smtClean="0"/>
          </a:p>
          <a:p>
            <a:pPr algn="just"/>
            <a:r>
              <a:rPr lang="en-US" sz="2400" dirty="0" smtClean="0"/>
              <a:t>Any kind of data analysis usually starts with a specific problem you want to solve, or a question you need to answer—</a:t>
            </a:r>
          </a:p>
          <a:p>
            <a:pPr algn="just"/>
            <a:r>
              <a:rPr lang="en-US" sz="2400" dirty="0" smtClean="0"/>
              <a:t>for example:</a:t>
            </a:r>
          </a:p>
          <a:p>
            <a:pPr algn="just"/>
            <a:r>
              <a:rPr lang="en-US" sz="2400" b="1" dirty="0" smtClean="0">
                <a:solidFill>
                  <a:srgbClr val="FF0000"/>
                </a:solidFill>
              </a:rPr>
              <a:t>“Why did we lose so many customers in the last quarter?” or </a:t>
            </a:r>
          </a:p>
          <a:p>
            <a:pPr algn="just"/>
            <a:r>
              <a:rPr lang="en-US" sz="2400" b="1" dirty="0" smtClean="0">
                <a:solidFill>
                  <a:srgbClr val="0070C0"/>
                </a:solidFill>
              </a:rPr>
              <a:t>“Why are patients dropping out of their therapy programs at the halfway mark?”</a:t>
            </a:r>
          </a:p>
          <a:p>
            <a:pPr algn="just"/>
            <a:endParaRPr lang="en-US" sz="1200" dirty="0" smtClean="0"/>
          </a:p>
          <a:p>
            <a:pPr algn="just"/>
            <a:r>
              <a:rPr lang="en-US" sz="2400" dirty="0" smtClean="0"/>
              <a:t>To find the insights and answers you need, you’ll generally go through the following steps:</a:t>
            </a:r>
            <a:endParaRPr lang="en-US" sz="2400" dirty="0"/>
          </a:p>
        </p:txBody>
      </p:sp>
      <p:pic>
        <p:nvPicPr>
          <p:cNvPr id="6" name="Picture 5"/>
          <p:cNvPicPr>
            <a:picLocks noChangeAspect="1"/>
          </p:cNvPicPr>
          <p:nvPr/>
        </p:nvPicPr>
        <p:blipFill>
          <a:blip r:embed="rId2"/>
          <a:stretch>
            <a:fillRect/>
          </a:stretch>
        </p:blipFill>
        <p:spPr>
          <a:xfrm>
            <a:off x="3034665" y="4416124"/>
            <a:ext cx="6217920" cy="2049284"/>
          </a:xfrm>
          <a:prstGeom prst="rect">
            <a:avLst/>
          </a:prstGeom>
        </p:spPr>
      </p:pic>
    </p:spTree>
    <p:extLst>
      <p:ext uri="{BB962C8B-B14F-4D97-AF65-F5344CB8AC3E}">
        <p14:creationId xmlns:p14="http://schemas.microsoft.com/office/powerpoint/2010/main" val="261837289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459736" y="199382"/>
            <a:ext cx="7411584" cy="830997"/>
          </a:xfrm>
          <a:prstGeom prst="rect">
            <a:avLst/>
          </a:prstGeom>
        </p:spPr>
        <p:txBody>
          <a:bodyPr wrap="square">
            <a:spAutoFit/>
          </a:bodyPr>
          <a:lstStyle/>
          <a:p>
            <a:pPr algn="ctr"/>
            <a:r>
              <a:rPr lang="en-US" sz="4800" b="1" dirty="0" smtClean="0">
                <a:latin typeface="Times New Roman" panose="02020603050405020304" pitchFamily="18" charset="0"/>
                <a:cs typeface="Times New Roman" panose="02020603050405020304" pitchFamily="18" charset="0"/>
              </a:rPr>
              <a:t>Data Analysis Process</a:t>
            </a:r>
            <a:endParaRPr lang="en-US" sz="4800" b="1" dirty="0">
              <a:latin typeface="Times New Roman" panose="02020603050405020304" pitchFamily="18" charset="0"/>
              <a:cs typeface="Times New Roman" panose="02020603050405020304" pitchFamily="18" charset="0"/>
            </a:endParaRPr>
          </a:p>
        </p:txBody>
      </p:sp>
      <p:sp>
        <p:nvSpPr>
          <p:cNvPr id="7" name="Rectangle 6"/>
          <p:cNvSpPr/>
          <p:nvPr/>
        </p:nvSpPr>
        <p:spPr>
          <a:xfrm>
            <a:off x="2902644" y="1169754"/>
            <a:ext cx="6096000" cy="3502882"/>
          </a:xfrm>
          <a:prstGeom prst="rect">
            <a:avLst/>
          </a:prstGeom>
        </p:spPr>
        <p:txBody>
          <a:bodyPr>
            <a:spAutoFit/>
          </a:bodyPr>
          <a:lstStyle/>
          <a:p>
            <a:pPr>
              <a:lnSpc>
                <a:spcPct val="114000"/>
              </a:lnSpc>
            </a:pPr>
            <a:r>
              <a:rPr lang="en-US" sz="2800" dirty="0" smtClean="0"/>
              <a:t>1. Defining the question</a:t>
            </a:r>
          </a:p>
          <a:p>
            <a:pPr>
              <a:lnSpc>
                <a:spcPct val="114000"/>
              </a:lnSpc>
            </a:pPr>
            <a:r>
              <a:rPr lang="en-US" sz="2800" dirty="0" smtClean="0"/>
              <a:t>2. Collecting the data</a:t>
            </a:r>
          </a:p>
          <a:p>
            <a:pPr>
              <a:lnSpc>
                <a:spcPct val="114000"/>
              </a:lnSpc>
            </a:pPr>
            <a:r>
              <a:rPr lang="en-US" sz="2800" dirty="0" smtClean="0"/>
              <a:t>3. Cleaning the data</a:t>
            </a:r>
          </a:p>
          <a:p>
            <a:pPr>
              <a:lnSpc>
                <a:spcPct val="114000"/>
              </a:lnSpc>
            </a:pPr>
            <a:r>
              <a:rPr lang="en-US" sz="2800" dirty="0" smtClean="0"/>
              <a:t>4. Analyzing the data</a:t>
            </a:r>
          </a:p>
          <a:p>
            <a:pPr>
              <a:lnSpc>
                <a:spcPct val="114000"/>
              </a:lnSpc>
            </a:pPr>
            <a:r>
              <a:rPr lang="en-US" sz="2800" dirty="0" smtClean="0"/>
              <a:t>5. Sharing your results</a:t>
            </a:r>
          </a:p>
          <a:p>
            <a:pPr>
              <a:lnSpc>
                <a:spcPct val="114000"/>
              </a:lnSpc>
            </a:pPr>
            <a:r>
              <a:rPr lang="en-US" sz="2800" dirty="0" smtClean="0"/>
              <a:t>6. Embracing failure</a:t>
            </a:r>
          </a:p>
          <a:p>
            <a:pPr>
              <a:lnSpc>
                <a:spcPct val="114000"/>
              </a:lnSpc>
            </a:pPr>
            <a:r>
              <a:rPr lang="en-US" sz="2800" dirty="0" smtClean="0"/>
              <a:t>7. Summary</a:t>
            </a:r>
            <a:endParaRPr lang="en-US" sz="2800" dirty="0"/>
          </a:p>
        </p:txBody>
      </p:sp>
      <p:pic>
        <p:nvPicPr>
          <p:cNvPr id="8" name="Picture 7"/>
          <p:cNvPicPr>
            <a:picLocks noChangeAspect="1"/>
          </p:cNvPicPr>
          <p:nvPr/>
        </p:nvPicPr>
        <p:blipFill>
          <a:blip r:embed="rId2"/>
          <a:stretch>
            <a:fillRect/>
          </a:stretch>
        </p:blipFill>
        <p:spPr>
          <a:xfrm>
            <a:off x="2937698" y="4645152"/>
            <a:ext cx="5944248" cy="2011680"/>
          </a:xfrm>
          <a:prstGeom prst="rect">
            <a:avLst/>
          </a:prstGeom>
        </p:spPr>
      </p:pic>
    </p:spTree>
    <p:extLst>
      <p:ext uri="{BB962C8B-B14F-4D97-AF65-F5344CB8AC3E}">
        <p14:creationId xmlns:p14="http://schemas.microsoft.com/office/powerpoint/2010/main" val="47931871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71016" y="594789"/>
            <a:ext cx="9811512" cy="5755422"/>
          </a:xfrm>
          <a:prstGeom prst="rect">
            <a:avLst/>
          </a:prstGeom>
        </p:spPr>
        <p:txBody>
          <a:bodyPr wrap="square">
            <a:spAutoFit/>
          </a:bodyPr>
          <a:lstStyle/>
          <a:p>
            <a:pPr marL="457200" indent="-457200">
              <a:buAutoNum type="arabicPeriod"/>
            </a:pPr>
            <a:r>
              <a:rPr lang="en-US" sz="3200" b="1" dirty="0" smtClean="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Defining the question</a:t>
            </a:r>
          </a:p>
          <a:p>
            <a:endParaRPr lang="en-US" sz="2400" b="1"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The first step in any data analysis process is to define your objective. In data analytics jargon, this is sometimes called the ‘problem statement’.</a:t>
            </a:r>
          </a:p>
          <a:p>
            <a:pPr algn="just"/>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Defining your objective means coming up with a hypothesis and figuring how to test it. Start by asking: </a:t>
            </a:r>
            <a:r>
              <a:rPr lang="en-US" sz="2400" b="1" dirty="0" smtClean="0">
                <a:solidFill>
                  <a:srgbClr val="FF0000"/>
                </a:solidFill>
                <a:latin typeface="Times New Roman" panose="02020603050405020304" pitchFamily="18" charset="0"/>
                <a:cs typeface="Times New Roman" panose="02020603050405020304" pitchFamily="18" charset="0"/>
              </a:rPr>
              <a:t>What business problem am I trying to solve? </a:t>
            </a:r>
            <a:r>
              <a:rPr lang="en-US" sz="2400" dirty="0" smtClean="0">
                <a:latin typeface="Times New Roman" panose="02020603050405020304" pitchFamily="18" charset="0"/>
                <a:cs typeface="Times New Roman" panose="02020603050405020304" pitchFamily="18" charset="0"/>
              </a:rPr>
              <a:t>While this might sound straightforward, it can be trickier than it seems. </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For instance, your organization’s senior management might pose an issue, such as: </a:t>
            </a:r>
            <a:r>
              <a:rPr lang="en-US" sz="2400" b="1"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“Why are we losing customers?” </a:t>
            </a:r>
            <a:r>
              <a:rPr lang="en-US" sz="2400" dirty="0" smtClean="0">
                <a:latin typeface="Times New Roman" panose="02020603050405020304" pitchFamily="18" charset="0"/>
                <a:cs typeface="Times New Roman" panose="02020603050405020304" pitchFamily="18" charset="0"/>
              </a:rPr>
              <a:t>It’s possible, though, that this doesn’t get to the core of the problem. </a:t>
            </a:r>
          </a:p>
          <a:p>
            <a:pPr algn="just"/>
            <a:endParaRPr lang="en-US" sz="2400" dirty="0">
              <a:latin typeface="Times New Roman" panose="02020603050405020304" pitchFamily="18" charset="0"/>
              <a:cs typeface="Times New Roman" panose="02020603050405020304" pitchFamily="18" charset="0"/>
            </a:endParaRPr>
          </a:p>
          <a:p>
            <a:pPr algn="just"/>
            <a:r>
              <a:rPr lang="en-US" sz="2400" i="1" u="sng" dirty="0" smtClean="0">
                <a:latin typeface="Times New Roman" panose="02020603050405020304" pitchFamily="18" charset="0"/>
                <a:cs typeface="Times New Roman" panose="02020603050405020304" pitchFamily="18" charset="0"/>
              </a:rPr>
              <a:t>A data analyst’s job is to understand the business and its goals </a:t>
            </a:r>
            <a:r>
              <a:rPr lang="en-US" sz="2400" dirty="0" smtClean="0">
                <a:latin typeface="Times New Roman" panose="02020603050405020304" pitchFamily="18" charset="0"/>
                <a:cs typeface="Times New Roman" panose="02020603050405020304" pitchFamily="18" charset="0"/>
              </a:rPr>
              <a:t>in enough depth that they can frame the problem the right way.</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399619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05256" y="598575"/>
            <a:ext cx="10515600" cy="5693866"/>
          </a:xfrm>
          <a:prstGeom prst="rect">
            <a:avLst/>
          </a:prstGeom>
        </p:spPr>
        <p:txBody>
          <a:bodyPr wrap="square">
            <a:spAutoFit/>
          </a:bodyPr>
          <a:lstStyle/>
          <a:p>
            <a:r>
              <a:rPr lang="en-US" sz="3200" b="1" dirty="0" smtClean="0">
                <a:effectLst>
                  <a:outerShdw blurRad="38100" dist="38100" dir="2700000" algn="tl">
                    <a:srgbClr val="000000">
                      <a:alpha val="43137"/>
                    </a:srgbClr>
                  </a:outerShdw>
                </a:effectLst>
              </a:rPr>
              <a:t>Two interesting examples.</a:t>
            </a:r>
          </a:p>
          <a:p>
            <a:endParaRPr lang="en-US" sz="1000" b="1" dirty="0" smtClean="0">
              <a:effectLst>
                <a:outerShdw blurRad="38100" dist="38100" dir="2700000" algn="tl">
                  <a:srgbClr val="000000">
                    <a:alpha val="43137"/>
                  </a:srgbClr>
                </a:outerShdw>
              </a:effectLst>
            </a:endParaRPr>
          </a:p>
          <a:p>
            <a:pPr algn="just"/>
            <a:r>
              <a:rPr lang="en-US" sz="2400" dirty="0" smtClean="0"/>
              <a:t>Let’s say you work for a fictional company called </a:t>
            </a:r>
            <a:r>
              <a:rPr lang="en-US" sz="2400" dirty="0" err="1" smtClean="0"/>
              <a:t>TopNotch</a:t>
            </a:r>
            <a:r>
              <a:rPr lang="en-US" sz="2400" dirty="0" smtClean="0"/>
              <a:t> Learning. </a:t>
            </a:r>
            <a:r>
              <a:rPr lang="en-US" sz="2400" b="1" u="sng" dirty="0" err="1" smtClean="0">
                <a:solidFill>
                  <a:srgbClr val="FF0000"/>
                </a:solidFill>
              </a:rPr>
              <a:t>TopNotch</a:t>
            </a:r>
            <a:r>
              <a:rPr lang="en-US" sz="2400" b="1" u="sng" dirty="0" smtClean="0">
                <a:solidFill>
                  <a:srgbClr val="FF0000"/>
                </a:solidFill>
              </a:rPr>
              <a:t> creates custom training software for its clients</a:t>
            </a:r>
            <a:r>
              <a:rPr lang="en-US" sz="2400" dirty="0" smtClean="0"/>
              <a:t>. While it is excellent at securing new clients, it has much lower repeat business. As such, your question might not be, </a:t>
            </a:r>
            <a:r>
              <a:rPr lang="en-US" sz="2400" b="1" dirty="0" smtClean="0">
                <a:solidFill>
                  <a:srgbClr val="FF0000"/>
                </a:solidFill>
              </a:rPr>
              <a:t>“Why are we losing customers?” </a:t>
            </a:r>
            <a:r>
              <a:rPr lang="en-US" sz="2400" dirty="0" smtClean="0"/>
              <a:t>but, </a:t>
            </a:r>
            <a:r>
              <a:rPr lang="en-US" sz="2400" b="1" dirty="0" smtClean="0">
                <a:solidFill>
                  <a:srgbClr val="00B0F0"/>
                </a:solidFill>
              </a:rPr>
              <a:t>“</a:t>
            </a:r>
            <a:r>
              <a:rPr lang="en-US" sz="2400" b="1" i="1" u="sng" dirty="0" smtClean="0">
                <a:solidFill>
                  <a:srgbClr val="00B0F0"/>
                </a:solidFill>
                <a:effectLst>
                  <a:outerShdw blurRad="38100" dist="38100" dir="2700000" algn="tl">
                    <a:srgbClr val="000000">
                      <a:alpha val="43137"/>
                    </a:srgbClr>
                  </a:outerShdw>
                </a:effectLst>
              </a:rPr>
              <a:t>Which factors are negatively impacting the customer experience</a:t>
            </a:r>
            <a:r>
              <a:rPr lang="en-US" sz="2400" b="1" dirty="0" smtClean="0">
                <a:solidFill>
                  <a:srgbClr val="00B0F0"/>
                </a:solidFill>
              </a:rPr>
              <a:t>?”</a:t>
            </a:r>
            <a:r>
              <a:rPr lang="en-US" sz="2400" dirty="0" smtClean="0"/>
              <a:t> or better yet: “</a:t>
            </a:r>
            <a:r>
              <a:rPr lang="en-US" sz="2400" b="1" i="1" u="sng" dirty="0" smtClean="0">
                <a:solidFill>
                  <a:srgbClr val="00B0F0"/>
                </a:solidFill>
                <a:effectLst>
                  <a:outerShdw blurRad="38100" dist="38100" dir="2700000" algn="tl">
                    <a:srgbClr val="000000">
                      <a:alpha val="43137"/>
                    </a:srgbClr>
                  </a:outerShdw>
                </a:effectLst>
              </a:rPr>
              <a:t>How can we boost customer </a:t>
            </a:r>
            <a:r>
              <a:rPr lang="en-US" sz="2400" b="1" i="1" u="sng" dirty="0">
                <a:solidFill>
                  <a:srgbClr val="00B0F0"/>
                </a:solidFill>
                <a:effectLst>
                  <a:outerShdw blurRad="38100" dist="38100" dir="2700000" algn="tl">
                    <a:srgbClr val="000000">
                      <a:alpha val="43137"/>
                    </a:srgbClr>
                  </a:outerShdw>
                </a:effectLst>
              </a:rPr>
              <a:t>retention (hold) </a:t>
            </a:r>
            <a:r>
              <a:rPr lang="en-US" sz="2400" b="1" i="1" u="sng" dirty="0" smtClean="0">
                <a:solidFill>
                  <a:srgbClr val="00B0F0"/>
                </a:solidFill>
                <a:effectLst>
                  <a:outerShdw blurRad="38100" dist="38100" dir="2700000" algn="tl">
                    <a:srgbClr val="000000">
                      <a:alpha val="43137"/>
                    </a:srgbClr>
                  </a:outerShdw>
                </a:effectLst>
              </a:rPr>
              <a:t>while minimizing costs?</a:t>
            </a:r>
            <a:r>
              <a:rPr lang="en-US" sz="2400" dirty="0" smtClean="0"/>
              <a:t>”</a:t>
            </a:r>
          </a:p>
          <a:p>
            <a:pPr algn="just"/>
            <a:endParaRPr lang="en-US" sz="1000" dirty="0" smtClean="0"/>
          </a:p>
          <a:p>
            <a:pPr algn="just"/>
            <a:r>
              <a:rPr lang="en-US" sz="2400" dirty="0" smtClean="0"/>
              <a:t>Now you’ve defined a problem, you need to determine which sources of data will best help you solve it. </a:t>
            </a:r>
            <a:r>
              <a:rPr lang="en-US" sz="2400" b="1" u="sng" dirty="0" smtClean="0"/>
              <a:t>This is where your business acumen comes in again</a:t>
            </a:r>
            <a:r>
              <a:rPr lang="en-US" sz="2400" dirty="0" smtClean="0"/>
              <a:t>. For instance, </a:t>
            </a:r>
            <a:r>
              <a:rPr lang="en-US" sz="2400" b="1" u="sng" dirty="0" smtClean="0">
                <a:solidFill>
                  <a:srgbClr val="FF0000"/>
                </a:solidFill>
              </a:rPr>
              <a:t>perhaps you’ve noticed that the sales process for new clients is very slick, but that the production team is inefficient</a:t>
            </a:r>
            <a:r>
              <a:rPr lang="en-US" sz="2400" dirty="0" smtClean="0"/>
              <a:t>. Knowing this, you could hypothesize that the sales process wins lots of new clients, </a:t>
            </a:r>
            <a:r>
              <a:rPr lang="en-US" sz="2400" b="1" dirty="0" smtClean="0">
                <a:solidFill>
                  <a:srgbClr val="00B0F0"/>
                </a:solidFill>
                <a:effectLst>
                  <a:outerShdw blurRad="38100" dist="38100" dir="2700000" algn="tl">
                    <a:srgbClr val="000000">
                      <a:alpha val="43137"/>
                    </a:srgbClr>
                  </a:outerShdw>
                </a:effectLst>
              </a:rPr>
              <a:t>but the subsequent customer experience is lacking</a:t>
            </a:r>
            <a:r>
              <a:rPr lang="en-US" sz="2400" dirty="0" smtClean="0"/>
              <a:t>. </a:t>
            </a:r>
            <a:r>
              <a:rPr lang="en-US" sz="2400" b="1" u="sng" dirty="0" smtClean="0">
                <a:solidFill>
                  <a:schemeClr val="accent6">
                    <a:lumMod val="75000"/>
                  </a:schemeClr>
                </a:solidFill>
              </a:rPr>
              <a:t>Could this be why customers don’t come back? Which sources of data will help you answer this question?</a:t>
            </a:r>
            <a:endParaRPr lang="en-US" sz="2400" b="1" u="sng" dirty="0">
              <a:solidFill>
                <a:schemeClr val="accent6">
                  <a:lumMod val="75000"/>
                </a:schemeClr>
              </a:solidFill>
            </a:endParaRPr>
          </a:p>
        </p:txBody>
      </p:sp>
    </p:spTree>
    <p:extLst>
      <p:ext uri="{BB962C8B-B14F-4D97-AF65-F5344CB8AC3E}">
        <p14:creationId xmlns:p14="http://schemas.microsoft.com/office/powerpoint/2010/main" val="185427220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80160" y="1082100"/>
            <a:ext cx="9985248" cy="4647426"/>
          </a:xfrm>
          <a:prstGeom prst="rect">
            <a:avLst/>
          </a:prstGeom>
        </p:spPr>
        <p:txBody>
          <a:bodyPr wrap="square">
            <a:spAutoFit/>
          </a:bodyPr>
          <a:lstStyle/>
          <a:p>
            <a:r>
              <a:rPr lang="en-US" sz="3200" b="1" dirty="0" smtClean="0">
                <a:effectLst>
                  <a:outerShdw blurRad="38100" dist="38100" dir="2700000" algn="tl">
                    <a:srgbClr val="000000">
                      <a:alpha val="43137"/>
                    </a:srgbClr>
                  </a:outerShdw>
                </a:effectLst>
              </a:rPr>
              <a:t>Tools to help define your objective</a:t>
            </a:r>
          </a:p>
          <a:p>
            <a:endParaRPr lang="en-US" sz="2400" dirty="0" smtClean="0"/>
          </a:p>
          <a:p>
            <a:pPr algn="just"/>
            <a:r>
              <a:rPr lang="en-US" sz="2400" dirty="0" smtClean="0"/>
              <a:t>Defining your objective is mostly about soft skills, business knowledge, and lateral thinking. But you’ll also need to keep track of business metrics and </a:t>
            </a:r>
            <a:r>
              <a:rPr lang="en-US" sz="2400" b="1" u="sng" dirty="0" smtClean="0">
                <a:solidFill>
                  <a:srgbClr val="FF0000"/>
                </a:solidFill>
              </a:rPr>
              <a:t>key performance indicators (KPIs)</a:t>
            </a:r>
            <a:r>
              <a:rPr lang="en-US" sz="2400" dirty="0" smtClean="0"/>
              <a:t>. </a:t>
            </a:r>
          </a:p>
          <a:p>
            <a:pPr algn="just"/>
            <a:endParaRPr lang="en-US" sz="2400" dirty="0"/>
          </a:p>
          <a:p>
            <a:pPr algn="just"/>
            <a:r>
              <a:rPr lang="en-US" sz="2400" b="1" dirty="0" smtClean="0">
                <a:solidFill>
                  <a:schemeClr val="accent6">
                    <a:lumMod val="75000"/>
                  </a:schemeClr>
                </a:solidFill>
                <a:effectLst>
                  <a:outerShdw blurRad="38100" dist="38100" dir="2700000" algn="tl">
                    <a:srgbClr val="000000">
                      <a:alpha val="43137"/>
                    </a:srgbClr>
                  </a:outerShdw>
                </a:effectLst>
              </a:rPr>
              <a:t>Monthly reports can allow you to track problem points in the business.</a:t>
            </a:r>
            <a:r>
              <a:rPr lang="en-US" sz="2400" dirty="0" smtClean="0"/>
              <a:t> </a:t>
            </a:r>
            <a:r>
              <a:rPr lang="en-US" sz="2400" b="1" i="1" u="sng" dirty="0" smtClean="0">
                <a:solidFill>
                  <a:schemeClr val="accent1"/>
                </a:solidFill>
              </a:rPr>
              <a:t>Some KPI dashboards come with a fee, like </a:t>
            </a:r>
            <a:r>
              <a:rPr lang="en-US" sz="2400" b="1" i="1" u="sng" dirty="0" err="1" smtClean="0">
                <a:solidFill>
                  <a:schemeClr val="accent1"/>
                </a:solidFill>
              </a:rPr>
              <a:t>Databox</a:t>
            </a:r>
            <a:r>
              <a:rPr lang="en-US" sz="2400" b="1" i="1" u="sng" dirty="0" smtClean="0">
                <a:solidFill>
                  <a:schemeClr val="accent1"/>
                </a:solidFill>
              </a:rPr>
              <a:t> and </a:t>
            </a:r>
            <a:r>
              <a:rPr lang="en-US" sz="2400" b="1" i="1" u="sng" dirty="0" err="1" smtClean="0">
                <a:solidFill>
                  <a:schemeClr val="accent1"/>
                </a:solidFill>
              </a:rPr>
              <a:t>DashThis</a:t>
            </a:r>
            <a:r>
              <a:rPr lang="en-US" sz="2400" dirty="0" smtClean="0"/>
              <a:t>. </a:t>
            </a:r>
            <a:r>
              <a:rPr lang="en-US" sz="2400" b="1" u="sng" dirty="0" smtClean="0">
                <a:solidFill>
                  <a:schemeClr val="accent6">
                    <a:lumMod val="75000"/>
                  </a:schemeClr>
                </a:solidFill>
                <a:effectLst>
                  <a:outerShdw blurRad="38100" dist="38100" dir="2700000" algn="tl">
                    <a:srgbClr val="000000">
                      <a:alpha val="43137"/>
                    </a:srgbClr>
                  </a:outerShdw>
                </a:effectLst>
              </a:rPr>
              <a:t>However, you’ll also find open-source software like </a:t>
            </a:r>
            <a:r>
              <a:rPr lang="en-US" sz="2400" b="1" u="sng" dirty="0" err="1" smtClean="0">
                <a:solidFill>
                  <a:schemeClr val="accent6">
                    <a:lumMod val="75000"/>
                  </a:schemeClr>
                </a:solidFill>
                <a:effectLst>
                  <a:outerShdw blurRad="38100" dist="38100" dir="2700000" algn="tl">
                    <a:srgbClr val="000000">
                      <a:alpha val="43137"/>
                    </a:srgbClr>
                  </a:outerShdw>
                </a:effectLst>
              </a:rPr>
              <a:t>Grafana</a:t>
            </a:r>
            <a:r>
              <a:rPr lang="en-US" sz="2400" b="1" u="sng" dirty="0" smtClean="0">
                <a:solidFill>
                  <a:schemeClr val="accent6">
                    <a:lumMod val="75000"/>
                  </a:schemeClr>
                </a:solidFill>
                <a:effectLst>
                  <a:outerShdw blurRad="38100" dist="38100" dir="2700000" algn="tl">
                    <a:srgbClr val="000000">
                      <a:alpha val="43137"/>
                    </a:srgbClr>
                  </a:outerShdw>
                </a:effectLst>
              </a:rPr>
              <a:t>, Freeboard, and </a:t>
            </a:r>
            <a:r>
              <a:rPr lang="en-US" sz="2400" b="1" u="sng" dirty="0" err="1" smtClean="0">
                <a:solidFill>
                  <a:schemeClr val="accent6">
                    <a:lumMod val="75000"/>
                  </a:schemeClr>
                </a:solidFill>
                <a:effectLst>
                  <a:outerShdw blurRad="38100" dist="38100" dir="2700000" algn="tl">
                    <a:srgbClr val="000000">
                      <a:alpha val="43137"/>
                    </a:srgbClr>
                  </a:outerShdw>
                </a:effectLst>
              </a:rPr>
              <a:t>Dashbuilder</a:t>
            </a:r>
            <a:r>
              <a:rPr lang="en-US" sz="2400" dirty="0" smtClean="0"/>
              <a:t>. </a:t>
            </a:r>
          </a:p>
          <a:p>
            <a:pPr algn="just"/>
            <a:endParaRPr lang="en-US" sz="2400" dirty="0"/>
          </a:p>
          <a:p>
            <a:pPr algn="just"/>
            <a:r>
              <a:rPr lang="en-US" sz="2400" dirty="0" smtClean="0"/>
              <a:t>These are great for producing simple dashboards, both at the beginning and the end of the data analysis process.</a:t>
            </a:r>
            <a:endParaRPr lang="en-US" sz="2400" dirty="0"/>
          </a:p>
        </p:txBody>
      </p:sp>
    </p:spTree>
    <p:extLst>
      <p:ext uri="{BB962C8B-B14F-4D97-AF65-F5344CB8AC3E}">
        <p14:creationId xmlns:p14="http://schemas.microsoft.com/office/powerpoint/2010/main" val="162884997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16736" y="645867"/>
            <a:ext cx="9582912" cy="5663089"/>
          </a:xfrm>
          <a:prstGeom prst="rect">
            <a:avLst/>
          </a:prstGeom>
        </p:spPr>
        <p:txBody>
          <a:bodyPr wrap="square">
            <a:spAutoFit/>
          </a:bodyPr>
          <a:lstStyle/>
          <a:p>
            <a:r>
              <a:rPr lang="en-US" sz="3200" b="1" dirty="0" smtClean="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 Collecting the data</a:t>
            </a:r>
          </a:p>
          <a:p>
            <a:endParaRPr lang="en-US" dirty="0" smtClean="0"/>
          </a:p>
          <a:p>
            <a:pPr algn="just"/>
            <a:r>
              <a:rPr lang="en-US" sz="2400" dirty="0" smtClean="0"/>
              <a:t>Once you’ve established your objective, you’ll need to create a strategy for collecting and aggregating the appropriate data. </a:t>
            </a:r>
            <a:r>
              <a:rPr lang="en-US" sz="2400" b="1" u="sng" dirty="0" smtClean="0">
                <a:solidFill>
                  <a:schemeClr val="accent6">
                    <a:lumMod val="75000"/>
                  </a:schemeClr>
                </a:solidFill>
                <a:effectLst>
                  <a:outerShdw blurRad="38100" dist="38100" dir="2700000" algn="tl">
                    <a:srgbClr val="000000">
                      <a:alpha val="43137"/>
                    </a:srgbClr>
                  </a:outerShdw>
                </a:effectLst>
              </a:rPr>
              <a:t>A key part of this is determining which data you need</a:t>
            </a:r>
            <a:r>
              <a:rPr lang="en-US" sz="2400" dirty="0" smtClean="0"/>
              <a:t>. </a:t>
            </a:r>
          </a:p>
          <a:p>
            <a:pPr algn="just"/>
            <a:endParaRPr lang="en-US" sz="2400" dirty="0"/>
          </a:p>
          <a:p>
            <a:pPr algn="just"/>
            <a:r>
              <a:rPr lang="en-US" sz="2400" dirty="0" smtClean="0"/>
              <a:t>This might be </a:t>
            </a:r>
            <a:r>
              <a:rPr lang="en-US" sz="2400" b="1" dirty="0" smtClean="0">
                <a:solidFill>
                  <a:srgbClr val="00B0F0"/>
                </a:solidFill>
                <a:effectLst>
                  <a:outerShdw blurRad="38100" dist="38100" dir="2700000" algn="tl">
                    <a:srgbClr val="000000">
                      <a:alpha val="43137"/>
                    </a:srgbClr>
                  </a:outerShdw>
                </a:effectLst>
              </a:rPr>
              <a:t>quantitative (numeric) data</a:t>
            </a:r>
            <a:r>
              <a:rPr lang="en-US" sz="2400" dirty="0" smtClean="0"/>
              <a:t>, e.g. sales figures, or </a:t>
            </a:r>
            <a:r>
              <a:rPr lang="en-US" sz="2400" b="1" dirty="0" smtClean="0">
                <a:solidFill>
                  <a:srgbClr val="00B0F0"/>
                </a:solidFill>
                <a:effectLst>
                  <a:outerShdw blurRad="38100" dist="38100" dir="2700000" algn="tl">
                    <a:srgbClr val="000000">
                      <a:alpha val="43137"/>
                    </a:srgbClr>
                  </a:outerShdw>
                </a:effectLst>
              </a:rPr>
              <a:t>qualitative (descriptive) data, such as customer reviews</a:t>
            </a:r>
            <a:r>
              <a:rPr lang="en-US" sz="2400" dirty="0" smtClean="0"/>
              <a:t>. </a:t>
            </a:r>
          </a:p>
          <a:p>
            <a:pPr algn="just"/>
            <a:endParaRPr lang="en-US" sz="2400" dirty="0"/>
          </a:p>
          <a:p>
            <a:pPr algn="just">
              <a:lnSpc>
                <a:spcPct val="150000"/>
              </a:lnSpc>
            </a:pPr>
            <a:r>
              <a:rPr lang="en-US" sz="2400" b="1" u="sng" dirty="0" smtClean="0">
                <a:solidFill>
                  <a:srgbClr val="FF0000"/>
                </a:solidFill>
              </a:rPr>
              <a:t>All data fit into one of three categories</a:t>
            </a:r>
            <a:r>
              <a:rPr lang="en-US" sz="2400" dirty="0" smtClean="0"/>
              <a:t>: </a:t>
            </a:r>
          </a:p>
          <a:p>
            <a:pPr algn="just">
              <a:lnSpc>
                <a:spcPct val="150000"/>
              </a:lnSpc>
            </a:pPr>
            <a:r>
              <a:rPr lang="en-US" sz="2400" dirty="0"/>
              <a:t> </a:t>
            </a:r>
            <a:r>
              <a:rPr lang="en-US" sz="2400" dirty="0" smtClean="0"/>
              <a:t>  </a:t>
            </a:r>
            <a:r>
              <a:rPr lang="en-US" sz="2400" dirty="0" smtClean="0">
                <a:sym typeface="Wingdings" panose="05000000000000000000" pitchFamily="2" charset="2"/>
              </a:rPr>
              <a:t> </a:t>
            </a:r>
            <a:r>
              <a:rPr lang="en-US" sz="2400" dirty="0" smtClean="0"/>
              <a:t>first-party</a:t>
            </a:r>
          </a:p>
          <a:p>
            <a:pPr algn="just">
              <a:lnSpc>
                <a:spcPct val="150000"/>
              </a:lnSpc>
            </a:pPr>
            <a:r>
              <a:rPr lang="en-US" sz="2400" dirty="0"/>
              <a:t> </a:t>
            </a:r>
            <a:r>
              <a:rPr lang="en-US" sz="2400" dirty="0" smtClean="0"/>
              <a:t>  </a:t>
            </a:r>
            <a:r>
              <a:rPr lang="en-US" sz="2400" dirty="0" smtClean="0">
                <a:sym typeface="Wingdings" panose="05000000000000000000" pitchFamily="2" charset="2"/>
              </a:rPr>
              <a:t> </a:t>
            </a:r>
            <a:r>
              <a:rPr lang="en-US" sz="2400" dirty="0" smtClean="0"/>
              <a:t>second-party, and </a:t>
            </a:r>
          </a:p>
          <a:p>
            <a:pPr algn="just">
              <a:lnSpc>
                <a:spcPct val="150000"/>
              </a:lnSpc>
            </a:pPr>
            <a:r>
              <a:rPr lang="en-US" sz="2400" dirty="0"/>
              <a:t> </a:t>
            </a:r>
            <a:r>
              <a:rPr lang="en-US" sz="2400" dirty="0" smtClean="0"/>
              <a:t>  </a:t>
            </a:r>
            <a:r>
              <a:rPr lang="en-US" sz="2400" dirty="0" smtClean="0">
                <a:sym typeface="Wingdings" panose="05000000000000000000" pitchFamily="2" charset="2"/>
              </a:rPr>
              <a:t> </a:t>
            </a:r>
            <a:r>
              <a:rPr lang="en-US" sz="2400" dirty="0" smtClean="0"/>
              <a:t>third-party data</a:t>
            </a:r>
            <a:endParaRPr lang="en-US" sz="2400" dirty="0"/>
          </a:p>
        </p:txBody>
      </p:sp>
    </p:spTree>
    <p:extLst>
      <p:ext uri="{BB962C8B-B14F-4D97-AF65-F5344CB8AC3E}">
        <p14:creationId xmlns:p14="http://schemas.microsoft.com/office/powerpoint/2010/main" val="185947040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50392" y="801315"/>
            <a:ext cx="10652760" cy="2492990"/>
          </a:xfrm>
          <a:prstGeom prst="rect">
            <a:avLst/>
          </a:prstGeom>
        </p:spPr>
        <p:txBody>
          <a:bodyPr wrap="square">
            <a:spAutoFit/>
          </a:bodyPr>
          <a:lstStyle/>
          <a:p>
            <a:r>
              <a:rPr lang="en-US" sz="2400" b="1" dirty="0" smtClean="0">
                <a:solidFill>
                  <a:srgbClr val="FF0000"/>
                </a:solidFill>
                <a:effectLst>
                  <a:outerShdw blurRad="38100" dist="38100" dir="2700000" algn="tl">
                    <a:srgbClr val="000000">
                      <a:alpha val="43137"/>
                    </a:srgbClr>
                  </a:outerShdw>
                </a:effectLst>
              </a:rPr>
              <a:t>What is first-party data?</a:t>
            </a:r>
          </a:p>
          <a:p>
            <a:pPr algn="just"/>
            <a:r>
              <a:rPr lang="en-US" sz="2200" dirty="0" smtClean="0"/>
              <a:t>First-party data are data that you, or your company, have directly collected from customers. It might come in the form of transactional tracking data </a:t>
            </a:r>
            <a:r>
              <a:rPr lang="en-US" sz="2200" b="1" dirty="0" smtClean="0">
                <a:solidFill>
                  <a:schemeClr val="accent6">
                    <a:lumMod val="75000"/>
                  </a:schemeClr>
                </a:solidFill>
                <a:effectLst>
                  <a:outerShdw blurRad="38100" dist="38100" dir="2700000" algn="tl">
                    <a:srgbClr val="000000">
                      <a:alpha val="43137"/>
                    </a:srgbClr>
                  </a:outerShdw>
                </a:effectLst>
              </a:rPr>
              <a:t>or information from your company’s customer relationship management (CRM) system</a:t>
            </a:r>
            <a:r>
              <a:rPr lang="en-US" sz="2200" dirty="0" smtClean="0"/>
              <a:t>. Whatever its source, first-party data is usually structured and organized in a clear, defined way. </a:t>
            </a:r>
            <a:r>
              <a:rPr lang="en-US" sz="2200" b="1" dirty="0" smtClean="0">
                <a:solidFill>
                  <a:schemeClr val="accent5">
                    <a:lumMod val="75000"/>
                  </a:schemeClr>
                </a:solidFill>
                <a:effectLst>
                  <a:outerShdw blurRad="38100" dist="38100" dir="2700000" algn="tl">
                    <a:srgbClr val="000000">
                      <a:alpha val="43137"/>
                    </a:srgbClr>
                  </a:outerShdw>
                </a:effectLst>
              </a:rPr>
              <a:t>Other sources of first-party data might include customer satisfaction surveys, focus groups, interviews, or direct observation.</a:t>
            </a:r>
            <a:endParaRPr lang="en-US" sz="2200" b="1" dirty="0">
              <a:solidFill>
                <a:schemeClr val="accent5">
                  <a:lumMod val="75000"/>
                </a:schemeClr>
              </a:solidFill>
              <a:effectLst>
                <a:outerShdw blurRad="38100" dist="38100" dir="2700000" algn="tl">
                  <a:srgbClr val="000000">
                    <a:alpha val="43137"/>
                  </a:srgbClr>
                </a:outerShdw>
              </a:effectLst>
            </a:endParaRPr>
          </a:p>
        </p:txBody>
      </p:sp>
      <p:sp>
        <p:nvSpPr>
          <p:cNvPr id="3" name="Rectangle 2"/>
          <p:cNvSpPr/>
          <p:nvPr/>
        </p:nvSpPr>
        <p:spPr>
          <a:xfrm>
            <a:off x="850392" y="3568899"/>
            <a:ext cx="10652760" cy="2492990"/>
          </a:xfrm>
          <a:prstGeom prst="rect">
            <a:avLst/>
          </a:prstGeom>
        </p:spPr>
        <p:txBody>
          <a:bodyPr wrap="square">
            <a:spAutoFit/>
          </a:bodyPr>
          <a:lstStyle/>
          <a:p>
            <a:r>
              <a:rPr lang="en-US" sz="2400" b="1" dirty="0" smtClean="0">
                <a:solidFill>
                  <a:srgbClr val="FF0000"/>
                </a:solidFill>
                <a:effectLst>
                  <a:outerShdw blurRad="38100" dist="38100" dir="2700000" algn="tl">
                    <a:srgbClr val="000000">
                      <a:alpha val="43137"/>
                    </a:srgbClr>
                  </a:outerShdw>
                </a:effectLst>
              </a:rPr>
              <a:t>What is second-party data?</a:t>
            </a:r>
          </a:p>
          <a:p>
            <a:pPr algn="just"/>
            <a:r>
              <a:rPr lang="en-US" sz="2200" dirty="0" smtClean="0"/>
              <a:t>To enrich your analysis, you might want to secure a secondary data source. </a:t>
            </a:r>
            <a:r>
              <a:rPr lang="en-US" sz="2200" b="1" i="1" u="sng" dirty="0" smtClean="0">
                <a:solidFill>
                  <a:schemeClr val="accent6">
                    <a:lumMod val="75000"/>
                  </a:schemeClr>
                </a:solidFill>
                <a:effectLst>
                  <a:outerShdw blurRad="38100" dist="38100" dir="2700000" algn="tl">
                    <a:srgbClr val="000000">
                      <a:alpha val="43137"/>
                    </a:srgbClr>
                  </a:outerShdw>
                </a:effectLst>
              </a:rPr>
              <a:t>Second-party data is the first-party data of other organizations. </a:t>
            </a:r>
            <a:r>
              <a:rPr lang="en-US" sz="2200" dirty="0" smtClean="0"/>
              <a:t>This might be available directly from the company or through a private marketplace. The main benefit of second-party data is that they are usually structured, and although they will be less relevant than first-party data, they also tend to be quite reliable. </a:t>
            </a:r>
            <a:r>
              <a:rPr lang="en-US" sz="2200" b="1" dirty="0" smtClean="0">
                <a:solidFill>
                  <a:schemeClr val="accent5">
                    <a:lumMod val="75000"/>
                  </a:schemeClr>
                </a:solidFill>
                <a:effectLst>
                  <a:outerShdw blurRad="38100" dist="38100" dir="2700000" algn="tl">
                    <a:srgbClr val="000000">
                      <a:alpha val="43137"/>
                    </a:srgbClr>
                  </a:outerShdw>
                </a:effectLst>
              </a:rPr>
              <a:t>Examples of second-party data include website, app or social media activity, like online purchase histories, or shipping data.ax</a:t>
            </a:r>
            <a:endParaRPr lang="en-US" sz="2200" b="1" dirty="0">
              <a:solidFill>
                <a:schemeClr val="accent5">
                  <a:lumMod val="75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78322840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3232" y="331923"/>
            <a:ext cx="10780776" cy="6217087"/>
          </a:xfrm>
          <a:prstGeom prst="rect">
            <a:avLst/>
          </a:prstGeom>
        </p:spPr>
        <p:txBody>
          <a:bodyPr wrap="square">
            <a:spAutoFit/>
          </a:bodyPr>
          <a:lstStyle/>
          <a:p>
            <a:r>
              <a:rPr lang="en-US" sz="2400" b="1" dirty="0" smtClean="0">
                <a:solidFill>
                  <a:srgbClr val="FF0000"/>
                </a:solidFill>
                <a:effectLst>
                  <a:outerShdw blurRad="38100" dist="38100" dir="2700000" algn="tl">
                    <a:srgbClr val="000000">
                      <a:alpha val="43137"/>
                    </a:srgbClr>
                  </a:outerShdw>
                </a:effectLst>
              </a:rPr>
              <a:t>What is third-party data?</a:t>
            </a:r>
          </a:p>
          <a:p>
            <a:endParaRPr lang="en-US" sz="600" b="1" dirty="0" smtClean="0">
              <a:solidFill>
                <a:srgbClr val="FF0000"/>
              </a:solidFill>
              <a:effectLst>
                <a:outerShdw blurRad="38100" dist="38100" dir="2700000" algn="tl">
                  <a:srgbClr val="000000">
                    <a:alpha val="43137"/>
                  </a:srgbClr>
                </a:outerShdw>
              </a:effectLst>
            </a:endParaRPr>
          </a:p>
          <a:p>
            <a:pPr algn="just"/>
            <a:r>
              <a:rPr lang="en-US" sz="2400" b="1" dirty="0" smtClean="0">
                <a:effectLst>
                  <a:outerShdw blurRad="38100" dist="38100" dir="2700000" algn="tl">
                    <a:srgbClr val="000000">
                      <a:alpha val="43137"/>
                    </a:srgbClr>
                  </a:outerShdw>
                </a:effectLst>
              </a:rPr>
              <a:t>Third-party data is data that has been collected and aggregated from numerous sources by a third-party organization</a:t>
            </a:r>
            <a:r>
              <a:rPr lang="en-US" sz="2400" dirty="0" smtClean="0">
                <a:effectLst>
                  <a:outerShdw blurRad="38100" dist="38100" dir="2700000" algn="tl">
                    <a:srgbClr val="000000">
                      <a:alpha val="43137"/>
                    </a:srgbClr>
                  </a:outerShdw>
                </a:effectLst>
              </a:rPr>
              <a:t>. </a:t>
            </a:r>
            <a:r>
              <a:rPr lang="en-US" sz="2400" dirty="0" smtClean="0"/>
              <a:t>Often (though not always) third-party data contains </a:t>
            </a:r>
            <a:r>
              <a:rPr lang="en-US" sz="2400" b="1" dirty="0" smtClean="0">
                <a:solidFill>
                  <a:schemeClr val="accent5">
                    <a:lumMod val="75000"/>
                  </a:schemeClr>
                </a:solidFill>
                <a:effectLst>
                  <a:outerShdw blurRad="38100" dist="38100" dir="2700000" algn="tl">
                    <a:srgbClr val="000000">
                      <a:alpha val="43137"/>
                    </a:srgbClr>
                  </a:outerShdw>
                </a:effectLst>
              </a:rPr>
              <a:t>a vast amount of unstructured data points (big data)</a:t>
            </a:r>
            <a:r>
              <a:rPr lang="en-US" sz="2400" dirty="0" smtClean="0"/>
              <a:t>. </a:t>
            </a:r>
          </a:p>
          <a:p>
            <a:pPr algn="just"/>
            <a:endParaRPr lang="en-US" sz="600" i="1" u="sng" dirty="0"/>
          </a:p>
          <a:p>
            <a:pPr algn="just"/>
            <a:r>
              <a:rPr lang="en-US" sz="2400" i="1" u="sng" dirty="0" smtClean="0"/>
              <a:t>Many organizations collect big data to create industry reports or to conduct market research</a:t>
            </a:r>
            <a:r>
              <a:rPr lang="en-US" sz="2400" dirty="0" smtClean="0"/>
              <a:t>. </a:t>
            </a:r>
          </a:p>
          <a:p>
            <a:pPr algn="just"/>
            <a:endParaRPr lang="en-US" sz="600" dirty="0"/>
          </a:p>
          <a:p>
            <a:pPr algn="just"/>
            <a:r>
              <a:rPr lang="en-US" sz="2400" b="1" u="sng" dirty="0" smtClean="0">
                <a:solidFill>
                  <a:srgbClr val="FF0000"/>
                </a:solidFill>
                <a:effectLst>
                  <a:outerShdw blurRad="38100" dist="38100" dir="2700000" algn="tl">
                    <a:srgbClr val="000000">
                      <a:alpha val="43137"/>
                    </a:srgbClr>
                  </a:outerShdw>
                </a:effectLst>
              </a:rPr>
              <a:t>The research and advisory firm Gartner</a:t>
            </a:r>
            <a:r>
              <a:rPr lang="en-US" sz="2400" dirty="0" smtClean="0"/>
              <a:t> is a good real-world example of an organization that collects big data and sells it on to other companies. </a:t>
            </a:r>
            <a:r>
              <a:rPr lang="en-US" sz="2400" b="1" u="sng" dirty="0" smtClean="0">
                <a:solidFill>
                  <a:srgbClr val="FFC000"/>
                </a:solidFill>
                <a:effectLst>
                  <a:outerShdw blurRad="38100" dist="38100" dir="2700000" algn="tl">
                    <a:srgbClr val="000000">
                      <a:alpha val="43137"/>
                    </a:srgbClr>
                  </a:outerShdw>
                </a:effectLst>
              </a:rPr>
              <a:t>Open data repositories and government portals are also sources of third-party data</a:t>
            </a:r>
            <a:r>
              <a:rPr lang="en-US" sz="2400" dirty="0" smtClean="0"/>
              <a:t>.</a:t>
            </a:r>
          </a:p>
          <a:p>
            <a:pPr algn="just"/>
            <a:endParaRPr lang="en-US" sz="600" dirty="0"/>
          </a:p>
          <a:p>
            <a:pPr algn="just"/>
            <a:r>
              <a:rPr lang="en-US" sz="2400" b="1" u="sng" dirty="0" smtClean="0">
                <a:solidFill>
                  <a:srgbClr val="7030A0"/>
                </a:solidFill>
                <a:effectLst>
                  <a:outerShdw blurRad="38100" dist="38100" dir="2700000" algn="tl">
                    <a:srgbClr val="000000">
                      <a:alpha val="43137"/>
                    </a:srgbClr>
                  </a:outerShdw>
                </a:effectLst>
              </a:rPr>
              <a:t>Example.</a:t>
            </a:r>
          </a:p>
          <a:p>
            <a:pPr algn="just"/>
            <a:r>
              <a:rPr lang="en-US" dirty="0" smtClean="0">
                <a:hlinkClick r:id="rId2"/>
              </a:rPr>
              <a:t>https://journals.asm.org/list-data-repositories</a:t>
            </a:r>
            <a:endParaRPr lang="en-US" dirty="0" smtClean="0"/>
          </a:p>
          <a:p>
            <a:pPr algn="just"/>
            <a:r>
              <a:rPr lang="en-US" dirty="0" smtClean="0">
                <a:hlinkClick r:id="rId3"/>
              </a:rPr>
              <a:t>https://data.gov/</a:t>
            </a:r>
            <a:r>
              <a:rPr lang="en-US" dirty="0" smtClean="0"/>
              <a:t>    [USA gov.]</a:t>
            </a:r>
          </a:p>
          <a:p>
            <a:pPr algn="just"/>
            <a:r>
              <a:rPr lang="en-US" dirty="0" smtClean="0">
                <a:hlinkClick r:id="rId4"/>
              </a:rPr>
              <a:t>https://careerfoundry.com/en/blog/data-analytics/where-to-find-free-datasets/</a:t>
            </a:r>
            <a:r>
              <a:rPr lang="en-US" dirty="0" smtClean="0"/>
              <a:t>    </a:t>
            </a:r>
          </a:p>
          <a:p>
            <a:pPr algn="just"/>
            <a:r>
              <a:rPr lang="en-US" sz="1600" dirty="0"/>
              <a:t> </a:t>
            </a:r>
            <a:r>
              <a:rPr lang="en-US" sz="1600" dirty="0" smtClean="0"/>
              <a:t>    </a:t>
            </a:r>
            <a:r>
              <a:rPr lang="en-US" sz="1600" b="1" dirty="0" smtClean="0"/>
              <a:t>- Google Dataset Search</a:t>
            </a:r>
          </a:p>
          <a:p>
            <a:pPr algn="just"/>
            <a:r>
              <a:rPr lang="en-US" sz="1600" b="1" dirty="0" smtClean="0"/>
              <a:t>     - </a:t>
            </a:r>
            <a:r>
              <a:rPr lang="en-US" sz="1600" b="1" dirty="0" err="1" smtClean="0"/>
              <a:t>Kaggle</a:t>
            </a:r>
            <a:endParaRPr lang="en-US" sz="1600" b="1" dirty="0" smtClean="0"/>
          </a:p>
          <a:p>
            <a:pPr algn="just"/>
            <a:r>
              <a:rPr lang="en-US" sz="1600" b="1" dirty="0" smtClean="0"/>
              <a:t>     - Datahub.io</a:t>
            </a:r>
          </a:p>
          <a:p>
            <a:pPr algn="just"/>
            <a:r>
              <a:rPr lang="en-US" sz="1600" b="1" dirty="0" smtClean="0"/>
              <a:t>     - UCI Machine Learning Repository</a:t>
            </a:r>
          </a:p>
          <a:p>
            <a:pPr algn="just"/>
            <a:r>
              <a:rPr lang="en-US" sz="1600" b="1" dirty="0" smtClean="0"/>
              <a:t>     - Earth Data (Bu NASA)</a:t>
            </a:r>
            <a:endParaRPr lang="en-US" sz="2200" b="1" dirty="0"/>
          </a:p>
        </p:txBody>
      </p:sp>
    </p:spTree>
    <p:extLst>
      <p:ext uri="{BB962C8B-B14F-4D97-AF65-F5344CB8AC3E}">
        <p14:creationId xmlns:p14="http://schemas.microsoft.com/office/powerpoint/2010/main" val="222704518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53312" y="758041"/>
            <a:ext cx="9765792" cy="5601533"/>
          </a:xfrm>
          <a:prstGeom prst="rect">
            <a:avLst/>
          </a:prstGeom>
        </p:spPr>
        <p:txBody>
          <a:bodyPr wrap="square">
            <a:spAutoFit/>
          </a:bodyPr>
          <a:lstStyle/>
          <a:p>
            <a:r>
              <a:rPr lang="en-US" sz="2800" b="1" dirty="0" smtClean="0">
                <a:solidFill>
                  <a:schemeClr val="accent2">
                    <a:lumMod val="50000"/>
                  </a:schemeClr>
                </a:solidFill>
                <a:effectLst>
                  <a:outerShdw blurRad="38100" dist="38100" dir="2700000" algn="tl">
                    <a:srgbClr val="000000">
                      <a:alpha val="43137"/>
                    </a:srgbClr>
                  </a:outerShdw>
                </a:effectLst>
              </a:rPr>
              <a:t>Tools to help you collect data</a:t>
            </a:r>
          </a:p>
          <a:p>
            <a:endParaRPr lang="en-US" dirty="0" smtClean="0"/>
          </a:p>
          <a:p>
            <a:pPr algn="just"/>
            <a:r>
              <a:rPr lang="en-US" sz="2400" dirty="0" smtClean="0"/>
              <a:t>Once you’ve devised a data strategy (i.e. you’ve identified which data you need, and how best to go about collecting them) there are many tools you can use to help you. </a:t>
            </a:r>
            <a:r>
              <a:rPr lang="en-US" sz="2400" b="1" dirty="0" smtClean="0">
                <a:solidFill>
                  <a:schemeClr val="accent1"/>
                </a:solidFill>
                <a:effectLst>
                  <a:outerShdw blurRad="38100" dist="38100" dir="2700000" algn="tl">
                    <a:srgbClr val="000000">
                      <a:alpha val="43137"/>
                    </a:srgbClr>
                  </a:outerShdw>
                </a:effectLst>
              </a:rPr>
              <a:t>One thing you’ll need, regardless of industry or area of expertise, is a data management platform (DMP). </a:t>
            </a:r>
          </a:p>
          <a:p>
            <a:pPr algn="just"/>
            <a:endParaRPr lang="en-US" sz="2400" dirty="0"/>
          </a:p>
          <a:p>
            <a:pPr algn="just"/>
            <a:r>
              <a:rPr lang="en-US" sz="2400" b="1" dirty="0" smtClean="0">
                <a:solidFill>
                  <a:schemeClr val="accent6">
                    <a:lumMod val="75000"/>
                  </a:schemeClr>
                </a:solidFill>
                <a:effectLst>
                  <a:outerShdw blurRad="38100" dist="38100" dir="2700000" algn="tl">
                    <a:srgbClr val="000000">
                      <a:alpha val="43137"/>
                    </a:srgbClr>
                  </a:outerShdw>
                </a:effectLst>
              </a:rPr>
              <a:t>A DMP is a piece of software that allows you to identify and aggregate data from numerous sources, before manipulating them, segmenting them, and so on. </a:t>
            </a:r>
          </a:p>
          <a:p>
            <a:pPr algn="just"/>
            <a:endParaRPr lang="en-US" sz="2400" dirty="0"/>
          </a:p>
          <a:p>
            <a:pPr algn="just"/>
            <a:r>
              <a:rPr lang="en-US" sz="2400" dirty="0" smtClean="0"/>
              <a:t>There are many DMPs available. Some well-known enterprise DMPs include </a:t>
            </a:r>
            <a:r>
              <a:rPr lang="en-US" sz="2400" b="1" dirty="0" smtClean="0">
                <a:solidFill>
                  <a:srgbClr val="FF0000"/>
                </a:solidFill>
              </a:rPr>
              <a:t>Salesforce DMP, SAS, and the data integration platform, </a:t>
            </a:r>
            <a:r>
              <a:rPr lang="en-US" sz="2400" b="1" dirty="0" err="1" smtClean="0">
                <a:solidFill>
                  <a:srgbClr val="FF0000"/>
                </a:solidFill>
              </a:rPr>
              <a:t>Xplenty</a:t>
            </a:r>
            <a:r>
              <a:rPr lang="en-US" sz="2400" dirty="0" smtClean="0"/>
              <a:t>. If you want to play around, you can also try some </a:t>
            </a:r>
            <a:r>
              <a:rPr lang="en-US" sz="2400" b="1" dirty="0" smtClean="0">
                <a:solidFill>
                  <a:schemeClr val="accent6">
                    <a:lumMod val="75000"/>
                  </a:schemeClr>
                </a:solidFill>
              </a:rPr>
              <a:t>open-source platforms </a:t>
            </a:r>
            <a:r>
              <a:rPr lang="en-US" sz="2400" dirty="0" smtClean="0"/>
              <a:t>like </a:t>
            </a:r>
            <a:r>
              <a:rPr lang="en-US" sz="2400" b="1" dirty="0" err="1" smtClean="0">
                <a:solidFill>
                  <a:schemeClr val="accent6">
                    <a:lumMod val="75000"/>
                  </a:schemeClr>
                </a:solidFill>
              </a:rPr>
              <a:t>Pimcore</a:t>
            </a:r>
            <a:r>
              <a:rPr lang="en-US" sz="2400" b="1" dirty="0" smtClean="0">
                <a:solidFill>
                  <a:schemeClr val="accent6">
                    <a:lumMod val="75000"/>
                  </a:schemeClr>
                </a:solidFill>
              </a:rPr>
              <a:t> or D:Swarm</a:t>
            </a:r>
            <a:r>
              <a:rPr lang="en-US" sz="2400" dirty="0" smtClean="0"/>
              <a:t>.</a:t>
            </a:r>
            <a:endParaRPr lang="en-US" sz="2400" dirty="0"/>
          </a:p>
        </p:txBody>
      </p:sp>
    </p:spTree>
    <p:extLst>
      <p:ext uri="{BB962C8B-B14F-4D97-AF65-F5344CB8AC3E}">
        <p14:creationId xmlns:p14="http://schemas.microsoft.com/office/powerpoint/2010/main" val="77128130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24128" y="492096"/>
            <a:ext cx="10046830" cy="5851282"/>
          </a:xfrm>
          <a:prstGeom prst="rect">
            <a:avLst/>
          </a:prstGeom>
        </p:spPr>
        <p:txBody>
          <a:bodyPr wrap="square">
            <a:spAutoFit/>
          </a:bodyPr>
          <a:lstStyle/>
          <a:p>
            <a:r>
              <a:rPr lang="en-US" sz="3200" b="1" dirty="0" smtClean="0">
                <a:solidFill>
                  <a:srgbClr val="0070C0"/>
                </a:solidFill>
                <a:effectLst>
                  <a:outerShdw blurRad="38100" dist="38100" dir="2700000" algn="tl">
                    <a:srgbClr val="000000">
                      <a:alpha val="43137"/>
                    </a:srgbClr>
                  </a:outerShdw>
                </a:effectLst>
              </a:rPr>
              <a:t>3. Cleaning the data</a:t>
            </a:r>
          </a:p>
          <a:p>
            <a:endParaRPr lang="en-US" sz="1200" b="1" dirty="0" smtClean="0">
              <a:effectLst>
                <a:outerShdw blurRad="38100" dist="38100" dir="2700000" algn="tl">
                  <a:srgbClr val="000000">
                    <a:alpha val="43137"/>
                  </a:srgbClr>
                </a:outerShdw>
              </a:effectLst>
            </a:endParaRPr>
          </a:p>
          <a:p>
            <a:pPr algn="just"/>
            <a:r>
              <a:rPr lang="en-US" sz="2400" dirty="0" smtClean="0"/>
              <a:t>Once you’ve collected your data, the next step is to </a:t>
            </a:r>
            <a:r>
              <a:rPr lang="en-US" sz="2400" b="1" u="sng" dirty="0" smtClean="0"/>
              <a:t>get it ready for analysis</a:t>
            </a:r>
            <a:r>
              <a:rPr lang="en-US" sz="2400" dirty="0" smtClean="0"/>
              <a:t>. This means </a:t>
            </a:r>
            <a:r>
              <a:rPr lang="en-US" sz="2400" b="1" i="1" u="sng" dirty="0" smtClean="0">
                <a:solidFill>
                  <a:srgbClr val="FF0000"/>
                </a:solidFill>
              </a:rPr>
              <a:t>cleaning, or ‘scrubbing</a:t>
            </a:r>
            <a:r>
              <a:rPr lang="en-US" sz="2400" dirty="0" smtClean="0"/>
              <a:t>’ it, and is crucial in making sure that you’re working with high-quality data. Key data cleaning tasks include:</a:t>
            </a:r>
          </a:p>
          <a:p>
            <a:endParaRPr lang="en-US" sz="1200" dirty="0" smtClean="0"/>
          </a:p>
          <a:p>
            <a:pPr marL="342900" indent="-342900" algn="just">
              <a:lnSpc>
                <a:spcPct val="114000"/>
              </a:lnSpc>
              <a:buFont typeface="Wingdings" panose="05000000000000000000" pitchFamily="2" charset="2"/>
              <a:buChar char="à"/>
            </a:pPr>
            <a:r>
              <a:rPr lang="en-US" sz="2400" b="1" u="sng" dirty="0" smtClean="0"/>
              <a:t>Removing major errors, duplicates, and outliers</a:t>
            </a:r>
            <a:r>
              <a:rPr lang="en-US" sz="2400" dirty="0" smtClean="0"/>
              <a:t>—all of which are inevitable problems when aggregating data from numerous sources.</a:t>
            </a:r>
          </a:p>
          <a:p>
            <a:pPr algn="just">
              <a:lnSpc>
                <a:spcPct val="114000"/>
              </a:lnSpc>
            </a:pPr>
            <a:endParaRPr lang="en-US" sz="800" dirty="0" smtClean="0"/>
          </a:p>
          <a:p>
            <a:pPr marL="342900" indent="-342900" algn="just">
              <a:lnSpc>
                <a:spcPct val="114000"/>
              </a:lnSpc>
              <a:buFont typeface="Wingdings" panose="05000000000000000000" pitchFamily="2" charset="2"/>
              <a:buChar char="à"/>
            </a:pPr>
            <a:r>
              <a:rPr lang="en-US" sz="2400" b="1" u="sng" dirty="0" smtClean="0"/>
              <a:t>Removing unwanted data points</a:t>
            </a:r>
            <a:r>
              <a:rPr lang="en-US" sz="2400" dirty="0" smtClean="0"/>
              <a:t>—extracting irrelevant observations that have no bearing on your intended analysis.</a:t>
            </a:r>
          </a:p>
          <a:p>
            <a:pPr algn="just">
              <a:lnSpc>
                <a:spcPct val="114000"/>
              </a:lnSpc>
            </a:pPr>
            <a:endParaRPr lang="en-US" sz="800" dirty="0" smtClean="0"/>
          </a:p>
          <a:p>
            <a:pPr marL="342900" indent="-342900" algn="just">
              <a:lnSpc>
                <a:spcPct val="114000"/>
              </a:lnSpc>
              <a:buFont typeface="Wingdings" panose="05000000000000000000" pitchFamily="2" charset="2"/>
              <a:buChar char="à"/>
            </a:pPr>
            <a:r>
              <a:rPr lang="en-US" sz="2400" b="1" u="sng" dirty="0" smtClean="0"/>
              <a:t>Bringing structure to your data</a:t>
            </a:r>
            <a:r>
              <a:rPr lang="en-US" sz="2400" dirty="0" smtClean="0"/>
              <a:t>—general ‘housekeeping’, i.e. fixing typos or layout issues, which will help you map and manipulate your data more easily.</a:t>
            </a:r>
          </a:p>
          <a:p>
            <a:pPr algn="just">
              <a:lnSpc>
                <a:spcPct val="114000"/>
              </a:lnSpc>
            </a:pPr>
            <a:endParaRPr lang="en-US" sz="800" dirty="0" smtClean="0"/>
          </a:p>
          <a:p>
            <a:pPr marL="342900" indent="-342900" algn="just">
              <a:lnSpc>
                <a:spcPct val="114000"/>
              </a:lnSpc>
              <a:buFont typeface="Wingdings" panose="05000000000000000000" pitchFamily="2" charset="2"/>
              <a:buChar char="à"/>
            </a:pPr>
            <a:r>
              <a:rPr lang="en-US" sz="2400" b="1" u="sng" dirty="0" smtClean="0"/>
              <a:t>Filling in major gaps</a:t>
            </a:r>
            <a:r>
              <a:rPr lang="en-US" sz="2400" dirty="0" smtClean="0"/>
              <a:t>—as you’re tidying up, you might notice that important</a:t>
            </a:r>
          </a:p>
          <a:p>
            <a:pPr algn="just">
              <a:lnSpc>
                <a:spcPct val="114000"/>
              </a:lnSpc>
            </a:pPr>
            <a:r>
              <a:rPr lang="en-US" sz="2400" dirty="0" smtClean="0"/>
              <a:t>     data are missing. Once you’ve identified gaps, you can go about filling them.</a:t>
            </a:r>
            <a:endParaRPr lang="en-US" sz="2400" dirty="0"/>
          </a:p>
        </p:txBody>
      </p:sp>
    </p:spTree>
    <p:extLst>
      <p:ext uri="{BB962C8B-B14F-4D97-AF65-F5344CB8AC3E}">
        <p14:creationId xmlns:p14="http://schemas.microsoft.com/office/powerpoint/2010/main" val="343840564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06424" y="417677"/>
            <a:ext cx="10012680" cy="6186309"/>
          </a:xfrm>
          <a:prstGeom prst="rect">
            <a:avLst/>
          </a:prstGeom>
        </p:spPr>
        <p:txBody>
          <a:bodyPr wrap="square">
            <a:spAutoFit/>
          </a:bodyPr>
          <a:lstStyle/>
          <a:p>
            <a:pPr algn="ctr"/>
            <a:r>
              <a:rPr lang="en-US" sz="3200" b="1" dirty="0" smtClean="0"/>
              <a:t>Key benefits of data cleaning</a:t>
            </a:r>
          </a:p>
          <a:p>
            <a:endParaRPr lang="en-US" sz="1200" dirty="0" smtClean="0"/>
          </a:p>
          <a:p>
            <a:pPr algn="just"/>
            <a:r>
              <a:rPr lang="en-US" sz="2400" b="1" dirty="0" smtClean="0">
                <a:solidFill>
                  <a:srgbClr val="FF0000"/>
                </a:solidFill>
              </a:rPr>
              <a:t>Staying organized: </a:t>
            </a:r>
            <a:r>
              <a:rPr lang="en-US" sz="2400" dirty="0" smtClean="0"/>
              <a:t>Today’s businesses collect lots of information from clients, customers, product users, and so on. </a:t>
            </a:r>
            <a:r>
              <a:rPr lang="en-US" sz="2400" b="1" u="sng" dirty="0" smtClean="0"/>
              <a:t>These details include everything from addresses and phone numbers to bank details and more</a:t>
            </a:r>
            <a:r>
              <a:rPr lang="en-US" sz="2400" dirty="0" smtClean="0"/>
              <a:t>. Cleaning this data regularly means keeping it tidy. It can then be stored more effectively and securely.</a:t>
            </a:r>
          </a:p>
          <a:p>
            <a:pPr algn="just"/>
            <a:endParaRPr lang="en-US" sz="800" dirty="0"/>
          </a:p>
          <a:p>
            <a:pPr algn="just"/>
            <a:r>
              <a:rPr lang="en-US" sz="2400" b="1" dirty="0" smtClean="0">
                <a:solidFill>
                  <a:srgbClr val="FF0000"/>
                </a:solidFill>
              </a:rPr>
              <a:t>Avoiding mistakes: </a:t>
            </a:r>
            <a:r>
              <a:rPr lang="en-US" sz="2400" dirty="0" smtClean="0"/>
              <a:t>Dirty data doesn’t just cause problems for data analytics. It also affects daily operations. </a:t>
            </a:r>
            <a:r>
              <a:rPr lang="en-US" sz="2400" i="1" u="sng" dirty="0" smtClean="0"/>
              <a:t>For instance, marketing teams usually have a customer database. If that database is in good order, they’ll have access to helpful, accurate information. If it’s a mess, mistakes are bound to happen, such as using the wrong name in personalized mail outs</a:t>
            </a:r>
            <a:r>
              <a:rPr lang="en-US" sz="2400" dirty="0" smtClean="0"/>
              <a:t>.</a:t>
            </a:r>
          </a:p>
          <a:p>
            <a:pPr algn="just"/>
            <a:endParaRPr lang="en-US" sz="800" dirty="0"/>
          </a:p>
          <a:p>
            <a:pPr algn="just"/>
            <a:r>
              <a:rPr lang="en-US" sz="2400" b="1" dirty="0" smtClean="0">
                <a:solidFill>
                  <a:srgbClr val="FF0000"/>
                </a:solidFill>
              </a:rPr>
              <a:t>Improving productivity: </a:t>
            </a:r>
            <a:r>
              <a:rPr lang="en-US" sz="2400" dirty="0" smtClean="0"/>
              <a:t>Regularly cleaning and updating data means rogue information is quickly eliminated (purged). This saves teams from having to wade (walk) through old databases or documents to find what they’re looking for.</a:t>
            </a:r>
            <a:endParaRPr lang="en-US" dirty="0"/>
          </a:p>
        </p:txBody>
      </p:sp>
    </p:spTree>
    <p:extLst>
      <p:ext uri="{BB962C8B-B14F-4D97-AF65-F5344CB8AC3E}">
        <p14:creationId xmlns:p14="http://schemas.microsoft.com/office/powerpoint/2010/main" val="379410928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52144" y="691997"/>
            <a:ext cx="9875520" cy="5478423"/>
          </a:xfrm>
          <a:prstGeom prst="rect">
            <a:avLst/>
          </a:prstGeom>
        </p:spPr>
        <p:txBody>
          <a:bodyPr wrap="square">
            <a:spAutoFit/>
          </a:bodyPr>
          <a:lstStyle/>
          <a:p>
            <a:pPr algn="ctr"/>
            <a:r>
              <a:rPr lang="en-US" sz="3200" b="1" dirty="0" smtClean="0"/>
              <a:t>Continue ………….</a:t>
            </a:r>
          </a:p>
          <a:p>
            <a:endParaRPr lang="en-US" sz="1200" dirty="0" smtClean="0"/>
          </a:p>
          <a:p>
            <a:endParaRPr lang="en-US" dirty="0"/>
          </a:p>
          <a:p>
            <a:pPr algn="just"/>
            <a:r>
              <a:rPr lang="en-US" sz="2400" b="1" dirty="0" smtClean="0">
                <a:solidFill>
                  <a:srgbClr val="FF0000"/>
                </a:solidFill>
              </a:rPr>
              <a:t>Avoiding unnecessary costs</a:t>
            </a:r>
            <a:r>
              <a:rPr lang="en-US" sz="2400" dirty="0" smtClean="0">
                <a:solidFill>
                  <a:srgbClr val="FF0000"/>
                </a:solidFill>
              </a:rPr>
              <a:t>: </a:t>
            </a:r>
            <a:r>
              <a:rPr lang="en-US" sz="2400" u="sng" dirty="0" smtClean="0">
                <a:solidFill>
                  <a:schemeClr val="accent5"/>
                </a:solidFill>
              </a:rPr>
              <a:t>Making business decisions with bad data can lead to expensive mistakes. But bad data can incur costs in other ways too</a:t>
            </a:r>
            <a:r>
              <a:rPr lang="en-US" sz="2400" dirty="0" smtClean="0"/>
              <a:t>. Simple things, like processing errors, can quickly snowball into bigger problems. Regularly checking data allows you to detect blips sooner. This gives you a chance to correct them before they require a more time-consuming (and costly) fix.</a:t>
            </a:r>
          </a:p>
          <a:p>
            <a:pPr algn="just"/>
            <a:r>
              <a:rPr lang="en-US" sz="2400" dirty="0" smtClean="0"/>
              <a:t> </a:t>
            </a:r>
          </a:p>
          <a:p>
            <a:pPr algn="just"/>
            <a:r>
              <a:rPr lang="en-US" sz="2400" b="1" dirty="0" smtClean="0">
                <a:solidFill>
                  <a:srgbClr val="FF0000"/>
                </a:solidFill>
              </a:rPr>
              <a:t>Improved mapping: </a:t>
            </a:r>
            <a:r>
              <a:rPr lang="en-US" sz="2400" dirty="0" smtClean="0"/>
              <a:t>Increasingly, organizations are looking to improve their internal data infrastructures. </a:t>
            </a:r>
            <a:r>
              <a:rPr lang="en-US" sz="2400" b="1" dirty="0" smtClean="0">
                <a:solidFill>
                  <a:schemeClr val="accent5"/>
                </a:solidFill>
              </a:rPr>
              <a:t>For this, they often hire data analysts to carry out data modeling and to build new applications</a:t>
            </a:r>
            <a:r>
              <a:rPr lang="en-US" sz="2400" dirty="0" smtClean="0"/>
              <a:t>. Having clean data from the start makes it far easier to collate and map, meaning that a solid data hygiene plan is a sensible measure.</a:t>
            </a:r>
            <a:endParaRPr lang="en-US" sz="2400" dirty="0"/>
          </a:p>
        </p:txBody>
      </p:sp>
    </p:spTree>
    <p:extLst>
      <p:ext uri="{BB962C8B-B14F-4D97-AF65-F5344CB8AC3E}">
        <p14:creationId xmlns:p14="http://schemas.microsoft.com/office/powerpoint/2010/main" val="258585696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30936" y="355938"/>
            <a:ext cx="10917936" cy="2400657"/>
          </a:xfrm>
          <a:prstGeom prst="rect">
            <a:avLst/>
          </a:prstGeom>
        </p:spPr>
        <p:txBody>
          <a:bodyPr wrap="square">
            <a:spAutoFit/>
          </a:bodyPr>
          <a:lstStyle/>
          <a:p>
            <a:pPr algn="ctr"/>
            <a:r>
              <a:rPr lang="en-US" sz="3200" b="1" dirty="0" smtClean="0">
                <a:effectLst>
                  <a:outerShdw blurRad="38100" dist="38100" dir="2700000" algn="tl">
                    <a:srgbClr val="000000">
                      <a:alpha val="43137"/>
                    </a:srgbClr>
                  </a:outerShdw>
                </a:effectLst>
              </a:rPr>
              <a:t>Data quality</a:t>
            </a:r>
          </a:p>
          <a:p>
            <a:pPr algn="ctr"/>
            <a:endParaRPr lang="en-US" sz="1000" b="1" dirty="0" smtClean="0">
              <a:effectLst>
                <a:outerShdw blurRad="38100" dist="38100" dir="2700000" algn="tl">
                  <a:srgbClr val="000000">
                    <a:alpha val="43137"/>
                  </a:srgbClr>
                </a:outerShdw>
              </a:effectLst>
            </a:endParaRPr>
          </a:p>
          <a:p>
            <a:pPr algn="just"/>
            <a:r>
              <a:rPr lang="en-US" sz="2400" dirty="0" smtClean="0"/>
              <a:t>Key to data cleaning is the concept of data quality. Data quality measures the </a:t>
            </a:r>
            <a:r>
              <a:rPr lang="en-US" sz="2400" b="1" u="sng" dirty="0" smtClean="0">
                <a:solidFill>
                  <a:srgbClr val="FF0000"/>
                </a:solidFill>
              </a:rPr>
              <a:t>objective and subjective</a:t>
            </a:r>
            <a:r>
              <a:rPr lang="en-US" sz="2400" dirty="0" smtClean="0"/>
              <a:t> suitability of any dataset for its intended purpose.</a:t>
            </a:r>
          </a:p>
          <a:p>
            <a:pPr algn="just"/>
            <a:endParaRPr lang="en-US" sz="1200" dirty="0" smtClean="0"/>
          </a:p>
          <a:p>
            <a:pPr algn="just"/>
            <a:r>
              <a:rPr lang="en-US" sz="2400" dirty="0" smtClean="0"/>
              <a:t>There are a number of characteristics that affect the quality of data including </a:t>
            </a:r>
            <a:r>
              <a:rPr lang="en-US" sz="2400" b="1" dirty="0" smtClean="0">
                <a:solidFill>
                  <a:schemeClr val="accent5"/>
                </a:solidFill>
              </a:rPr>
              <a:t>accuracy</a:t>
            </a:r>
            <a:r>
              <a:rPr lang="en-US" sz="2400" dirty="0" smtClean="0"/>
              <a:t>, </a:t>
            </a:r>
            <a:r>
              <a:rPr lang="en-US" sz="2400" b="1" dirty="0" smtClean="0">
                <a:solidFill>
                  <a:srgbClr val="FF0000"/>
                </a:solidFill>
              </a:rPr>
              <a:t>completeness</a:t>
            </a:r>
            <a:r>
              <a:rPr lang="en-US" sz="2400" dirty="0" smtClean="0"/>
              <a:t>, </a:t>
            </a:r>
            <a:r>
              <a:rPr lang="en-US" sz="2400" b="1" dirty="0" smtClean="0">
                <a:solidFill>
                  <a:schemeClr val="accent6">
                    <a:lumMod val="75000"/>
                  </a:schemeClr>
                </a:solidFill>
              </a:rPr>
              <a:t>consistency</a:t>
            </a:r>
            <a:r>
              <a:rPr lang="en-US" sz="2400" dirty="0" smtClean="0"/>
              <a:t>, </a:t>
            </a:r>
            <a:r>
              <a:rPr lang="en-US" sz="2400" b="1" dirty="0" smtClean="0">
                <a:solidFill>
                  <a:srgbClr val="7030A0"/>
                </a:solidFill>
              </a:rPr>
              <a:t>timeliness</a:t>
            </a:r>
            <a:r>
              <a:rPr lang="en-US" sz="2400" dirty="0" smtClean="0"/>
              <a:t>, </a:t>
            </a:r>
            <a:r>
              <a:rPr lang="en-US" sz="2400" b="1" dirty="0" smtClean="0">
                <a:solidFill>
                  <a:srgbClr val="FFC000"/>
                </a:solidFill>
              </a:rPr>
              <a:t>validity</a:t>
            </a:r>
            <a:r>
              <a:rPr lang="en-US" sz="2400" dirty="0" smtClean="0"/>
              <a:t>, and </a:t>
            </a:r>
            <a:r>
              <a:rPr lang="en-US" sz="2400" b="1" dirty="0" smtClean="0">
                <a:solidFill>
                  <a:schemeClr val="accent2">
                    <a:lumMod val="75000"/>
                  </a:schemeClr>
                </a:solidFill>
              </a:rPr>
              <a:t>uniqueness</a:t>
            </a:r>
            <a:r>
              <a:rPr lang="en-US" sz="2400" dirty="0" smtClean="0"/>
              <a:t>.</a:t>
            </a:r>
            <a:endParaRPr lang="en-US" sz="2400" dirty="0"/>
          </a:p>
        </p:txBody>
      </p:sp>
      <p:sp>
        <p:nvSpPr>
          <p:cNvPr id="5" name="Rectangle 4"/>
          <p:cNvSpPr/>
          <p:nvPr/>
        </p:nvSpPr>
        <p:spPr>
          <a:xfrm>
            <a:off x="694944" y="2957727"/>
            <a:ext cx="10789920" cy="3539430"/>
          </a:xfrm>
          <a:prstGeom prst="rect">
            <a:avLst/>
          </a:prstGeom>
        </p:spPr>
        <p:txBody>
          <a:bodyPr wrap="square">
            <a:spAutoFit/>
          </a:bodyPr>
          <a:lstStyle/>
          <a:p>
            <a:pPr algn="just"/>
            <a:r>
              <a:rPr lang="en-US" sz="2400" b="1" dirty="0" smtClean="0">
                <a:solidFill>
                  <a:schemeClr val="accent4">
                    <a:lumMod val="60000"/>
                    <a:lumOff val="40000"/>
                  </a:schemeClr>
                </a:solidFill>
                <a:effectLst>
                  <a:outerShdw blurRad="38100" dist="38100" dir="2700000" algn="tl">
                    <a:srgbClr val="000000">
                      <a:alpha val="43137"/>
                    </a:srgbClr>
                  </a:outerShdw>
                </a:effectLst>
              </a:rPr>
              <a:t>Data validity</a:t>
            </a:r>
          </a:p>
          <a:p>
            <a:pPr algn="just"/>
            <a:r>
              <a:rPr lang="en-US" dirty="0" smtClean="0"/>
              <a:t>Validity is the degree to which a dataset conforms to a defined format or set of rules. These rules, or constraints, are easy to enforce with modern data capture systems, e.g. online forms. Since forms are a common source of data capture (one we’re all familiar with) let’s use them to highlight a few examples:</a:t>
            </a:r>
          </a:p>
          <a:p>
            <a:pPr algn="just"/>
            <a:r>
              <a:rPr lang="en-US" b="1" dirty="0" smtClean="0">
                <a:sym typeface="Wingdings" panose="05000000000000000000" pitchFamily="2" charset="2"/>
              </a:rPr>
              <a:t> </a:t>
            </a:r>
            <a:r>
              <a:rPr lang="en-US" b="1" dirty="0" smtClean="0"/>
              <a:t>Data type:</a:t>
            </a:r>
            <a:r>
              <a:rPr lang="en-US" dirty="0" smtClean="0"/>
              <a:t> In an online form, values must match the data type, e.g. numbers &gt; numerical, true/false &gt; Boolean, and so on.</a:t>
            </a:r>
          </a:p>
          <a:p>
            <a:pPr algn="just"/>
            <a:endParaRPr lang="en-US" sz="1000" b="1" dirty="0" smtClean="0">
              <a:sym typeface="Wingdings" panose="05000000000000000000" pitchFamily="2" charset="2"/>
            </a:endParaRPr>
          </a:p>
          <a:p>
            <a:pPr algn="just"/>
            <a:r>
              <a:rPr lang="en-US" b="1" dirty="0" smtClean="0">
                <a:sym typeface="Wingdings" panose="05000000000000000000" pitchFamily="2" charset="2"/>
              </a:rPr>
              <a:t> </a:t>
            </a:r>
            <a:r>
              <a:rPr lang="en-US" b="1" dirty="0" smtClean="0"/>
              <a:t>Range:</a:t>
            </a:r>
            <a:r>
              <a:rPr lang="en-US" dirty="0" smtClean="0"/>
              <a:t> Data must fall within a particular range. Ever tried putting a false year of birth into a form (e.g. 1700)? It will tell you this invalid because it falls outside of the accepted date range.</a:t>
            </a:r>
          </a:p>
          <a:p>
            <a:pPr algn="just"/>
            <a:endParaRPr lang="en-US" sz="1000" b="1" dirty="0" smtClean="0">
              <a:sym typeface="Wingdings" panose="05000000000000000000" pitchFamily="2" charset="2"/>
            </a:endParaRPr>
          </a:p>
          <a:p>
            <a:pPr algn="just"/>
            <a:r>
              <a:rPr lang="en-US" b="1" dirty="0" smtClean="0">
                <a:sym typeface="Wingdings" panose="05000000000000000000" pitchFamily="2" charset="2"/>
              </a:rPr>
              <a:t> </a:t>
            </a:r>
            <a:r>
              <a:rPr lang="en-US" b="1" dirty="0" smtClean="0"/>
              <a:t>Mandatory data:</a:t>
            </a:r>
            <a:r>
              <a:rPr lang="en-US" dirty="0" smtClean="0"/>
              <a:t> It’s happened to us all. You hit submit and the form comes back at you with an angry, red warning to say you can’t leave cell ‘X’ empty. This is mandatory data. In online forms, it includes things like email addresses and customer ID numbers.</a:t>
            </a:r>
            <a:endParaRPr lang="en-US" dirty="0"/>
          </a:p>
        </p:txBody>
      </p:sp>
    </p:spTree>
    <p:extLst>
      <p:ext uri="{BB962C8B-B14F-4D97-AF65-F5344CB8AC3E}">
        <p14:creationId xmlns:p14="http://schemas.microsoft.com/office/powerpoint/2010/main" val="21478964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05256" y="444699"/>
            <a:ext cx="10515600" cy="6093976"/>
          </a:xfrm>
          <a:prstGeom prst="rect">
            <a:avLst/>
          </a:prstGeom>
        </p:spPr>
        <p:txBody>
          <a:bodyPr wrap="square">
            <a:spAutoFit/>
          </a:bodyPr>
          <a:lstStyle/>
          <a:p>
            <a:pPr algn="just"/>
            <a:r>
              <a:rPr lang="en-US" sz="2200" b="1" dirty="0" smtClean="0">
                <a:solidFill>
                  <a:srgbClr val="00B0F0"/>
                </a:solidFill>
              </a:rPr>
              <a:t>Data accuracy</a:t>
            </a:r>
          </a:p>
          <a:p>
            <a:pPr algn="just"/>
            <a:r>
              <a:rPr lang="en-US" sz="2000" dirty="0" smtClean="0"/>
              <a:t>Accuracy is a simple measure of whether your data are correct.</a:t>
            </a:r>
          </a:p>
          <a:p>
            <a:pPr algn="just"/>
            <a:endParaRPr lang="en-US" sz="1000" dirty="0" smtClean="0"/>
          </a:p>
          <a:p>
            <a:pPr algn="just"/>
            <a:r>
              <a:rPr lang="en-US" sz="2000" dirty="0" smtClean="0"/>
              <a:t>This could be anything from your date of birth to your bank balance, eye color, or geographical location. Data accuracy is important for the obvious reason that if data are incorrect, they’ll hurt the results of any analysis (and subsequent business decisions).</a:t>
            </a:r>
          </a:p>
          <a:p>
            <a:pPr algn="just"/>
            <a:endParaRPr lang="en-US" sz="1000" dirty="0" smtClean="0"/>
          </a:p>
          <a:p>
            <a:pPr algn="just"/>
            <a:r>
              <a:rPr lang="en-US" sz="2000" dirty="0" smtClean="0"/>
              <a:t>Unfortunately, it’s hard to measure accuracy since we can’t test it against existing ‘gold standard’ datasets.</a:t>
            </a:r>
          </a:p>
          <a:p>
            <a:pPr algn="just"/>
            <a:endParaRPr lang="en-US" sz="2000" dirty="0">
              <a:solidFill>
                <a:srgbClr val="FF0000"/>
              </a:solidFill>
            </a:endParaRPr>
          </a:p>
          <a:p>
            <a:pPr algn="just"/>
            <a:r>
              <a:rPr lang="en-US" sz="2200" b="1" dirty="0" smtClean="0">
                <a:solidFill>
                  <a:srgbClr val="FF0000"/>
                </a:solidFill>
              </a:rPr>
              <a:t>Data completeness</a:t>
            </a:r>
          </a:p>
          <a:p>
            <a:pPr algn="just"/>
            <a:r>
              <a:rPr lang="en-US" sz="2000" dirty="0" smtClean="0"/>
              <a:t>Data completeness is how exhaustive a dataset is. In short, do you have all the necessary information needed to complete your task?</a:t>
            </a:r>
          </a:p>
          <a:p>
            <a:pPr algn="just"/>
            <a:endParaRPr lang="en-US" sz="1000" dirty="0" smtClean="0"/>
          </a:p>
          <a:p>
            <a:pPr algn="just"/>
            <a:r>
              <a:rPr lang="en-US" sz="2000" dirty="0" smtClean="0"/>
              <a:t>Identifying an incomplete dataset isn’t always as easy as looking for empty cells. </a:t>
            </a:r>
            <a:r>
              <a:rPr lang="en-US" sz="2000" b="1" dirty="0" smtClean="0">
                <a:solidFill>
                  <a:schemeClr val="accent6">
                    <a:lumMod val="75000"/>
                  </a:schemeClr>
                </a:solidFill>
                <a:effectLst>
                  <a:outerShdw blurRad="38100" dist="38100" dir="2700000" algn="tl">
                    <a:srgbClr val="000000">
                      <a:alpha val="43137"/>
                    </a:srgbClr>
                  </a:outerShdw>
                </a:effectLst>
              </a:rPr>
              <a:t>Let’s say you have a database of customer contact details, missing half the surnames. If you wanted to list the customers alphabetically, the dataset would be incomplete. </a:t>
            </a:r>
            <a:r>
              <a:rPr lang="en-US" sz="2000" b="1" i="1" u="sng" dirty="0" smtClean="0">
                <a:solidFill>
                  <a:srgbClr val="7030A0"/>
                </a:solidFill>
              </a:rPr>
              <a:t>But if your only aim was to analyze customer dialing codes to determine geographical locators, surnames wouldn’t matter. Like data accuracy, incomplete data are challenging to fix.</a:t>
            </a:r>
          </a:p>
          <a:p>
            <a:pPr algn="just"/>
            <a:endParaRPr lang="en-US" sz="1000" dirty="0" smtClean="0"/>
          </a:p>
          <a:p>
            <a:pPr algn="just"/>
            <a:r>
              <a:rPr lang="en-US" sz="2000" dirty="0" smtClean="0"/>
              <a:t>This is because it’s not always possible to infer missing data based on what you already have.</a:t>
            </a:r>
            <a:endParaRPr lang="en-US" dirty="0"/>
          </a:p>
        </p:txBody>
      </p:sp>
    </p:spTree>
    <p:extLst>
      <p:ext uri="{BB962C8B-B14F-4D97-AF65-F5344CB8AC3E}">
        <p14:creationId xmlns:p14="http://schemas.microsoft.com/office/powerpoint/2010/main" val="137036507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05256" y="325130"/>
            <a:ext cx="10451592" cy="6247864"/>
          </a:xfrm>
          <a:prstGeom prst="rect">
            <a:avLst/>
          </a:prstGeom>
        </p:spPr>
        <p:txBody>
          <a:bodyPr wrap="square">
            <a:spAutoFit/>
          </a:bodyPr>
          <a:lstStyle/>
          <a:p>
            <a:pPr algn="just"/>
            <a:r>
              <a:rPr lang="en-US" sz="2200" b="1" dirty="0" smtClean="0">
                <a:solidFill>
                  <a:schemeClr val="accent6">
                    <a:lumMod val="75000"/>
                  </a:schemeClr>
                </a:solidFill>
              </a:rPr>
              <a:t>Data consistency</a:t>
            </a:r>
          </a:p>
          <a:p>
            <a:pPr algn="just"/>
            <a:r>
              <a:rPr lang="en-US" i="1" dirty="0" smtClean="0"/>
              <a:t>Data consistency refers to whether your data match information from other sources. This determines its reliability.</a:t>
            </a:r>
          </a:p>
          <a:p>
            <a:pPr algn="just"/>
            <a:r>
              <a:rPr lang="en-US" b="1" u="sng" dirty="0" smtClean="0">
                <a:solidFill>
                  <a:srgbClr val="FF0000"/>
                </a:solidFill>
              </a:rPr>
              <a:t>For instance, if you work at a doctor’s surgery, you may find patients with two phone numbers or postal addresses. The data here are inconsistent</a:t>
            </a:r>
            <a:r>
              <a:rPr lang="en-US" dirty="0" smtClean="0"/>
              <a:t>. It’s not always possible to return to the source, so determining data consistency requires smart thinking. You may be able to infer which data are correct by looking at the most recent entry, or by determining reliability in some other way.</a:t>
            </a:r>
          </a:p>
          <a:p>
            <a:pPr algn="just"/>
            <a:endParaRPr lang="en-US" sz="1000" dirty="0" smtClean="0"/>
          </a:p>
          <a:p>
            <a:pPr algn="just"/>
            <a:r>
              <a:rPr lang="en-US" sz="2200" b="1" dirty="0" smtClean="0">
                <a:solidFill>
                  <a:schemeClr val="accent4">
                    <a:lumMod val="50000"/>
                  </a:schemeClr>
                </a:solidFill>
              </a:rPr>
              <a:t>Data uniformity</a:t>
            </a:r>
          </a:p>
          <a:p>
            <a:pPr algn="just"/>
            <a:r>
              <a:rPr lang="en-US" i="1" dirty="0" smtClean="0"/>
              <a:t>Data uniformity looks at units of measure, metrics, and so on.</a:t>
            </a:r>
          </a:p>
          <a:p>
            <a:pPr algn="just"/>
            <a:r>
              <a:rPr lang="en-US" b="1" i="1" u="sng" dirty="0" smtClean="0">
                <a:solidFill>
                  <a:srgbClr val="FF0000"/>
                </a:solidFill>
              </a:rPr>
              <a:t>For instance, imagine you’re combining two datasets on people’s weight. One dataset uses the metric system, the other, imperial. For the data to be of any use during analysis, all the measurements must be uniform, i.e. all in kilograms or all in pounds. </a:t>
            </a:r>
            <a:r>
              <a:rPr lang="en-US" dirty="0" smtClean="0"/>
              <a:t>This means converting it all to a single unit. Luckily, this aspect of data quality is easier to manage. It doesn’t mean filling in gaps or determining accuracy…phew!</a:t>
            </a:r>
          </a:p>
          <a:p>
            <a:pPr algn="just"/>
            <a:endParaRPr lang="en-US" sz="1000" dirty="0" smtClean="0"/>
          </a:p>
          <a:p>
            <a:pPr algn="just"/>
            <a:r>
              <a:rPr lang="en-US" sz="2200" b="1" dirty="0" smtClean="0"/>
              <a:t>Data relevance</a:t>
            </a:r>
          </a:p>
          <a:p>
            <a:pPr algn="just"/>
            <a:r>
              <a:rPr lang="en-US" i="1" dirty="0" smtClean="0"/>
              <a:t>Data relevance is a more subjective measure of data quality. It looks at whether data is sufficiently complete, uniform, consistent (and so on) to fulfill its given task.</a:t>
            </a:r>
          </a:p>
          <a:p>
            <a:pPr algn="just"/>
            <a:r>
              <a:rPr lang="en-US" dirty="0" smtClean="0"/>
              <a:t>Another aspect of data relevance, though, is timeliness. Is the data available when you need it? Is it accessible to everyone who requires it? </a:t>
            </a:r>
            <a:r>
              <a:rPr lang="en-US" b="1" u="sng" dirty="0" smtClean="0">
                <a:solidFill>
                  <a:schemeClr val="accent6">
                    <a:lumMod val="75000"/>
                  </a:schemeClr>
                </a:solidFill>
              </a:rPr>
              <a:t>For instance, if you’re reporting to the Board with quarterly profits and losses, you need the most up-to-date information. With only the previous quarter’s figures, you’ll have lower-quality data and can therefore only offer lower quality insights.</a:t>
            </a:r>
            <a:endParaRPr lang="en-US" b="1" u="sng" dirty="0">
              <a:solidFill>
                <a:schemeClr val="accent6">
                  <a:lumMod val="75000"/>
                </a:schemeClr>
              </a:solidFill>
            </a:endParaRPr>
          </a:p>
        </p:txBody>
      </p:sp>
    </p:spTree>
    <p:extLst>
      <p:ext uri="{BB962C8B-B14F-4D97-AF65-F5344CB8AC3E}">
        <p14:creationId xmlns:p14="http://schemas.microsoft.com/office/powerpoint/2010/main" val="239119337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52728" y="322177"/>
            <a:ext cx="9848088" cy="584775"/>
          </a:xfrm>
          <a:prstGeom prst="rect">
            <a:avLst/>
          </a:prstGeom>
        </p:spPr>
        <p:txBody>
          <a:bodyPr wrap="square">
            <a:spAutoFit/>
          </a:bodyPr>
          <a:lstStyle/>
          <a:p>
            <a:pPr algn="ctr"/>
            <a:r>
              <a:rPr lang="en-US" sz="3200" b="1" dirty="0" smtClean="0">
                <a:effectLst>
                  <a:outerShdw blurRad="38100" dist="38100" dir="2700000" algn="tl">
                    <a:srgbClr val="000000">
                      <a:alpha val="43137"/>
                    </a:srgbClr>
                  </a:outerShdw>
                </a:effectLst>
              </a:rPr>
              <a:t>How to clean</a:t>
            </a:r>
            <a:endParaRPr lang="en-US" sz="2400" dirty="0"/>
          </a:p>
        </p:txBody>
      </p:sp>
      <p:sp>
        <p:nvSpPr>
          <p:cNvPr id="8" name="Rectangle 7"/>
          <p:cNvSpPr/>
          <p:nvPr/>
        </p:nvSpPr>
        <p:spPr>
          <a:xfrm>
            <a:off x="766192" y="1002202"/>
            <a:ext cx="10725149" cy="5570756"/>
          </a:xfrm>
          <a:prstGeom prst="rect">
            <a:avLst/>
          </a:prstGeom>
        </p:spPr>
        <p:txBody>
          <a:bodyPr wrap="square">
            <a:spAutoFit/>
          </a:bodyPr>
          <a:lstStyle/>
          <a:p>
            <a:r>
              <a:rPr lang="en-US" sz="2400" b="1" dirty="0" smtClean="0"/>
              <a:t>1</a:t>
            </a:r>
            <a:r>
              <a:rPr lang="en-US" sz="2400" b="1" dirty="0"/>
              <a:t>: Get rid of unwanted observations</a:t>
            </a:r>
          </a:p>
          <a:p>
            <a:pPr algn="just"/>
            <a:r>
              <a:rPr lang="en-US" sz="2000" dirty="0" smtClean="0"/>
              <a:t>The </a:t>
            </a:r>
            <a:r>
              <a:rPr lang="en-US" sz="2000" dirty="0"/>
              <a:t>first stage in any data cleaning process is to remove the observations (or data points) you don’t want. This includes irrelevant observations, i.e. those that don’t fit the problem you’re looking to solve.</a:t>
            </a:r>
          </a:p>
          <a:p>
            <a:pPr algn="just"/>
            <a:endParaRPr lang="en-US" sz="800" dirty="0"/>
          </a:p>
          <a:p>
            <a:pPr algn="just"/>
            <a:r>
              <a:rPr lang="en-US" sz="2000" dirty="0"/>
              <a:t>For instance, </a:t>
            </a:r>
            <a:r>
              <a:rPr lang="en-US" sz="2000" b="1" dirty="0">
                <a:solidFill>
                  <a:srgbClr val="FF0000"/>
                </a:solidFill>
                <a:effectLst>
                  <a:outerShdw blurRad="38100" dist="38100" dir="2700000" algn="tl">
                    <a:srgbClr val="000000">
                      <a:alpha val="43137"/>
                    </a:srgbClr>
                  </a:outerShdw>
                </a:effectLst>
              </a:rPr>
              <a:t>if we were running an analysis on vegetarian eating habits, we could remove any meat-related observations from our data set. </a:t>
            </a:r>
            <a:endParaRPr lang="en-US" sz="1000" b="1" dirty="0">
              <a:solidFill>
                <a:srgbClr val="FF0000"/>
              </a:solidFill>
              <a:effectLst>
                <a:outerShdw blurRad="38100" dist="38100" dir="2700000" algn="tl">
                  <a:srgbClr val="000000">
                    <a:alpha val="43137"/>
                  </a:srgbClr>
                </a:outerShdw>
              </a:effectLst>
            </a:endParaRPr>
          </a:p>
          <a:p>
            <a:endParaRPr lang="en-US" sz="1200" b="1" dirty="0" smtClean="0"/>
          </a:p>
          <a:p>
            <a:r>
              <a:rPr lang="en-US" sz="2400" b="1" dirty="0" smtClean="0"/>
              <a:t>2</a:t>
            </a:r>
            <a:r>
              <a:rPr lang="en-US" sz="2400" b="1" dirty="0"/>
              <a:t>: Fix structural errors</a:t>
            </a:r>
          </a:p>
          <a:p>
            <a:pPr algn="just"/>
            <a:r>
              <a:rPr lang="en-US" sz="2000" dirty="0" smtClean="0"/>
              <a:t>Structural </a:t>
            </a:r>
            <a:r>
              <a:rPr lang="en-US" sz="2000" dirty="0"/>
              <a:t>errors usually emerge as a result of poor data housekeeping. They include things like typos and inconsistent capitalization, which often occur during manual data entry.</a:t>
            </a:r>
          </a:p>
          <a:p>
            <a:pPr algn="just"/>
            <a:endParaRPr lang="en-US" sz="800" dirty="0"/>
          </a:p>
          <a:p>
            <a:pPr algn="just"/>
            <a:r>
              <a:rPr lang="en-US" sz="2000" dirty="0"/>
              <a:t>Let’s say you have a dataset covering the properties of different metals. ‘Iron’ (uppercase) and ‘iron’ (lowercase) may appear as separate classes (or categories). Ensuring that capitalization is consistent makes that data much cleaner and easier to use. You should also check for mislabeled categories.</a:t>
            </a:r>
          </a:p>
          <a:p>
            <a:pPr algn="just"/>
            <a:endParaRPr lang="en-US" sz="800" dirty="0"/>
          </a:p>
          <a:p>
            <a:pPr algn="just"/>
            <a:r>
              <a:rPr lang="en-US" sz="2000" dirty="0"/>
              <a:t>For instance, </a:t>
            </a:r>
            <a:r>
              <a:rPr lang="en-US" sz="2000" b="1" dirty="0">
                <a:solidFill>
                  <a:srgbClr val="FF0000"/>
                </a:solidFill>
                <a:effectLst>
                  <a:outerShdw blurRad="38100" dist="38100" dir="2700000" algn="tl">
                    <a:srgbClr val="000000">
                      <a:alpha val="43137"/>
                    </a:srgbClr>
                  </a:outerShdw>
                </a:effectLst>
              </a:rPr>
              <a:t>‘Iron’ and ‘Fe’ </a:t>
            </a:r>
            <a:r>
              <a:rPr lang="en-US" sz="2000" dirty="0"/>
              <a:t>(iron’s chemical symbol) might be labeled as separate classes, even though they’re the same. Other things to look out for are the use of underscores, dashes, and other rogue punctuation</a:t>
            </a:r>
            <a:r>
              <a:rPr lang="en-US" sz="2000" dirty="0" smtClean="0"/>
              <a:t>!</a:t>
            </a:r>
            <a:endParaRPr lang="en-US" sz="2000" dirty="0"/>
          </a:p>
        </p:txBody>
      </p:sp>
    </p:spTree>
    <p:extLst>
      <p:ext uri="{BB962C8B-B14F-4D97-AF65-F5344CB8AC3E}">
        <p14:creationId xmlns:p14="http://schemas.microsoft.com/office/powerpoint/2010/main" val="420441549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04850" y="549473"/>
            <a:ext cx="10763250" cy="6063198"/>
          </a:xfrm>
          <a:prstGeom prst="rect">
            <a:avLst/>
          </a:prstGeom>
        </p:spPr>
        <p:txBody>
          <a:bodyPr wrap="square">
            <a:spAutoFit/>
          </a:bodyPr>
          <a:lstStyle/>
          <a:p>
            <a:pPr algn="just"/>
            <a:r>
              <a:rPr lang="en-US" sz="2400" b="1" dirty="0" smtClean="0"/>
              <a:t>3</a:t>
            </a:r>
            <a:r>
              <a:rPr lang="en-US" sz="2400" b="1" dirty="0"/>
              <a:t>: Standardize your data</a:t>
            </a:r>
          </a:p>
          <a:p>
            <a:pPr algn="just"/>
            <a:r>
              <a:rPr lang="en-US" sz="2000" dirty="0"/>
              <a:t>Standardizing your data is closely related to fixing structural errors, but it takes it a step further. Correcting typos is important, but you also need to ensure that every cell type follows the same rules.</a:t>
            </a:r>
          </a:p>
          <a:p>
            <a:pPr algn="just"/>
            <a:r>
              <a:rPr lang="en-US" sz="2000" dirty="0"/>
              <a:t>For instance, you should decide whether values should be all lowercase or all uppercase, and keep this consistent throughout your dataset. Standardizing also means ensuring that things like numerical data use the same unit of measurement.</a:t>
            </a:r>
          </a:p>
          <a:p>
            <a:pPr algn="just"/>
            <a:r>
              <a:rPr lang="en-US" sz="2000" b="1" dirty="0">
                <a:solidFill>
                  <a:srgbClr val="FF0000"/>
                </a:solidFill>
                <a:effectLst>
                  <a:outerShdw blurRad="38100" dist="38100" dir="2700000" algn="tl">
                    <a:srgbClr val="000000">
                      <a:alpha val="43137"/>
                    </a:srgbClr>
                  </a:outerShdw>
                </a:effectLst>
              </a:rPr>
              <a:t>As an example, combining miles and kilometers in the same dataset will cause problems</a:t>
            </a:r>
            <a:r>
              <a:rPr lang="en-US" sz="2000" dirty="0"/>
              <a:t>. </a:t>
            </a:r>
            <a:r>
              <a:rPr lang="en-US" sz="2000" b="1" i="1" dirty="0">
                <a:solidFill>
                  <a:schemeClr val="accent6">
                    <a:lumMod val="75000"/>
                  </a:schemeClr>
                </a:solidFill>
              </a:rPr>
              <a:t>Even dates have different conventions, with the US putting the month before the day, and Europe putting the day before the month. Keep your eyes peeled; you’ll be surprised what slips through</a:t>
            </a:r>
            <a:r>
              <a:rPr lang="en-US" sz="2000" b="1" dirty="0">
                <a:solidFill>
                  <a:schemeClr val="accent6">
                    <a:lumMod val="75000"/>
                  </a:schemeClr>
                </a:solidFill>
              </a:rPr>
              <a:t>.</a:t>
            </a:r>
          </a:p>
          <a:p>
            <a:pPr algn="just"/>
            <a:endParaRPr lang="en-US" sz="1000" b="1" dirty="0" smtClean="0"/>
          </a:p>
          <a:p>
            <a:pPr algn="just"/>
            <a:r>
              <a:rPr lang="en-US" sz="2400" b="1" dirty="0" smtClean="0"/>
              <a:t>4</a:t>
            </a:r>
            <a:r>
              <a:rPr lang="en-US" sz="2400" b="1" dirty="0"/>
              <a:t>: Remove unwanted outliers</a:t>
            </a:r>
          </a:p>
          <a:p>
            <a:pPr algn="just"/>
            <a:r>
              <a:rPr lang="en-US" sz="2000" dirty="0"/>
              <a:t>Outliers are data points that dramatically differ from others in the set. They can cause problems with certain types of data models and analysis.</a:t>
            </a:r>
          </a:p>
          <a:p>
            <a:pPr algn="just"/>
            <a:endParaRPr lang="en-US" sz="1000" dirty="0" smtClean="0"/>
          </a:p>
          <a:p>
            <a:pPr algn="just"/>
            <a:r>
              <a:rPr lang="en-US" sz="2000" dirty="0" smtClean="0"/>
              <a:t>For </a:t>
            </a:r>
            <a:r>
              <a:rPr lang="en-US" sz="2000" dirty="0"/>
              <a:t>instance, while </a:t>
            </a:r>
            <a:r>
              <a:rPr lang="en-US" sz="2000" dirty="0">
                <a:hlinkClick r:id="rId2"/>
              </a:rPr>
              <a:t>decision tree algorithms</a:t>
            </a:r>
            <a:r>
              <a:rPr lang="en-US" sz="2000" dirty="0"/>
              <a:t> are generally accepted to be quite robust to outliers, outliers can easily skew a linear regression model. While outliers can affect the results of an analysis, you should always approach removing them with caution.</a:t>
            </a:r>
          </a:p>
          <a:p>
            <a:pPr algn="just"/>
            <a:endParaRPr lang="en-US" sz="1000" dirty="0" smtClean="0"/>
          </a:p>
          <a:p>
            <a:pPr algn="just"/>
            <a:r>
              <a:rPr lang="en-US" sz="2000" dirty="0" smtClean="0"/>
              <a:t>Only </a:t>
            </a:r>
            <a:r>
              <a:rPr lang="en-US" sz="2000" dirty="0"/>
              <a:t>remove an outlier if you can prove that it is erroneous, e.g. if it is obviously due to incorrect data entry, or if it doesn’t match a comparison ‘gold standard’ dataset.</a:t>
            </a:r>
          </a:p>
        </p:txBody>
      </p:sp>
    </p:spTree>
    <p:extLst>
      <p:ext uri="{BB962C8B-B14F-4D97-AF65-F5344CB8AC3E}">
        <p14:creationId xmlns:p14="http://schemas.microsoft.com/office/powerpoint/2010/main" val="26772700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5336" y="701803"/>
            <a:ext cx="10515600" cy="454025"/>
          </a:xfrm>
        </p:spPr>
        <p:txBody>
          <a:bodyPr>
            <a:normAutofit fontScale="90000"/>
          </a:bodyPr>
          <a:lstStyle/>
          <a:p>
            <a:pPr algn="ctr"/>
            <a:r>
              <a:rPr lang="en-US" dirty="0" smtClean="0"/>
              <a:t>What is Outlier?</a:t>
            </a:r>
            <a:endParaRPr lang="en-US" dirty="0"/>
          </a:p>
        </p:txBody>
      </p:sp>
      <p:sp>
        <p:nvSpPr>
          <p:cNvPr id="4" name="Rectangle 3"/>
          <p:cNvSpPr/>
          <p:nvPr/>
        </p:nvSpPr>
        <p:spPr>
          <a:xfrm>
            <a:off x="1552575" y="3528536"/>
            <a:ext cx="4953000" cy="2677656"/>
          </a:xfrm>
          <a:prstGeom prst="rect">
            <a:avLst/>
          </a:prstGeom>
        </p:spPr>
        <p:txBody>
          <a:bodyPr wrap="square">
            <a:spAutoFit/>
          </a:bodyPr>
          <a:lstStyle/>
          <a:p>
            <a:pPr algn="just"/>
            <a:r>
              <a:rPr lang="en-US" sz="2400" dirty="0"/>
              <a:t>An outlier, in statistics, can be defined as a value that is distant from the majority of the values in a data set. The image below shows how an outlier can be identified in a data set that represents the test results, out of 100, for a group of ten students.</a:t>
            </a:r>
          </a:p>
        </p:txBody>
      </p:sp>
      <p:pic>
        <p:nvPicPr>
          <p:cNvPr id="5" name="Picture 4"/>
          <p:cNvPicPr>
            <a:picLocks noChangeAspect="1"/>
          </p:cNvPicPr>
          <p:nvPr/>
        </p:nvPicPr>
        <p:blipFill>
          <a:blip r:embed="rId2"/>
          <a:stretch>
            <a:fillRect/>
          </a:stretch>
        </p:blipFill>
        <p:spPr>
          <a:xfrm>
            <a:off x="6738937" y="3429058"/>
            <a:ext cx="4297680" cy="3143312"/>
          </a:xfrm>
          <a:prstGeom prst="rect">
            <a:avLst/>
          </a:prstGeom>
        </p:spPr>
      </p:pic>
      <p:sp>
        <p:nvSpPr>
          <p:cNvPr id="6" name="Rectangle 5"/>
          <p:cNvSpPr/>
          <p:nvPr/>
        </p:nvSpPr>
        <p:spPr>
          <a:xfrm>
            <a:off x="895349" y="1423511"/>
            <a:ext cx="10315575" cy="1569660"/>
          </a:xfrm>
          <a:prstGeom prst="rect">
            <a:avLst/>
          </a:prstGeom>
        </p:spPr>
        <p:txBody>
          <a:bodyPr wrap="square">
            <a:spAutoFit/>
          </a:bodyPr>
          <a:lstStyle/>
          <a:p>
            <a:pPr algn="just"/>
            <a:r>
              <a:rPr lang="en-US" sz="2400" dirty="0"/>
              <a:t>An outlier is </a:t>
            </a:r>
            <a:r>
              <a:rPr lang="en-US" sz="2400" b="1" dirty="0"/>
              <a:t>a single data point that goes far outside the average value of a group of statistics</a:t>
            </a:r>
            <a:r>
              <a:rPr lang="en-US" sz="2400" dirty="0"/>
              <a:t>. Outliers may be exceptions that stand outside individual samples of populations as well. In a more general context, an outlier is an individual that is markedly different from the norm in some respect.</a:t>
            </a:r>
          </a:p>
        </p:txBody>
      </p:sp>
    </p:spTree>
    <p:extLst>
      <p:ext uri="{BB962C8B-B14F-4D97-AF65-F5344CB8AC3E}">
        <p14:creationId xmlns:p14="http://schemas.microsoft.com/office/powerpoint/2010/main" val="254109543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14374" y="744647"/>
            <a:ext cx="10810875" cy="5370701"/>
          </a:xfrm>
          <a:prstGeom prst="rect">
            <a:avLst/>
          </a:prstGeom>
        </p:spPr>
        <p:txBody>
          <a:bodyPr wrap="square">
            <a:spAutoFit/>
          </a:bodyPr>
          <a:lstStyle/>
          <a:p>
            <a:pPr algn="just"/>
            <a:r>
              <a:rPr lang="en-US" sz="2400" b="1" dirty="0" smtClean="0"/>
              <a:t>5</a:t>
            </a:r>
            <a:r>
              <a:rPr lang="en-US" sz="2400" b="1" dirty="0"/>
              <a:t>: Fix contradictory data errors</a:t>
            </a:r>
          </a:p>
          <a:p>
            <a:pPr algn="just"/>
            <a:r>
              <a:rPr lang="en-US" sz="2100" dirty="0"/>
              <a:t>Contradictory (or cross-set) data errors are another common problem to look out for. Contradictory errors are where you have a </a:t>
            </a:r>
            <a:r>
              <a:rPr lang="en-US" sz="2100" i="1" u="sng" dirty="0"/>
              <a:t>full record containing inconsistent or incompatible </a:t>
            </a:r>
            <a:r>
              <a:rPr lang="en-US" sz="2100" dirty="0"/>
              <a:t>data.</a:t>
            </a:r>
          </a:p>
          <a:p>
            <a:pPr algn="just"/>
            <a:endParaRPr lang="en-US" sz="600" dirty="0" smtClean="0"/>
          </a:p>
          <a:p>
            <a:pPr algn="just"/>
            <a:r>
              <a:rPr lang="en-US" sz="2100" b="1" dirty="0" smtClean="0">
                <a:solidFill>
                  <a:srgbClr val="FF0000"/>
                </a:solidFill>
              </a:rPr>
              <a:t>An </a:t>
            </a:r>
            <a:r>
              <a:rPr lang="en-US" sz="2100" b="1" dirty="0">
                <a:solidFill>
                  <a:srgbClr val="FF0000"/>
                </a:solidFill>
              </a:rPr>
              <a:t>example </a:t>
            </a:r>
            <a:r>
              <a:rPr lang="en-US" sz="2100" b="1" dirty="0"/>
              <a:t>could be a log of athlete racing times. If the column showing the total amount of time spent running isn’t equal to the sum of each </a:t>
            </a:r>
            <a:r>
              <a:rPr lang="en-US" sz="2100" b="1" dirty="0" err="1"/>
              <a:t>racetime</a:t>
            </a:r>
            <a:r>
              <a:rPr lang="en-US" sz="2100" b="1" dirty="0"/>
              <a:t>, you’ve got a cross-set error.</a:t>
            </a:r>
          </a:p>
          <a:p>
            <a:pPr algn="just"/>
            <a:r>
              <a:rPr lang="en-US" sz="2100" b="1" dirty="0">
                <a:solidFill>
                  <a:srgbClr val="FF0000"/>
                </a:solidFill>
              </a:rPr>
              <a:t>Another example </a:t>
            </a:r>
            <a:r>
              <a:rPr lang="en-US" sz="2100" b="1" dirty="0"/>
              <a:t>might be a pupil’s grade score being associated with a field that only allows options for ‘pass’ and ‘fail’, or an employee’s taxes being greater than their total salary.</a:t>
            </a:r>
          </a:p>
          <a:p>
            <a:pPr algn="just"/>
            <a:endParaRPr lang="en-US" sz="1000" b="1" dirty="0"/>
          </a:p>
          <a:p>
            <a:pPr algn="just"/>
            <a:r>
              <a:rPr lang="en-US" sz="2400" b="1" dirty="0" smtClean="0"/>
              <a:t>6</a:t>
            </a:r>
            <a:r>
              <a:rPr lang="en-US" sz="2400" b="1" dirty="0"/>
              <a:t>: Type conversion and syntax errors</a:t>
            </a:r>
          </a:p>
          <a:p>
            <a:pPr algn="just"/>
            <a:r>
              <a:rPr lang="en-US" sz="2100" dirty="0"/>
              <a:t>Once you’ve tackled other inconsistencies, the content of your spreadsheet or dataset might look good to go.</a:t>
            </a:r>
          </a:p>
          <a:p>
            <a:pPr algn="just"/>
            <a:r>
              <a:rPr lang="en-US" sz="2100" dirty="0"/>
              <a:t>However, you need to check that everything is in order behind the scenes, too. Type conversion refers to the categories of data that you have in your dataset. </a:t>
            </a:r>
            <a:endParaRPr lang="en-US" sz="2100" dirty="0" smtClean="0"/>
          </a:p>
          <a:p>
            <a:pPr algn="just"/>
            <a:endParaRPr lang="en-US" sz="600" dirty="0"/>
          </a:p>
          <a:p>
            <a:pPr algn="just"/>
            <a:r>
              <a:rPr lang="en-US" sz="2100" b="1" dirty="0" smtClean="0">
                <a:solidFill>
                  <a:srgbClr val="FF0000"/>
                </a:solidFill>
              </a:rPr>
              <a:t>A </a:t>
            </a:r>
            <a:r>
              <a:rPr lang="en-US" sz="2100" b="1" dirty="0">
                <a:solidFill>
                  <a:srgbClr val="FF0000"/>
                </a:solidFill>
              </a:rPr>
              <a:t>simple example is that numbers are numerical data, whereas currency uses a currency value. You should ensure that numbers are appropriately stored as numerical data, text as text input, dates as objects, and so on.</a:t>
            </a:r>
            <a:r>
              <a:rPr lang="en-US" sz="2100" dirty="0"/>
              <a:t> </a:t>
            </a:r>
            <a:endParaRPr lang="en-US" sz="2100" dirty="0" smtClean="0"/>
          </a:p>
        </p:txBody>
      </p:sp>
    </p:spTree>
    <p:extLst>
      <p:ext uri="{BB962C8B-B14F-4D97-AF65-F5344CB8AC3E}">
        <p14:creationId xmlns:p14="http://schemas.microsoft.com/office/powerpoint/2010/main" val="112467278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95350" y="771674"/>
            <a:ext cx="10487025" cy="5324535"/>
          </a:xfrm>
          <a:prstGeom prst="rect">
            <a:avLst/>
          </a:prstGeom>
        </p:spPr>
        <p:txBody>
          <a:bodyPr wrap="square">
            <a:spAutoFit/>
          </a:bodyPr>
          <a:lstStyle/>
          <a:p>
            <a:pPr algn="just"/>
            <a:r>
              <a:rPr lang="en-US" sz="2400" b="1" dirty="0" smtClean="0"/>
              <a:t>7: Deal </a:t>
            </a:r>
            <a:r>
              <a:rPr lang="en-US" sz="2400" b="1" dirty="0"/>
              <a:t>with missing data</a:t>
            </a:r>
          </a:p>
          <a:p>
            <a:pPr algn="just"/>
            <a:r>
              <a:rPr lang="en-US" sz="2000" dirty="0"/>
              <a:t>When data is missing, what do you do? There are three common approaches to this problem</a:t>
            </a:r>
            <a:r>
              <a:rPr lang="en-US" sz="2000" dirty="0" smtClean="0"/>
              <a:t>.</a:t>
            </a:r>
          </a:p>
          <a:p>
            <a:pPr algn="just"/>
            <a:endParaRPr lang="en-US" sz="1000" dirty="0"/>
          </a:p>
          <a:p>
            <a:pPr marL="342900" indent="-342900" algn="just">
              <a:buFont typeface="Wingdings" panose="05000000000000000000" pitchFamily="2" charset="2"/>
              <a:buChar char="à"/>
            </a:pPr>
            <a:r>
              <a:rPr lang="en-US" sz="2000" dirty="0" smtClean="0">
                <a:solidFill>
                  <a:srgbClr val="FF0000"/>
                </a:solidFill>
              </a:rPr>
              <a:t>The </a:t>
            </a:r>
            <a:r>
              <a:rPr lang="en-US" sz="2000" dirty="0">
                <a:solidFill>
                  <a:srgbClr val="FF0000"/>
                </a:solidFill>
              </a:rPr>
              <a:t>first</a:t>
            </a:r>
            <a:r>
              <a:rPr lang="en-US" sz="2000" dirty="0"/>
              <a:t> is to </a:t>
            </a:r>
            <a:r>
              <a:rPr lang="en-US" sz="2000" b="1" dirty="0"/>
              <a:t>remove the entries</a:t>
            </a:r>
            <a:r>
              <a:rPr lang="en-US" sz="2000" dirty="0"/>
              <a:t> associated with the missing data. </a:t>
            </a:r>
          </a:p>
          <a:p>
            <a:pPr marL="342900" indent="-342900" algn="just">
              <a:buFont typeface="Wingdings" panose="05000000000000000000" pitchFamily="2" charset="2"/>
              <a:buChar char="à"/>
            </a:pPr>
            <a:r>
              <a:rPr lang="en-US" sz="2000" dirty="0" smtClean="0">
                <a:solidFill>
                  <a:srgbClr val="FF0000"/>
                </a:solidFill>
              </a:rPr>
              <a:t>The </a:t>
            </a:r>
            <a:r>
              <a:rPr lang="en-US" sz="2000" dirty="0">
                <a:solidFill>
                  <a:srgbClr val="FF0000"/>
                </a:solidFill>
              </a:rPr>
              <a:t>second </a:t>
            </a:r>
            <a:r>
              <a:rPr lang="en-US" sz="2000" dirty="0"/>
              <a:t>is to</a:t>
            </a:r>
            <a:r>
              <a:rPr lang="en-US" sz="2000" b="1" dirty="0"/>
              <a:t> impute (or guess) the missing data</a:t>
            </a:r>
            <a:r>
              <a:rPr lang="en-US" sz="2000" dirty="0"/>
              <a:t>, based on other, similar data</a:t>
            </a:r>
            <a:r>
              <a:rPr lang="en-US" sz="2000" dirty="0" smtClean="0"/>
              <a:t>.</a:t>
            </a:r>
          </a:p>
          <a:p>
            <a:pPr marL="342900" indent="-342900" algn="just">
              <a:buFont typeface="Wingdings" panose="05000000000000000000" pitchFamily="2" charset="2"/>
              <a:buChar char="à"/>
            </a:pPr>
            <a:r>
              <a:rPr lang="en-US" sz="2000" dirty="0" smtClean="0">
                <a:solidFill>
                  <a:srgbClr val="FF0000"/>
                </a:solidFill>
              </a:rPr>
              <a:t>The </a:t>
            </a:r>
            <a:r>
              <a:rPr lang="en-US" sz="2000" dirty="0">
                <a:solidFill>
                  <a:srgbClr val="FF0000"/>
                </a:solidFill>
              </a:rPr>
              <a:t>third</a:t>
            </a:r>
            <a:r>
              <a:rPr lang="en-US" sz="2000" dirty="0"/>
              <a:t> option (and often the best one) is to </a:t>
            </a:r>
            <a:r>
              <a:rPr lang="en-US" sz="2000" b="1" dirty="0"/>
              <a:t>flag the data as missing</a:t>
            </a:r>
            <a:r>
              <a:rPr lang="en-US" sz="2000" dirty="0"/>
              <a:t>. To do this, ensure that empty fields have the same value, e.g. ‘missing’ or ‘0’ (if it’s a numerical field). Then, when you carry out your analysis, you’ll at least be taking into account that data is missing, which in itself can be informative.</a:t>
            </a:r>
          </a:p>
          <a:p>
            <a:pPr algn="just"/>
            <a:endParaRPr lang="en-US" sz="1000" b="1" dirty="0" smtClean="0"/>
          </a:p>
          <a:p>
            <a:pPr algn="just"/>
            <a:r>
              <a:rPr lang="en-US" sz="2400" b="1" dirty="0" smtClean="0"/>
              <a:t>8: Validate </a:t>
            </a:r>
            <a:r>
              <a:rPr lang="en-US" sz="2400" b="1" dirty="0"/>
              <a:t>your dataset</a:t>
            </a:r>
          </a:p>
          <a:p>
            <a:pPr algn="just"/>
            <a:r>
              <a:rPr lang="en-US" sz="2000" b="1" dirty="0">
                <a:solidFill>
                  <a:schemeClr val="accent6">
                    <a:lumMod val="50000"/>
                  </a:schemeClr>
                </a:solidFill>
              </a:rPr>
              <a:t>Once you’ve cleaned your dataset, the final step is to validate it. Validating data means checking that the process of making corrections, deduping, standardizing (and so on) is complete.</a:t>
            </a:r>
          </a:p>
          <a:p>
            <a:pPr algn="just"/>
            <a:endParaRPr lang="en-US" sz="1200" dirty="0" smtClean="0"/>
          </a:p>
          <a:p>
            <a:pPr algn="just"/>
            <a:r>
              <a:rPr lang="en-US" sz="2000" dirty="0" smtClean="0"/>
              <a:t>This </a:t>
            </a:r>
            <a:r>
              <a:rPr lang="en-US" sz="2000" dirty="0"/>
              <a:t>all sounds a bit technical, but all you really need to know at this stage is that validation means checking the data is ready for analysis. If there are still errors (which there usually will be) you’ll need to go back and fix them…there’s a reason why data analysts spend so much of their time cleaning data!</a:t>
            </a:r>
          </a:p>
        </p:txBody>
      </p:sp>
    </p:spTree>
    <p:extLst>
      <p:ext uri="{BB962C8B-B14F-4D97-AF65-F5344CB8AC3E}">
        <p14:creationId xmlns:p14="http://schemas.microsoft.com/office/powerpoint/2010/main" val="105360616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89304" y="639169"/>
            <a:ext cx="9848088" cy="5663089"/>
          </a:xfrm>
          <a:prstGeom prst="rect">
            <a:avLst/>
          </a:prstGeom>
        </p:spPr>
        <p:txBody>
          <a:bodyPr wrap="square">
            <a:spAutoFit/>
          </a:bodyPr>
          <a:lstStyle/>
          <a:p>
            <a:pPr algn="ctr"/>
            <a:r>
              <a:rPr lang="en-US" sz="3200" b="1" dirty="0" smtClean="0">
                <a:effectLst>
                  <a:outerShdw blurRad="38100" dist="38100" dir="2700000" algn="tl">
                    <a:srgbClr val="000000">
                      <a:alpha val="43137"/>
                    </a:srgbClr>
                  </a:outerShdw>
                </a:effectLst>
              </a:rPr>
              <a:t>Tools to help you clean your data</a:t>
            </a:r>
          </a:p>
          <a:p>
            <a:endParaRPr lang="en-US" dirty="0" smtClean="0"/>
          </a:p>
          <a:p>
            <a:pPr algn="just"/>
            <a:r>
              <a:rPr lang="en-US" sz="2400" dirty="0" smtClean="0"/>
              <a:t>Cleaning datasets manually—especially large ones—can be daunting. Luckily, there are many tools available to streamline the process. Open-source tools, such as </a:t>
            </a:r>
            <a:r>
              <a:rPr lang="en-US" sz="2400" dirty="0" err="1" smtClean="0"/>
              <a:t>OpenRefine</a:t>
            </a:r>
            <a:r>
              <a:rPr lang="en-US" sz="2400" dirty="0" smtClean="0"/>
              <a:t>, are excellent for basic data cleaning, as well as high-level exploration. </a:t>
            </a:r>
          </a:p>
          <a:p>
            <a:pPr algn="just"/>
            <a:endParaRPr lang="en-US" sz="2400" dirty="0"/>
          </a:p>
          <a:p>
            <a:pPr algn="just"/>
            <a:r>
              <a:rPr lang="en-US" sz="2400" dirty="0" smtClean="0"/>
              <a:t>However, free tools offer limited functionality for very large datasets. </a:t>
            </a:r>
            <a:r>
              <a:rPr lang="en-US" sz="2400" b="1" u="sng" dirty="0" smtClean="0">
                <a:solidFill>
                  <a:schemeClr val="accent6">
                    <a:lumMod val="75000"/>
                  </a:schemeClr>
                </a:solidFill>
              </a:rPr>
              <a:t>Python libraries (e.g. Pandas) and some R packages are better suited for heavy data scrubbing. </a:t>
            </a:r>
            <a:r>
              <a:rPr lang="en-US" sz="2400" dirty="0" smtClean="0"/>
              <a:t>You will, of course, need to be familiar with the languages. Alternatively, enterprise tools are also available. </a:t>
            </a:r>
          </a:p>
          <a:p>
            <a:pPr algn="just"/>
            <a:endParaRPr lang="en-US" sz="2400" dirty="0"/>
          </a:p>
          <a:p>
            <a:pPr algn="just"/>
            <a:r>
              <a:rPr lang="en-US" sz="2400" b="1" dirty="0" smtClean="0">
                <a:solidFill>
                  <a:srgbClr val="002060"/>
                </a:solidFill>
                <a:effectLst>
                  <a:outerShdw blurRad="38100" dist="38100" dir="2700000" algn="tl">
                    <a:srgbClr val="000000">
                      <a:alpha val="43137"/>
                    </a:srgbClr>
                  </a:outerShdw>
                </a:effectLst>
              </a:rPr>
              <a:t>For example, </a:t>
            </a:r>
            <a:r>
              <a:rPr lang="en-US" sz="2400" b="1" dirty="0" smtClean="0">
                <a:solidFill>
                  <a:schemeClr val="accent2">
                    <a:lumMod val="75000"/>
                  </a:schemeClr>
                </a:solidFill>
                <a:effectLst>
                  <a:outerShdw blurRad="38100" dist="38100" dir="2700000" algn="tl">
                    <a:srgbClr val="000000">
                      <a:alpha val="43137"/>
                    </a:srgbClr>
                  </a:outerShdw>
                </a:effectLst>
              </a:rPr>
              <a:t>Data Ladder</a:t>
            </a:r>
            <a:r>
              <a:rPr lang="en-US" sz="2400" b="1" dirty="0" smtClean="0">
                <a:solidFill>
                  <a:srgbClr val="002060"/>
                </a:solidFill>
                <a:effectLst>
                  <a:outerShdw blurRad="38100" dist="38100" dir="2700000" algn="tl">
                    <a:srgbClr val="000000">
                      <a:alpha val="43137"/>
                    </a:srgbClr>
                  </a:outerShdw>
                </a:effectLst>
              </a:rPr>
              <a:t>, which is one of the highest-rated data-matching tools in the industry.</a:t>
            </a:r>
            <a:r>
              <a:rPr lang="en-US" sz="2400" dirty="0" smtClean="0"/>
              <a:t> There are many more. Why not see which free data cleaning tools you can find to play around with?</a:t>
            </a:r>
            <a:endParaRPr lang="en-US" sz="2400" dirty="0"/>
          </a:p>
        </p:txBody>
      </p:sp>
    </p:spTree>
    <p:extLst>
      <p:ext uri="{BB962C8B-B14F-4D97-AF65-F5344CB8AC3E}">
        <p14:creationId xmlns:p14="http://schemas.microsoft.com/office/powerpoint/2010/main" val="344347317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80160" y="789492"/>
            <a:ext cx="9784080" cy="5330434"/>
          </a:xfrm>
          <a:prstGeom prst="rect">
            <a:avLst/>
          </a:prstGeom>
        </p:spPr>
        <p:txBody>
          <a:bodyPr wrap="square">
            <a:spAutoFit/>
          </a:bodyPr>
          <a:lstStyle/>
          <a:p>
            <a:r>
              <a:rPr lang="en-US" sz="3200" b="1" dirty="0" smtClean="0"/>
              <a:t>Carrying out an exploratory analysis</a:t>
            </a:r>
          </a:p>
          <a:p>
            <a:endParaRPr lang="en-US" sz="1200" b="1" dirty="0" smtClean="0"/>
          </a:p>
          <a:p>
            <a:pPr algn="just">
              <a:lnSpc>
                <a:spcPct val="114000"/>
              </a:lnSpc>
            </a:pPr>
            <a:r>
              <a:rPr lang="en-US" sz="2400" dirty="0" smtClean="0"/>
              <a:t>Another thing many data analysts do (alongside cleaning data) is to carry out an exploratory analysis. </a:t>
            </a:r>
            <a:r>
              <a:rPr lang="en-US" sz="2400" b="1" dirty="0" smtClean="0">
                <a:solidFill>
                  <a:srgbClr val="0070C0"/>
                </a:solidFill>
              </a:rPr>
              <a:t>This helps identify initial trends and characteristics, and can even refine your hypothesis. </a:t>
            </a:r>
          </a:p>
          <a:p>
            <a:pPr algn="just">
              <a:lnSpc>
                <a:spcPct val="114000"/>
              </a:lnSpc>
            </a:pPr>
            <a:endParaRPr lang="en-US" sz="1000" dirty="0"/>
          </a:p>
          <a:p>
            <a:pPr algn="just">
              <a:lnSpc>
                <a:spcPct val="114000"/>
              </a:lnSpc>
            </a:pPr>
            <a:r>
              <a:rPr lang="en-US" sz="2400" b="1" dirty="0" smtClean="0">
                <a:solidFill>
                  <a:schemeClr val="accent6">
                    <a:lumMod val="75000"/>
                  </a:schemeClr>
                </a:solidFill>
                <a:effectLst>
                  <a:outerShdw blurRad="38100" dist="38100" dir="2700000" algn="tl">
                    <a:srgbClr val="000000">
                      <a:alpha val="43137"/>
                    </a:srgbClr>
                  </a:outerShdw>
                </a:effectLst>
              </a:rPr>
              <a:t>Let’s use the fictional learning company as an example again:</a:t>
            </a:r>
          </a:p>
          <a:p>
            <a:pPr algn="just">
              <a:lnSpc>
                <a:spcPct val="114000"/>
              </a:lnSpc>
            </a:pPr>
            <a:r>
              <a:rPr lang="en-US" sz="2400" b="1" dirty="0" smtClean="0"/>
              <a:t>Carrying out an exploratory analysis, perhaps you notice a correlation between how much </a:t>
            </a:r>
            <a:r>
              <a:rPr lang="en-US" sz="2400" b="1" dirty="0" err="1" smtClean="0"/>
              <a:t>TopNotch</a:t>
            </a:r>
            <a:r>
              <a:rPr lang="en-US" sz="2400" b="1" dirty="0" smtClean="0"/>
              <a:t> Learning’s clients pay and how quickly they move on to new suppliers. </a:t>
            </a:r>
          </a:p>
          <a:p>
            <a:pPr algn="just">
              <a:lnSpc>
                <a:spcPct val="114000"/>
              </a:lnSpc>
            </a:pPr>
            <a:endParaRPr lang="en-US" sz="1000" dirty="0"/>
          </a:p>
          <a:p>
            <a:pPr algn="just">
              <a:lnSpc>
                <a:spcPct val="114000"/>
              </a:lnSpc>
            </a:pPr>
            <a:r>
              <a:rPr lang="en-US" sz="2400" dirty="0" smtClean="0"/>
              <a:t>This might suggest that a low-quality customer experience (the assumption in your initial hypothesis) is actually less of an issue than cost. You might, therefore, take this into account.</a:t>
            </a:r>
            <a:endParaRPr lang="en-US" sz="2400" dirty="0"/>
          </a:p>
        </p:txBody>
      </p:sp>
    </p:spTree>
    <p:extLst>
      <p:ext uri="{BB962C8B-B14F-4D97-AF65-F5344CB8AC3E}">
        <p14:creationId xmlns:p14="http://schemas.microsoft.com/office/powerpoint/2010/main" val="398528716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04899" y="302389"/>
            <a:ext cx="9953625" cy="3477875"/>
          </a:xfrm>
          <a:prstGeom prst="rect">
            <a:avLst/>
          </a:prstGeom>
        </p:spPr>
        <p:txBody>
          <a:bodyPr wrap="square">
            <a:spAutoFit/>
          </a:bodyPr>
          <a:lstStyle/>
          <a:p>
            <a:r>
              <a:rPr lang="en-US" sz="3200" b="1" dirty="0">
                <a:solidFill>
                  <a:srgbClr val="0070C0"/>
                </a:solidFill>
                <a:effectLst>
                  <a:outerShdw blurRad="38100" dist="38100" dir="2700000" algn="tl">
                    <a:srgbClr val="000000">
                      <a:alpha val="43137"/>
                    </a:srgbClr>
                  </a:outerShdw>
                </a:effectLst>
              </a:rPr>
              <a:t>4. Step four: Analyzing the </a:t>
            </a:r>
            <a:r>
              <a:rPr lang="en-US" sz="3200" b="1" dirty="0" smtClean="0">
                <a:solidFill>
                  <a:srgbClr val="0070C0"/>
                </a:solidFill>
                <a:effectLst>
                  <a:outerShdw blurRad="38100" dist="38100" dir="2700000" algn="tl">
                    <a:srgbClr val="000000">
                      <a:alpha val="43137"/>
                    </a:srgbClr>
                  </a:outerShdw>
                </a:effectLst>
              </a:rPr>
              <a:t>data</a:t>
            </a:r>
          </a:p>
          <a:p>
            <a:endParaRPr lang="en-US" sz="1000" b="1" dirty="0">
              <a:solidFill>
                <a:srgbClr val="0070C0"/>
              </a:solidFill>
              <a:effectLst>
                <a:outerShdw blurRad="38100" dist="38100" dir="2700000" algn="tl">
                  <a:srgbClr val="000000">
                    <a:alpha val="43137"/>
                  </a:srgbClr>
                </a:outerShdw>
              </a:effectLst>
            </a:endParaRPr>
          </a:p>
          <a:p>
            <a:pPr algn="just"/>
            <a:r>
              <a:rPr lang="en-US" sz="2400" dirty="0"/>
              <a:t>Finally, you’ve cleaned your data. Now comes the fun bit—analyzing it! The type of data analysis you carry out largely depends on what your goal is. But there are many techniques available. Univariate or bivariate analysis, time-series analysis, and regression analysis are just a few you might have heard of. </a:t>
            </a:r>
            <a:endParaRPr lang="en-US" sz="2400" dirty="0" smtClean="0"/>
          </a:p>
          <a:p>
            <a:pPr algn="just"/>
            <a:endParaRPr lang="en-US" sz="1000" dirty="0"/>
          </a:p>
          <a:p>
            <a:pPr algn="just"/>
            <a:r>
              <a:rPr lang="en-US" sz="2400" dirty="0" smtClean="0"/>
              <a:t>More </a:t>
            </a:r>
            <a:r>
              <a:rPr lang="en-US" sz="2400" dirty="0"/>
              <a:t>important than the different types, though, is how you apply them. This depends on what insights you’re hoping to gain. Broadly speaking, all types of data analysis fit into one of the following four categories.</a:t>
            </a:r>
          </a:p>
        </p:txBody>
      </p:sp>
      <p:pic>
        <p:nvPicPr>
          <p:cNvPr id="3" name="Picture 2"/>
          <p:cNvPicPr>
            <a:picLocks noChangeAspect="1"/>
          </p:cNvPicPr>
          <p:nvPr/>
        </p:nvPicPr>
        <p:blipFill>
          <a:blip r:embed="rId2"/>
          <a:stretch>
            <a:fillRect/>
          </a:stretch>
        </p:blipFill>
        <p:spPr>
          <a:xfrm>
            <a:off x="2995612" y="3819527"/>
            <a:ext cx="6309360" cy="2764520"/>
          </a:xfrm>
          <a:prstGeom prst="rect">
            <a:avLst/>
          </a:prstGeom>
        </p:spPr>
      </p:pic>
    </p:spTree>
    <p:extLst>
      <p:ext uri="{BB962C8B-B14F-4D97-AF65-F5344CB8AC3E}">
        <p14:creationId xmlns:p14="http://schemas.microsoft.com/office/powerpoint/2010/main" val="18424346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057275" y="440889"/>
            <a:ext cx="10020300" cy="5970865"/>
          </a:xfrm>
          <a:prstGeom prst="rect">
            <a:avLst/>
          </a:prstGeom>
        </p:spPr>
        <p:txBody>
          <a:bodyPr wrap="square">
            <a:spAutoFit/>
          </a:bodyPr>
          <a:lstStyle/>
          <a:p>
            <a:r>
              <a:rPr lang="en-US" sz="2800" b="1" dirty="0">
                <a:solidFill>
                  <a:srgbClr val="7030A0"/>
                </a:solidFill>
              </a:rPr>
              <a:t>Descriptive analysis</a:t>
            </a:r>
          </a:p>
          <a:p>
            <a:pPr algn="just"/>
            <a:r>
              <a:rPr lang="en-US" sz="2400" dirty="0"/>
              <a:t>Descriptive analysis identifies what has already happened. It is a common first step that companies carry out before proceeding with deeper explorations. </a:t>
            </a:r>
            <a:endParaRPr lang="en-US" sz="2400" dirty="0" smtClean="0"/>
          </a:p>
          <a:p>
            <a:pPr algn="just"/>
            <a:endParaRPr lang="en-US" sz="800" dirty="0" smtClean="0"/>
          </a:p>
          <a:p>
            <a:pPr algn="just"/>
            <a:r>
              <a:rPr lang="en-US" sz="2400" dirty="0" smtClean="0"/>
              <a:t>As </a:t>
            </a:r>
            <a:r>
              <a:rPr lang="en-US" sz="2400" dirty="0"/>
              <a:t>an example, let’s refer back to our fictional learning provider once more. </a:t>
            </a:r>
            <a:r>
              <a:rPr lang="en-US" sz="2400" dirty="0" err="1"/>
              <a:t>TopNotch</a:t>
            </a:r>
            <a:r>
              <a:rPr lang="en-US" sz="2400" dirty="0"/>
              <a:t> Learning might use descriptive analytics to analyze course completion rates for their customers. Or they might identify how many users access their products during a particular period</a:t>
            </a:r>
            <a:r>
              <a:rPr lang="en-US" sz="2400" dirty="0" smtClean="0"/>
              <a:t>.</a:t>
            </a:r>
          </a:p>
          <a:p>
            <a:pPr algn="just"/>
            <a:endParaRPr lang="en-US" sz="1000" dirty="0"/>
          </a:p>
          <a:p>
            <a:r>
              <a:rPr lang="en-US" sz="2400" b="1" u="sng" dirty="0" smtClean="0"/>
              <a:t>The following kinds of data can all be summarized using descriptive analytics</a:t>
            </a:r>
            <a:r>
              <a:rPr lang="en-US" sz="2400" b="1" dirty="0" smtClean="0"/>
              <a:t>:</a:t>
            </a:r>
          </a:p>
          <a:p>
            <a:r>
              <a:rPr lang="en-US" sz="400" b="1" dirty="0"/>
              <a:t> </a:t>
            </a:r>
            <a:r>
              <a:rPr lang="en-US" sz="400" b="1" dirty="0" smtClean="0"/>
              <a:t>      </a:t>
            </a:r>
            <a:r>
              <a:rPr lang="en-US" sz="2400" b="1" dirty="0" smtClean="0"/>
              <a:t>  </a:t>
            </a:r>
            <a:r>
              <a:rPr lang="en-US" sz="2400" dirty="0" smtClean="0"/>
              <a:t>         </a:t>
            </a:r>
            <a:r>
              <a:rPr lang="en-US" sz="2400" dirty="0" smtClean="0">
                <a:sym typeface="Wingdings" panose="05000000000000000000" pitchFamily="2" charset="2"/>
              </a:rPr>
              <a:t> </a:t>
            </a:r>
            <a:r>
              <a:rPr lang="en-US" sz="2400" dirty="0" smtClean="0"/>
              <a:t>Financial statements</a:t>
            </a:r>
          </a:p>
          <a:p>
            <a:r>
              <a:rPr lang="en-US" sz="2400" dirty="0"/>
              <a:t> </a:t>
            </a:r>
            <a:r>
              <a:rPr lang="en-US" sz="2400" dirty="0" smtClean="0"/>
              <a:t>           </a:t>
            </a:r>
            <a:r>
              <a:rPr lang="en-US" sz="2400" dirty="0" smtClean="0">
                <a:sym typeface="Wingdings" panose="05000000000000000000" pitchFamily="2" charset="2"/>
              </a:rPr>
              <a:t> </a:t>
            </a:r>
            <a:r>
              <a:rPr lang="en-US" sz="2400" dirty="0" smtClean="0"/>
              <a:t>Surveys</a:t>
            </a:r>
            <a:endParaRPr lang="en-US" sz="2400" dirty="0"/>
          </a:p>
          <a:p>
            <a:r>
              <a:rPr lang="en-US" sz="2400" dirty="0" smtClean="0"/>
              <a:t>            </a:t>
            </a:r>
            <a:r>
              <a:rPr lang="en-US" sz="2400" dirty="0" smtClean="0">
                <a:sym typeface="Wingdings" panose="05000000000000000000" pitchFamily="2" charset="2"/>
              </a:rPr>
              <a:t> </a:t>
            </a:r>
            <a:r>
              <a:rPr lang="en-US" sz="2400" dirty="0" smtClean="0"/>
              <a:t>Social </a:t>
            </a:r>
            <a:r>
              <a:rPr lang="en-US" sz="2400" dirty="0"/>
              <a:t>media engagement</a:t>
            </a:r>
          </a:p>
          <a:p>
            <a:r>
              <a:rPr lang="en-US" sz="2400" dirty="0"/>
              <a:t> </a:t>
            </a:r>
            <a:r>
              <a:rPr lang="en-US" sz="2400" dirty="0" smtClean="0"/>
              <a:t>           </a:t>
            </a:r>
            <a:r>
              <a:rPr lang="en-US" sz="2400" dirty="0" smtClean="0">
                <a:sym typeface="Wingdings" panose="05000000000000000000" pitchFamily="2" charset="2"/>
              </a:rPr>
              <a:t> </a:t>
            </a:r>
            <a:r>
              <a:rPr lang="en-US" sz="2400" dirty="0" smtClean="0"/>
              <a:t>Website </a:t>
            </a:r>
            <a:r>
              <a:rPr lang="en-US" sz="2400" dirty="0"/>
              <a:t>traffic</a:t>
            </a:r>
          </a:p>
          <a:p>
            <a:r>
              <a:rPr lang="en-US" sz="2400" dirty="0" smtClean="0"/>
              <a:t>            </a:t>
            </a:r>
            <a:r>
              <a:rPr lang="en-US" sz="2400" dirty="0">
                <a:sym typeface="Wingdings" panose="05000000000000000000" pitchFamily="2" charset="2"/>
              </a:rPr>
              <a:t> </a:t>
            </a:r>
            <a:r>
              <a:rPr lang="en-US" sz="2400" dirty="0" smtClean="0"/>
              <a:t>Scientific </a:t>
            </a:r>
            <a:r>
              <a:rPr lang="en-US" sz="2400" dirty="0"/>
              <a:t>findings</a:t>
            </a:r>
          </a:p>
          <a:p>
            <a:r>
              <a:rPr lang="en-US" sz="2400" dirty="0"/>
              <a:t> </a:t>
            </a:r>
            <a:r>
              <a:rPr lang="en-US" sz="2400" dirty="0" smtClean="0"/>
              <a:t>           </a:t>
            </a:r>
            <a:r>
              <a:rPr lang="en-US" sz="2400" dirty="0" smtClean="0">
                <a:sym typeface="Wingdings" panose="05000000000000000000" pitchFamily="2" charset="2"/>
              </a:rPr>
              <a:t> </a:t>
            </a:r>
            <a:r>
              <a:rPr lang="en-US" sz="2400" dirty="0" smtClean="0"/>
              <a:t>Weather </a:t>
            </a:r>
            <a:r>
              <a:rPr lang="en-US" sz="2400" dirty="0"/>
              <a:t>reports</a:t>
            </a:r>
          </a:p>
          <a:p>
            <a:r>
              <a:rPr lang="en-US" sz="2400" dirty="0"/>
              <a:t> </a:t>
            </a:r>
            <a:r>
              <a:rPr lang="en-US" sz="2400" dirty="0" smtClean="0"/>
              <a:t>           </a:t>
            </a:r>
            <a:r>
              <a:rPr lang="en-US" sz="2400" dirty="0" smtClean="0">
                <a:sym typeface="Wingdings" panose="05000000000000000000" pitchFamily="2" charset="2"/>
              </a:rPr>
              <a:t> </a:t>
            </a:r>
            <a:r>
              <a:rPr lang="en-US" sz="2400" dirty="0" smtClean="0"/>
              <a:t>Traffic data</a:t>
            </a:r>
            <a:endParaRPr lang="en-US" sz="2400" dirty="0"/>
          </a:p>
        </p:txBody>
      </p:sp>
    </p:spTree>
    <p:extLst>
      <p:ext uri="{BB962C8B-B14F-4D97-AF65-F5344CB8AC3E}">
        <p14:creationId xmlns:p14="http://schemas.microsoft.com/office/powerpoint/2010/main" val="70715197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28676" y="536913"/>
            <a:ext cx="10544174" cy="2431435"/>
          </a:xfrm>
          <a:prstGeom prst="rect">
            <a:avLst/>
          </a:prstGeom>
        </p:spPr>
        <p:txBody>
          <a:bodyPr wrap="square">
            <a:spAutoFit/>
          </a:bodyPr>
          <a:lstStyle/>
          <a:p>
            <a:pPr algn="just"/>
            <a:r>
              <a:rPr lang="en-US" sz="2400" dirty="0">
                <a:solidFill>
                  <a:schemeClr val="tx2"/>
                </a:solidFill>
                <a:hlinkClick r:id="rId2"/>
              </a:rPr>
              <a:t>Google Analytics</a:t>
            </a:r>
            <a:r>
              <a:rPr lang="en-US" sz="2400" dirty="0">
                <a:solidFill>
                  <a:schemeClr val="tx2"/>
                </a:solidFill>
              </a:rPr>
              <a:t> </a:t>
            </a:r>
            <a:r>
              <a:rPr lang="en-US" sz="2400" dirty="0"/>
              <a:t>is a good example of </a:t>
            </a:r>
            <a:r>
              <a:rPr lang="en-US" sz="2400" b="1" dirty="0">
                <a:solidFill>
                  <a:srgbClr val="7030A0"/>
                </a:solidFill>
              </a:rPr>
              <a:t>descriptive analytics </a:t>
            </a:r>
            <a:r>
              <a:rPr lang="en-US" sz="2400" dirty="0"/>
              <a:t>in action; it provides a simple overview of what’s been going on with your website, showing you how many people visited in a given time period, for example, or where your visitors came from. </a:t>
            </a:r>
            <a:endParaRPr lang="en-US" sz="2400" dirty="0" smtClean="0"/>
          </a:p>
          <a:p>
            <a:pPr algn="just"/>
            <a:endParaRPr lang="en-US" sz="800" dirty="0"/>
          </a:p>
          <a:p>
            <a:pPr algn="just"/>
            <a:r>
              <a:rPr lang="en-US" sz="2400" dirty="0" smtClean="0"/>
              <a:t>Similarly</a:t>
            </a:r>
            <a:r>
              <a:rPr lang="en-US" sz="2400" dirty="0"/>
              <a:t>, tools like </a:t>
            </a:r>
            <a:r>
              <a:rPr lang="en-US" sz="2400" dirty="0" err="1">
                <a:hlinkClick r:id="rId3"/>
              </a:rPr>
              <a:t>HubSpot</a:t>
            </a:r>
            <a:r>
              <a:rPr lang="en-US" sz="2400" dirty="0"/>
              <a:t> will show you how many people opened a particular email or engaged with a certain campaign.</a:t>
            </a:r>
          </a:p>
        </p:txBody>
      </p:sp>
      <p:pic>
        <p:nvPicPr>
          <p:cNvPr id="5" name="Picture 4"/>
          <p:cNvPicPr>
            <a:picLocks noChangeAspect="1"/>
          </p:cNvPicPr>
          <p:nvPr/>
        </p:nvPicPr>
        <p:blipFill>
          <a:blip r:embed="rId4"/>
          <a:stretch>
            <a:fillRect/>
          </a:stretch>
        </p:blipFill>
        <p:spPr>
          <a:xfrm>
            <a:off x="6024562" y="3803751"/>
            <a:ext cx="5212080" cy="1844477"/>
          </a:xfrm>
          <a:prstGeom prst="rect">
            <a:avLst/>
          </a:prstGeom>
        </p:spPr>
      </p:pic>
      <p:sp>
        <p:nvSpPr>
          <p:cNvPr id="7" name="Rectangle 6"/>
          <p:cNvSpPr/>
          <p:nvPr/>
        </p:nvSpPr>
        <p:spPr>
          <a:xfrm>
            <a:off x="876301" y="3060801"/>
            <a:ext cx="5072061" cy="3385542"/>
          </a:xfrm>
          <a:prstGeom prst="rect">
            <a:avLst/>
          </a:prstGeom>
        </p:spPr>
        <p:txBody>
          <a:bodyPr wrap="square">
            <a:spAutoFit/>
          </a:bodyPr>
          <a:lstStyle/>
          <a:p>
            <a:pPr algn="just"/>
            <a:r>
              <a:rPr lang="en-US" sz="2000" b="1" u="sng" dirty="0">
                <a:solidFill>
                  <a:srgbClr val="FF0000"/>
                </a:solidFill>
              </a:rPr>
              <a:t>There are two main techniques used in descriptive analytics</a:t>
            </a:r>
            <a:r>
              <a:rPr lang="en-US" sz="2000" dirty="0"/>
              <a:t>: </a:t>
            </a:r>
            <a:r>
              <a:rPr lang="en-US" sz="2000" b="1" dirty="0">
                <a:solidFill>
                  <a:schemeClr val="bg1">
                    <a:lumMod val="50000"/>
                  </a:schemeClr>
                </a:solidFill>
                <a:effectLst>
                  <a:outerShdw blurRad="38100" dist="38100" dir="2700000" algn="tl">
                    <a:srgbClr val="000000">
                      <a:alpha val="43137"/>
                    </a:srgbClr>
                  </a:outerShdw>
                </a:effectLst>
              </a:rPr>
              <a:t>Data aggregation and data mining</a:t>
            </a:r>
            <a:r>
              <a:rPr lang="en-US" sz="2000" b="1" dirty="0" smtClean="0">
                <a:solidFill>
                  <a:schemeClr val="bg1">
                    <a:lumMod val="50000"/>
                  </a:schemeClr>
                </a:solidFill>
                <a:effectLst>
                  <a:outerShdw blurRad="38100" dist="38100" dir="2700000" algn="tl">
                    <a:srgbClr val="000000">
                      <a:alpha val="43137"/>
                    </a:srgbClr>
                  </a:outerShdw>
                </a:effectLst>
              </a:rPr>
              <a:t>.</a:t>
            </a:r>
          </a:p>
          <a:p>
            <a:pPr algn="just"/>
            <a:endParaRPr lang="en-US" sz="400" b="1" dirty="0" smtClean="0"/>
          </a:p>
          <a:p>
            <a:r>
              <a:rPr lang="en-US" sz="2000" b="1" dirty="0" smtClean="0">
                <a:solidFill>
                  <a:schemeClr val="bg1">
                    <a:lumMod val="50000"/>
                  </a:schemeClr>
                </a:solidFill>
              </a:rPr>
              <a:t>Data </a:t>
            </a:r>
            <a:r>
              <a:rPr lang="en-US" sz="2000" b="1" dirty="0">
                <a:solidFill>
                  <a:schemeClr val="bg1">
                    <a:lumMod val="50000"/>
                  </a:schemeClr>
                </a:solidFill>
              </a:rPr>
              <a:t>aggregation</a:t>
            </a:r>
          </a:p>
          <a:p>
            <a:pPr algn="just"/>
            <a:r>
              <a:rPr lang="en-US" sz="2000" dirty="0"/>
              <a:t>Data aggregation is the process of gathering data and presenting it in a summarized format</a:t>
            </a:r>
            <a:r>
              <a:rPr lang="en-US" sz="2000" dirty="0" smtClean="0"/>
              <a:t>.</a:t>
            </a:r>
          </a:p>
          <a:p>
            <a:pPr algn="just"/>
            <a:endParaRPr lang="en-US" sz="1000" dirty="0"/>
          </a:p>
          <a:p>
            <a:r>
              <a:rPr lang="en-US" sz="2000" b="1" dirty="0" smtClean="0">
                <a:solidFill>
                  <a:schemeClr val="bg1">
                    <a:lumMod val="50000"/>
                  </a:schemeClr>
                </a:solidFill>
              </a:rPr>
              <a:t>Data </a:t>
            </a:r>
            <a:r>
              <a:rPr lang="en-US" sz="2000" b="1" dirty="0">
                <a:solidFill>
                  <a:schemeClr val="bg1">
                    <a:lumMod val="50000"/>
                  </a:schemeClr>
                </a:solidFill>
              </a:rPr>
              <a:t>mining</a:t>
            </a:r>
          </a:p>
          <a:p>
            <a:pPr algn="just"/>
            <a:r>
              <a:rPr lang="en-US" sz="2000" dirty="0"/>
              <a:t>Data mining is the analysis part. This is when the analyst explores the data in order to uncover any patterns or trends. </a:t>
            </a:r>
          </a:p>
        </p:txBody>
      </p:sp>
    </p:spTree>
    <p:extLst>
      <p:ext uri="{BB962C8B-B14F-4D97-AF65-F5344CB8AC3E}">
        <p14:creationId xmlns:p14="http://schemas.microsoft.com/office/powerpoint/2010/main" val="185260052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14424" y="476667"/>
            <a:ext cx="9934575" cy="6155531"/>
          </a:xfrm>
          <a:prstGeom prst="rect">
            <a:avLst/>
          </a:prstGeom>
        </p:spPr>
        <p:txBody>
          <a:bodyPr wrap="square">
            <a:spAutoFit/>
          </a:bodyPr>
          <a:lstStyle/>
          <a:p>
            <a:r>
              <a:rPr lang="en-US" sz="2800" b="1" dirty="0">
                <a:solidFill>
                  <a:srgbClr val="7030A0"/>
                </a:solidFill>
              </a:rPr>
              <a:t>Diagnostic </a:t>
            </a:r>
            <a:r>
              <a:rPr lang="en-US" sz="2800" b="1" dirty="0" smtClean="0">
                <a:solidFill>
                  <a:srgbClr val="7030A0"/>
                </a:solidFill>
              </a:rPr>
              <a:t>analysis</a:t>
            </a:r>
          </a:p>
          <a:p>
            <a:endParaRPr lang="en-US" sz="1000" b="1" dirty="0">
              <a:solidFill>
                <a:srgbClr val="7030A0"/>
              </a:solidFill>
            </a:endParaRPr>
          </a:p>
          <a:p>
            <a:pPr algn="just"/>
            <a:r>
              <a:rPr lang="en-US" sz="2400" dirty="0"/>
              <a:t>Diagnostic analytics focuses on understanding why something has happened. </a:t>
            </a:r>
            <a:r>
              <a:rPr lang="en-US" sz="2400" b="1" u="sng" dirty="0"/>
              <a:t>It is literally the diagnosis of a problem, just as a doctor uses a patient’s symptoms to diagnose a disease.</a:t>
            </a:r>
            <a:r>
              <a:rPr lang="en-US" sz="2400" dirty="0"/>
              <a:t> </a:t>
            </a:r>
            <a:endParaRPr lang="en-US" sz="2400" dirty="0" smtClean="0"/>
          </a:p>
          <a:p>
            <a:pPr algn="just"/>
            <a:endParaRPr lang="en-US" sz="1000" dirty="0"/>
          </a:p>
          <a:p>
            <a:pPr algn="just"/>
            <a:r>
              <a:rPr lang="en-US" sz="2400" b="1" dirty="0" smtClean="0">
                <a:solidFill>
                  <a:schemeClr val="accent2">
                    <a:lumMod val="75000"/>
                  </a:schemeClr>
                </a:solidFill>
              </a:rPr>
              <a:t>Remember </a:t>
            </a:r>
            <a:r>
              <a:rPr lang="en-US" sz="2400" b="1" dirty="0" err="1">
                <a:solidFill>
                  <a:schemeClr val="accent2">
                    <a:lumMod val="75000"/>
                  </a:schemeClr>
                </a:solidFill>
              </a:rPr>
              <a:t>TopNotch</a:t>
            </a:r>
            <a:r>
              <a:rPr lang="en-US" sz="2400" b="1" dirty="0">
                <a:solidFill>
                  <a:schemeClr val="accent2">
                    <a:lumMod val="75000"/>
                  </a:schemeClr>
                </a:solidFill>
              </a:rPr>
              <a:t> Learning’s business problem? </a:t>
            </a:r>
            <a:r>
              <a:rPr lang="en-US" sz="2400" dirty="0"/>
              <a:t>‘</a:t>
            </a:r>
            <a:r>
              <a:rPr lang="en-US" sz="2400" i="1" u="sng" dirty="0"/>
              <a:t>Which factors are negatively impacting the customer experience</a:t>
            </a:r>
            <a:r>
              <a:rPr lang="en-US" sz="2400" dirty="0"/>
              <a:t>?’ A diagnostic analysis would help answer this. </a:t>
            </a:r>
            <a:endParaRPr lang="en-US" sz="2400" dirty="0" smtClean="0"/>
          </a:p>
          <a:p>
            <a:pPr algn="just"/>
            <a:endParaRPr lang="en-US" sz="1000" dirty="0"/>
          </a:p>
          <a:p>
            <a:pPr algn="just"/>
            <a:r>
              <a:rPr lang="en-US" sz="2400" dirty="0" smtClean="0"/>
              <a:t>For </a:t>
            </a:r>
            <a:r>
              <a:rPr lang="en-US" sz="2400" dirty="0"/>
              <a:t>instance, it could help the company draw correlations between the issue (struggling to gain repeat business) and factors that might be causing it (e.g. project costs, speed of delivery, customer sector, etc.) </a:t>
            </a:r>
            <a:endParaRPr lang="en-US" sz="2400" dirty="0" smtClean="0"/>
          </a:p>
          <a:p>
            <a:pPr algn="just"/>
            <a:endParaRPr lang="en-US" sz="1000" dirty="0"/>
          </a:p>
          <a:p>
            <a:pPr algn="just"/>
            <a:r>
              <a:rPr lang="en-US" sz="2400" i="1" u="sng" dirty="0" smtClean="0">
                <a:solidFill>
                  <a:schemeClr val="bg1">
                    <a:lumMod val="50000"/>
                  </a:schemeClr>
                </a:solidFill>
              </a:rPr>
              <a:t>Let’s </a:t>
            </a:r>
            <a:r>
              <a:rPr lang="en-US" sz="2400" i="1" u="sng" dirty="0">
                <a:solidFill>
                  <a:schemeClr val="bg1">
                    <a:lumMod val="50000"/>
                  </a:schemeClr>
                </a:solidFill>
              </a:rPr>
              <a:t>imagine that, using diagnostic analytics, </a:t>
            </a:r>
            <a:r>
              <a:rPr lang="en-US" sz="2400" i="1" u="sng" dirty="0" err="1">
                <a:solidFill>
                  <a:schemeClr val="bg1">
                    <a:lumMod val="50000"/>
                  </a:schemeClr>
                </a:solidFill>
              </a:rPr>
              <a:t>TopNotch</a:t>
            </a:r>
            <a:r>
              <a:rPr lang="en-US" sz="2400" i="1" u="sng" dirty="0">
                <a:solidFill>
                  <a:schemeClr val="bg1">
                    <a:lumMod val="50000"/>
                  </a:schemeClr>
                </a:solidFill>
              </a:rPr>
              <a:t> realizes its clients in the retail sector are departing at a faster rate than other clients. This might suggest that they’re losing customers because they lack expertise in this sector. And that’s a useful insight!</a:t>
            </a:r>
          </a:p>
        </p:txBody>
      </p:sp>
    </p:spTree>
    <p:extLst>
      <p:ext uri="{BB962C8B-B14F-4D97-AF65-F5344CB8AC3E}">
        <p14:creationId xmlns:p14="http://schemas.microsoft.com/office/powerpoint/2010/main" val="63075739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33450" y="505242"/>
            <a:ext cx="10267950" cy="5878532"/>
          </a:xfrm>
          <a:prstGeom prst="rect">
            <a:avLst/>
          </a:prstGeom>
        </p:spPr>
        <p:txBody>
          <a:bodyPr wrap="square">
            <a:spAutoFit/>
          </a:bodyPr>
          <a:lstStyle/>
          <a:p>
            <a:r>
              <a:rPr lang="en-US" sz="2800" b="1" dirty="0">
                <a:solidFill>
                  <a:srgbClr val="7030A0"/>
                </a:solidFill>
              </a:rPr>
              <a:t>Predictive </a:t>
            </a:r>
            <a:r>
              <a:rPr lang="en-US" sz="2800" b="1" dirty="0" smtClean="0">
                <a:solidFill>
                  <a:srgbClr val="7030A0"/>
                </a:solidFill>
              </a:rPr>
              <a:t>analysis</a:t>
            </a:r>
          </a:p>
          <a:p>
            <a:endParaRPr lang="en-US" sz="1000" b="1" dirty="0">
              <a:solidFill>
                <a:srgbClr val="7030A0"/>
              </a:solidFill>
            </a:endParaRPr>
          </a:p>
          <a:p>
            <a:pPr algn="just"/>
            <a:r>
              <a:rPr lang="en-US" sz="2400" dirty="0">
                <a:solidFill>
                  <a:srgbClr val="FF0000"/>
                </a:solidFill>
                <a:effectLst>
                  <a:outerShdw blurRad="38100" dist="38100" dir="2700000" algn="tl">
                    <a:srgbClr val="000000">
                      <a:alpha val="43137"/>
                    </a:srgbClr>
                  </a:outerShdw>
                </a:effectLst>
              </a:rPr>
              <a:t>Predictive analysis allows you to identify future trends based on historical data</a:t>
            </a:r>
            <a:r>
              <a:rPr lang="en-US" sz="2400" dirty="0"/>
              <a:t>. </a:t>
            </a:r>
            <a:r>
              <a:rPr lang="en-US" sz="2400" i="1" u="sng" dirty="0"/>
              <a:t>In business, predictive analysis is commonly used to forecast future </a:t>
            </a:r>
            <a:r>
              <a:rPr lang="en-US" sz="2400" i="1" u="sng" dirty="0" smtClean="0"/>
              <a:t>growth</a:t>
            </a:r>
            <a:r>
              <a:rPr lang="en-US" sz="2400" dirty="0" smtClean="0"/>
              <a:t>.</a:t>
            </a:r>
          </a:p>
          <a:p>
            <a:pPr algn="just"/>
            <a:endParaRPr lang="en-US" sz="1000" dirty="0"/>
          </a:p>
          <a:p>
            <a:pPr algn="just"/>
            <a:r>
              <a:rPr lang="en-US" sz="2400" b="1" u="sng" dirty="0" smtClean="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Predictive </a:t>
            </a:r>
            <a:r>
              <a:rPr lang="en-US" sz="2400" b="1" u="sng"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analysis has grown increasingly sophisticated in recent years</a:t>
            </a:r>
            <a:r>
              <a:rPr lang="en-US" sz="2400" dirty="0"/>
              <a:t>. The speedy evolution of machine learning allows organizations to make surprisingly accurate forecasts. </a:t>
            </a:r>
            <a:endParaRPr lang="en-US" sz="2400" dirty="0" smtClean="0"/>
          </a:p>
          <a:p>
            <a:pPr algn="just"/>
            <a:endParaRPr lang="en-US" sz="1000" dirty="0"/>
          </a:p>
          <a:p>
            <a:pPr algn="just"/>
            <a:r>
              <a:rPr lang="en-US" sz="2400" b="1" u="sng" dirty="0" smtClean="0"/>
              <a:t>Take </a:t>
            </a:r>
            <a:r>
              <a:rPr lang="en-US" sz="2400" b="1" u="sng" dirty="0"/>
              <a:t>the insurance industry. </a:t>
            </a:r>
            <a:endParaRPr lang="en-US" sz="1000" b="1" u="sng" dirty="0"/>
          </a:p>
          <a:p>
            <a:pPr algn="just"/>
            <a:r>
              <a:rPr lang="en-US" sz="2400" i="1" dirty="0" smtClean="0"/>
              <a:t>Insurance </a:t>
            </a:r>
            <a:r>
              <a:rPr lang="en-US" sz="2400" i="1" dirty="0"/>
              <a:t>providers commonly use past data to predict which customer groups are more likely to get into accidents</a:t>
            </a:r>
            <a:r>
              <a:rPr lang="en-US" sz="2400" dirty="0"/>
              <a:t>. </a:t>
            </a:r>
            <a:r>
              <a:rPr lang="en-US" sz="2400" b="1" dirty="0">
                <a:solidFill>
                  <a:srgbClr val="7030A0"/>
                </a:solidFill>
              </a:rPr>
              <a:t>As a result, they’ll hike up customer insurance premiums for those groups</a:t>
            </a:r>
            <a:r>
              <a:rPr lang="en-US" sz="2400" dirty="0"/>
              <a:t>. </a:t>
            </a:r>
            <a:endParaRPr lang="en-US" sz="2400" dirty="0" smtClean="0"/>
          </a:p>
          <a:p>
            <a:pPr algn="just"/>
            <a:endParaRPr lang="en-US" sz="600" dirty="0" smtClean="0"/>
          </a:p>
          <a:p>
            <a:pPr algn="just"/>
            <a:r>
              <a:rPr lang="en-US" sz="2400" b="1" u="sng" dirty="0" smtClean="0"/>
              <a:t>Likewise</a:t>
            </a:r>
            <a:r>
              <a:rPr lang="en-US" sz="2400" b="1" u="sng" dirty="0"/>
              <a:t>, the retail industry</a:t>
            </a:r>
            <a:r>
              <a:rPr lang="en-US" sz="2400" dirty="0"/>
              <a:t> often uses transaction data to predict where future trends lie, or to determine seasonal buying habits to inform their strategies. These are just a few simple examples, but the untapped potential of predictive analysis is pretty compelling.</a:t>
            </a:r>
          </a:p>
        </p:txBody>
      </p:sp>
    </p:spTree>
    <p:extLst>
      <p:ext uri="{BB962C8B-B14F-4D97-AF65-F5344CB8AC3E}">
        <p14:creationId xmlns:p14="http://schemas.microsoft.com/office/powerpoint/2010/main" val="367635401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43000" y="763965"/>
            <a:ext cx="9839324" cy="5724644"/>
          </a:xfrm>
          <a:prstGeom prst="rect">
            <a:avLst/>
          </a:prstGeom>
        </p:spPr>
        <p:txBody>
          <a:bodyPr wrap="square">
            <a:spAutoFit/>
          </a:bodyPr>
          <a:lstStyle/>
          <a:p>
            <a:r>
              <a:rPr lang="en-US" sz="2800" b="1" dirty="0">
                <a:solidFill>
                  <a:srgbClr val="7030A0"/>
                </a:solidFill>
              </a:rPr>
              <a:t>Prescriptive </a:t>
            </a:r>
            <a:r>
              <a:rPr lang="en-US" sz="2800" b="1" dirty="0" smtClean="0">
                <a:solidFill>
                  <a:srgbClr val="7030A0"/>
                </a:solidFill>
              </a:rPr>
              <a:t>analysis</a:t>
            </a:r>
          </a:p>
          <a:p>
            <a:endParaRPr lang="en-US" sz="1000" b="1" dirty="0">
              <a:solidFill>
                <a:srgbClr val="7030A0"/>
              </a:solidFill>
            </a:endParaRPr>
          </a:p>
          <a:p>
            <a:pPr algn="just"/>
            <a:r>
              <a:rPr lang="en-US" sz="2400" b="1" u="sng" dirty="0">
                <a:solidFill>
                  <a:schemeClr val="accent6">
                    <a:lumMod val="75000"/>
                  </a:schemeClr>
                </a:solidFill>
              </a:rPr>
              <a:t>Prescriptive analysis allows you to make recommendations for the future</a:t>
            </a:r>
            <a:r>
              <a:rPr lang="en-US" sz="2400" dirty="0"/>
              <a:t>. This is the final step in the analytics part of the process. It’s also the most complex. </a:t>
            </a:r>
            <a:endParaRPr lang="en-US" sz="2400" dirty="0" smtClean="0"/>
          </a:p>
          <a:p>
            <a:pPr algn="just"/>
            <a:r>
              <a:rPr lang="en-US" sz="2400" dirty="0" smtClean="0"/>
              <a:t>This </a:t>
            </a:r>
            <a:r>
              <a:rPr lang="en-US" sz="2400" dirty="0"/>
              <a:t>is because it incorporates aspects of all the other analyses we’ve described. </a:t>
            </a:r>
            <a:endParaRPr lang="en-US" sz="2400" dirty="0" smtClean="0"/>
          </a:p>
          <a:p>
            <a:pPr algn="just"/>
            <a:endParaRPr lang="en-US" sz="600" b="1" u="sng" dirty="0" smtClean="0">
              <a:solidFill>
                <a:schemeClr val="bg1">
                  <a:lumMod val="50000"/>
                </a:schemeClr>
              </a:solidFill>
            </a:endParaRPr>
          </a:p>
          <a:p>
            <a:pPr algn="just"/>
            <a:r>
              <a:rPr lang="en-US" sz="2400" b="1" u="sng" dirty="0" smtClean="0">
                <a:solidFill>
                  <a:schemeClr val="bg1">
                    <a:lumMod val="50000"/>
                  </a:schemeClr>
                </a:solidFill>
              </a:rPr>
              <a:t>A </a:t>
            </a:r>
            <a:r>
              <a:rPr lang="en-US" sz="2400" b="1" u="sng" dirty="0">
                <a:solidFill>
                  <a:schemeClr val="bg1">
                    <a:lumMod val="50000"/>
                  </a:schemeClr>
                </a:solidFill>
              </a:rPr>
              <a:t>great example of prescriptive analytics is the algorithms that guide Google’s self-driving cars. Every second, these algorithms make countless decisions based on past and present data, ensuring a smooth, safe ride</a:t>
            </a:r>
            <a:r>
              <a:rPr lang="en-US" sz="2400" dirty="0"/>
              <a:t>. Prescriptive analytics also helps companies decide on new products or areas of business to invest in</a:t>
            </a:r>
            <a:r>
              <a:rPr lang="en-US" sz="2400" dirty="0" smtClean="0"/>
              <a:t>.</a:t>
            </a:r>
          </a:p>
          <a:p>
            <a:pPr algn="just"/>
            <a:endParaRPr lang="en-US" sz="1000" dirty="0"/>
          </a:p>
          <a:p>
            <a:pPr algn="just"/>
            <a:r>
              <a:rPr lang="en-US" sz="2400" b="1" dirty="0">
                <a:solidFill>
                  <a:srgbClr val="002060"/>
                </a:solidFill>
              </a:rPr>
              <a:t>So</a:t>
            </a:r>
            <a:r>
              <a:rPr lang="en-US" sz="2400" dirty="0"/>
              <a:t>: Prescriptive analytics looks at what has happened, why it happened, and what might happen in order to determine the best course of action for the future.</a:t>
            </a:r>
          </a:p>
        </p:txBody>
      </p:sp>
    </p:spTree>
    <p:extLst>
      <p:ext uri="{BB962C8B-B14F-4D97-AF65-F5344CB8AC3E}">
        <p14:creationId xmlns:p14="http://schemas.microsoft.com/office/powerpoint/2010/main" val="213795927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23974" y="1044565"/>
            <a:ext cx="9658351" cy="4770537"/>
          </a:xfrm>
          <a:prstGeom prst="rect">
            <a:avLst/>
          </a:prstGeom>
        </p:spPr>
        <p:txBody>
          <a:bodyPr wrap="square">
            <a:spAutoFit/>
          </a:bodyPr>
          <a:lstStyle/>
          <a:p>
            <a:r>
              <a:rPr lang="en-US" sz="3200" b="1" dirty="0">
                <a:solidFill>
                  <a:srgbClr val="0070C0"/>
                </a:solidFill>
              </a:rPr>
              <a:t>5. </a:t>
            </a:r>
            <a:r>
              <a:rPr lang="en-US" sz="3200" b="1" dirty="0" smtClean="0">
                <a:solidFill>
                  <a:srgbClr val="0070C0"/>
                </a:solidFill>
              </a:rPr>
              <a:t>Sharing </a:t>
            </a:r>
            <a:r>
              <a:rPr lang="en-US" sz="3200" b="1" dirty="0">
                <a:solidFill>
                  <a:srgbClr val="0070C0"/>
                </a:solidFill>
              </a:rPr>
              <a:t>your </a:t>
            </a:r>
            <a:r>
              <a:rPr lang="en-US" sz="3200" b="1" dirty="0" smtClean="0">
                <a:solidFill>
                  <a:srgbClr val="0070C0"/>
                </a:solidFill>
              </a:rPr>
              <a:t>results</a:t>
            </a:r>
          </a:p>
          <a:p>
            <a:endParaRPr lang="en-US" sz="1000" b="1" dirty="0">
              <a:solidFill>
                <a:srgbClr val="7030A0"/>
              </a:solidFill>
            </a:endParaRPr>
          </a:p>
          <a:p>
            <a:pPr algn="just"/>
            <a:r>
              <a:rPr lang="en-US" sz="2400" b="1" dirty="0">
                <a:solidFill>
                  <a:schemeClr val="accent6">
                    <a:lumMod val="75000"/>
                  </a:schemeClr>
                </a:solidFill>
              </a:rPr>
              <a:t>You’ve finished carrying out your analyses. You have your insights. The final step of the data analytics process is to share these insights with the wider world (or at least with your organization’s stakeholders!) </a:t>
            </a:r>
            <a:endParaRPr lang="en-US" sz="2400" b="1" dirty="0" smtClean="0">
              <a:solidFill>
                <a:schemeClr val="accent6">
                  <a:lumMod val="75000"/>
                </a:schemeClr>
              </a:solidFill>
            </a:endParaRPr>
          </a:p>
          <a:p>
            <a:pPr algn="just"/>
            <a:endParaRPr lang="en-US" sz="1000" b="1" dirty="0">
              <a:solidFill>
                <a:schemeClr val="accent6">
                  <a:lumMod val="75000"/>
                </a:schemeClr>
              </a:solidFill>
            </a:endParaRPr>
          </a:p>
          <a:p>
            <a:pPr algn="just"/>
            <a:r>
              <a:rPr lang="en-US" sz="2400" dirty="0" smtClean="0"/>
              <a:t>This </a:t>
            </a:r>
            <a:r>
              <a:rPr lang="en-US" sz="2400" dirty="0"/>
              <a:t>is more complex than simply sharing the raw results of your work—it involves interpreting the outcomes, and presenting them in a manner that’s digestible for all types of audiences. </a:t>
            </a:r>
            <a:endParaRPr lang="en-US" sz="2400" dirty="0" smtClean="0"/>
          </a:p>
          <a:p>
            <a:pPr algn="just"/>
            <a:endParaRPr lang="en-US" sz="1200" dirty="0"/>
          </a:p>
          <a:p>
            <a:pPr algn="just"/>
            <a:r>
              <a:rPr lang="en-US" sz="2400" i="1" u="sng" dirty="0" smtClean="0"/>
              <a:t>Since </a:t>
            </a:r>
            <a:r>
              <a:rPr lang="en-US" sz="2400" i="1" u="sng" dirty="0"/>
              <a:t>you’ll often present information to decision-makers, it’s very important that the insights you present are 100% clear and unambiguous</a:t>
            </a:r>
            <a:r>
              <a:rPr lang="en-US" sz="2400" dirty="0"/>
              <a:t>. </a:t>
            </a:r>
            <a:r>
              <a:rPr lang="en-US" sz="2400" b="1" dirty="0">
                <a:solidFill>
                  <a:srgbClr val="FF0000"/>
                </a:solidFill>
              </a:rPr>
              <a:t>For this reason, data analysts commonly use reports, dashboards, and interactive visualizations to support their findings</a:t>
            </a:r>
            <a:r>
              <a:rPr lang="en-US" sz="2400" b="1" dirty="0" smtClean="0">
                <a:solidFill>
                  <a:srgbClr val="FF0000"/>
                </a:solidFill>
              </a:rPr>
              <a:t>.</a:t>
            </a:r>
          </a:p>
        </p:txBody>
      </p:sp>
    </p:spTree>
    <p:extLst>
      <p:ext uri="{BB962C8B-B14F-4D97-AF65-F5344CB8AC3E}">
        <p14:creationId xmlns:p14="http://schemas.microsoft.com/office/powerpoint/2010/main" val="189327889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47775" y="921514"/>
            <a:ext cx="9582150" cy="5078313"/>
          </a:xfrm>
          <a:prstGeom prst="rect">
            <a:avLst/>
          </a:prstGeom>
        </p:spPr>
        <p:txBody>
          <a:bodyPr wrap="square">
            <a:spAutoFit/>
          </a:bodyPr>
          <a:lstStyle/>
          <a:p>
            <a:pPr algn="ctr"/>
            <a:r>
              <a:rPr lang="en-US" sz="2400" b="1" dirty="0">
                <a:effectLst>
                  <a:outerShdw blurRad="38100" dist="38100" dir="2700000" algn="tl">
                    <a:srgbClr val="000000">
                      <a:alpha val="43137"/>
                    </a:srgbClr>
                  </a:outerShdw>
                </a:effectLst>
              </a:rPr>
              <a:t>Tools for interpreting and sharing your </a:t>
            </a:r>
            <a:r>
              <a:rPr lang="en-US" sz="2400" b="1" dirty="0" smtClean="0">
                <a:effectLst>
                  <a:outerShdw blurRad="38100" dist="38100" dir="2700000" algn="tl">
                    <a:srgbClr val="000000">
                      <a:alpha val="43137"/>
                    </a:srgbClr>
                  </a:outerShdw>
                </a:effectLst>
              </a:rPr>
              <a:t>findings</a:t>
            </a:r>
          </a:p>
          <a:p>
            <a:pPr algn="ctr"/>
            <a:endParaRPr lang="en-US" sz="1200" b="1" dirty="0">
              <a:effectLst>
                <a:outerShdw blurRad="38100" dist="38100" dir="2700000" algn="tl">
                  <a:srgbClr val="000000">
                    <a:alpha val="43137"/>
                  </a:srgbClr>
                </a:outerShdw>
              </a:effectLst>
            </a:endParaRPr>
          </a:p>
          <a:p>
            <a:pPr algn="just"/>
            <a:r>
              <a:rPr lang="en-US" sz="2400" dirty="0"/>
              <a:t>There are tons of data visualization tools available, suited to different experience levels. </a:t>
            </a:r>
            <a:endParaRPr lang="en-US" sz="2400" dirty="0" smtClean="0"/>
          </a:p>
          <a:p>
            <a:pPr algn="just"/>
            <a:endParaRPr lang="en-US" sz="2400" dirty="0"/>
          </a:p>
          <a:p>
            <a:pPr algn="just"/>
            <a:r>
              <a:rPr lang="en-US" sz="2400" dirty="0" smtClean="0"/>
              <a:t>Popular </a:t>
            </a:r>
            <a:r>
              <a:rPr lang="en-US" sz="2400" dirty="0"/>
              <a:t>tools requiring little or no coding skills include Google Charts, Tableau, </a:t>
            </a:r>
            <a:r>
              <a:rPr lang="en-US" sz="2400" dirty="0" err="1"/>
              <a:t>Datawrapper</a:t>
            </a:r>
            <a:r>
              <a:rPr lang="en-US" sz="2400" dirty="0"/>
              <a:t>, and </a:t>
            </a:r>
            <a:r>
              <a:rPr lang="en-US" sz="2400" dirty="0" err="1"/>
              <a:t>Infogram</a:t>
            </a:r>
            <a:r>
              <a:rPr lang="en-US" sz="2400" dirty="0"/>
              <a:t>. </a:t>
            </a:r>
            <a:endParaRPr lang="en-US" sz="2400" dirty="0" smtClean="0"/>
          </a:p>
          <a:p>
            <a:pPr algn="just"/>
            <a:endParaRPr lang="en-US" sz="2400" dirty="0"/>
          </a:p>
          <a:p>
            <a:pPr algn="just"/>
            <a:r>
              <a:rPr lang="en-US" sz="2400" dirty="0" smtClean="0"/>
              <a:t>If </a:t>
            </a:r>
            <a:r>
              <a:rPr lang="en-US" sz="2400" dirty="0"/>
              <a:t>you’re familiar with </a:t>
            </a:r>
            <a:r>
              <a:rPr lang="en-US" sz="2400" b="1" dirty="0">
                <a:solidFill>
                  <a:srgbClr val="FF0000"/>
                </a:solidFill>
              </a:rPr>
              <a:t>Python and R</a:t>
            </a:r>
            <a:r>
              <a:rPr lang="en-US" sz="2400" dirty="0"/>
              <a:t>, there are also many data visualization libraries and packages available. For instance, check out the </a:t>
            </a:r>
            <a:r>
              <a:rPr lang="en-US" sz="2400" b="1" dirty="0">
                <a:solidFill>
                  <a:srgbClr val="FF0000"/>
                </a:solidFill>
              </a:rPr>
              <a:t>Python libraries </a:t>
            </a:r>
            <a:r>
              <a:rPr lang="en-US" sz="2400" b="1" dirty="0" err="1">
                <a:solidFill>
                  <a:srgbClr val="FF0000"/>
                </a:solidFill>
              </a:rPr>
              <a:t>Plotly</a:t>
            </a:r>
            <a:r>
              <a:rPr lang="en-US" sz="2400" b="1" dirty="0">
                <a:solidFill>
                  <a:srgbClr val="FF0000"/>
                </a:solidFill>
              </a:rPr>
              <a:t>, </a:t>
            </a:r>
            <a:r>
              <a:rPr lang="en-US" sz="2400" b="1" dirty="0" err="1">
                <a:solidFill>
                  <a:srgbClr val="FF0000"/>
                </a:solidFill>
              </a:rPr>
              <a:t>Seaborn</a:t>
            </a:r>
            <a:r>
              <a:rPr lang="en-US" sz="2400" b="1" dirty="0">
                <a:solidFill>
                  <a:srgbClr val="FF0000"/>
                </a:solidFill>
              </a:rPr>
              <a:t>, and </a:t>
            </a:r>
            <a:r>
              <a:rPr lang="en-US" sz="2400" b="1" dirty="0" err="1">
                <a:solidFill>
                  <a:srgbClr val="FF0000"/>
                </a:solidFill>
              </a:rPr>
              <a:t>Matplotlib</a:t>
            </a:r>
            <a:r>
              <a:rPr lang="en-US" sz="2400" dirty="0"/>
              <a:t>. Whichever data visualization tools you use, make sure you polish up your presentation skills, too. Remember: Visualization is great, but communication is key!</a:t>
            </a:r>
          </a:p>
          <a:p>
            <a:pPr algn="ctr"/>
            <a:endParaRPr lang="en-US" sz="24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65647419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978449" y="2577584"/>
            <a:ext cx="4139851" cy="830997"/>
          </a:xfrm>
          <a:prstGeom prst="rect">
            <a:avLst/>
          </a:prstGeom>
        </p:spPr>
        <p:txBody>
          <a:bodyPr wrap="none">
            <a:spAutoFit/>
          </a:bodyPr>
          <a:lstStyle/>
          <a:p>
            <a:pPr algn="ctr"/>
            <a:r>
              <a:rPr lang="en-US" sz="4800" b="1" u="sng" dirty="0">
                <a:solidFill>
                  <a:srgbClr val="0070C0"/>
                </a:solidFill>
                <a:effectLst>
                  <a:outerShdw blurRad="38100" dist="38100" dir="2700000" algn="tl">
                    <a:srgbClr val="000000">
                      <a:alpha val="43137"/>
                    </a:srgbClr>
                  </a:outerShdw>
                </a:effectLst>
              </a:rPr>
              <a:t>Basics Statistics</a:t>
            </a:r>
          </a:p>
        </p:txBody>
      </p:sp>
    </p:spTree>
    <p:extLst>
      <p:ext uri="{BB962C8B-B14F-4D97-AF65-F5344CB8AC3E}">
        <p14:creationId xmlns:p14="http://schemas.microsoft.com/office/powerpoint/2010/main" val="425813841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57300" y="521464"/>
            <a:ext cx="9582150" cy="2985433"/>
          </a:xfrm>
          <a:prstGeom prst="rect">
            <a:avLst/>
          </a:prstGeom>
        </p:spPr>
        <p:txBody>
          <a:bodyPr wrap="square">
            <a:spAutoFit/>
          </a:bodyPr>
          <a:lstStyle/>
          <a:p>
            <a:pPr algn="ctr"/>
            <a:r>
              <a:rPr lang="en-US" sz="3200" b="1" u="sng" dirty="0" smtClean="0">
                <a:solidFill>
                  <a:srgbClr val="0070C0"/>
                </a:solidFill>
                <a:effectLst>
                  <a:outerShdw blurRad="38100" dist="38100" dir="2700000" algn="tl">
                    <a:srgbClr val="000000">
                      <a:alpha val="43137"/>
                    </a:srgbClr>
                  </a:outerShdw>
                </a:effectLst>
              </a:rPr>
              <a:t>Basics Statistics</a:t>
            </a:r>
          </a:p>
          <a:p>
            <a:pPr algn="ctr"/>
            <a:endParaRPr lang="en-US" sz="1200" b="1" dirty="0">
              <a:effectLst>
                <a:outerShdw blurRad="38100" dist="38100" dir="2700000" algn="tl">
                  <a:srgbClr val="000000">
                    <a:alpha val="43137"/>
                  </a:srgbClr>
                </a:outerShdw>
              </a:effectLst>
            </a:endParaRPr>
          </a:p>
          <a:p>
            <a:pPr algn="just"/>
            <a:r>
              <a:rPr lang="en-US" sz="2400" b="1" dirty="0" smtClean="0">
                <a:solidFill>
                  <a:srgbClr val="FF0000"/>
                </a:solidFill>
              </a:rPr>
              <a:t>Frequency Distribution.</a:t>
            </a:r>
          </a:p>
          <a:p>
            <a:pPr algn="just"/>
            <a:r>
              <a:rPr lang="en-US" sz="2400" dirty="0" smtClean="0"/>
              <a:t>A </a:t>
            </a:r>
            <a:r>
              <a:rPr lang="en-US" sz="2400" dirty="0"/>
              <a:t>frequency distribution is </a:t>
            </a:r>
            <a:r>
              <a:rPr lang="en-US" sz="2400" b="1" dirty="0"/>
              <a:t>a representation, either in a graphical or tabular format, that displays the number of observations within a given interval</a:t>
            </a:r>
            <a:r>
              <a:rPr lang="en-US" sz="2400" dirty="0"/>
              <a:t>. The frequency is how often a value occurs in an interval, while the distribution is the pattern of frequency of the variable</a:t>
            </a:r>
            <a:r>
              <a:rPr lang="en-US" sz="2400" dirty="0" smtClean="0"/>
              <a:t>.</a:t>
            </a:r>
          </a:p>
          <a:p>
            <a:pPr algn="just"/>
            <a:endParaRPr lang="en-US" sz="2400" b="1" dirty="0">
              <a:effectLst>
                <a:outerShdw blurRad="38100" dist="38100" dir="2700000" algn="tl">
                  <a:srgbClr val="000000">
                    <a:alpha val="43137"/>
                  </a:srgbClr>
                </a:outerShdw>
              </a:effectLst>
            </a:endParaRPr>
          </a:p>
        </p:txBody>
      </p:sp>
      <p:pic>
        <p:nvPicPr>
          <p:cNvPr id="3" name="Picture 2"/>
          <p:cNvPicPr>
            <a:picLocks noChangeAspect="1"/>
          </p:cNvPicPr>
          <p:nvPr/>
        </p:nvPicPr>
        <p:blipFill>
          <a:blip r:embed="rId2"/>
          <a:stretch>
            <a:fillRect/>
          </a:stretch>
        </p:blipFill>
        <p:spPr>
          <a:xfrm>
            <a:off x="2833688" y="3319462"/>
            <a:ext cx="6648742" cy="2926080"/>
          </a:xfrm>
          <a:prstGeom prst="rect">
            <a:avLst/>
          </a:prstGeom>
        </p:spPr>
      </p:pic>
    </p:spTree>
    <p:extLst>
      <p:ext uri="{BB962C8B-B14F-4D97-AF65-F5344CB8AC3E}">
        <p14:creationId xmlns:p14="http://schemas.microsoft.com/office/powerpoint/2010/main" val="270578945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28725" y="785336"/>
            <a:ext cx="9801225" cy="2462213"/>
          </a:xfrm>
          <a:prstGeom prst="rect">
            <a:avLst/>
          </a:prstGeom>
        </p:spPr>
        <p:txBody>
          <a:bodyPr wrap="square">
            <a:spAutoFit/>
          </a:bodyPr>
          <a:lstStyle/>
          <a:p>
            <a:pPr algn="just"/>
            <a:r>
              <a:rPr lang="en-US" sz="2400" b="1" dirty="0">
                <a:solidFill>
                  <a:srgbClr val="FF0000"/>
                </a:solidFill>
              </a:rPr>
              <a:t>Data presentation </a:t>
            </a:r>
            <a:r>
              <a:rPr lang="en-US" sz="2400" dirty="0"/>
              <a:t>is </a:t>
            </a:r>
            <a:r>
              <a:rPr lang="en-US" sz="2400" b="1" dirty="0"/>
              <a:t>the process of visually representing data sets to convey information effectively to an audience</a:t>
            </a:r>
            <a:r>
              <a:rPr lang="en-US" sz="2400" dirty="0"/>
              <a:t>. In an era where the amount of data generated is vast, visually presenting data using methods such as diagrams, graphs, and charts has become crucial</a:t>
            </a:r>
            <a:r>
              <a:rPr lang="en-US" sz="2400" dirty="0" smtClean="0"/>
              <a:t>.</a:t>
            </a:r>
          </a:p>
          <a:p>
            <a:pPr algn="just"/>
            <a:endParaRPr lang="en-US" sz="1000" dirty="0"/>
          </a:p>
          <a:p>
            <a:pPr algn="just"/>
            <a:r>
              <a:rPr lang="en-US" sz="2400" dirty="0" smtClean="0"/>
              <a:t>There are two types such as: </a:t>
            </a:r>
            <a:r>
              <a:rPr lang="en-US" sz="2400" b="1" dirty="0" smtClean="0">
                <a:solidFill>
                  <a:srgbClr val="FF0000"/>
                </a:solidFill>
              </a:rPr>
              <a:t>Graphical</a:t>
            </a:r>
            <a:r>
              <a:rPr lang="en-US" sz="2400" dirty="0" smtClean="0"/>
              <a:t> and </a:t>
            </a:r>
            <a:r>
              <a:rPr lang="en-US" sz="2400" b="1" dirty="0" smtClean="0">
                <a:solidFill>
                  <a:srgbClr val="7030A0"/>
                </a:solidFill>
              </a:rPr>
              <a:t>Numerical</a:t>
            </a:r>
            <a:r>
              <a:rPr lang="en-US" sz="2400" dirty="0" smtClean="0"/>
              <a:t>. </a:t>
            </a:r>
          </a:p>
          <a:p>
            <a:pPr algn="just"/>
            <a:r>
              <a:rPr lang="en-US" sz="2400" dirty="0" smtClean="0"/>
              <a:t>Following one is the numerical example:</a:t>
            </a:r>
            <a:endParaRPr lang="en-US" sz="2400" dirty="0"/>
          </a:p>
        </p:txBody>
      </p:sp>
      <p:pic>
        <p:nvPicPr>
          <p:cNvPr id="3" name="Picture 2"/>
          <p:cNvPicPr>
            <a:picLocks noChangeAspect="1"/>
          </p:cNvPicPr>
          <p:nvPr/>
        </p:nvPicPr>
        <p:blipFill>
          <a:blip r:embed="rId2"/>
          <a:stretch>
            <a:fillRect/>
          </a:stretch>
        </p:blipFill>
        <p:spPr>
          <a:xfrm>
            <a:off x="6643687" y="3352800"/>
            <a:ext cx="4181475" cy="3086100"/>
          </a:xfrm>
          <a:prstGeom prst="rect">
            <a:avLst/>
          </a:prstGeom>
        </p:spPr>
      </p:pic>
      <p:sp>
        <p:nvSpPr>
          <p:cNvPr id="4" name="Rectangle 3"/>
          <p:cNvSpPr/>
          <p:nvPr/>
        </p:nvSpPr>
        <p:spPr>
          <a:xfrm>
            <a:off x="1366837" y="3509485"/>
            <a:ext cx="5129213" cy="2492990"/>
          </a:xfrm>
          <a:prstGeom prst="rect">
            <a:avLst/>
          </a:prstGeom>
        </p:spPr>
        <p:txBody>
          <a:bodyPr wrap="square">
            <a:spAutoFit/>
          </a:bodyPr>
          <a:lstStyle/>
          <a:p>
            <a:pPr algn="just"/>
            <a:r>
              <a:rPr lang="en-US" sz="2400" b="1" u="sng" dirty="0" smtClean="0"/>
              <a:t>Some key graphical tools name</a:t>
            </a:r>
            <a:r>
              <a:rPr lang="en-US" sz="2400" b="1" dirty="0" smtClean="0"/>
              <a:t>:</a:t>
            </a:r>
          </a:p>
          <a:p>
            <a:pPr algn="just"/>
            <a:endParaRPr lang="en-US" sz="1200" b="1" dirty="0" smtClean="0"/>
          </a:p>
          <a:p>
            <a:pPr algn="just"/>
            <a:r>
              <a:rPr lang="en-US" sz="2400" dirty="0"/>
              <a:t> </a:t>
            </a:r>
            <a:r>
              <a:rPr lang="en-US" sz="2400" dirty="0" smtClean="0"/>
              <a:t> - Bar diagram</a:t>
            </a:r>
          </a:p>
          <a:p>
            <a:pPr algn="just"/>
            <a:r>
              <a:rPr lang="en-US" sz="2400" dirty="0"/>
              <a:t> </a:t>
            </a:r>
            <a:r>
              <a:rPr lang="en-US" sz="2400" dirty="0" smtClean="0"/>
              <a:t> - Pie chart</a:t>
            </a:r>
          </a:p>
          <a:p>
            <a:pPr algn="just"/>
            <a:r>
              <a:rPr lang="en-US" sz="2400" dirty="0"/>
              <a:t>  </a:t>
            </a:r>
            <a:r>
              <a:rPr lang="en-US" sz="2400" dirty="0" smtClean="0"/>
              <a:t>- Histogram (self study: diff. between</a:t>
            </a:r>
          </a:p>
          <a:p>
            <a:pPr algn="just"/>
            <a:r>
              <a:rPr lang="en-US" sz="2400" dirty="0"/>
              <a:t> </a:t>
            </a:r>
            <a:r>
              <a:rPr lang="en-US" sz="2400" dirty="0" smtClean="0"/>
              <a:t>   bar and histogram)</a:t>
            </a:r>
          </a:p>
          <a:p>
            <a:pPr algn="just"/>
            <a:r>
              <a:rPr lang="en-US" sz="2400" b="1" dirty="0">
                <a:solidFill>
                  <a:srgbClr val="FF0000"/>
                </a:solidFill>
              </a:rPr>
              <a:t> </a:t>
            </a:r>
            <a:r>
              <a:rPr lang="en-US" sz="2400" b="1" dirty="0" smtClean="0">
                <a:solidFill>
                  <a:srgbClr val="FF0000"/>
                </a:solidFill>
              </a:rPr>
              <a:t>  </a:t>
            </a:r>
            <a:endParaRPr lang="en-US" sz="2400" dirty="0"/>
          </a:p>
        </p:txBody>
      </p:sp>
    </p:spTree>
    <p:extLst>
      <p:ext uri="{BB962C8B-B14F-4D97-AF65-F5344CB8AC3E}">
        <p14:creationId xmlns:p14="http://schemas.microsoft.com/office/powerpoint/2010/main" val="117678108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85911" y="759589"/>
            <a:ext cx="9077325" cy="2800767"/>
          </a:xfrm>
          <a:prstGeom prst="rect">
            <a:avLst/>
          </a:prstGeom>
        </p:spPr>
        <p:txBody>
          <a:bodyPr wrap="square">
            <a:spAutoFit/>
          </a:bodyPr>
          <a:lstStyle/>
          <a:p>
            <a:pPr algn="ctr"/>
            <a:endParaRPr lang="en-US" sz="1200" b="1" dirty="0">
              <a:effectLst>
                <a:outerShdw blurRad="38100" dist="38100" dir="2700000" algn="tl">
                  <a:srgbClr val="000000">
                    <a:alpha val="43137"/>
                  </a:srgbClr>
                </a:outerShdw>
              </a:effectLst>
            </a:endParaRPr>
          </a:p>
          <a:p>
            <a:pPr algn="just"/>
            <a:endParaRPr lang="en-US" sz="2400" b="1" dirty="0" smtClean="0">
              <a:effectLst>
                <a:outerShdw blurRad="38100" dist="38100" dir="2700000" algn="tl">
                  <a:srgbClr val="000000">
                    <a:alpha val="43137"/>
                  </a:srgbClr>
                </a:outerShdw>
              </a:effectLst>
            </a:endParaRPr>
          </a:p>
          <a:p>
            <a:pPr algn="just"/>
            <a:r>
              <a:rPr lang="en-US" sz="2400" b="1" u="sng" dirty="0">
                <a:effectLst>
                  <a:outerShdw blurRad="38100" dist="38100" dir="2700000" algn="tl">
                    <a:srgbClr val="000000">
                      <a:alpha val="43137"/>
                    </a:srgbClr>
                  </a:outerShdw>
                </a:effectLst>
              </a:rPr>
              <a:t>Central Tendency</a:t>
            </a:r>
          </a:p>
          <a:p>
            <a:pPr algn="just"/>
            <a:endParaRPr lang="en-US" sz="1000" b="1" i="1" dirty="0" smtClean="0">
              <a:solidFill>
                <a:schemeClr val="bg1">
                  <a:lumMod val="50000"/>
                </a:schemeClr>
              </a:solidFill>
            </a:endParaRPr>
          </a:p>
          <a:p>
            <a:pPr algn="just"/>
            <a:r>
              <a:rPr lang="en-US" sz="2400" b="1" i="1" dirty="0" smtClean="0">
                <a:solidFill>
                  <a:schemeClr val="bg1">
                    <a:lumMod val="50000"/>
                  </a:schemeClr>
                </a:solidFill>
              </a:rPr>
              <a:t>Central </a:t>
            </a:r>
            <a:r>
              <a:rPr lang="en-US" sz="2400" b="1" i="1" dirty="0">
                <a:solidFill>
                  <a:schemeClr val="bg1">
                    <a:lumMod val="50000"/>
                  </a:schemeClr>
                </a:solidFill>
              </a:rPr>
              <a:t>tendency is defined as “the statistical measure that identifies a single value as representative of an entire distribution</a:t>
            </a:r>
            <a:r>
              <a:rPr lang="en-US" sz="2400" b="1" i="1" dirty="0" smtClean="0">
                <a:solidFill>
                  <a:schemeClr val="bg1">
                    <a:lumMod val="50000"/>
                  </a:schemeClr>
                </a:solidFill>
              </a:rPr>
              <a:t>.</a:t>
            </a:r>
            <a:r>
              <a:rPr lang="en-US" sz="2400" dirty="0" smtClean="0"/>
              <a:t>”</a:t>
            </a:r>
          </a:p>
          <a:p>
            <a:pPr algn="just"/>
            <a:endParaRPr lang="en-US" sz="1000" dirty="0"/>
          </a:p>
          <a:p>
            <a:pPr algn="just"/>
            <a:r>
              <a:rPr lang="en-US" sz="2400" dirty="0" smtClean="0"/>
              <a:t>It </a:t>
            </a:r>
            <a:r>
              <a:rPr lang="en-US" sz="2400" dirty="0"/>
              <a:t>aims to provide an accurate description of the entire data. It is the single value that is most typical/representative of the collected data.</a:t>
            </a:r>
            <a:endParaRPr lang="en-US" sz="2400" dirty="0">
              <a:effectLst>
                <a:outerShdw blurRad="38100" dist="38100" dir="2700000" algn="tl">
                  <a:srgbClr val="000000">
                    <a:alpha val="43137"/>
                  </a:srgbClr>
                </a:outerShdw>
              </a:effectLst>
            </a:endParaRPr>
          </a:p>
        </p:txBody>
      </p:sp>
      <p:pic>
        <p:nvPicPr>
          <p:cNvPr id="5" name="Picture 4"/>
          <p:cNvPicPr>
            <a:picLocks noChangeAspect="1"/>
          </p:cNvPicPr>
          <p:nvPr/>
        </p:nvPicPr>
        <p:blipFill>
          <a:blip r:embed="rId2"/>
          <a:stretch>
            <a:fillRect/>
          </a:stretch>
        </p:blipFill>
        <p:spPr>
          <a:xfrm>
            <a:off x="3567110" y="3848100"/>
            <a:ext cx="5114925" cy="1714500"/>
          </a:xfrm>
          <a:prstGeom prst="rect">
            <a:avLst/>
          </a:prstGeom>
        </p:spPr>
      </p:pic>
    </p:spTree>
    <p:extLst>
      <p:ext uri="{BB962C8B-B14F-4D97-AF65-F5344CB8AC3E}">
        <p14:creationId xmlns:p14="http://schemas.microsoft.com/office/powerpoint/2010/main" val="166707335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33499" y="942886"/>
            <a:ext cx="9496425" cy="5016758"/>
          </a:xfrm>
          <a:prstGeom prst="rect">
            <a:avLst/>
          </a:prstGeom>
        </p:spPr>
        <p:txBody>
          <a:bodyPr wrap="square">
            <a:spAutoFit/>
          </a:bodyPr>
          <a:lstStyle/>
          <a:p>
            <a:pPr algn="just"/>
            <a:r>
              <a:rPr lang="en-US" sz="2400" b="1" dirty="0">
                <a:solidFill>
                  <a:srgbClr val="FF0000"/>
                </a:solidFill>
              </a:rPr>
              <a:t>Dispersion</a:t>
            </a:r>
            <a:r>
              <a:rPr lang="en-US" sz="2400" dirty="0"/>
              <a:t> is the state of getting dispersed or spread. Statistical dispersion means the extent to which numerical data is likely to vary about an average value. In other words, dispersion helps to understand the distribution of the data</a:t>
            </a:r>
            <a:r>
              <a:rPr lang="en-US" sz="2400" dirty="0" smtClean="0"/>
              <a:t>.</a:t>
            </a:r>
          </a:p>
          <a:p>
            <a:pPr algn="just"/>
            <a:endParaRPr lang="en-US" sz="800" dirty="0" smtClean="0"/>
          </a:p>
          <a:p>
            <a:pPr algn="just"/>
            <a:r>
              <a:rPr lang="en-US" sz="2000" b="1" dirty="0">
                <a:solidFill>
                  <a:srgbClr val="FF0000"/>
                </a:solidFill>
              </a:rPr>
              <a:t>Measures of Dispersion</a:t>
            </a:r>
          </a:p>
          <a:p>
            <a:pPr algn="just"/>
            <a:r>
              <a:rPr lang="en-US" sz="2400" dirty="0"/>
              <a:t>In statistics, the measures of dispersion help to interpret the </a:t>
            </a:r>
            <a:r>
              <a:rPr lang="en-US" sz="2400" dirty="0" smtClean="0"/>
              <a:t>variability (inconsistency) </a:t>
            </a:r>
            <a:r>
              <a:rPr lang="en-US" sz="2400" dirty="0"/>
              <a:t>of data i.e. to know how much homogenous or heterogeneous the data is. In simple terms, it shows how squeezed or scattered the variable is</a:t>
            </a:r>
            <a:r>
              <a:rPr lang="en-US" sz="2400" dirty="0" smtClean="0"/>
              <a:t>.</a:t>
            </a:r>
          </a:p>
          <a:p>
            <a:pPr algn="just"/>
            <a:endParaRPr lang="en-US" sz="800" dirty="0"/>
          </a:p>
          <a:p>
            <a:pPr algn="just"/>
            <a:r>
              <a:rPr lang="en-US" sz="2000" b="1" dirty="0">
                <a:solidFill>
                  <a:srgbClr val="FF0000"/>
                </a:solidFill>
              </a:rPr>
              <a:t>Types of Measures of Dispersion</a:t>
            </a:r>
          </a:p>
          <a:p>
            <a:pPr algn="just"/>
            <a:r>
              <a:rPr lang="en-US" sz="2400" dirty="0"/>
              <a:t>There are two main types of dispersion methods in statistics which are:</a:t>
            </a:r>
          </a:p>
          <a:p>
            <a:pPr algn="just"/>
            <a:r>
              <a:rPr lang="en-US" sz="2400" dirty="0" smtClean="0"/>
              <a:t>  </a:t>
            </a:r>
            <a:r>
              <a:rPr lang="en-US" sz="2400" dirty="0" smtClean="0">
                <a:sym typeface="Wingdings" panose="05000000000000000000" pitchFamily="2" charset="2"/>
              </a:rPr>
              <a:t> </a:t>
            </a:r>
            <a:r>
              <a:rPr lang="en-US" sz="2400" dirty="0" smtClean="0"/>
              <a:t>Absolute </a:t>
            </a:r>
            <a:r>
              <a:rPr lang="en-US" sz="2400" dirty="0"/>
              <a:t>Measure of Dispersion</a:t>
            </a:r>
          </a:p>
          <a:p>
            <a:pPr algn="just"/>
            <a:r>
              <a:rPr lang="en-US" sz="2400" dirty="0" smtClean="0"/>
              <a:t>  </a:t>
            </a:r>
            <a:r>
              <a:rPr lang="en-US" sz="2400" dirty="0" smtClean="0">
                <a:sym typeface="Wingdings" panose="05000000000000000000" pitchFamily="2" charset="2"/>
              </a:rPr>
              <a:t> </a:t>
            </a:r>
            <a:r>
              <a:rPr lang="en-US" sz="2400" dirty="0" smtClean="0"/>
              <a:t>Relative </a:t>
            </a:r>
            <a:r>
              <a:rPr lang="en-US" sz="2400" dirty="0"/>
              <a:t>Measure of </a:t>
            </a:r>
            <a:r>
              <a:rPr lang="en-US" sz="2400" dirty="0" smtClean="0"/>
              <a:t>Dispersion</a:t>
            </a:r>
            <a:endParaRPr lang="en-US" sz="2400" dirty="0"/>
          </a:p>
        </p:txBody>
      </p:sp>
    </p:spTree>
    <p:extLst>
      <p:ext uri="{BB962C8B-B14F-4D97-AF65-F5344CB8AC3E}">
        <p14:creationId xmlns:p14="http://schemas.microsoft.com/office/powerpoint/2010/main" val="319719060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38225" y="396597"/>
            <a:ext cx="10229850" cy="6026265"/>
          </a:xfrm>
          <a:prstGeom prst="rect">
            <a:avLst/>
          </a:prstGeom>
        </p:spPr>
        <p:txBody>
          <a:bodyPr wrap="square">
            <a:spAutoFit/>
          </a:bodyPr>
          <a:lstStyle/>
          <a:p>
            <a:r>
              <a:rPr lang="en-US" sz="2200" b="1" dirty="0">
                <a:solidFill>
                  <a:srgbClr val="FF0000"/>
                </a:solidFill>
              </a:rPr>
              <a:t>Absolute Measure of Dispersion</a:t>
            </a:r>
          </a:p>
          <a:p>
            <a:pPr algn="just"/>
            <a:r>
              <a:rPr lang="en-US" sz="2000" dirty="0"/>
              <a:t>An absolute measure of dispersion contains the same unit as the original data set. The absolute dispersion method expresses the variations in terms of the average of deviations of observations like standard or means deviations. It includes range, standard deviation, quartile deviation, etc.</a:t>
            </a:r>
          </a:p>
          <a:p>
            <a:endParaRPr lang="en-US" sz="1000" dirty="0" smtClean="0"/>
          </a:p>
          <a:p>
            <a:pPr algn="just"/>
            <a:r>
              <a:rPr lang="en-US" sz="2000" b="1" dirty="0" smtClean="0">
                <a:solidFill>
                  <a:srgbClr val="7030A0"/>
                </a:solidFill>
                <a:effectLst>
                  <a:outerShdw blurRad="38100" dist="38100" dir="2700000" algn="tl">
                    <a:srgbClr val="000000">
                      <a:alpha val="43137"/>
                    </a:srgbClr>
                  </a:outerShdw>
                </a:effectLst>
              </a:rPr>
              <a:t>The </a:t>
            </a:r>
            <a:r>
              <a:rPr lang="en-US" sz="2000" b="1" dirty="0">
                <a:solidFill>
                  <a:srgbClr val="7030A0"/>
                </a:solidFill>
                <a:effectLst>
                  <a:outerShdw blurRad="38100" dist="38100" dir="2700000" algn="tl">
                    <a:srgbClr val="000000">
                      <a:alpha val="43137"/>
                    </a:srgbClr>
                  </a:outerShdw>
                </a:effectLst>
              </a:rPr>
              <a:t>types of absolute measures of dispersion are</a:t>
            </a:r>
            <a:r>
              <a:rPr lang="en-US" sz="2000" dirty="0"/>
              <a:t>:</a:t>
            </a:r>
          </a:p>
          <a:p>
            <a:pPr algn="just">
              <a:lnSpc>
                <a:spcPct val="114000"/>
              </a:lnSpc>
              <a:buFont typeface="+mj-lt"/>
              <a:buAutoNum type="arabicPeriod"/>
            </a:pPr>
            <a:r>
              <a:rPr lang="en-US" sz="2000" b="1" dirty="0"/>
              <a:t>Range:</a:t>
            </a:r>
            <a:r>
              <a:rPr lang="en-US" sz="2000" dirty="0"/>
              <a:t> It is simply the difference between the maximum value and the minimum value given in a data set. Example: 1, 3,5, 6, 7 =&gt; Range = 7 -1= </a:t>
            </a:r>
            <a:r>
              <a:rPr lang="en-US" sz="2000" dirty="0" smtClean="0"/>
              <a:t>6</a:t>
            </a:r>
            <a:endParaRPr lang="en-US" sz="2000" dirty="0"/>
          </a:p>
          <a:p>
            <a:pPr algn="just">
              <a:lnSpc>
                <a:spcPct val="114000"/>
              </a:lnSpc>
              <a:buFont typeface="+mj-lt"/>
              <a:buAutoNum type="arabicPeriod"/>
            </a:pPr>
            <a:r>
              <a:rPr lang="en-US" sz="2000" b="1" dirty="0"/>
              <a:t>Variance:</a:t>
            </a:r>
            <a:r>
              <a:rPr lang="en-US" sz="2000" dirty="0"/>
              <a:t> Deduct the mean from each data in the set, square each of them and add each square and finally divide them by the total no of values in the data set to get the variance. Variance (σ</a:t>
            </a:r>
            <a:r>
              <a:rPr lang="en-US" sz="2000" baseline="30000" dirty="0"/>
              <a:t>2</a:t>
            </a:r>
            <a:r>
              <a:rPr lang="en-US" sz="2000" dirty="0"/>
              <a:t>) = ∑(X−μ)</a:t>
            </a:r>
            <a:r>
              <a:rPr lang="en-US" sz="2000" baseline="30000" dirty="0"/>
              <a:t>2</a:t>
            </a:r>
            <a:r>
              <a:rPr lang="en-US" sz="2000" dirty="0"/>
              <a:t>/N</a:t>
            </a:r>
          </a:p>
          <a:p>
            <a:pPr algn="just">
              <a:lnSpc>
                <a:spcPct val="114000"/>
              </a:lnSpc>
              <a:buFont typeface="+mj-lt"/>
              <a:buAutoNum type="arabicPeriod"/>
            </a:pPr>
            <a:r>
              <a:rPr lang="en-US" sz="2000" b="1" dirty="0"/>
              <a:t>Standard Deviation:</a:t>
            </a:r>
            <a:r>
              <a:rPr lang="en-US" sz="2000" dirty="0"/>
              <a:t> The square root of the variance is known as the standard deviation i.e. S.D. = √σ.</a:t>
            </a:r>
          </a:p>
          <a:p>
            <a:pPr algn="just">
              <a:lnSpc>
                <a:spcPct val="114000"/>
              </a:lnSpc>
              <a:buFont typeface="+mj-lt"/>
              <a:buAutoNum type="arabicPeriod"/>
            </a:pPr>
            <a:r>
              <a:rPr lang="en-US" sz="2000" b="1" dirty="0"/>
              <a:t>Quartiles and Quartile Deviation: </a:t>
            </a:r>
            <a:r>
              <a:rPr lang="en-US" sz="2000" dirty="0"/>
              <a:t>The quartiles are values that divide a list of numbers into quarters. The quartile deviation is half of the distance between the third and the first quartile.</a:t>
            </a:r>
          </a:p>
          <a:p>
            <a:pPr algn="just">
              <a:lnSpc>
                <a:spcPct val="114000"/>
              </a:lnSpc>
              <a:buFont typeface="+mj-lt"/>
              <a:buAutoNum type="arabicPeriod"/>
            </a:pPr>
            <a:r>
              <a:rPr lang="en-US" sz="2000" b="1" dirty="0"/>
              <a:t>Mean and Mean Deviation:</a:t>
            </a:r>
            <a:r>
              <a:rPr lang="en-US" sz="2000" dirty="0"/>
              <a:t> The average of numbers is known as the mean and the arithmetic mean of the absolute deviations of the observations from a measure of central tendency is known as the mean deviation (also called mean absolute deviation).</a:t>
            </a:r>
          </a:p>
        </p:txBody>
      </p:sp>
    </p:spTree>
    <p:extLst>
      <p:ext uri="{BB962C8B-B14F-4D97-AF65-F5344CB8AC3E}">
        <p14:creationId xmlns:p14="http://schemas.microsoft.com/office/powerpoint/2010/main" val="161516111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47775" y="244178"/>
            <a:ext cx="9563100" cy="3539430"/>
          </a:xfrm>
          <a:prstGeom prst="rect">
            <a:avLst/>
          </a:prstGeom>
        </p:spPr>
        <p:txBody>
          <a:bodyPr wrap="square">
            <a:spAutoFit/>
          </a:bodyPr>
          <a:lstStyle/>
          <a:p>
            <a:r>
              <a:rPr lang="en-US" sz="2400" b="1" dirty="0">
                <a:solidFill>
                  <a:srgbClr val="7030A0"/>
                </a:solidFill>
              </a:rPr>
              <a:t>Relative Measure of Dispersion</a:t>
            </a:r>
          </a:p>
          <a:p>
            <a:pPr algn="just"/>
            <a:r>
              <a:rPr lang="en-US" sz="2400" dirty="0"/>
              <a:t>The relative measures of dispersion are used to compare the distribution of two or more data sets. This measure compares values without units. </a:t>
            </a:r>
            <a:endParaRPr lang="en-US" sz="2400" dirty="0" smtClean="0"/>
          </a:p>
          <a:p>
            <a:pPr algn="just"/>
            <a:endParaRPr lang="en-US" sz="800" dirty="0"/>
          </a:p>
          <a:p>
            <a:pPr algn="just"/>
            <a:r>
              <a:rPr lang="en-US" sz="2400" b="1" u="sng" dirty="0" smtClean="0"/>
              <a:t>Common </a:t>
            </a:r>
            <a:r>
              <a:rPr lang="en-US" sz="2400" b="1" u="sng" dirty="0"/>
              <a:t>relative dispersion methods include</a:t>
            </a:r>
            <a:r>
              <a:rPr lang="en-US" sz="2400" dirty="0"/>
              <a:t>:</a:t>
            </a:r>
          </a:p>
          <a:p>
            <a:pPr>
              <a:buFont typeface="+mj-lt"/>
              <a:buAutoNum type="arabicPeriod"/>
            </a:pPr>
            <a:r>
              <a:rPr lang="en-US" sz="2400" dirty="0" smtClean="0"/>
              <a:t> Co-efficient </a:t>
            </a:r>
            <a:r>
              <a:rPr lang="en-US" sz="2400" dirty="0"/>
              <a:t>of Range</a:t>
            </a:r>
          </a:p>
          <a:p>
            <a:pPr>
              <a:buFont typeface="+mj-lt"/>
              <a:buAutoNum type="arabicPeriod"/>
            </a:pPr>
            <a:r>
              <a:rPr lang="en-US" sz="2400" dirty="0" smtClean="0"/>
              <a:t> Co-efficient </a:t>
            </a:r>
            <a:r>
              <a:rPr lang="en-US" sz="2400" dirty="0"/>
              <a:t>of </a:t>
            </a:r>
            <a:r>
              <a:rPr lang="en-US" sz="2400" dirty="0" smtClean="0"/>
              <a:t>Variation </a:t>
            </a:r>
            <a:endParaRPr lang="en-US" sz="2400" dirty="0"/>
          </a:p>
          <a:p>
            <a:pPr>
              <a:buFont typeface="+mj-lt"/>
              <a:buAutoNum type="arabicPeriod"/>
            </a:pPr>
            <a:r>
              <a:rPr lang="en-US" sz="2400" dirty="0" smtClean="0"/>
              <a:t> Co-efficient </a:t>
            </a:r>
            <a:r>
              <a:rPr lang="en-US" sz="2400" dirty="0"/>
              <a:t>of Standard Deviation</a:t>
            </a:r>
          </a:p>
          <a:p>
            <a:pPr>
              <a:buFont typeface="+mj-lt"/>
              <a:buAutoNum type="arabicPeriod"/>
            </a:pPr>
            <a:r>
              <a:rPr lang="en-US" sz="2400" dirty="0" smtClean="0"/>
              <a:t> Co-efficient </a:t>
            </a:r>
            <a:r>
              <a:rPr lang="en-US" sz="2400" dirty="0"/>
              <a:t>of Quartile </a:t>
            </a:r>
            <a:r>
              <a:rPr lang="en-US" sz="2400" dirty="0" smtClean="0"/>
              <a:t>Deviation </a:t>
            </a:r>
            <a:endParaRPr lang="en-US" sz="2400" dirty="0"/>
          </a:p>
          <a:p>
            <a:pPr>
              <a:buFont typeface="+mj-lt"/>
              <a:buAutoNum type="arabicPeriod"/>
            </a:pPr>
            <a:r>
              <a:rPr lang="en-US" sz="2400" dirty="0" smtClean="0"/>
              <a:t> Co-efficient </a:t>
            </a:r>
            <a:r>
              <a:rPr lang="en-US" sz="2400" dirty="0"/>
              <a:t>of Mean Deviation</a:t>
            </a:r>
          </a:p>
        </p:txBody>
      </p:sp>
      <p:pic>
        <p:nvPicPr>
          <p:cNvPr id="3" name="Picture 2"/>
          <p:cNvPicPr>
            <a:picLocks noChangeAspect="1"/>
          </p:cNvPicPr>
          <p:nvPr/>
        </p:nvPicPr>
        <p:blipFill>
          <a:blip r:embed="rId2"/>
          <a:stretch>
            <a:fillRect/>
          </a:stretch>
        </p:blipFill>
        <p:spPr>
          <a:xfrm>
            <a:off x="3140604" y="3724812"/>
            <a:ext cx="6217920" cy="2550753"/>
          </a:xfrm>
          <a:prstGeom prst="rect">
            <a:avLst/>
          </a:prstGeom>
        </p:spPr>
      </p:pic>
    </p:spTree>
    <p:extLst>
      <p:ext uri="{BB962C8B-B14F-4D97-AF65-F5344CB8AC3E}">
        <p14:creationId xmlns:p14="http://schemas.microsoft.com/office/powerpoint/2010/main" val="222568995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97431" y="797479"/>
            <a:ext cx="3754618" cy="492443"/>
          </a:xfrm>
          <a:prstGeom prst="rect">
            <a:avLst/>
          </a:prstGeom>
        </p:spPr>
        <p:txBody>
          <a:bodyPr wrap="none">
            <a:spAutoFit/>
          </a:bodyPr>
          <a:lstStyle/>
          <a:p>
            <a:r>
              <a:rPr lang="en-US" sz="2600" b="1" dirty="0">
                <a:solidFill>
                  <a:schemeClr val="accent6">
                    <a:lumMod val="50000"/>
                  </a:schemeClr>
                </a:solidFill>
              </a:rPr>
              <a:t>Arithmetic Mean </a:t>
            </a:r>
            <a:r>
              <a:rPr lang="en-US" sz="2600" b="1" dirty="0" smtClean="0">
                <a:solidFill>
                  <a:schemeClr val="accent6">
                    <a:lumMod val="50000"/>
                  </a:schemeClr>
                </a:solidFill>
              </a:rPr>
              <a:t>Formula</a:t>
            </a:r>
            <a:endParaRPr lang="en-US" sz="2600" b="1" dirty="0">
              <a:solidFill>
                <a:schemeClr val="accent6">
                  <a:lumMod val="50000"/>
                </a:schemeClr>
              </a:solidFill>
            </a:endParaRPr>
          </a:p>
        </p:txBody>
      </p:sp>
      <p:sp>
        <p:nvSpPr>
          <p:cNvPr id="3" name="Rectangle 2"/>
          <p:cNvSpPr/>
          <p:nvPr/>
        </p:nvSpPr>
        <p:spPr>
          <a:xfrm>
            <a:off x="1600198" y="1378011"/>
            <a:ext cx="8805334" cy="1569660"/>
          </a:xfrm>
          <a:prstGeom prst="rect">
            <a:avLst/>
          </a:prstGeom>
        </p:spPr>
        <p:txBody>
          <a:bodyPr wrap="square">
            <a:spAutoFit/>
          </a:bodyPr>
          <a:lstStyle/>
          <a:p>
            <a:pPr algn="just"/>
            <a:r>
              <a:rPr lang="en-US" sz="2400" dirty="0"/>
              <a:t>Sum of all of the numbers of a group, when divided by the number of items in that list is known as the Arithmetic Mean or Mean of the group. For example, the mean of the numbers 5, 7, 9 is 4 since 5 + 7 + 9 = 21 and 21 divided by 3 [there are three numbers] is 7.</a:t>
            </a:r>
          </a:p>
        </p:txBody>
      </p:sp>
      <p:pic>
        <p:nvPicPr>
          <p:cNvPr id="4" name="Picture 3"/>
          <p:cNvPicPr>
            <a:picLocks noChangeAspect="1"/>
          </p:cNvPicPr>
          <p:nvPr/>
        </p:nvPicPr>
        <p:blipFill>
          <a:blip r:embed="rId2"/>
          <a:stretch>
            <a:fillRect/>
          </a:stretch>
        </p:blipFill>
        <p:spPr>
          <a:xfrm>
            <a:off x="4866527" y="3047166"/>
            <a:ext cx="2272676" cy="914400"/>
          </a:xfrm>
          <a:prstGeom prst="rect">
            <a:avLst/>
          </a:prstGeom>
        </p:spPr>
      </p:pic>
      <p:sp>
        <p:nvSpPr>
          <p:cNvPr id="5" name="Rectangle 4"/>
          <p:cNvSpPr/>
          <p:nvPr/>
        </p:nvSpPr>
        <p:spPr>
          <a:xfrm>
            <a:off x="1684865" y="3402765"/>
            <a:ext cx="8610600" cy="2215991"/>
          </a:xfrm>
          <a:prstGeom prst="rect">
            <a:avLst/>
          </a:prstGeom>
        </p:spPr>
        <p:txBody>
          <a:bodyPr wrap="square">
            <a:spAutoFit/>
          </a:bodyPr>
          <a:lstStyle/>
          <a:p>
            <a:endParaRPr lang="en-US" dirty="0" smtClean="0"/>
          </a:p>
          <a:p>
            <a:endParaRPr lang="en-US" dirty="0" smtClean="0"/>
          </a:p>
          <a:p>
            <a:endParaRPr lang="en-US" dirty="0"/>
          </a:p>
          <a:p>
            <a:r>
              <a:rPr lang="en-US" sz="2400" b="1" dirty="0" smtClean="0"/>
              <a:t>Q1. The </a:t>
            </a:r>
            <a:r>
              <a:rPr lang="en-US" sz="2400" b="1" dirty="0"/>
              <a:t>marks obtained by 6 students in a class test are 20, 22, 24, 26, 28, 30. Find the mean.</a:t>
            </a:r>
          </a:p>
          <a:p>
            <a:endParaRPr lang="en-US" dirty="0"/>
          </a:p>
          <a:p>
            <a:endParaRPr lang="en-US" dirty="0"/>
          </a:p>
        </p:txBody>
      </p:sp>
      <p:pic>
        <p:nvPicPr>
          <p:cNvPr id="7" name="Picture 6"/>
          <p:cNvPicPr>
            <a:picLocks noChangeAspect="1"/>
          </p:cNvPicPr>
          <p:nvPr/>
        </p:nvPicPr>
        <p:blipFill>
          <a:blip r:embed="rId3"/>
          <a:stretch>
            <a:fillRect/>
          </a:stretch>
        </p:blipFill>
        <p:spPr>
          <a:xfrm>
            <a:off x="1855257" y="5021801"/>
            <a:ext cx="1962150" cy="1352550"/>
          </a:xfrm>
          <a:prstGeom prst="rect">
            <a:avLst/>
          </a:prstGeom>
        </p:spPr>
      </p:pic>
    </p:spTree>
    <p:extLst>
      <p:ext uri="{BB962C8B-B14F-4D97-AF65-F5344CB8AC3E}">
        <p14:creationId xmlns:p14="http://schemas.microsoft.com/office/powerpoint/2010/main" val="396803676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08617" y="802288"/>
            <a:ext cx="9829800" cy="5447645"/>
          </a:xfrm>
          <a:prstGeom prst="rect">
            <a:avLst/>
          </a:prstGeom>
        </p:spPr>
        <p:txBody>
          <a:bodyPr wrap="square">
            <a:spAutoFit/>
          </a:bodyPr>
          <a:lstStyle/>
          <a:p>
            <a:pPr algn="just"/>
            <a:r>
              <a:rPr lang="en-US" sz="2400" b="1" dirty="0" smtClean="0"/>
              <a:t>Q2. </a:t>
            </a:r>
            <a:r>
              <a:rPr lang="en-US" sz="2400" b="1" dirty="0"/>
              <a:t>If the arithmetic mean of 14 observations 26, 12, 14, 15, x, 17, 9, 11, 18, 16, 28, 20, 22, 8 is 17. Find the missing observation.</a:t>
            </a:r>
          </a:p>
          <a:p>
            <a:endParaRPr lang="en-US" sz="1200" dirty="0"/>
          </a:p>
          <a:p>
            <a:pPr algn="just"/>
            <a:r>
              <a:rPr lang="en-US" sz="2400" dirty="0" smtClean="0"/>
              <a:t>Given </a:t>
            </a:r>
            <a:r>
              <a:rPr lang="en-US" sz="2400" dirty="0"/>
              <a:t>14 observations are: 26, 12, 14, 15, x, 17, 9, 11, 18, 16, 28, 20, 22, 8</a:t>
            </a:r>
          </a:p>
          <a:p>
            <a:pPr algn="just"/>
            <a:r>
              <a:rPr lang="en-US" sz="2400" dirty="0"/>
              <a:t>Arithmetic mean = 17</a:t>
            </a:r>
          </a:p>
          <a:p>
            <a:pPr algn="just"/>
            <a:r>
              <a:rPr lang="en-US" sz="2400" dirty="0"/>
              <a:t>We know that,</a:t>
            </a:r>
          </a:p>
          <a:p>
            <a:pPr algn="just"/>
            <a:r>
              <a:rPr lang="en-US" sz="2400" dirty="0"/>
              <a:t>Arithmetic mean = Sum of observations/Total number of </a:t>
            </a:r>
            <a:r>
              <a:rPr lang="en-US" sz="2400" dirty="0" smtClean="0"/>
              <a:t>observations</a:t>
            </a:r>
          </a:p>
          <a:p>
            <a:pPr algn="just"/>
            <a:r>
              <a:rPr lang="en-US" sz="2400" dirty="0" smtClean="0"/>
              <a:t>Hence, </a:t>
            </a:r>
            <a:endParaRPr lang="en-US" sz="2400" dirty="0"/>
          </a:p>
          <a:p>
            <a:r>
              <a:rPr lang="en-US" sz="2400" dirty="0" smtClean="0"/>
              <a:t>                 17 </a:t>
            </a:r>
            <a:r>
              <a:rPr lang="en-US" sz="2400" dirty="0"/>
              <a:t>= (216 + x)/</a:t>
            </a:r>
            <a:r>
              <a:rPr lang="en-US" sz="2400" dirty="0" smtClean="0"/>
              <a:t>14 </a:t>
            </a:r>
            <a:endParaRPr lang="en-US" sz="2400" dirty="0"/>
          </a:p>
          <a:p>
            <a:r>
              <a:rPr lang="en-US" sz="2400" dirty="0" smtClean="0"/>
              <a:t>                 17 </a:t>
            </a:r>
            <a:r>
              <a:rPr lang="en-US" sz="2400" dirty="0"/>
              <a:t>x 14 = 216 + x</a:t>
            </a:r>
          </a:p>
          <a:p>
            <a:r>
              <a:rPr lang="en-US" sz="2400" dirty="0" smtClean="0"/>
              <a:t>                 216 </a:t>
            </a:r>
            <a:r>
              <a:rPr lang="en-US" sz="2400" dirty="0"/>
              <a:t>+ x = 238</a:t>
            </a:r>
          </a:p>
          <a:p>
            <a:r>
              <a:rPr lang="en-US" sz="2400" dirty="0" smtClean="0"/>
              <a:t>                 x </a:t>
            </a:r>
            <a:r>
              <a:rPr lang="en-US" sz="2400" dirty="0"/>
              <a:t>= 238 – 216</a:t>
            </a:r>
          </a:p>
          <a:p>
            <a:r>
              <a:rPr lang="en-US" sz="2400" dirty="0" smtClean="0"/>
              <a:t>                 x </a:t>
            </a:r>
            <a:r>
              <a:rPr lang="en-US" sz="2400" dirty="0"/>
              <a:t>= 22</a:t>
            </a:r>
          </a:p>
          <a:p>
            <a:endParaRPr lang="en-US" sz="1200" dirty="0"/>
          </a:p>
          <a:p>
            <a:r>
              <a:rPr lang="en-US" sz="2400" b="1" dirty="0">
                <a:solidFill>
                  <a:srgbClr val="FF0000"/>
                </a:solidFill>
              </a:rPr>
              <a:t>Therefore, the missing observation is 22.</a:t>
            </a:r>
          </a:p>
        </p:txBody>
      </p:sp>
    </p:spTree>
    <p:extLst>
      <p:ext uri="{BB962C8B-B14F-4D97-AF65-F5344CB8AC3E}">
        <p14:creationId xmlns:p14="http://schemas.microsoft.com/office/powerpoint/2010/main" val="133996092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02208" y="382179"/>
            <a:ext cx="10620375" cy="6186309"/>
          </a:xfrm>
          <a:prstGeom prst="rect">
            <a:avLst/>
          </a:prstGeom>
        </p:spPr>
        <p:txBody>
          <a:bodyPr wrap="square">
            <a:spAutoFit/>
          </a:bodyPr>
          <a:lstStyle/>
          <a:p>
            <a:pPr algn="just"/>
            <a:r>
              <a:rPr lang="en-US" sz="2400" b="1" dirty="0" smtClean="0"/>
              <a:t>Q3. Find </a:t>
            </a:r>
            <a:r>
              <a:rPr lang="en-US" sz="2400" b="1" dirty="0"/>
              <a:t>the Variance and Standard </a:t>
            </a:r>
            <a:r>
              <a:rPr lang="en-US" sz="2400" b="1" dirty="0" smtClean="0"/>
              <a:t>deviation </a:t>
            </a:r>
            <a:r>
              <a:rPr lang="en-US" sz="2400" b="1" dirty="0"/>
              <a:t>of the </a:t>
            </a:r>
            <a:r>
              <a:rPr lang="en-US" sz="2400" b="1" dirty="0" smtClean="0"/>
              <a:t>following numbers</a:t>
            </a:r>
            <a:r>
              <a:rPr lang="en-US" sz="2400" b="1" dirty="0"/>
              <a:t>: 1, 3, 5, 5, 6, 7, 9, 10.</a:t>
            </a:r>
            <a:endParaRPr lang="en-US" sz="2400" dirty="0"/>
          </a:p>
          <a:p>
            <a:endParaRPr lang="en-US" sz="1200" dirty="0"/>
          </a:p>
          <a:p>
            <a:r>
              <a:rPr lang="en-US" sz="2400" b="1" dirty="0">
                <a:solidFill>
                  <a:srgbClr val="FF0000"/>
                </a:solidFill>
              </a:rPr>
              <a:t>The mean</a:t>
            </a:r>
            <a:r>
              <a:rPr lang="en-US" sz="2400" dirty="0"/>
              <a:t> = (1+ 3+ 5+ 5+ 6+ 7+ 9+ 10)/8 = 46/ 8 = 5.75</a:t>
            </a:r>
          </a:p>
          <a:p>
            <a:endParaRPr lang="en-US" sz="1200" b="1" dirty="0" smtClean="0"/>
          </a:p>
          <a:p>
            <a:r>
              <a:rPr lang="en-US" sz="2400" b="1" dirty="0" smtClean="0">
                <a:solidFill>
                  <a:srgbClr val="FF0000"/>
                </a:solidFill>
              </a:rPr>
              <a:t>Step </a:t>
            </a:r>
            <a:r>
              <a:rPr lang="en-US" sz="2400" b="1" dirty="0">
                <a:solidFill>
                  <a:srgbClr val="FF0000"/>
                </a:solidFill>
              </a:rPr>
              <a:t>1: Subtract the mean value from individual value</a:t>
            </a:r>
            <a:endParaRPr lang="en-US" sz="2400" dirty="0">
              <a:solidFill>
                <a:srgbClr val="FF0000"/>
              </a:solidFill>
            </a:endParaRPr>
          </a:p>
          <a:p>
            <a:r>
              <a:rPr lang="en-US" sz="2400" dirty="0"/>
              <a:t>(1 – 5.75), (3 – 5.75), (5 – 5.75), (5 – 5.75), (6 – 5.75), (7 – 5.75), (9 – 5.75), (10 – 5.75)</a:t>
            </a:r>
          </a:p>
          <a:p>
            <a:r>
              <a:rPr lang="en-US" sz="2400" dirty="0"/>
              <a:t>= -4.75, -2.75, -0.75, -0.75, 0.25, 1.25, 3.25, </a:t>
            </a:r>
            <a:r>
              <a:rPr lang="en-US" sz="2400" dirty="0" smtClean="0"/>
              <a:t>4.25</a:t>
            </a:r>
          </a:p>
          <a:p>
            <a:endParaRPr lang="en-US" sz="1200" dirty="0"/>
          </a:p>
          <a:p>
            <a:r>
              <a:rPr lang="en-US" sz="2400" b="1" dirty="0">
                <a:solidFill>
                  <a:srgbClr val="FF0000"/>
                </a:solidFill>
              </a:rPr>
              <a:t>Step 2: Squaring the above values</a:t>
            </a:r>
            <a:r>
              <a:rPr lang="en-US" sz="2400" dirty="0"/>
              <a:t> </a:t>
            </a:r>
            <a:endParaRPr lang="en-US" sz="2400" dirty="0" smtClean="0"/>
          </a:p>
          <a:p>
            <a:r>
              <a:rPr lang="en-US" sz="2400" dirty="0" smtClean="0"/>
              <a:t>we </a:t>
            </a:r>
            <a:r>
              <a:rPr lang="en-US" sz="2400" dirty="0"/>
              <a:t>get, 22.563, 7.563, 0.563, 0.563, 0.063, 1.563, 10.563, 18.063</a:t>
            </a:r>
          </a:p>
          <a:p>
            <a:endParaRPr lang="en-US" sz="1200" b="1" dirty="0" smtClean="0"/>
          </a:p>
          <a:p>
            <a:r>
              <a:rPr lang="en-US" sz="2400" b="1" dirty="0" smtClean="0">
                <a:solidFill>
                  <a:srgbClr val="FF0000"/>
                </a:solidFill>
              </a:rPr>
              <a:t>Step </a:t>
            </a:r>
            <a:r>
              <a:rPr lang="en-US" sz="2400" b="1" dirty="0">
                <a:solidFill>
                  <a:srgbClr val="FF0000"/>
                </a:solidFill>
              </a:rPr>
              <a:t>3:</a:t>
            </a:r>
            <a:r>
              <a:rPr lang="en-US" sz="2400" dirty="0"/>
              <a:t> 22.563 + 7.563 + 0.563 + 0.563 + 0.063 + 1.563 + 10.563 + 18.063</a:t>
            </a:r>
            <a:br>
              <a:rPr lang="en-US" sz="2400" dirty="0"/>
            </a:br>
            <a:r>
              <a:rPr lang="en-US" sz="2400" dirty="0"/>
              <a:t>= </a:t>
            </a:r>
            <a:r>
              <a:rPr lang="en-US" sz="2400" dirty="0" smtClean="0"/>
              <a:t>61.504</a:t>
            </a:r>
          </a:p>
          <a:p>
            <a:endParaRPr lang="en-US" sz="1200" dirty="0"/>
          </a:p>
          <a:p>
            <a:r>
              <a:rPr lang="en-US" sz="2400" b="1" dirty="0">
                <a:solidFill>
                  <a:srgbClr val="FF0000"/>
                </a:solidFill>
              </a:rPr>
              <a:t>Step 4:</a:t>
            </a:r>
            <a:r>
              <a:rPr lang="en-US" sz="2400" dirty="0"/>
              <a:t> n = 8, therefore variance (σ</a:t>
            </a:r>
            <a:r>
              <a:rPr lang="en-US" sz="2400" baseline="30000" dirty="0"/>
              <a:t>2</a:t>
            </a:r>
            <a:r>
              <a:rPr lang="en-US" sz="2400" dirty="0"/>
              <a:t>) = 61.504/ 8 = 7.69</a:t>
            </a:r>
          </a:p>
          <a:p>
            <a:endParaRPr lang="en-US" sz="1200" dirty="0" smtClean="0"/>
          </a:p>
          <a:p>
            <a:r>
              <a:rPr lang="en-US" sz="2400" b="1" dirty="0" smtClean="0">
                <a:solidFill>
                  <a:schemeClr val="accent6">
                    <a:lumMod val="75000"/>
                  </a:schemeClr>
                </a:solidFill>
              </a:rPr>
              <a:t>Now</a:t>
            </a:r>
            <a:r>
              <a:rPr lang="en-US" sz="2400" b="1" dirty="0">
                <a:solidFill>
                  <a:schemeClr val="accent6">
                    <a:lumMod val="75000"/>
                  </a:schemeClr>
                </a:solidFill>
              </a:rPr>
              <a:t>, Standard deviation (σ) = 2.77</a:t>
            </a:r>
          </a:p>
        </p:txBody>
      </p:sp>
    </p:spTree>
    <p:extLst>
      <p:ext uri="{BB962C8B-B14F-4D97-AF65-F5344CB8AC3E}">
        <p14:creationId xmlns:p14="http://schemas.microsoft.com/office/powerpoint/2010/main" val="388592221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47750" y="1305342"/>
            <a:ext cx="10220325" cy="4087273"/>
          </a:xfrm>
          <a:prstGeom prst="rect">
            <a:avLst/>
          </a:prstGeom>
        </p:spPr>
        <p:txBody>
          <a:bodyPr wrap="square">
            <a:spAutoFit/>
          </a:bodyPr>
          <a:lstStyle/>
          <a:p>
            <a:pPr algn="just"/>
            <a:r>
              <a:rPr lang="en-US" sz="2400" b="1" dirty="0" smtClean="0"/>
              <a:t>Q4. Calculate </a:t>
            </a:r>
            <a:r>
              <a:rPr lang="en-US" sz="2400" b="1" dirty="0"/>
              <a:t>the range and coefficient of range for the following data </a:t>
            </a:r>
            <a:r>
              <a:rPr lang="en-US" sz="2400" b="1" dirty="0" smtClean="0"/>
              <a:t>values: 45</a:t>
            </a:r>
            <a:r>
              <a:rPr lang="en-US" sz="2400" b="1" dirty="0"/>
              <a:t>, 55, 63, 76, 67, 84, 75, 48, 62, </a:t>
            </a:r>
            <a:r>
              <a:rPr lang="en-US" sz="2400" b="1" dirty="0" smtClean="0"/>
              <a:t>65</a:t>
            </a:r>
          </a:p>
          <a:p>
            <a:pPr algn="just"/>
            <a:endParaRPr lang="en-US" sz="1000" dirty="0"/>
          </a:p>
          <a:p>
            <a:pPr>
              <a:lnSpc>
                <a:spcPct val="120000"/>
              </a:lnSpc>
            </a:pPr>
            <a:r>
              <a:rPr lang="en-US" sz="2400" dirty="0" smtClean="0"/>
              <a:t>     Let </a:t>
            </a:r>
            <a:r>
              <a:rPr lang="en-US" sz="2400" dirty="0"/>
              <a:t>Xi values be: 45, 55, 63, 76, 67, 84, 75, 48, 62, 65</a:t>
            </a:r>
          </a:p>
          <a:p>
            <a:pPr>
              <a:lnSpc>
                <a:spcPct val="120000"/>
              </a:lnSpc>
            </a:pPr>
            <a:r>
              <a:rPr lang="en-US" sz="2400" dirty="0" smtClean="0"/>
              <a:t>     Here, </a:t>
            </a:r>
            <a:r>
              <a:rPr lang="en-US" sz="2400" dirty="0" err="1" smtClean="0"/>
              <a:t>Maxium</a:t>
            </a:r>
            <a:r>
              <a:rPr lang="en-US" sz="2400" dirty="0" smtClean="0"/>
              <a:t> </a:t>
            </a:r>
            <a:r>
              <a:rPr lang="en-US" sz="2400" dirty="0"/>
              <a:t>value (</a:t>
            </a:r>
            <a:r>
              <a:rPr lang="en-US" sz="2400" dirty="0" err="1"/>
              <a:t>X</a:t>
            </a:r>
            <a:r>
              <a:rPr lang="en-US" sz="2400" baseline="-25000" dirty="0" err="1"/>
              <a:t>max</a:t>
            </a:r>
            <a:r>
              <a:rPr lang="en-US" sz="2400" dirty="0"/>
              <a:t>) = </a:t>
            </a:r>
            <a:r>
              <a:rPr lang="en-US" sz="2400" dirty="0" smtClean="0"/>
              <a:t>84  and  Minimum </a:t>
            </a:r>
            <a:r>
              <a:rPr lang="en-US" sz="2400" dirty="0"/>
              <a:t>or Least value (</a:t>
            </a:r>
            <a:r>
              <a:rPr lang="en-US" sz="2400" dirty="0" err="1"/>
              <a:t>X</a:t>
            </a:r>
            <a:r>
              <a:rPr lang="en-US" sz="2400" baseline="-25000" dirty="0" err="1"/>
              <a:t>min</a:t>
            </a:r>
            <a:r>
              <a:rPr lang="en-US" sz="2400" dirty="0"/>
              <a:t>) = 45</a:t>
            </a:r>
          </a:p>
          <a:p>
            <a:pPr>
              <a:lnSpc>
                <a:spcPct val="120000"/>
              </a:lnSpc>
            </a:pPr>
            <a:r>
              <a:rPr lang="en-US" sz="2400" dirty="0" smtClean="0"/>
              <a:t>     </a:t>
            </a:r>
            <a:r>
              <a:rPr lang="en-US" sz="2400" b="1" dirty="0" smtClean="0">
                <a:solidFill>
                  <a:schemeClr val="accent6">
                    <a:lumMod val="75000"/>
                  </a:schemeClr>
                </a:solidFill>
              </a:rPr>
              <a:t>Range</a:t>
            </a:r>
            <a:r>
              <a:rPr lang="en-US" sz="2400" dirty="0" smtClean="0"/>
              <a:t> </a:t>
            </a:r>
            <a:r>
              <a:rPr lang="en-US" sz="2400" dirty="0"/>
              <a:t>= Maximum value </a:t>
            </a:r>
            <a:r>
              <a:rPr lang="en-US" sz="2400" dirty="0" smtClean="0"/>
              <a:t>- </a:t>
            </a:r>
            <a:r>
              <a:rPr lang="en-US" sz="2400" dirty="0"/>
              <a:t>Minimum </a:t>
            </a:r>
            <a:r>
              <a:rPr lang="en-US" sz="2400" dirty="0" smtClean="0"/>
              <a:t>value = 84 </a:t>
            </a:r>
            <a:r>
              <a:rPr lang="en-US" sz="2400" dirty="0"/>
              <a:t>– </a:t>
            </a:r>
            <a:r>
              <a:rPr lang="en-US" sz="2400" dirty="0" smtClean="0"/>
              <a:t>45 = </a:t>
            </a:r>
            <a:r>
              <a:rPr lang="en-US" sz="2400" dirty="0"/>
              <a:t>39</a:t>
            </a:r>
          </a:p>
          <a:p>
            <a:pPr>
              <a:lnSpc>
                <a:spcPct val="120000"/>
              </a:lnSpc>
            </a:pPr>
            <a:r>
              <a:rPr lang="en-US" sz="2400" dirty="0" smtClean="0"/>
              <a:t>     </a:t>
            </a:r>
            <a:r>
              <a:rPr lang="en-US" sz="2400" b="1" dirty="0" smtClean="0">
                <a:solidFill>
                  <a:schemeClr val="accent6">
                    <a:lumMod val="75000"/>
                  </a:schemeClr>
                </a:solidFill>
              </a:rPr>
              <a:t>Coefficient </a:t>
            </a:r>
            <a:r>
              <a:rPr lang="en-US" sz="2400" b="1" dirty="0">
                <a:solidFill>
                  <a:schemeClr val="accent6">
                    <a:lumMod val="75000"/>
                  </a:schemeClr>
                </a:solidFill>
              </a:rPr>
              <a:t>of range</a:t>
            </a:r>
            <a:r>
              <a:rPr lang="en-US" sz="2400" dirty="0"/>
              <a:t> = (</a:t>
            </a:r>
            <a:r>
              <a:rPr lang="en-US" sz="2400" dirty="0" err="1"/>
              <a:t>X</a:t>
            </a:r>
            <a:r>
              <a:rPr lang="en-US" sz="2400" baseline="-25000" dirty="0" err="1"/>
              <a:t>max</a:t>
            </a:r>
            <a:r>
              <a:rPr lang="en-US" sz="2400" dirty="0"/>
              <a:t> – </a:t>
            </a:r>
            <a:r>
              <a:rPr lang="en-US" sz="2400" dirty="0" err="1"/>
              <a:t>X</a:t>
            </a:r>
            <a:r>
              <a:rPr lang="en-US" sz="2400" baseline="-25000" dirty="0" err="1"/>
              <a:t>min</a:t>
            </a:r>
            <a:r>
              <a:rPr lang="en-US" sz="2400" dirty="0"/>
              <a:t>)/(</a:t>
            </a:r>
            <a:r>
              <a:rPr lang="en-US" sz="2400" dirty="0" err="1"/>
              <a:t>X</a:t>
            </a:r>
            <a:r>
              <a:rPr lang="en-US" sz="2400" baseline="-25000" dirty="0" err="1"/>
              <a:t>max</a:t>
            </a:r>
            <a:r>
              <a:rPr lang="en-US" sz="2400" dirty="0"/>
              <a:t> + </a:t>
            </a:r>
            <a:r>
              <a:rPr lang="en-US" sz="2400" dirty="0" err="1"/>
              <a:t>X</a:t>
            </a:r>
            <a:r>
              <a:rPr lang="en-US" sz="2400" baseline="-25000" dirty="0" err="1"/>
              <a:t>min</a:t>
            </a:r>
            <a:r>
              <a:rPr lang="en-US" sz="2400" dirty="0"/>
              <a:t>)</a:t>
            </a:r>
          </a:p>
          <a:p>
            <a:pPr>
              <a:lnSpc>
                <a:spcPct val="120000"/>
              </a:lnSpc>
            </a:pPr>
            <a:r>
              <a:rPr lang="en-US" sz="2400" dirty="0" smtClean="0"/>
              <a:t>                                          = </a:t>
            </a:r>
            <a:r>
              <a:rPr lang="en-US" sz="2400" dirty="0"/>
              <a:t>(84 – 45)/(84 + 45)</a:t>
            </a:r>
          </a:p>
          <a:p>
            <a:pPr>
              <a:lnSpc>
                <a:spcPct val="120000"/>
              </a:lnSpc>
            </a:pPr>
            <a:r>
              <a:rPr lang="en-US" sz="2400" dirty="0" smtClean="0"/>
              <a:t>                                          = </a:t>
            </a:r>
            <a:r>
              <a:rPr lang="en-US" sz="2400" dirty="0"/>
              <a:t>39/129</a:t>
            </a:r>
          </a:p>
          <a:p>
            <a:pPr>
              <a:lnSpc>
                <a:spcPct val="120000"/>
              </a:lnSpc>
            </a:pPr>
            <a:r>
              <a:rPr lang="en-US" sz="2400" dirty="0" smtClean="0"/>
              <a:t>                                          = </a:t>
            </a:r>
            <a:r>
              <a:rPr lang="en-US" sz="2400" dirty="0"/>
              <a:t>0.302 (</a:t>
            </a:r>
            <a:r>
              <a:rPr lang="en-US" sz="2400" dirty="0" err="1"/>
              <a:t>approx</a:t>
            </a:r>
            <a:r>
              <a:rPr lang="en-US" sz="2400" dirty="0"/>
              <a:t>)</a:t>
            </a:r>
          </a:p>
        </p:txBody>
      </p:sp>
    </p:spTree>
    <p:extLst>
      <p:ext uri="{BB962C8B-B14F-4D97-AF65-F5344CB8AC3E}">
        <p14:creationId xmlns:p14="http://schemas.microsoft.com/office/powerpoint/2010/main" val="253685024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09625" y="567035"/>
            <a:ext cx="10496550" cy="830997"/>
          </a:xfrm>
          <a:prstGeom prst="rect">
            <a:avLst/>
          </a:prstGeom>
        </p:spPr>
        <p:txBody>
          <a:bodyPr wrap="square">
            <a:spAutoFit/>
          </a:bodyPr>
          <a:lstStyle/>
          <a:p>
            <a:pPr algn="just"/>
            <a:r>
              <a:rPr lang="en-US" sz="2400" b="1" dirty="0" smtClean="0"/>
              <a:t>Q5. </a:t>
            </a:r>
            <a:r>
              <a:rPr lang="en-US" sz="2400" dirty="0" smtClean="0"/>
              <a:t>Find </a:t>
            </a:r>
            <a:r>
              <a:rPr lang="en-US" sz="2400" dirty="0"/>
              <a:t>the median, lower quartile, upper quartile and inter-quartile range of the following data set of scores: 19, 21, 23, 20, 23, 27, 25, 24, 31 ?</a:t>
            </a:r>
          </a:p>
        </p:txBody>
      </p:sp>
      <p:sp>
        <p:nvSpPr>
          <p:cNvPr id="3" name="Rectangle 2"/>
          <p:cNvSpPr/>
          <p:nvPr/>
        </p:nvSpPr>
        <p:spPr>
          <a:xfrm>
            <a:off x="809625" y="1508908"/>
            <a:ext cx="6953250" cy="4154984"/>
          </a:xfrm>
          <a:prstGeom prst="rect">
            <a:avLst/>
          </a:prstGeom>
        </p:spPr>
        <p:txBody>
          <a:bodyPr wrap="square">
            <a:spAutoFit/>
          </a:bodyPr>
          <a:lstStyle/>
          <a:p>
            <a:r>
              <a:rPr lang="en-US" sz="2400" dirty="0"/>
              <a:t>First, lets arrange of the values in an ascending order: </a:t>
            </a:r>
            <a:endParaRPr lang="en-US" sz="2400" dirty="0" smtClean="0"/>
          </a:p>
          <a:p>
            <a:r>
              <a:rPr lang="en-US" sz="2400" dirty="0"/>
              <a:t> </a:t>
            </a:r>
            <a:r>
              <a:rPr lang="en-US" sz="2400" dirty="0" smtClean="0"/>
              <a:t>       19</a:t>
            </a:r>
            <a:r>
              <a:rPr lang="en-US" sz="2400" dirty="0"/>
              <a:t>, 20, 21, 23, 23, 24, 25, 27, 31</a:t>
            </a:r>
          </a:p>
          <a:p>
            <a:endParaRPr lang="en-US" sz="800" b="1" dirty="0" smtClean="0"/>
          </a:p>
          <a:p>
            <a:r>
              <a:rPr lang="en-US" sz="2200" b="1" dirty="0" smtClean="0"/>
              <a:t>Now </a:t>
            </a:r>
            <a:r>
              <a:rPr lang="en-US" sz="2200" b="1" dirty="0"/>
              <a:t>let’s calculate the </a:t>
            </a:r>
            <a:r>
              <a:rPr lang="en-US" sz="2200" b="1" dirty="0" smtClean="0"/>
              <a:t>Median:</a:t>
            </a:r>
          </a:p>
          <a:p>
            <a:endParaRPr lang="en-US" sz="2200" dirty="0"/>
          </a:p>
          <a:p>
            <a:endParaRPr lang="en-US" sz="2200" dirty="0" smtClean="0"/>
          </a:p>
          <a:p>
            <a:r>
              <a:rPr lang="en-US" sz="2200" b="1" dirty="0" smtClean="0"/>
              <a:t>Lower </a:t>
            </a:r>
            <a:r>
              <a:rPr lang="en-US" sz="2200" b="1" dirty="0"/>
              <a:t>Quartile:</a:t>
            </a:r>
          </a:p>
          <a:p>
            <a:endParaRPr lang="en-US" sz="2200" dirty="0" smtClean="0"/>
          </a:p>
          <a:p>
            <a:endParaRPr lang="en-US" sz="1000" dirty="0"/>
          </a:p>
          <a:p>
            <a:r>
              <a:rPr lang="en-US" sz="2200" b="1" dirty="0" smtClean="0"/>
              <a:t>Upper </a:t>
            </a:r>
            <a:r>
              <a:rPr lang="en-US" sz="2200" b="1" dirty="0"/>
              <a:t>Quartile</a:t>
            </a:r>
            <a:r>
              <a:rPr lang="en-US" sz="2200" b="1" dirty="0" smtClean="0"/>
              <a:t>:</a:t>
            </a:r>
          </a:p>
          <a:p>
            <a:endParaRPr lang="en-US" sz="2200" b="1" dirty="0"/>
          </a:p>
          <a:p>
            <a:r>
              <a:rPr lang="en-US" sz="2200" b="1" dirty="0" smtClean="0"/>
              <a:t> </a:t>
            </a:r>
          </a:p>
          <a:p>
            <a:endParaRPr lang="en-US" sz="2200" b="1" dirty="0"/>
          </a:p>
        </p:txBody>
      </p:sp>
      <p:pic>
        <p:nvPicPr>
          <p:cNvPr id="4" name="Picture 3"/>
          <p:cNvPicPr>
            <a:picLocks noChangeAspect="1"/>
          </p:cNvPicPr>
          <p:nvPr/>
        </p:nvPicPr>
        <p:blipFill>
          <a:blip r:embed="rId2"/>
          <a:stretch>
            <a:fillRect/>
          </a:stretch>
        </p:blipFill>
        <p:spPr>
          <a:xfrm>
            <a:off x="4695825" y="2367453"/>
            <a:ext cx="1838325" cy="914400"/>
          </a:xfrm>
          <a:prstGeom prst="rect">
            <a:avLst/>
          </a:prstGeom>
        </p:spPr>
      </p:pic>
      <p:pic>
        <p:nvPicPr>
          <p:cNvPr id="5" name="Picture 4"/>
          <p:cNvPicPr>
            <a:picLocks noChangeAspect="1"/>
          </p:cNvPicPr>
          <p:nvPr/>
        </p:nvPicPr>
        <p:blipFill>
          <a:blip r:embed="rId3"/>
          <a:stretch>
            <a:fillRect/>
          </a:stretch>
        </p:blipFill>
        <p:spPr>
          <a:xfrm>
            <a:off x="2876550" y="3461421"/>
            <a:ext cx="2819400" cy="647700"/>
          </a:xfrm>
          <a:prstGeom prst="rect">
            <a:avLst/>
          </a:prstGeom>
        </p:spPr>
      </p:pic>
      <p:pic>
        <p:nvPicPr>
          <p:cNvPr id="6" name="Picture 5"/>
          <p:cNvPicPr>
            <a:picLocks noChangeAspect="1"/>
          </p:cNvPicPr>
          <p:nvPr/>
        </p:nvPicPr>
        <p:blipFill>
          <a:blip r:embed="rId4"/>
          <a:stretch>
            <a:fillRect/>
          </a:stretch>
        </p:blipFill>
        <p:spPr>
          <a:xfrm>
            <a:off x="2876550" y="4210472"/>
            <a:ext cx="2105025" cy="1143000"/>
          </a:xfrm>
          <a:prstGeom prst="rect">
            <a:avLst/>
          </a:prstGeom>
        </p:spPr>
      </p:pic>
      <p:sp>
        <p:nvSpPr>
          <p:cNvPr id="7" name="Rectangle 6"/>
          <p:cNvSpPr/>
          <p:nvPr/>
        </p:nvSpPr>
        <p:spPr>
          <a:xfrm>
            <a:off x="6181725" y="3586400"/>
            <a:ext cx="5381625" cy="2862322"/>
          </a:xfrm>
          <a:prstGeom prst="rect">
            <a:avLst/>
          </a:prstGeom>
        </p:spPr>
        <p:txBody>
          <a:bodyPr wrap="square">
            <a:spAutoFit/>
          </a:bodyPr>
          <a:lstStyle/>
          <a:p>
            <a:r>
              <a:rPr lang="en-US" sz="2400" b="1" u="sng" dirty="0"/>
              <a:t>Average of 2nd and 3rd terms</a:t>
            </a:r>
          </a:p>
          <a:p>
            <a:r>
              <a:rPr lang="en-US" sz="2400" dirty="0" smtClean="0"/>
              <a:t>    = </a:t>
            </a:r>
            <a:r>
              <a:rPr lang="en-US" sz="2400" dirty="0"/>
              <a:t>(20 + 21)/2 = 20.5 = Lower </a:t>
            </a:r>
            <a:r>
              <a:rPr lang="en-US" sz="2400" dirty="0" smtClean="0"/>
              <a:t>Quartile</a:t>
            </a:r>
          </a:p>
          <a:p>
            <a:endParaRPr lang="en-US" sz="600" dirty="0"/>
          </a:p>
          <a:p>
            <a:r>
              <a:rPr lang="en-US" sz="2400" b="1" u="sng" dirty="0"/>
              <a:t>Average of 7th and 8th terms</a:t>
            </a:r>
          </a:p>
          <a:p>
            <a:r>
              <a:rPr lang="en-US" sz="2400" dirty="0" smtClean="0"/>
              <a:t>    = </a:t>
            </a:r>
            <a:r>
              <a:rPr lang="en-US" sz="2400" dirty="0"/>
              <a:t>(25 + 27)/2 = 26 = Upper </a:t>
            </a:r>
            <a:r>
              <a:rPr lang="en-US" sz="2400" dirty="0" smtClean="0"/>
              <a:t>Quartile</a:t>
            </a:r>
          </a:p>
          <a:p>
            <a:endParaRPr lang="en-US" sz="600" dirty="0"/>
          </a:p>
          <a:p>
            <a:r>
              <a:rPr lang="en-US" sz="2400" b="1" dirty="0"/>
              <a:t>IQR = Upper quartile – Lower quartile</a:t>
            </a:r>
          </a:p>
          <a:p>
            <a:r>
              <a:rPr lang="en-US" sz="2400" dirty="0" smtClean="0"/>
              <a:t>        = </a:t>
            </a:r>
            <a:r>
              <a:rPr lang="en-US" sz="2400" dirty="0"/>
              <a:t>26 – 20.5 </a:t>
            </a:r>
          </a:p>
          <a:p>
            <a:r>
              <a:rPr lang="en-US" sz="2400" dirty="0" smtClean="0"/>
              <a:t>        = </a:t>
            </a:r>
            <a:r>
              <a:rPr lang="en-US" sz="2400" dirty="0"/>
              <a:t>5.5</a:t>
            </a:r>
          </a:p>
        </p:txBody>
      </p:sp>
    </p:spTree>
    <p:extLst>
      <p:ext uri="{BB962C8B-B14F-4D97-AF65-F5344CB8AC3E}">
        <p14:creationId xmlns:p14="http://schemas.microsoft.com/office/powerpoint/2010/main" val="17529551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681</TotalTime>
  <Words>6076</Words>
  <Application>Microsoft Office PowerPoint</Application>
  <PresentationFormat>Widescreen</PresentationFormat>
  <Paragraphs>401</Paragraphs>
  <Slides>44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44</vt:i4>
      </vt:variant>
    </vt:vector>
  </HeadingPairs>
  <TitlesOfParts>
    <vt:vector size="50"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Outlier?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MN</dc:creator>
  <cp:lastModifiedBy>MN</cp:lastModifiedBy>
  <cp:revision>59</cp:revision>
  <dcterms:created xsi:type="dcterms:W3CDTF">2024-09-08T07:07:59Z</dcterms:created>
  <dcterms:modified xsi:type="dcterms:W3CDTF">2024-12-08T01:47:19Z</dcterms:modified>
</cp:coreProperties>
</file>