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7"/>
  </p:notesMasterIdLst>
  <p:sldIdLst>
    <p:sldId id="256" r:id="rId2"/>
    <p:sldId id="257" r:id="rId3"/>
    <p:sldId id="258" r:id="rId4"/>
    <p:sldId id="259" r:id="rId5"/>
    <p:sldId id="260" r:id="rId6"/>
    <p:sldId id="276"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11" r:id="rId52"/>
    <p:sldId id="322" r:id="rId53"/>
    <p:sldId id="323" r:id="rId54"/>
    <p:sldId id="312" r:id="rId55"/>
    <p:sldId id="313" r:id="rId56"/>
    <p:sldId id="314" r:id="rId57"/>
    <p:sldId id="315" r:id="rId58"/>
    <p:sldId id="316" r:id="rId59"/>
    <p:sldId id="317" r:id="rId60"/>
    <p:sldId id="318" r:id="rId61"/>
    <p:sldId id="319" r:id="rId62"/>
    <p:sldId id="320" r:id="rId63"/>
    <p:sldId id="321" r:id="rId64"/>
    <p:sldId id="306" r:id="rId65"/>
    <p:sldId id="307" r:id="rId66"/>
    <p:sldId id="308" r:id="rId67"/>
    <p:sldId id="309" r:id="rId68"/>
    <p:sldId id="310"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8" r:id="rId111"/>
    <p:sldId id="365" r:id="rId112"/>
    <p:sldId id="367" r:id="rId113"/>
    <p:sldId id="369" r:id="rId114"/>
    <p:sldId id="370" r:id="rId115"/>
    <p:sldId id="371" r:id="rId1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D39C8F-FFE6-4BD0-9F89-35D144D64C1D}" type="datetimeFigureOut">
              <a:rPr lang="en-US" smtClean="0"/>
              <a:t>6/13/2025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4881ED-8B56-4F3A-B7C8-BF3376E5B8F4}" type="slidenum">
              <a:rPr lang="en-US" smtClean="0"/>
              <a:t>‹#›</a:t>
            </a:fld>
            <a:endParaRPr lang="en-US" dirty="0"/>
          </a:p>
        </p:txBody>
      </p:sp>
    </p:spTree>
    <p:extLst>
      <p:ext uri="{BB962C8B-B14F-4D97-AF65-F5344CB8AC3E}">
        <p14:creationId xmlns:p14="http://schemas.microsoft.com/office/powerpoint/2010/main" val="4198498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3E482CB-BE0E-45A2-A8F9-AF0B7F554A3D}" type="datetimeFigureOut">
              <a:rPr lang="en-US" smtClean="0"/>
              <a:t>6/13/2025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dirty="0"/>
          </a:p>
        </p:txBody>
      </p:sp>
    </p:spTree>
    <p:extLst>
      <p:ext uri="{BB962C8B-B14F-4D97-AF65-F5344CB8AC3E}">
        <p14:creationId xmlns:p14="http://schemas.microsoft.com/office/powerpoint/2010/main" val="7922683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E482CB-BE0E-45A2-A8F9-AF0B7F554A3D}" type="datetimeFigureOut">
              <a:rPr lang="en-US" smtClean="0"/>
              <a:t>6/13/2025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dirty="0"/>
          </a:p>
        </p:txBody>
      </p:sp>
    </p:spTree>
    <p:extLst>
      <p:ext uri="{BB962C8B-B14F-4D97-AF65-F5344CB8AC3E}">
        <p14:creationId xmlns:p14="http://schemas.microsoft.com/office/powerpoint/2010/main" val="39872132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E482CB-BE0E-45A2-A8F9-AF0B7F554A3D}" type="datetimeFigureOut">
              <a:rPr lang="en-US" smtClean="0"/>
              <a:t>6/13/2025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dirty="0"/>
          </a:p>
        </p:txBody>
      </p:sp>
    </p:spTree>
    <p:extLst>
      <p:ext uri="{BB962C8B-B14F-4D97-AF65-F5344CB8AC3E}">
        <p14:creationId xmlns:p14="http://schemas.microsoft.com/office/powerpoint/2010/main" val="13445374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3E482CB-BE0E-45A2-A8F9-AF0B7F554A3D}" type="datetimeFigureOut">
              <a:rPr lang="en-US" smtClean="0"/>
              <a:t>6/13/2025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dirty="0"/>
          </a:p>
        </p:txBody>
      </p:sp>
    </p:spTree>
    <p:extLst>
      <p:ext uri="{BB962C8B-B14F-4D97-AF65-F5344CB8AC3E}">
        <p14:creationId xmlns:p14="http://schemas.microsoft.com/office/powerpoint/2010/main" val="9131929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3E482CB-BE0E-45A2-A8F9-AF0B7F554A3D}" type="datetimeFigureOut">
              <a:rPr lang="en-US" smtClean="0"/>
              <a:t>6/13/2025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F2E4543-BE62-4DF3-B067-5185159305E6}" type="slidenum">
              <a:rPr lang="en-US" smtClean="0"/>
              <a:t>‹#›</a:t>
            </a:fld>
            <a:endParaRPr lang="en-US" dirty="0"/>
          </a:p>
        </p:txBody>
      </p:sp>
    </p:spTree>
    <p:extLst>
      <p:ext uri="{BB962C8B-B14F-4D97-AF65-F5344CB8AC3E}">
        <p14:creationId xmlns:p14="http://schemas.microsoft.com/office/powerpoint/2010/main" val="41900432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3E482CB-BE0E-45A2-A8F9-AF0B7F554A3D}" type="datetimeFigureOut">
              <a:rPr lang="en-US" smtClean="0"/>
              <a:t>6/13/2025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F2E4543-BE62-4DF3-B067-5185159305E6}" type="slidenum">
              <a:rPr lang="en-US" smtClean="0"/>
              <a:t>‹#›</a:t>
            </a:fld>
            <a:endParaRPr lang="en-US" dirty="0"/>
          </a:p>
        </p:txBody>
      </p:sp>
    </p:spTree>
    <p:extLst>
      <p:ext uri="{BB962C8B-B14F-4D97-AF65-F5344CB8AC3E}">
        <p14:creationId xmlns:p14="http://schemas.microsoft.com/office/powerpoint/2010/main" val="9258993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E482CB-BE0E-45A2-A8F9-AF0B7F554A3D}" type="datetimeFigureOut">
              <a:rPr lang="en-US" smtClean="0"/>
              <a:t>6/13/2025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F2E4543-BE62-4DF3-B067-5185159305E6}" type="slidenum">
              <a:rPr lang="en-US" smtClean="0"/>
              <a:t>‹#›</a:t>
            </a:fld>
            <a:endParaRPr lang="en-US" dirty="0"/>
          </a:p>
        </p:txBody>
      </p:sp>
    </p:spTree>
    <p:extLst>
      <p:ext uri="{BB962C8B-B14F-4D97-AF65-F5344CB8AC3E}">
        <p14:creationId xmlns:p14="http://schemas.microsoft.com/office/powerpoint/2010/main" val="3876688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E482CB-BE0E-45A2-A8F9-AF0B7F554A3D}" type="datetimeFigureOut">
              <a:rPr lang="en-US" smtClean="0"/>
              <a:t>6/13/2025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dirty="0"/>
          </a:p>
        </p:txBody>
      </p:sp>
    </p:spTree>
    <p:extLst>
      <p:ext uri="{BB962C8B-B14F-4D97-AF65-F5344CB8AC3E}">
        <p14:creationId xmlns:p14="http://schemas.microsoft.com/office/powerpoint/2010/main" val="26228746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E482CB-BE0E-45A2-A8F9-AF0B7F554A3D}" type="datetimeFigureOut">
              <a:rPr lang="en-US" smtClean="0"/>
              <a:t>6/13/2025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F2E4543-BE62-4DF3-B067-5185159305E6}" type="slidenum">
              <a:rPr lang="en-US" smtClean="0"/>
              <a:t>‹#›</a:t>
            </a:fld>
            <a:endParaRPr lang="en-US" dirty="0"/>
          </a:p>
        </p:txBody>
      </p:sp>
    </p:spTree>
    <p:extLst>
      <p:ext uri="{BB962C8B-B14F-4D97-AF65-F5344CB8AC3E}">
        <p14:creationId xmlns:p14="http://schemas.microsoft.com/office/powerpoint/2010/main" val="4575358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E482CB-BE0E-45A2-A8F9-AF0B7F554A3D}" type="datetimeFigureOut">
              <a:rPr lang="en-US" smtClean="0"/>
              <a:t>6/13/2025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dirty="0"/>
          </a:p>
        </p:txBody>
      </p:sp>
    </p:spTree>
    <p:extLst>
      <p:ext uri="{BB962C8B-B14F-4D97-AF65-F5344CB8AC3E}">
        <p14:creationId xmlns:p14="http://schemas.microsoft.com/office/powerpoint/2010/main" val="36451776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E482CB-BE0E-45A2-A8F9-AF0B7F554A3D}" type="datetimeFigureOut">
              <a:rPr lang="en-US" smtClean="0"/>
              <a:t>6/13/2025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dirty="0"/>
          </a:p>
        </p:txBody>
      </p:sp>
    </p:spTree>
    <p:extLst>
      <p:ext uri="{BB962C8B-B14F-4D97-AF65-F5344CB8AC3E}">
        <p14:creationId xmlns:p14="http://schemas.microsoft.com/office/powerpoint/2010/main" val="23156670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E482CB-BE0E-45A2-A8F9-AF0B7F554A3D}" type="datetimeFigureOut">
              <a:rPr lang="en-US" smtClean="0"/>
              <a:t>6/13/2025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2E4543-BE62-4DF3-B067-5185159305E6}" type="slidenum">
              <a:rPr lang="en-US" smtClean="0"/>
              <a:t>‹#›</a:t>
            </a:fld>
            <a:endParaRPr lang="en-US" dirty="0"/>
          </a:p>
        </p:txBody>
      </p:sp>
    </p:spTree>
    <p:extLst>
      <p:ext uri="{BB962C8B-B14F-4D97-AF65-F5344CB8AC3E}">
        <p14:creationId xmlns:p14="http://schemas.microsoft.com/office/powerpoint/2010/main" val="3297116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9.e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0.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51.e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11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87262" y="867549"/>
            <a:ext cx="5703613" cy="954107"/>
          </a:xfrm>
          <a:prstGeom prst="rect">
            <a:avLst/>
          </a:prstGeom>
        </p:spPr>
        <p:txBody>
          <a:bodyPr wrap="none">
            <a:spAutoFit/>
          </a:bodyPr>
          <a:lstStyle/>
          <a:p>
            <a:pPr algn="ctr"/>
            <a:r>
              <a:rPr lang="en-US" sz="2800" b="1" dirty="0">
                <a:effectLst>
                  <a:outerShdw blurRad="38100" dist="38100" dir="2700000" algn="tl">
                    <a:srgbClr val="000000">
                      <a:alpha val="43137"/>
                    </a:srgbClr>
                  </a:outerShdw>
                </a:effectLst>
              </a:rPr>
              <a:t>What is </a:t>
            </a:r>
            <a:r>
              <a:rPr lang="en-US" sz="2800" b="1" dirty="0" smtClean="0">
                <a:effectLst>
                  <a:outerShdw blurRad="38100" dist="38100" dir="2700000" algn="tl">
                    <a:srgbClr val="000000">
                      <a:alpha val="43137"/>
                    </a:srgbClr>
                  </a:outerShdw>
                </a:effectLst>
              </a:rPr>
              <a:t>Data Sciences (</a:t>
            </a:r>
            <a:r>
              <a:rPr lang="en-US" sz="2800" b="1" i="1" dirty="0" smtClean="0">
                <a:effectLst>
                  <a:outerShdw blurRad="38100" dist="38100" dir="2700000" algn="tl">
                    <a:srgbClr val="000000">
                      <a:alpha val="43137"/>
                    </a:srgbClr>
                  </a:outerShdw>
                </a:effectLst>
              </a:rPr>
              <a:t>Application:  </a:t>
            </a:r>
            <a:endParaRPr lang="en-US" sz="2800" b="1" i="1" dirty="0" smtClean="0">
              <a:effectLst>
                <a:outerShdw blurRad="38100" dist="38100" dir="2700000" algn="tl">
                  <a:srgbClr val="000000">
                    <a:alpha val="43137"/>
                  </a:srgbClr>
                </a:outerShdw>
              </a:effectLst>
            </a:endParaRPr>
          </a:p>
          <a:p>
            <a:pPr algn="ctr"/>
            <a:r>
              <a:rPr lang="en-US" sz="2800" b="1" i="1" dirty="0" smtClean="0">
                <a:effectLst>
                  <a:outerShdw blurRad="38100" dist="38100" dir="2700000" algn="tl">
                    <a:srgbClr val="000000">
                      <a:alpha val="43137"/>
                    </a:srgbClr>
                  </a:outerShdw>
                </a:effectLst>
              </a:rPr>
              <a:t>Machine Learning</a:t>
            </a:r>
            <a:r>
              <a:rPr lang="en-US" sz="2800" b="1" dirty="0" smtClean="0">
                <a:effectLst>
                  <a:outerShdw blurRad="38100" dist="38100" dir="2700000" algn="tl">
                    <a:srgbClr val="000000">
                      <a:alpha val="43137"/>
                    </a:srgbClr>
                  </a:outerShdw>
                </a:effectLst>
              </a:rPr>
              <a:t>)</a:t>
            </a:r>
            <a:endParaRPr lang="en-US" sz="2800" b="1" dirty="0">
              <a:effectLst>
                <a:outerShdw blurRad="38100" dist="38100" dir="2700000" algn="tl">
                  <a:srgbClr val="000000">
                    <a:alpha val="43137"/>
                  </a:srgbClr>
                </a:outerShdw>
              </a:effectLst>
            </a:endParaRPr>
          </a:p>
        </p:txBody>
      </p:sp>
      <p:sp>
        <p:nvSpPr>
          <p:cNvPr id="5" name="Rectangle 4"/>
          <p:cNvSpPr/>
          <p:nvPr/>
        </p:nvSpPr>
        <p:spPr>
          <a:xfrm>
            <a:off x="1216152" y="2028690"/>
            <a:ext cx="9619488" cy="3785652"/>
          </a:xfrm>
          <a:prstGeom prst="rect">
            <a:avLst/>
          </a:prstGeom>
        </p:spPr>
        <p:txBody>
          <a:bodyPr wrap="square">
            <a:spAutoFit/>
          </a:bodyPr>
          <a:lstStyle/>
          <a:p>
            <a:pPr algn="just"/>
            <a:r>
              <a:rPr lang="en-US" sz="2400" dirty="0"/>
              <a:t>Broadly, machine learning is the application of </a:t>
            </a:r>
            <a:r>
              <a:rPr lang="en-US" sz="2400" b="1" dirty="0">
                <a:solidFill>
                  <a:srgbClr val="FF0000"/>
                </a:solidFill>
              </a:rPr>
              <a:t>statistical, mathematical, and numerical</a:t>
            </a:r>
            <a:r>
              <a:rPr lang="en-US" sz="2400" dirty="0"/>
              <a:t> techniques to </a:t>
            </a:r>
            <a:r>
              <a:rPr lang="en-US" sz="2400" b="1" dirty="0">
                <a:solidFill>
                  <a:srgbClr val="7030A0"/>
                </a:solidFill>
                <a:effectLst>
                  <a:outerShdw blurRad="38100" dist="38100" dir="2700000" algn="tl">
                    <a:srgbClr val="000000">
                      <a:alpha val="43137"/>
                    </a:srgbClr>
                  </a:outerShdw>
                </a:effectLst>
              </a:rPr>
              <a:t>derive some form of knowledge </a:t>
            </a:r>
            <a:r>
              <a:rPr lang="en-US" sz="2400" dirty="0"/>
              <a:t>from data. This ‘knowledge’ may afford us some sort of summarization, visualization, grouping, or even predictive power over data sets</a:t>
            </a:r>
            <a:r>
              <a:rPr lang="en-US" sz="2400" dirty="0" smtClean="0"/>
              <a:t>.</a:t>
            </a:r>
          </a:p>
          <a:p>
            <a:pPr algn="just"/>
            <a:endParaRPr lang="en-US" sz="1200" dirty="0"/>
          </a:p>
          <a:p>
            <a:pPr algn="just"/>
            <a:r>
              <a:rPr lang="en-US" sz="2400" dirty="0"/>
              <a:t>With all that said, it’s important to emphasize the limitations of machine learning. </a:t>
            </a:r>
            <a:endParaRPr lang="en-US" sz="2400" dirty="0" smtClean="0"/>
          </a:p>
          <a:p>
            <a:pPr algn="just"/>
            <a:endParaRPr lang="en-US" sz="1200" dirty="0"/>
          </a:p>
          <a:p>
            <a:pPr algn="just"/>
            <a:r>
              <a:rPr lang="en-US" sz="2400" dirty="0" smtClean="0"/>
              <a:t>It </a:t>
            </a:r>
            <a:r>
              <a:rPr lang="en-US" sz="2400" dirty="0"/>
              <a:t>is not nor will it ever be a replacement for critical thought and methodical, procedural work in </a:t>
            </a:r>
            <a:r>
              <a:rPr lang="en-US" sz="2400" b="1" u="sng" dirty="0">
                <a:solidFill>
                  <a:srgbClr val="FF0000"/>
                </a:solidFill>
                <a:effectLst>
                  <a:outerShdw blurRad="38100" dist="38100" dir="2700000" algn="tl">
                    <a:srgbClr val="000000">
                      <a:alpha val="43137"/>
                    </a:srgbClr>
                  </a:outerShdw>
                </a:effectLst>
              </a:rPr>
              <a:t>data science</a:t>
            </a:r>
            <a:r>
              <a:rPr lang="en-US" sz="2400" dirty="0"/>
              <a:t>. Indeed, machine learning can be reasonably characterized a loose collection of disciplines and tools.</a:t>
            </a:r>
          </a:p>
        </p:txBody>
      </p:sp>
    </p:spTree>
    <p:extLst>
      <p:ext uri="{BB962C8B-B14F-4D97-AF65-F5344CB8AC3E}">
        <p14:creationId xmlns:p14="http://schemas.microsoft.com/office/powerpoint/2010/main" val="23217383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47413" y="985766"/>
            <a:ext cx="2027093" cy="584775"/>
          </a:xfrm>
          <a:prstGeom prst="rect">
            <a:avLst/>
          </a:prstGeom>
        </p:spPr>
        <p:txBody>
          <a:bodyPr wrap="none">
            <a:spAutoFit/>
          </a:bodyPr>
          <a:lstStyle/>
          <a:p>
            <a:r>
              <a:rPr lang="en-US" sz="3200" b="1" dirty="0">
                <a:effectLst>
                  <a:outerShdw blurRad="38100" dist="38100" dir="2700000" algn="tl">
                    <a:srgbClr val="000000">
                      <a:alpha val="43137"/>
                    </a:srgbClr>
                  </a:outerShdw>
                </a:effectLst>
              </a:rPr>
              <a:t>Regression</a:t>
            </a:r>
          </a:p>
        </p:txBody>
      </p:sp>
      <p:sp>
        <p:nvSpPr>
          <p:cNvPr id="3" name="Rectangle 2"/>
          <p:cNvSpPr/>
          <p:nvPr/>
        </p:nvSpPr>
        <p:spPr>
          <a:xfrm>
            <a:off x="1298448" y="1726198"/>
            <a:ext cx="9683496" cy="3416320"/>
          </a:xfrm>
          <a:prstGeom prst="rect">
            <a:avLst/>
          </a:prstGeom>
        </p:spPr>
        <p:txBody>
          <a:bodyPr wrap="square">
            <a:spAutoFit/>
          </a:bodyPr>
          <a:lstStyle/>
          <a:p>
            <a:pPr algn="just"/>
            <a:r>
              <a:rPr lang="en-US" sz="2400" dirty="0" smtClean="0"/>
              <a:t>A major </a:t>
            </a:r>
            <a:r>
              <a:rPr lang="en-US" sz="2400" dirty="0"/>
              <a:t>component of machine </a:t>
            </a:r>
            <a:r>
              <a:rPr lang="en-US" sz="2400" dirty="0" smtClean="0"/>
              <a:t>learning </a:t>
            </a:r>
            <a:r>
              <a:rPr lang="en-US" sz="2400" b="1" u="sng" dirty="0" smtClean="0"/>
              <a:t>(Data Science)</a:t>
            </a:r>
            <a:r>
              <a:rPr lang="en-US" sz="2400" dirty="0" smtClean="0"/>
              <a:t>, </a:t>
            </a:r>
            <a:r>
              <a:rPr lang="en-US" sz="2400" dirty="0"/>
              <a:t>the one that most people associate with ML, is dedicated to making predictions about a target given some inputs, such as predicting </a:t>
            </a:r>
            <a:r>
              <a:rPr lang="en-US" sz="2400" u="sng" dirty="0">
                <a:solidFill>
                  <a:srgbClr val="7030A0"/>
                </a:solidFill>
                <a:effectLst>
                  <a:outerShdw blurRad="38100" dist="38100" dir="2700000" algn="tl">
                    <a:srgbClr val="000000">
                      <a:alpha val="43137"/>
                    </a:srgbClr>
                  </a:outerShdw>
                </a:effectLst>
              </a:rPr>
              <a:t>how much money an individual will earn in their lifetime given their demographic information</a:t>
            </a:r>
            <a:r>
              <a:rPr lang="en-US" sz="2400" dirty="0"/>
              <a:t>. </a:t>
            </a:r>
            <a:endParaRPr lang="en-US" sz="2400" dirty="0" smtClean="0"/>
          </a:p>
          <a:p>
            <a:pPr algn="just"/>
            <a:endParaRPr lang="en-US" sz="1200" dirty="0"/>
          </a:p>
          <a:p>
            <a:pPr algn="just"/>
            <a:r>
              <a:rPr lang="en-US" sz="2400" dirty="0" smtClean="0"/>
              <a:t>In </a:t>
            </a:r>
            <a:r>
              <a:rPr lang="en-US" sz="2400" dirty="0"/>
              <a:t>this </a:t>
            </a:r>
            <a:r>
              <a:rPr lang="en-US" sz="2400" dirty="0" smtClean="0"/>
              <a:t>part, one is </a:t>
            </a:r>
            <a:r>
              <a:rPr lang="en-US" sz="2400" dirty="0"/>
              <a:t>going to focus on the case where </a:t>
            </a:r>
            <a:r>
              <a:rPr lang="en-US" sz="2400" b="1" dirty="0" smtClean="0">
                <a:solidFill>
                  <a:schemeClr val="accent6">
                    <a:lumMod val="75000"/>
                  </a:schemeClr>
                </a:solidFill>
                <a:effectLst>
                  <a:outerShdw blurRad="38100" dist="38100" dir="2700000" algn="tl">
                    <a:srgbClr val="000000">
                      <a:alpha val="43137"/>
                    </a:srgbClr>
                  </a:outerShdw>
                </a:effectLst>
              </a:rPr>
              <a:t>its </a:t>
            </a:r>
            <a:r>
              <a:rPr lang="en-US" sz="2400" b="1" dirty="0">
                <a:solidFill>
                  <a:schemeClr val="accent6">
                    <a:lumMod val="75000"/>
                  </a:schemeClr>
                </a:solidFill>
                <a:effectLst>
                  <a:outerShdw blurRad="38100" dist="38100" dir="2700000" algn="tl">
                    <a:srgbClr val="000000">
                      <a:alpha val="43137"/>
                    </a:srgbClr>
                  </a:outerShdw>
                </a:effectLst>
              </a:rPr>
              <a:t>prediction is a continuous, real number</a:t>
            </a:r>
            <a:r>
              <a:rPr lang="en-US" sz="2400" dirty="0"/>
              <a:t>. </a:t>
            </a:r>
            <a:endParaRPr lang="en-US" sz="2400" dirty="0" smtClean="0"/>
          </a:p>
          <a:p>
            <a:pPr algn="just"/>
            <a:endParaRPr lang="en-US" sz="1200" dirty="0"/>
          </a:p>
          <a:p>
            <a:pPr algn="just"/>
            <a:r>
              <a:rPr lang="en-US" sz="2400" dirty="0" smtClean="0">
                <a:solidFill>
                  <a:srgbClr val="C00000"/>
                </a:solidFill>
                <a:effectLst>
                  <a:outerShdw blurRad="38100" dist="38100" dir="2700000" algn="tl">
                    <a:srgbClr val="000000">
                      <a:alpha val="43137"/>
                    </a:srgbClr>
                  </a:outerShdw>
                </a:effectLst>
                <a:latin typeface="Georgia" panose="02040502050405020303" pitchFamily="18" charset="0"/>
              </a:rPr>
              <a:t>When </a:t>
            </a:r>
            <a:r>
              <a:rPr lang="en-US" sz="2400" dirty="0">
                <a:solidFill>
                  <a:srgbClr val="C00000"/>
                </a:solidFill>
                <a:effectLst>
                  <a:outerShdw blurRad="38100" dist="38100" dir="2700000" algn="tl">
                    <a:srgbClr val="000000">
                      <a:alpha val="43137"/>
                    </a:srgbClr>
                  </a:outerShdw>
                </a:effectLst>
                <a:latin typeface="Georgia" panose="02040502050405020303" pitchFamily="18" charset="0"/>
              </a:rPr>
              <a:t>the target is a real number, </a:t>
            </a:r>
            <a:r>
              <a:rPr lang="en-US" sz="2400" dirty="0" smtClean="0">
                <a:solidFill>
                  <a:srgbClr val="C00000"/>
                </a:solidFill>
                <a:effectLst>
                  <a:outerShdw blurRad="38100" dist="38100" dir="2700000" algn="tl">
                    <a:srgbClr val="000000">
                      <a:alpha val="43137"/>
                    </a:srgbClr>
                  </a:outerShdw>
                </a:effectLst>
                <a:latin typeface="Georgia" panose="02040502050405020303" pitchFamily="18" charset="0"/>
              </a:rPr>
              <a:t>one </a:t>
            </a:r>
            <a:r>
              <a:rPr lang="en-US" sz="2400" dirty="0">
                <a:solidFill>
                  <a:srgbClr val="C00000"/>
                </a:solidFill>
                <a:effectLst>
                  <a:outerShdw blurRad="38100" dist="38100" dir="2700000" algn="tl">
                    <a:srgbClr val="000000">
                      <a:alpha val="43137"/>
                    </a:srgbClr>
                  </a:outerShdw>
                </a:effectLst>
                <a:latin typeface="Georgia" panose="02040502050405020303" pitchFamily="18" charset="0"/>
              </a:rPr>
              <a:t>call this prediction procedure </a:t>
            </a:r>
            <a:r>
              <a:rPr lang="en-US" sz="2400" dirty="0" smtClean="0">
                <a:solidFill>
                  <a:srgbClr val="C00000"/>
                </a:solidFill>
                <a:effectLst>
                  <a:outerShdw blurRad="38100" dist="38100" dir="2700000" algn="tl">
                    <a:srgbClr val="000000">
                      <a:alpha val="43137"/>
                    </a:srgbClr>
                  </a:outerShdw>
                </a:effectLst>
                <a:latin typeface="Georgia" panose="02040502050405020303" pitchFamily="18" charset="0"/>
              </a:rPr>
              <a:t>regression.</a:t>
            </a:r>
            <a:endParaRPr lang="en-US" sz="2400" dirty="0">
              <a:solidFill>
                <a:srgbClr val="C00000"/>
              </a:solidFill>
              <a:effectLst>
                <a:outerShdw blurRad="38100" dist="38100" dir="2700000" algn="tl">
                  <a:srgbClr val="000000">
                    <a:alpha val="43137"/>
                  </a:srgbClr>
                </a:outerShdw>
              </a:effectLst>
              <a:latin typeface="Georgia" panose="02040502050405020303" pitchFamily="18" charset="0"/>
            </a:endParaRPr>
          </a:p>
        </p:txBody>
      </p:sp>
    </p:spTree>
    <p:extLst>
      <p:ext uri="{BB962C8B-B14F-4D97-AF65-F5344CB8AC3E}">
        <p14:creationId xmlns:p14="http://schemas.microsoft.com/office/powerpoint/2010/main" val="34693007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3816" y="637830"/>
            <a:ext cx="10689336" cy="5570756"/>
          </a:xfrm>
          <a:prstGeom prst="rect">
            <a:avLst/>
          </a:prstGeom>
        </p:spPr>
        <p:txBody>
          <a:bodyPr wrap="square">
            <a:spAutoFit/>
          </a:bodyPr>
          <a:lstStyle/>
          <a:p>
            <a:pPr algn="just"/>
            <a:r>
              <a:rPr lang="en-US" sz="2400" dirty="0"/>
              <a:t>In order to understand regression, let’s start in a more natural place: </a:t>
            </a:r>
            <a:endParaRPr lang="en-US" sz="2400" dirty="0" smtClean="0"/>
          </a:p>
          <a:p>
            <a:pPr algn="just"/>
            <a:r>
              <a:rPr lang="en-US" sz="2400" i="1" dirty="0" smtClean="0">
                <a:effectLst>
                  <a:outerShdw blurRad="38100" dist="38100" dir="2700000" algn="tl">
                    <a:srgbClr val="000000">
                      <a:alpha val="43137"/>
                    </a:srgbClr>
                  </a:outerShdw>
                </a:effectLst>
              </a:rPr>
              <a:t>What </a:t>
            </a:r>
            <a:r>
              <a:rPr lang="en-US" sz="2400" i="1" dirty="0">
                <a:effectLst>
                  <a:outerShdw blurRad="38100" dist="38100" dir="2700000" algn="tl">
                    <a:srgbClr val="000000">
                      <a:alpha val="43137"/>
                    </a:srgbClr>
                  </a:outerShdw>
                </a:effectLst>
              </a:rPr>
              <a:t>types of problems are we trying to solve? </a:t>
            </a:r>
            <a:endParaRPr lang="en-US" sz="2400" i="1" dirty="0" smtClean="0">
              <a:effectLst>
                <a:outerShdw blurRad="38100" dist="38100" dir="2700000" algn="tl">
                  <a:srgbClr val="000000">
                    <a:alpha val="43137"/>
                  </a:srgbClr>
                </a:outerShdw>
              </a:effectLst>
            </a:endParaRPr>
          </a:p>
          <a:p>
            <a:pPr algn="just"/>
            <a:r>
              <a:rPr lang="en-US" sz="2400" i="1" dirty="0" smtClean="0">
                <a:effectLst>
                  <a:outerShdw blurRad="38100" dist="38100" dir="2700000" algn="tl">
                    <a:srgbClr val="000000">
                      <a:alpha val="43137"/>
                    </a:srgbClr>
                  </a:outerShdw>
                </a:effectLst>
              </a:rPr>
              <a:t>What </a:t>
            </a:r>
            <a:r>
              <a:rPr lang="en-US" sz="2400" i="1" dirty="0">
                <a:effectLst>
                  <a:outerShdw blurRad="38100" dist="38100" dir="2700000" algn="tl">
                    <a:srgbClr val="000000">
                      <a:alpha val="43137"/>
                    </a:srgbClr>
                  </a:outerShdw>
                </a:effectLst>
              </a:rPr>
              <a:t>exactly does it mean to make a prediction that is a continuous, real number? </a:t>
            </a:r>
            <a:endParaRPr lang="en-US" sz="2400" i="1" dirty="0" smtClean="0">
              <a:effectLst>
                <a:outerShdw blurRad="38100" dist="38100" dir="2700000" algn="tl">
                  <a:srgbClr val="000000">
                    <a:alpha val="43137"/>
                  </a:srgbClr>
                </a:outerShdw>
              </a:effectLst>
            </a:endParaRPr>
          </a:p>
          <a:p>
            <a:pPr algn="just"/>
            <a:r>
              <a:rPr lang="en-US" sz="2400" dirty="0" smtClean="0"/>
              <a:t>To </a:t>
            </a:r>
            <a:r>
              <a:rPr lang="en-US" sz="2400" dirty="0"/>
              <a:t>build some intuition, here are a few examples of problems that regression could be used for: </a:t>
            </a:r>
            <a:endParaRPr lang="en-US" sz="2400" dirty="0" smtClean="0"/>
          </a:p>
          <a:p>
            <a:pPr algn="just"/>
            <a:endParaRPr lang="en-US" sz="1000" dirty="0"/>
          </a:p>
          <a:p>
            <a:pPr marL="457200" indent="-457200" algn="just">
              <a:buAutoNum type="arabicPeriod"/>
            </a:pPr>
            <a:r>
              <a:rPr lang="en-US" sz="2400" dirty="0" smtClean="0">
                <a:solidFill>
                  <a:srgbClr val="C00000"/>
                </a:solidFill>
              </a:rPr>
              <a:t>Predicting </a:t>
            </a:r>
            <a:r>
              <a:rPr lang="en-US" sz="2400" dirty="0">
                <a:solidFill>
                  <a:srgbClr val="C00000"/>
                </a:solidFill>
              </a:rPr>
              <a:t>a person’s height given the height of their parents. </a:t>
            </a:r>
          </a:p>
          <a:p>
            <a:pPr marL="457200" indent="-457200" algn="just">
              <a:buAutoNum type="arabicPeriod"/>
            </a:pPr>
            <a:r>
              <a:rPr lang="en-US" sz="2400" dirty="0" smtClean="0">
                <a:solidFill>
                  <a:srgbClr val="C00000"/>
                </a:solidFill>
              </a:rPr>
              <a:t>Predicting </a:t>
            </a:r>
            <a:r>
              <a:rPr lang="en-US" sz="2400" dirty="0">
                <a:solidFill>
                  <a:srgbClr val="C00000"/>
                </a:solidFill>
              </a:rPr>
              <a:t>the amount of time someone will take to pay back a loan given their credit history. </a:t>
            </a:r>
            <a:endParaRPr lang="en-US" sz="2400" dirty="0" smtClean="0">
              <a:solidFill>
                <a:srgbClr val="C00000"/>
              </a:solidFill>
            </a:endParaRPr>
          </a:p>
          <a:p>
            <a:pPr marL="457200" indent="-457200" algn="just">
              <a:buAutoNum type="arabicPeriod"/>
            </a:pPr>
            <a:r>
              <a:rPr lang="en-US" sz="2400" dirty="0" smtClean="0">
                <a:solidFill>
                  <a:srgbClr val="C00000"/>
                </a:solidFill>
              </a:rPr>
              <a:t>Predicting </a:t>
            </a:r>
            <a:r>
              <a:rPr lang="en-US" sz="2400" dirty="0">
                <a:solidFill>
                  <a:srgbClr val="C00000"/>
                </a:solidFill>
              </a:rPr>
              <a:t>what time a package will arrive given current weather and traffic conditions. </a:t>
            </a:r>
            <a:endParaRPr lang="en-US" sz="2400" dirty="0" smtClean="0">
              <a:solidFill>
                <a:srgbClr val="C00000"/>
              </a:solidFill>
            </a:endParaRPr>
          </a:p>
          <a:p>
            <a:pPr algn="just"/>
            <a:endParaRPr lang="en-US" sz="1000" dirty="0" smtClean="0"/>
          </a:p>
          <a:p>
            <a:pPr algn="just"/>
            <a:r>
              <a:rPr lang="en-US" sz="2400" b="1" dirty="0" smtClean="0">
                <a:solidFill>
                  <a:schemeClr val="accent6">
                    <a:lumMod val="75000"/>
                  </a:schemeClr>
                </a:solidFill>
              </a:rPr>
              <a:t>Given </a:t>
            </a:r>
            <a:r>
              <a:rPr lang="en-US" sz="2400" b="1" dirty="0">
                <a:solidFill>
                  <a:schemeClr val="accent6">
                    <a:lumMod val="75000"/>
                  </a:schemeClr>
                </a:solidFill>
              </a:rPr>
              <a:t>some inputs, </a:t>
            </a:r>
            <a:r>
              <a:rPr lang="en-US" sz="2400" b="1" dirty="0" smtClean="0">
                <a:solidFill>
                  <a:schemeClr val="accent6">
                    <a:lumMod val="75000"/>
                  </a:schemeClr>
                </a:solidFill>
              </a:rPr>
              <a:t>one needs </a:t>
            </a:r>
            <a:r>
              <a:rPr lang="en-US" sz="2400" b="1" dirty="0">
                <a:solidFill>
                  <a:schemeClr val="accent6">
                    <a:lumMod val="75000"/>
                  </a:schemeClr>
                </a:solidFill>
              </a:rPr>
              <a:t>to produce a prediction for a continuous output. </a:t>
            </a:r>
            <a:endParaRPr lang="en-US" sz="2400" b="1" dirty="0" smtClean="0">
              <a:solidFill>
                <a:schemeClr val="accent6">
                  <a:lumMod val="75000"/>
                </a:schemeClr>
              </a:solidFill>
            </a:endParaRPr>
          </a:p>
          <a:p>
            <a:pPr algn="just"/>
            <a:r>
              <a:rPr lang="en-US" sz="2400" b="1" dirty="0" smtClean="0">
                <a:solidFill>
                  <a:schemeClr val="accent6">
                    <a:lumMod val="75000"/>
                  </a:schemeClr>
                </a:solidFill>
              </a:rPr>
              <a:t>That </a:t>
            </a:r>
            <a:r>
              <a:rPr lang="en-US" sz="2400" b="1" dirty="0">
                <a:solidFill>
                  <a:schemeClr val="accent6">
                    <a:lumMod val="75000"/>
                  </a:schemeClr>
                </a:solidFill>
              </a:rPr>
              <a:t>is exactly the purpose of regression. </a:t>
            </a:r>
            <a:endParaRPr lang="en-US" sz="2400" b="1" dirty="0" smtClean="0">
              <a:solidFill>
                <a:schemeClr val="accent6">
                  <a:lumMod val="75000"/>
                </a:schemeClr>
              </a:solidFill>
            </a:endParaRPr>
          </a:p>
          <a:p>
            <a:pPr algn="just"/>
            <a:r>
              <a:rPr lang="en-US" sz="2400" i="1" dirty="0" smtClean="0"/>
              <a:t>Notice </a:t>
            </a:r>
            <a:r>
              <a:rPr lang="en-US" sz="2400" i="1" dirty="0"/>
              <a:t>that regression isn’t any one technique in particular. It’s just a class of methods that helps us achieve our overall goal of predicting a continuous output.</a:t>
            </a:r>
          </a:p>
        </p:txBody>
      </p:sp>
    </p:spTree>
    <p:extLst>
      <p:ext uri="{BB962C8B-B14F-4D97-AF65-F5344CB8AC3E}">
        <p14:creationId xmlns:p14="http://schemas.microsoft.com/office/powerpoint/2010/main" val="7459488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35313" y="629150"/>
            <a:ext cx="3041217" cy="584775"/>
          </a:xfrm>
          <a:prstGeom prst="rect">
            <a:avLst/>
          </a:prstGeom>
        </p:spPr>
        <p:txBody>
          <a:bodyPr wrap="none">
            <a:spAutoFit/>
          </a:bodyPr>
          <a:lstStyle/>
          <a:p>
            <a:r>
              <a:rPr lang="en-US" sz="3200" b="1" dirty="0">
                <a:effectLst>
                  <a:outerShdw blurRad="38100" dist="38100" dir="2700000" algn="tl">
                    <a:srgbClr val="000000">
                      <a:alpha val="43137"/>
                    </a:srgbClr>
                  </a:outerShdw>
                </a:effectLst>
              </a:rPr>
              <a:t>Solution Options</a:t>
            </a:r>
          </a:p>
        </p:txBody>
      </p:sp>
      <p:sp>
        <p:nvSpPr>
          <p:cNvPr id="3" name="Rectangle 2"/>
          <p:cNvSpPr/>
          <p:nvPr/>
        </p:nvSpPr>
        <p:spPr>
          <a:xfrm>
            <a:off x="878497" y="1698998"/>
            <a:ext cx="3736472" cy="461665"/>
          </a:xfrm>
          <a:prstGeom prst="rect">
            <a:avLst/>
          </a:prstGeom>
        </p:spPr>
        <p:txBody>
          <a:bodyPr wrap="none">
            <a:spAutoFit/>
          </a:bodyPr>
          <a:lstStyle/>
          <a:p>
            <a:pPr algn="ctr"/>
            <a:r>
              <a:rPr lang="en-US" sz="2400" u="sng" dirty="0" smtClean="0">
                <a:effectLst>
                  <a:outerShdw blurRad="38100" dist="38100" dir="2700000" algn="tl">
                    <a:srgbClr val="000000">
                      <a:alpha val="43137"/>
                    </a:srgbClr>
                  </a:outerShdw>
                </a:effectLst>
              </a:rPr>
              <a:t>List </a:t>
            </a:r>
            <a:r>
              <a:rPr lang="en-US" sz="2400" u="sng" dirty="0">
                <a:effectLst>
                  <a:outerShdw blurRad="38100" dist="38100" dir="2700000" algn="tl">
                    <a:srgbClr val="000000">
                      <a:alpha val="43137"/>
                    </a:srgbClr>
                  </a:outerShdw>
                </a:effectLst>
              </a:rPr>
              <a:t>of regression techniques</a:t>
            </a:r>
          </a:p>
        </p:txBody>
      </p:sp>
      <p:sp>
        <p:nvSpPr>
          <p:cNvPr id="4" name="Rectangle 3"/>
          <p:cNvSpPr/>
          <p:nvPr/>
        </p:nvSpPr>
        <p:spPr>
          <a:xfrm>
            <a:off x="1545336" y="2311414"/>
            <a:ext cx="9418320" cy="3416320"/>
          </a:xfrm>
          <a:prstGeom prst="rect">
            <a:avLst/>
          </a:prstGeom>
        </p:spPr>
        <p:txBody>
          <a:bodyPr wrap="square">
            <a:spAutoFit/>
          </a:bodyPr>
          <a:lstStyle/>
          <a:p>
            <a:pPr algn="just"/>
            <a:r>
              <a:rPr lang="en-US" sz="2400" dirty="0"/>
              <a:t>K-Nearest-Neighbors </a:t>
            </a:r>
            <a:r>
              <a:rPr lang="en-US" sz="2400" dirty="0" smtClean="0"/>
              <a:t>(KNN)</a:t>
            </a:r>
          </a:p>
          <a:p>
            <a:pPr algn="just"/>
            <a:r>
              <a:rPr lang="en-US" sz="2400" dirty="0" smtClean="0"/>
              <a:t>K-Nearest-Neighbors </a:t>
            </a:r>
            <a:r>
              <a:rPr lang="en-US" sz="2400" dirty="0"/>
              <a:t>is an extremely intuitive, non-parametric technique for regression or </a:t>
            </a:r>
            <a:r>
              <a:rPr lang="en-US" sz="2400" dirty="0" smtClean="0"/>
              <a:t>classification</a:t>
            </a:r>
            <a:r>
              <a:rPr lang="en-US" sz="2400" dirty="0"/>
              <a:t>. </a:t>
            </a:r>
            <a:endParaRPr lang="en-US" sz="2400" dirty="0" smtClean="0"/>
          </a:p>
          <a:p>
            <a:pPr algn="just"/>
            <a:r>
              <a:rPr lang="en-US" sz="2400" dirty="0" smtClean="0">
                <a:solidFill>
                  <a:srgbClr val="C00000"/>
                </a:solidFill>
              </a:rPr>
              <a:t>It </a:t>
            </a:r>
            <a:r>
              <a:rPr lang="en-US" sz="2400" dirty="0">
                <a:solidFill>
                  <a:srgbClr val="C00000"/>
                </a:solidFill>
              </a:rPr>
              <a:t>works as follows in the regression case: </a:t>
            </a:r>
            <a:endParaRPr lang="en-US" sz="2400" dirty="0" smtClean="0">
              <a:solidFill>
                <a:srgbClr val="C00000"/>
              </a:solidFill>
            </a:endParaRPr>
          </a:p>
          <a:p>
            <a:pPr marL="457200" indent="-457200" algn="just">
              <a:buAutoNum type="arabicPeriod"/>
            </a:pPr>
            <a:r>
              <a:rPr lang="en-US" sz="2400" dirty="0" smtClean="0">
                <a:effectLst>
                  <a:outerShdw blurRad="38100" dist="38100" dir="2700000" algn="tl">
                    <a:srgbClr val="000000">
                      <a:alpha val="43137"/>
                    </a:srgbClr>
                  </a:outerShdw>
                </a:effectLst>
              </a:rPr>
              <a:t>Identify </a:t>
            </a:r>
            <a:r>
              <a:rPr lang="en-US" sz="2400" dirty="0">
                <a:effectLst>
                  <a:outerShdw blurRad="38100" dist="38100" dir="2700000" algn="tl">
                    <a:srgbClr val="000000">
                      <a:alpha val="43137"/>
                    </a:srgbClr>
                  </a:outerShdw>
                </a:effectLst>
              </a:rPr>
              <a:t>the K points in our data set that are closest to the new data point</a:t>
            </a:r>
            <a:r>
              <a:rPr lang="en-US" sz="2400" dirty="0"/>
              <a:t>. </a:t>
            </a:r>
            <a:r>
              <a:rPr lang="en-US" sz="2400" dirty="0">
                <a:solidFill>
                  <a:srgbClr val="C00000"/>
                </a:solidFill>
              </a:rPr>
              <a:t>‘Closest’ is some measure of distance, usually </a:t>
            </a:r>
            <a:r>
              <a:rPr lang="en-US" sz="2400" b="1" dirty="0">
                <a:solidFill>
                  <a:srgbClr val="C00000"/>
                </a:solidFill>
                <a:effectLst>
                  <a:outerShdw blurRad="38100" dist="38100" dir="2700000" algn="tl">
                    <a:srgbClr val="000000">
                      <a:alpha val="43137"/>
                    </a:srgbClr>
                  </a:outerShdw>
                </a:effectLst>
              </a:rPr>
              <a:t>Euclidean</a:t>
            </a:r>
            <a:r>
              <a:rPr lang="en-US" sz="2400" dirty="0"/>
              <a:t>. </a:t>
            </a:r>
            <a:endParaRPr lang="en-US" sz="2400" dirty="0" smtClean="0"/>
          </a:p>
          <a:p>
            <a:pPr marL="457200" indent="-457200" algn="just">
              <a:buAutoNum type="arabicPeriod"/>
            </a:pPr>
            <a:r>
              <a:rPr lang="en-US" sz="2400" b="1" dirty="0" smtClean="0">
                <a:solidFill>
                  <a:srgbClr val="C00000"/>
                </a:solidFill>
                <a:effectLst>
                  <a:outerShdw blurRad="38100" dist="38100" dir="2700000" algn="tl">
                    <a:srgbClr val="000000">
                      <a:alpha val="43137"/>
                    </a:srgbClr>
                  </a:outerShdw>
                </a:effectLst>
              </a:rPr>
              <a:t>Average</a:t>
            </a:r>
            <a:r>
              <a:rPr lang="en-US" sz="2400" dirty="0" smtClean="0"/>
              <a:t> </a:t>
            </a:r>
            <a:r>
              <a:rPr lang="en-US" sz="2400" dirty="0"/>
              <a:t>the value of interest for those K data points. </a:t>
            </a:r>
            <a:endParaRPr lang="en-US" sz="2400" dirty="0" smtClean="0"/>
          </a:p>
          <a:p>
            <a:pPr marL="457200" indent="-457200" algn="just">
              <a:buAutoNum type="arabicPeriod"/>
            </a:pPr>
            <a:r>
              <a:rPr lang="en-US" sz="2400" dirty="0" smtClean="0"/>
              <a:t>Return </a:t>
            </a:r>
            <a:r>
              <a:rPr lang="en-US" sz="2400" b="1" dirty="0">
                <a:solidFill>
                  <a:srgbClr val="C00000"/>
                </a:solidFill>
                <a:effectLst>
                  <a:outerShdw blurRad="38100" dist="38100" dir="2700000" algn="tl">
                    <a:srgbClr val="000000">
                      <a:alpha val="43137"/>
                    </a:srgbClr>
                  </a:outerShdw>
                </a:effectLst>
              </a:rPr>
              <a:t>that averaged value of interest</a:t>
            </a:r>
            <a:r>
              <a:rPr lang="en-US" sz="2400" dirty="0"/>
              <a:t>: it is the prediction for our new data point.</a:t>
            </a:r>
          </a:p>
        </p:txBody>
      </p:sp>
    </p:spTree>
    <p:extLst>
      <p:ext uri="{BB962C8B-B14F-4D97-AF65-F5344CB8AC3E}">
        <p14:creationId xmlns:p14="http://schemas.microsoft.com/office/powerpoint/2010/main" val="18493536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1248" y="332524"/>
            <a:ext cx="10616184" cy="6370975"/>
          </a:xfrm>
          <a:prstGeom prst="rect">
            <a:avLst/>
          </a:prstGeom>
        </p:spPr>
        <p:txBody>
          <a:bodyPr wrap="square">
            <a:spAutoFit/>
          </a:bodyPr>
          <a:lstStyle/>
          <a:p>
            <a:pPr algn="just"/>
            <a:r>
              <a:rPr lang="en-US" sz="2400" b="1" dirty="0">
                <a:solidFill>
                  <a:srgbClr val="C00000"/>
                </a:solidFill>
              </a:rPr>
              <a:t>Neural Networks </a:t>
            </a:r>
            <a:endParaRPr lang="en-US" sz="2400" b="1" dirty="0" smtClean="0">
              <a:solidFill>
                <a:srgbClr val="C00000"/>
              </a:solidFill>
            </a:endParaRPr>
          </a:p>
          <a:p>
            <a:pPr algn="just"/>
            <a:r>
              <a:rPr lang="en-US" sz="2400" dirty="0" smtClean="0"/>
              <a:t>A </a:t>
            </a:r>
            <a:r>
              <a:rPr lang="en-US" sz="2400" dirty="0"/>
              <a:t>neural network works by scaling and combining input variables many times. Furthermore, at each step of scaling and combining inputs, we typically apply some form of nonlinearity over our data values</a:t>
            </a:r>
            <a:r>
              <a:rPr lang="en-US" sz="2400" dirty="0" smtClean="0"/>
              <a:t>.</a:t>
            </a:r>
          </a:p>
          <a:p>
            <a:pPr algn="just"/>
            <a:endParaRPr lang="en-US" sz="1200" dirty="0"/>
          </a:p>
          <a:p>
            <a:pPr algn="just"/>
            <a:r>
              <a:rPr lang="en-US" sz="2400" b="1" dirty="0">
                <a:solidFill>
                  <a:srgbClr val="C00000"/>
                </a:solidFill>
              </a:rPr>
              <a:t>Random Forests </a:t>
            </a:r>
            <a:endParaRPr lang="en-US" sz="2400" b="1" dirty="0" smtClean="0">
              <a:solidFill>
                <a:srgbClr val="C00000"/>
              </a:solidFill>
            </a:endParaRPr>
          </a:p>
          <a:p>
            <a:pPr algn="just"/>
            <a:r>
              <a:rPr lang="en-US" sz="2400" dirty="0" smtClean="0"/>
              <a:t>Random </a:t>
            </a:r>
            <a:r>
              <a:rPr lang="en-US" sz="2400" dirty="0"/>
              <a:t>forests are what’s known as an ensemble method. This means we average the results of many smaller </a:t>
            </a:r>
            <a:r>
              <a:rPr lang="en-US" sz="2400" dirty="0" err="1"/>
              <a:t>regressors</a:t>
            </a:r>
            <a:r>
              <a:rPr lang="en-US" sz="2400" dirty="0"/>
              <a:t> known as decision trees to produce a prediction. These decision trees individually operate by partitioning our original data set with respect to the value of predictive interest using a subset of the features present in that data set</a:t>
            </a:r>
            <a:r>
              <a:rPr lang="en-US" sz="2400" dirty="0" smtClean="0"/>
              <a:t>.</a:t>
            </a:r>
          </a:p>
          <a:p>
            <a:pPr algn="just"/>
            <a:endParaRPr lang="en-US" sz="1200" dirty="0"/>
          </a:p>
          <a:p>
            <a:pPr algn="just"/>
            <a:r>
              <a:rPr lang="en-US" sz="2400" b="1" dirty="0">
                <a:solidFill>
                  <a:srgbClr val="C00000"/>
                </a:solidFill>
              </a:rPr>
              <a:t>Gradient Boosted </a:t>
            </a:r>
            <a:r>
              <a:rPr lang="en-US" sz="2400" b="1" dirty="0" smtClean="0">
                <a:solidFill>
                  <a:srgbClr val="C00000"/>
                </a:solidFill>
              </a:rPr>
              <a:t>Trees</a:t>
            </a:r>
          </a:p>
          <a:p>
            <a:pPr algn="just"/>
            <a:r>
              <a:rPr lang="en-US" sz="2400" dirty="0" smtClean="0"/>
              <a:t>Gradient </a:t>
            </a:r>
            <a:r>
              <a:rPr lang="en-US" sz="2400" dirty="0"/>
              <a:t>boosted trees are another technique built on decision trees. Assume we start with a set of decision trees that together achieve a certain level of performance. </a:t>
            </a:r>
            <a:endParaRPr lang="en-US" sz="2400" dirty="0" smtClean="0"/>
          </a:p>
          <a:p>
            <a:pPr algn="just"/>
            <a:endParaRPr lang="en-US" sz="1200" dirty="0"/>
          </a:p>
          <a:p>
            <a:pPr algn="just"/>
            <a:r>
              <a:rPr lang="en-US" sz="2400" b="1" dirty="0">
                <a:solidFill>
                  <a:srgbClr val="C00000"/>
                </a:solidFill>
              </a:rPr>
              <a:t>Turning to Linear Regression</a:t>
            </a:r>
          </a:p>
        </p:txBody>
      </p:sp>
    </p:spTree>
    <p:extLst>
      <p:ext uri="{BB962C8B-B14F-4D97-AF65-F5344CB8AC3E}">
        <p14:creationId xmlns:p14="http://schemas.microsoft.com/office/powerpoint/2010/main" val="33234206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36183" y="510278"/>
            <a:ext cx="3168431" cy="584775"/>
          </a:xfrm>
          <a:prstGeom prst="rect">
            <a:avLst/>
          </a:prstGeom>
        </p:spPr>
        <p:txBody>
          <a:bodyPr wrap="none">
            <a:spAutoFit/>
          </a:bodyPr>
          <a:lstStyle/>
          <a:p>
            <a:r>
              <a:rPr lang="en-US" sz="3200" b="1" dirty="0">
                <a:solidFill>
                  <a:srgbClr val="002060"/>
                </a:solidFill>
                <a:effectLst>
                  <a:outerShdw blurRad="38100" dist="38100" dir="2700000" algn="tl">
                    <a:srgbClr val="000000">
                      <a:alpha val="43137"/>
                    </a:srgbClr>
                  </a:outerShdw>
                </a:effectLst>
              </a:rPr>
              <a:t>Linear </a:t>
            </a:r>
            <a:r>
              <a:rPr lang="en-US" sz="3200" b="1" dirty="0" smtClean="0">
                <a:solidFill>
                  <a:srgbClr val="002060"/>
                </a:solidFill>
                <a:effectLst>
                  <a:outerShdw blurRad="38100" dist="38100" dir="2700000" algn="tl">
                    <a:srgbClr val="000000">
                      <a:alpha val="43137"/>
                    </a:srgbClr>
                  </a:outerShdw>
                </a:effectLst>
              </a:rPr>
              <a:t>Regression</a:t>
            </a:r>
            <a:endParaRPr lang="en-US" sz="3200" b="1" dirty="0">
              <a:solidFill>
                <a:srgbClr val="002060"/>
              </a:solidFill>
              <a:effectLst>
                <a:outerShdw blurRad="38100" dist="38100" dir="2700000" algn="tl">
                  <a:srgbClr val="000000">
                    <a:alpha val="43137"/>
                  </a:srgbClr>
                </a:outerShdw>
              </a:effectLst>
            </a:endParaRPr>
          </a:p>
        </p:txBody>
      </p:sp>
      <p:sp>
        <p:nvSpPr>
          <p:cNvPr id="5" name="Rectangle 4"/>
          <p:cNvSpPr/>
          <p:nvPr/>
        </p:nvSpPr>
        <p:spPr>
          <a:xfrm>
            <a:off x="905256" y="1273016"/>
            <a:ext cx="10360152" cy="1569660"/>
          </a:xfrm>
          <a:prstGeom prst="rect">
            <a:avLst/>
          </a:prstGeom>
        </p:spPr>
        <p:txBody>
          <a:bodyPr wrap="square">
            <a:spAutoFit/>
          </a:bodyPr>
          <a:lstStyle/>
          <a:p>
            <a:pPr algn="just"/>
            <a:r>
              <a:rPr lang="en-US" sz="2400" b="1" dirty="0"/>
              <a:t>Linear regression</a:t>
            </a:r>
            <a:r>
              <a:rPr lang="en-US" sz="2400" dirty="0"/>
              <a:t> is a statistical method that is used in various machine learning models to predict the value of unknown data using other related data values. Linear regression is used to study the relationship </a:t>
            </a:r>
            <a:r>
              <a:rPr lang="en-US" sz="2400" b="1" dirty="0">
                <a:solidFill>
                  <a:srgbClr val="FF0000"/>
                </a:solidFill>
              </a:rPr>
              <a:t>between a dependent variable and an independent variable.</a:t>
            </a:r>
            <a:endParaRPr lang="en-US" sz="2400" b="1" dirty="0">
              <a:solidFill>
                <a:srgbClr val="FF0000"/>
              </a:solidFill>
              <a:effectLst/>
            </a:endParaRPr>
          </a:p>
        </p:txBody>
      </p:sp>
      <p:pic>
        <p:nvPicPr>
          <p:cNvPr id="6" name="Picture 5"/>
          <p:cNvPicPr>
            <a:picLocks noChangeAspect="1"/>
          </p:cNvPicPr>
          <p:nvPr/>
        </p:nvPicPr>
        <p:blipFill>
          <a:blip r:embed="rId2"/>
          <a:stretch>
            <a:fillRect/>
          </a:stretch>
        </p:blipFill>
        <p:spPr>
          <a:xfrm>
            <a:off x="6613017" y="3157799"/>
            <a:ext cx="4555946" cy="2651760"/>
          </a:xfrm>
          <a:prstGeom prst="rect">
            <a:avLst/>
          </a:prstGeom>
        </p:spPr>
      </p:pic>
    </p:spTree>
    <p:extLst>
      <p:ext uri="{BB962C8B-B14F-4D97-AF65-F5344CB8AC3E}">
        <p14:creationId xmlns:p14="http://schemas.microsoft.com/office/powerpoint/2010/main" val="29276811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78917" y="201168"/>
            <a:ext cx="11172190" cy="1737360"/>
          </a:xfrm>
          <a:prstGeom prst="rect">
            <a:avLst/>
          </a:prstGeom>
        </p:spPr>
      </p:pic>
      <p:pic>
        <p:nvPicPr>
          <p:cNvPr id="4" name="Picture 3"/>
          <p:cNvPicPr>
            <a:picLocks noChangeAspect="1"/>
          </p:cNvPicPr>
          <p:nvPr/>
        </p:nvPicPr>
        <p:blipFill>
          <a:blip r:embed="rId3"/>
          <a:stretch>
            <a:fillRect/>
          </a:stretch>
        </p:blipFill>
        <p:spPr>
          <a:xfrm>
            <a:off x="872871" y="1907286"/>
            <a:ext cx="10577457" cy="822960"/>
          </a:xfrm>
          <a:prstGeom prst="rect">
            <a:avLst/>
          </a:prstGeom>
        </p:spPr>
      </p:pic>
      <p:sp>
        <p:nvSpPr>
          <p:cNvPr id="5" name="Rectangle 4"/>
          <p:cNvSpPr/>
          <p:nvPr/>
        </p:nvSpPr>
        <p:spPr>
          <a:xfrm>
            <a:off x="1022096" y="2763012"/>
            <a:ext cx="10268712" cy="1107996"/>
          </a:xfrm>
          <a:prstGeom prst="rect">
            <a:avLst/>
          </a:prstGeom>
        </p:spPr>
        <p:txBody>
          <a:bodyPr wrap="square">
            <a:spAutoFit/>
          </a:bodyPr>
          <a:lstStyle/>
          <a:p>
            <a:pPr algn="just"/>
            <a:r>
              <a:rPr lang="en-US" sz="2200" dirty="0"/>
              <a:t>Let’s illustrate how linear regression works using an example, considering the case of 10 year old Sam. She is curious about how tall she will be when she grows up. She has a data set of parents’ heights and the final heights of their children. The inputs x are</a:t>
            </a:r>
          </a:p>
        </p:txBody>
      </p:sp>
      <p:pic>
        <p:nvPicPr>
          <p:cNvPr id="6" name="Picture 5"/>
          <p:cNvPicPr>
            <a:picLocks noChangeAspect="1"/>
          </p:cNvPicPr>
          <p:nvPr/>
        </p:nvPicPr>
        <p:blipFill>
          <a:blip r:embed="rId4"/>
          <a:stretch>
            <a:fillRect/>
          </a:stretch>
        </p:blipFill>
        <p:spPr>
          <a:xfrm>
            <a:off x="2069084" y="3897634"/>
            <a:ext cx="8339583" cy="2651760"/>
          </a:xfrm>
          <a:prstGeom prst="rect">
            <a:avLst/>
          </a:prstGeom>
        </p:spPr>
      </p:pic>
    </p:spTree>
    <p:extLst>
      <p:ext uri="{BB962C8B-B14F-4D97-AF65-F5344CB8AC3E}">
        <p14:creationId xmlns:p14="http://schemas.microsoft.com/office/powerpoint/2010/main" val="9659778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1872" y="326059"/>
            <a:ext cx="9857232" cy="877163"/>
          </a:xfrm>
          <a:prstGeom prst="rect">
            <a:avLst/>
          </a:prstGeom>
        </p:spPr>
        <p:txBody>
          <a:bodyPr wrap="square">
            <a:spAutoFit/>
          </a:bodyPr>
          <a:lstStyle/>
          <a:p>
            <a:r>
              <a:rPr lang="en-US" sz="2800" b="1" dirty="0"/>
              <a:t>Linear Regression Equation</a:t>
            </a:r>
          </a:p>
          <a:p>
            <a:r>
              <a:rPr lang="en-US" sz="2300" dirty="0"/>
              <a:t>Linear regression line equation is written in the form:</a:t>
            </a:r>
          </a:p>
        </p:txBody>
      </p:sp>
      <p:sp>
        <p:nvSpPr>
          <p:cNvPr id="3" name="Rectangle 2"/>
          <p:cNvSpPr/>
          <p:nvPr/>
        </p:nvSpPr>
        <p:spPr>
          <a:xfrm>
            <a:off x="7679921" y="664613"/>
            <a:ext cx="1366913" cy="461665"/>
          </a:xfrm>
          <a:prstGeom prst="rect">
            <a:avLst/>
          </a:prstGeom>
        </p:spPr>
        <p:txBody>
          <a:bodyPr wrap="none">
            <a:spAutoFit/>
          </a:bodyPr>
          <a:lstStyle/>
          <a:p>
            <a:r>
              <a:rPr lang="en-US" sz="2400" b="1" dirty="0"/>
              <a:t>y = a + </a:t>
            </a:r>
            <a:r>
              <a:rPr lang="en-US" sz="2400" b="1" dirty="0" err="1"/>
              <a:t>bx</a:t>
            </a:r>
            <a:endParaRPr lang="en-US" sz="2400" dirty="0"/>
          </a:p>
        </p:txBody>
      </p:sp>
      <p:sp>
        <p:nvSpPr>
          <p:cNvPr id="4" name="Rectangle 3"/>
          <p:cNvSpPr/>
          <p:nvPr/>
        </p:nvSpPr>
        <p:spPr>
          <a:xfrm>
            <a:off x="1722120" y="1126278"/>
            <a:ext cx="7540752" cy="1200329"/>
          </a:xfrm>
          <a:prstGeom prst="rect">
            <a:avLst/>
          </a:prstGeom>
        </p:spPr>
        <p:txBody>
          <a:bodyPr wrap="square">
            <a:spAutoFit/>
          </a:bodyPr>
          <a:lstStyle/>
          <a:p>
            <a:r>
              <a:rPr lang="en-US" sz="2400" dirty="0"/>
              <a:t>where,</a:t>
            </a:r>
          </a:p>
          <a:p>
            <a:r>
              <a:rPr lang="en-US" sz="2400" dirty="0" smtClean="0"/>
              <a:t>  </a:t>
            </a:r>
            <a:r>
              <a:rPr lang="en-US" sz="2400" dirty="0" smtClean="0">
                <a:sym typeface="Wingdings" panose="05000000000000000000" pitchFamily="2" charset="2"/>
              </a:rPr>
              <a:t> </a:t>
            </a:r>
            <a:r>
              <a:rPr lang="en-US" sz="2400" dirty="0" smtClean="0"/>
              <a:t>x </a:t>
            </a:r>
            <a:r>
              <a:rPr lang="en-US" sz="2400" dirty="0"/>
              <a:t>is Independent Variable, Plotted along X-axis</a:t>
            </a:r>
          </a:p>
          <a:p>
            <a:r>
              <a:rPr lang="en-US" sz="2400" dirty="0" smtClean="0">
                <a:sym typeface="Wingdings" panose="05000000000000000000" pitchFamily="2" charset="2"/>
              </a:rPr>
              <a:t>   </a:t>
            </a:r>
            <a:r>
              <a:rPr lang="en-US" sz="2400" dirty="0" smtClean="0"/>
              <a:t>y </a:t>
            </a:r>
            <a:r>
              <a:rPr lang="en-US" sz="2400" dirty="0"/>
              <a:t>is Dependent Variable, Plotted along Y-axis</a:t>
            </a:r>
          </a:p>
        </p:txBody>
      </p:sp>
      <p:sp>
        <p:nvSpPr>
          <p:cNvPr id="5" name="Rectangle 4"/>
          <p:cNvSpPr/>
          <p:nvPr/>
        </p:nvSpPr>
        <p:spPr>
          <a:xfrm>
            <a:off x="832104" y="2349690"/>
            <a:ext cx="10515600" cy="830997"/>
          </a:xfrm>
          <a:prstGeom prst="rect">
            <a:avLst/>
          </a:prstGeom>
        </p:spPr>
        <p:txBody>
          <a:bodyPr wrap="square">
            <a:spAutoFit/>
          </a:bodyPr>
          <a:lstStyle/>
          <a:p>
            <a:pPr algn="just"/>
            <a:r>
              <a:rPr lang="en-US" sz="2400" dirty="0"/>
              <a:t>The slope of the regression line is “b”, and the intercept value of regression line is “a”(the value of y when x = 0).</a:t>
            </a:r>
          </a:p>
        </p:txBody>
      </p:sp>
      <p:sp>
        <p:nvSpPr>
          <p:cNvPr id="6" name="Rectangle 5"/>
          <p:cNvSpPr/>
          <p:nvPr/>
        </p:nvSpPr>
        <p:spPr>
          <a:xfrm>
            <a:off x="832104" y="3203770"/>
            <a:ext cx="10515600" cy="1569660"/>
          </a:xfrm>
          <a:prstGeom prst="rect">
            <a:avLst/>
          </a:prstGeom>
        </p:spPr>
        <p:txBody>
          <a:bodyPr wrap="square">
            <a:spAutoFit/>
          </a:bodyPr>
          <a:lstStyle/>
          <a:p>
            <a:r>
              <a:rPr lang="en-US" sz="2400" b="1" dirty="0"/>
              <a:t>Linear Regression Formula</a:t>
            </a:r>
          </a:p>
          <a:p>
            <a:r>
              <a:rPr lang="en-US" sz="2400" dirty="0"/>
              <a:t>Formula used for linear regressions is,</a:t>
            </a:r>
            <a:r>
              <a:rPr lang="en-US" sz="2400" b="1" dirty="0"/>
              <a:t> y = a + </a:t>
            </a:r>
            <a:r>
              <a:rPr lang="en-US" sz="2400" b="1" dirty="0" err="1"/>
              <a:t>bx</a:t>
            </a:r>
            <a:endParaRPr lang="en-US" sz="2400" dirty="0"/>
          </a:p>
          <a:p>
            <a:pPr algn="just"/>
            <a:r>
              <a:rPr lang="en-US" sz="2400" dirty="0"/>
              <a:t>Intercept value, a, and slope of the line, b, are evaluated using the formulas given below:</a:t>
            </a:r>
          </a:p>
        </p:txBody>
      </p:sp>
      <p:pic>
        <p:nvPicPr>
          <p:cNvPr id="7" name="Picture 6"/>
          <p:cNvPicPr>
            <a:picLocks noChangeAspect="1"/>
          </p:cNvPicPr>
          <p:nvPr/>
        </p:nvPicPr>
        <p:blipFill>
          <a:blip r:embed="rId2"/>
          <a:stretch>
            <a:fillRect/>
          </a:stretch>
        </p:blipFill>
        <p:spPr>
          <a:xfrm>
            <a:off x="2632715" y="4391609"/>
            <a:ext cx="3137905" cy="1645920"/>
          </a:xfrm>
          <a:prstGeom prst="rect">
            <a:avLst/>
          </a:prstGeom>
        </p:spPr>
      </p:pic>
      <p:sp>
        <p:nvSpPr>
          <p:cNvPr id="8" name="Rectangle 7"/>
          <p:cNvSpPr/>
          <p:nvPr/>
        </p:nvSpPr>
        <p:spPr>
          <a:xfrm>
            <a:off x="5577840" y="4447024"/>
            <a:ext cx="6281928" cy="1862048"/>
          </a:xfrm>
          <a:prstGeom prst="rect">
            <a:avLst/>
          </a:prstGeom>
        </p:spPr>
        <p:txBody>
          <a:bodyPr wrap="square">
            <a:spAutoFit/>
          </a:bodyPr>
          <a:lstStyle/>
          <a:p>
            <a:r>
              <a:rPr lang="en-US" sz="2300" dirty="0"/>
              <a:t>where,</a:t>
            </a:r>
          </a:p>
          <a:p>
            <a:pPr>
              <a:buFont typeface="Arial" panose="020B0604020202020204" pitchFamily="34" charset="0"/>
              <a:buChar char="•"/>
            </a:pPr>
            <a:r>
              <a:rPr lang="en-US" sz="2300" dirty="0" smtClean="0"/>
              <a:t>  y </a:t>
            </a:r>
            <a:r>
              <a:rPr lang="en-US" sz="2300" dirty="0"/>
              <a:t>is Dependent Variable that Lies along Y-axis</a:t>
            </a:r>
          </a:p>
          <a:p>
            <a:pPr>
              <a:buFont typeface="Arial" panose="020B0604020202020204" pitchFamily="34" charset="0"/>
              <a:buChar char="•"/>
            </a:pPr>
            <a:r>
              <a:rPr lang="en-US" sz="2300" dirty="0" smtClean="0"/>
              <a:t>  a </a:t>
            </a:r>
            <a:r>
              <a:rPr lang="en-US" sz="2300" dirty="0"/>
              <a:t>is </a:t>
            </a:r>
            <a:r>
              <a:rPr lang="en-US" sz="2300" i="1" dirty="0"/>
              <a:t>Y-Intercept</a:t>
            </a:r>
          </a:p>
          <a:p>
            <a:pPr>
              <a:buFont typeface="Arial" panose="020B0604020202020204" pitchFamily="34" charset="0"/>
              <a:buChar char="•"/>
            </a:pPr>
            <a:r>
              <a:rPr lang="en-US" sz="2300" dirty="0" smtClean="0"/>
              <a:t>  b </a:t>
            </a:r>
            <a:r>
              <a:rPr lang="en-US" sz="2300" dirty="0"/>
              <a:t>is </a:t>
            </a:r>
            <a:r>
              <a:rPr lang="en-US" sz="2300" i="1" dirty="0"/>
              <a:t>Slope of </a:t>
            </a:r>
            <a:r>
              <a:rPr lang="en-US" sz="2300" i="1" dirty="0" smtClean="0"/>
              <a:t>regression line</a:t>
            </a:r>
          </a:p>
          <a:p>
            <a:pPr>
              <a:buFont typeface="Arial" panose="020B0604020202020204" pitchFamily="34" charset="0"/>
              <a:buChar char="•"/>
            </a:pPr>
            <a:r>
              <a:rPr lang="en-US" sz="2300" dirty="0"/>
              <a:t> </a:t>
            </a:r>
            <a:r>
              <a:rPr lang="en-US" sz="2300" dirty="0" smtClean="0"/>
              <a:t> x </a:t>
            </a:r>
            <a:r>
              <a:rPr lang="en-US" sz="2300" dirty="0"/>
              <a:t>is Independent Variable that Lies along X-axis</a:t>
            </a:r>
          </a:p>
        </p:txBody>
      </p:sp>
    </p:spTree>
    <p:extLst>
      <p:ext uri="{BB962C8B-B14F-4D97-AF65-F5344CB8AC3E}">
        <p14:creationId xmlns:p14="http://schemas.microsoft.com/office/powerpoint/2010/main" val="24062420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8680" y="1429572"/>
            <a:ext cx="10469880" cy="3939540"/>
          </a:xfrm>
          <a:prstGeom prst="rect">
            <a:avLst/>
          </a:prstGeom>
        </p:spPr>
        <p:txBody>
          <a:bodyPr wrap="square">
            <a:spAutoFit/>
          </a:bodyPr>
          <a:lstStyle/>
          <a:p>
            <a:pPr algn="just"/>
            <a:r>
              <a:rPr lang="en-US" sz="2400" b="1" dirty="0"/>
              <a:t>Properties of Linear Regression</a:t>
            </a:r>
          </a:p>
          <a:p>
            <a:pPr algn="just"/>
            <a:r>
              <a:rPr lang="en-US" sz="2400" dirty="0"/>
              <a:t>In the linear regression line if the regression parameters a</a:t>
            </a:r>
            <a:r>
              <a:rPr lang="en-US" sz="2400" baseline="-25000" dirty="0"/>
              <a:t>0</a:t>
            </a:r>
            <a:r>
              <a:rPr lang="en-US" sz="2400" dirty="0"/>
              <a:t> and a</a:t>
            </a:r>
            <a:r>
              <a:rPr lang="en-US" sz="2400" baseline="-25000" dirty="0"/>
              <a:t>1</a:t>
            </a:r>
            <a:r>
              <a:rPr lang="en-US" sz="2400" dirty="0"/>
              <a:t> are defined, the properties are given as below</a:t>
            </a:r>
            <a:r>
              <a:rPr lang="en-US" sz="2400" dirty="0" smtClean="0"/>
              <a:t>:</a:t>
            </a:r>
          </a:p>
          <a:p>
            <a:pPr algn="just"/>
            <a:endParaRPr lang="en-US" sz="1000" dirty="0"/>
          </a:p>
          <a:p>
            <a:pPr marL="342900" indent="-342900" algn="just">
              <a:buFont typeface="Wingdings" panose="05000000000000000000" pitchFamily="2" charset="2"/>
              <a:buChar char="à"/>
            </a:pPr>
            <a:r>
              <a:rPr lang="en-US" sz="2400" dirty="0" smtClean="0"/>
              <a:t>Linear </a:t>
            </a:r>
            <a:r>
              <a:rPr lang="en-US" sz="2400" dirty="0"/>
              <a:t>regression line reduces the sum of squared differences </a:t>
            </a:r>
            <a:r>
              <a:rPr lang="en-US" sz="2400" dirty="0" smtClean="0"/>
              <a:t>between</a:t>
            </a:r>
          </a:p>
          <a:p>
            <a:pPr algn="just"/>
            <a:r>
              <a:rPr lang="en-US" sz="2400" dirty="0"/>
              <a:t> </a:t>
            </a:r>
            <a:r>
              <a:rPr lang="en-US" sz="2400" dirty="0" smtClean="0"/>
              <a:t>    </a:t>
            </a:r>
            <a:r>
              <a:rPr lang="en-US" sz="2400" dirty="0"/>
              <a:t>observed values and predicted values.</a:t>
            </a:r>
          </a:p>
          <a:p>
            <a:pPr marL="342900" indent="-342900" algn="just">
              <a:buFont typeface="Wingdings" panose="05000000000000000000" pitchFamily="2" charset="2"/>
              <a:buChar char="à"/>
            </a:pPr>
            <a:r>
              <a:rPr lang="en-US" sz="2400" dirty="0" smtClean="0"/>
              <a:t>Linear </a:t>
            </a:r>
            <a:r>
              <a:rPr lang="en-US" sz="2400" dirty="0"/>
              <a:t>regression line always passes through the mean of X and Y </a:t>
            </a:r>
            <a:r>
              <a:rPr lang="en-US" sz="2400" dirty="0" smtClean="0"/>
              <a:t>variable</a:t>
            </a:r>
          </a:p>
          <a:p>
            <a:pPr algn="just"/>
            <a:r>
              <a:rPr lang="en-US" sz="2400" dirty="0"/>
              <a:t> </a:t>
            </a:r>
            <a:r>
              <a:rPr lang="en-US" sz="2400" dirty="0" smtClean="0"/>
              <a:t>    </a:t>
            </a:r>
            <a:r>
              <a:rPr lang="en-US" sz="2400" dirty="0"/>
              <a:t>values.</a:t>
            </a:r>
          </a:p>
          <a:p>
            <a:pPr marL="342900" indent="-342900" algn="just">
              <a:buFont typeface="Wingdings" panose="05000000000000000000" pitchFamily="2" charset="2"/>
              <a:buChar char="à"/>
            </a:pPr>
            <a:r>
              <a:rPr lang="en-US" sz="2400" dirty="0" smtClean="0"/>
              <a:t>Linear </a:t>
            </a:r>
            <a:r>
              <a:rPr lang="en-US" sz="2400" dirty="0"/>
              <a:t>regression constant (b</a:t>
            </a:r>
            <a:r>
              <a:rPr lang="en-US" sz="2400" baseline="-25000" dirty="0"/>
              <a:t>0</a:t>
            </a:r>
            <a:r>
              <a:rPr lang="en-US" sz="2400" dirty="0"/>
              <a:t>) is equal to the y-intercept of the </a:t>
            </a:r>
            <a:r>
              <a:rPr lang="en-US" sz="2400" dirty="0" smtClean="0"/>
              <a:t>linear</a:t>
            </a:r>
          </a:p>
          <a:p>
            <a:pPr algn="just"/>
            <a:r>
              <a:rPr lang="en-US" sz="2400" dirty="0"/>
              <a:t> </a:t>
            </a:r>
            <a:r>
              <a:rPr lang="en-US" sz="2400" dirty="0" smtClean="0"/>
              <a:t>    </a:t>
            </a:r>
            <a:r>
              <a:rPr lang="en-US" sz="2400" dirty="0"/>
              <a:t>regression.</a:t>
            </a:r>
          </a:p>
          <a:p>
            <a:pPr algn="just"/>
            <a:r>
              <a:rPr lang="en-US" sz="2400" dirty="0" smtClean="0">
                <a:sym typeface="Wingdings" panose="05000000000000000000" pitchFamily="2" charset="2"/>
              </a:rPr>
              <a:t> </a:t>
            </a:r>
            <a:r>
              <a:rPr lang="en-US" sz="2400" dirty="0" smtClean="0"/>
              <a:t>Linear </a:t>
            </a:r>
            <a:r>
              <a:rPr lang="en-US" sz="2400" dirty="0"/>
              <a:t>regression coefficient (b</a:t>
            </a:r>
            <a:r>
              <a:rPr lang="en-US" sz="2400" baseline="-25000" dirty="0"/>
              <a:t>0</a:t>
            </a:r>
            <a:r>
              <a:rPr lang="en-US" sz="2400" dirty="0"/>
              <a:t>) is the slope of the regression line.</a:t>
            </a:r>
          </a:p>
        </p:txBody>
      </p:sp>
    </p:spTree>
    <p:extLst>
      <p:ext uri="{BB962C8B-B14F-4D97-AF65-F5344CB8AC3E}">
        <p14:creationId xmlns:p14="http://schemas.microsoft.com/office/powerpoint/2010/main" val="12457442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9496" y="1545997"/>
            <a:ext cx="10561320" cy="3262432"/>
          </a:xfrm>
          <a:prstGeom prst="rect">
            <a:avLst/>
          </a:prstGeom>
        </p:spPr>
        <p:txBody>
          <a:bodyPr wrap="square">
            <a:spAutoFit/>
          </a:bodyPr>
          <a:lstStyle/>
          <a:p>
            <a:r>
              <a:rPr lang="en-US" sz="2800" b="1" dirty="0">
                <a:effectLst>
                  <a:outerShdw blurRad="38100" dist="38100" dir="2700000" algn="tl">
                    <a:srgbClr val="000000">
                      <a:alpha val="43137"/>
                    </a:srgbClr>
                  </a:outerShdw>
                </a:effectLst>
              </a:rPr>
              <a:t>Regression </a:t>
            </a:r>
            <a:r>
              <a:rPr lang="en-US" sz="2800" b="1" dirty="0" smtClean="0">
                <a:effectLst>
                  <a:outerShdw blurRad="38100" dist="38100" dir="2700000" algn="tl">
                    <a:srgbClr val="000000">
                      <a:alpha val="43137"/>
                    </a:srgbClr>
                  </a:outerShdw>
                </a:effectLst>
              </a:rPr>
              <a:t>Coefficient</a:t>
            </a:r>
            <a:endParaRPr lang="en-US" sz="2800" b="1" dirty="0">
              <a:effectLst>
                <a:outerShdw blurRad="38100" dist="38100" dir="2700000" algn="tl">
                  <a:srgbClr val="000000">
                    <a:alpha val="43137"/>
                  </a:srgbClr>
                </a:outerShdw>
              </a:effectLst>
            </a:endParaRPr>
          </a:p>
          <a:p>
            <a:r>
              <a:rPr lang="en-US" sz="2400" dirty="0"/>
              <a:t>Linear regression line, equation</a:t>
            </a:r>
            <a:r>
              <a:rPr lang="en-US" sz="2400" dirty="0" smtClean="0"/>
              <a:t>:</a:t>
            </a:r>
            <a:endParaRPr lang="en-US" sz="2400" dirty="0"/>
          </a:p>
          <a:p>
            <a:r>
              <a:rPr lang="en-US" sz="2400" dirty="0"/>
              <a:t>    Y = </a:t>
            </a:r>
            <a:r>
              <a:rPr lang="en-US" sz="2400" dirty="0" smtClean="0">
                <a:solidFill>
                  <a:srgbClr val="FF0000"/>
                </a:solidFill>
              </a:rPr>
              <a:t>B</a:t>
            </a:r>
            <a:r>
              <a:rPr lang="en-US" sz="2400" baseline="-25000" dirty="0" smtClean="0">
                <a:solidFill>
                  <a:srgbClr val="FF0000"/>
                </a:solidFill>
              </a:rPr>
              <a:t>0</a:t>
            </a:r>
            <a:r>
              <a:rPr lang="en-US" sz="2400" dirty="0" smtClean="0"/>
              <a:t> </a:t>
            </a:r>
            <a:r>
              <a:rPr lang="en-US" sz="2400" dirty="0"/>
              <a:t>+ </a:t>
            </a:r>
            <a:r>
              <a:rPr lang="en-US" sz="2400" dirty="0" smtClean="0">
                <a:solidFill>
                  <a:schemeClr val="accent6">
                    <a:lumMod val="75000"/>
                  </a:schemeClr>
                </a:solidFill>
              </a:rPr>
              <a:t>B</a:t>
            </a:r>
            <a:r>
              <a:rPr lang="en-US" sz="2400" baseline="-25000" dirty="0" smtClean="0">
                <a:solidFill>
                  <a:schemeClr val="accent6">
                    <a:lumMod val="75000"/>
                  </a:schemeClr>
                </a:solidFill>
              </a:rPr>
              <a:t>1</a:t>
            </a:r>
            <a:r>
              <a:rPr lang="en-US" sz="2400" dirty="0" smtClean="0"/>
              <a:t>X</a:t>
            </a:r>
          </a:p>
          <a:p>
            <a:r>
              <a:rPr lang="en-US" sz="2400" dirty="0"/>
              <a:t>where,</a:t>
            </a:r>
          </a:p>
          <a:p>
            <a:r>
              <a:rPr lang="en-US" sz="2400" dirty="0" smtClean="0"/>
              <a:t>    </a:t>
            </a:r>
            <a:r>
              <a:rPr lang="en-US" sz="2400" dirty="0" smtClean="0">
                <a:solidFill>
                  <a:srgbClr val="FF0000"/>
                </a:solidFill>
              </a:rPr>
              <a:t>B</a:t>
            </a:r>
            <a:r>
              <a:rPr lang="en-US" sz="2400" baseline="-25000" dirty="0" smtClean="0">
                <a:solidFill>
                  <a:srgbClr val="FF0000"/>
                </a:solidFill>
              </a:rPr>
              <a:t>0</a:t>
            </a:r>
            <a:r>
              <a:rPr lang="en-US" sz="2400" dirty="0" smtClean="0"/>
              <a:t> </a:t>
            </a:r>
            <a:r>
              <a:rPr lang="en-US" sz="2400" dirty="0"/>
              <a:t>is a Constant</a:t>
            </a:r>
          </a:p>
          <a:p>
            <a:r>
              <a:rPr lang="en-US" sz="2400" dirty="0"/>
              <a:t>    </a:t>
            </a:r>
            <a:r>
              <a:rPr lang="en-US" sz="2400" dirty="0" smtClean="0">
                <a:solidFill>
                  <a:schemeClr val="accent6">
                    <a:lumMod val="75000"/>
                  </a:schemeClr>
                </a:solidFill>
              </a:rPr>
              <a:t>B</a:t>
            </a:r>
            <a:r>
              <a:rPr lang="en-US" sz="2400" baseline="-25000" dirty="0" smtClean="0">
                <a:solidFill>
                  <a:schemeClr val="accent6">
                    <a:lumMod val="75000"/>
                  </a:schemeClr>
                </a:solidFill>
              </a:rPr>
              <a:t>1</a:t>
            </a:r>
            <a:r>
              <a:rPr lang="en-US" sz="2400" dirty="0" smtClean="0"/>
              <a:t> </a:t>
            </a:r>
            <a:r>
              <a:rPr lang="en-US" sz="2400" dirty="0"/>
              <a:t>is Regression </a:t>
            </a:r>
            <a:r>
              <a:rPr lang="en-US" sz="2400" dirty="0" smtClean="0"/>
              <a:t>Coefficient</a:t>
            </a:r>
          </a:p>
          <a:p>
            <a:endParaRPr lang="en-US" sz="1000" dirty="0" smtClean="0"/>
          </a:p>
          <a:p>
            <a:r>
              <a:rPr lang="en-US" sz="2400" dirty="0"/>
              <a:t>Here, </a:t>
            </a:r>
            <a:r>
              <a:rPr lang="en-US" sz="2400" dirty="0" smtClean="0"/>
              <a:t>B</a:t>
            </a:r>
            <a:r>
              <a:rPr lang="en-US" sz="2400" baseline="-25000" dirty="0" smtClean="0"/>
              <a:t>1</a:t>
            </a:r>
            <a:r>
              <a:rPr lang="en-US" sz="2400" dirty="0" smtClean="0"/>
              <a:t> </a:t>
            </a:r>
            <a:r>
              <a:rPr lang="en-US" sz="2400" dirty="0"/>
              <a:t>is the regression coefficient and its formula is,</a:t>
            </a:r>
          </a:p>
          <a:p>
            <a:endParaRPr lang="en-US" sz="2400" dirty="0"/>
          </a:p>
        </p:txBody>
      </p:sp>
      <p:pic>
        <p:nvPicPr>
          <p:cNvPr id="4" name="Picture 3"/>
          <p:cNvPicPr>
            <a:picLocks noChangeAspect="1"/>
          </p:cNvPicPr>
          <p:nvPr/>
        </p:nvPicPr>
        <p:blipFill>
          <a:blip r:embed="rId2"/>
          <a:stretch>
            <a:fillRect/>
          </a:stretch>
        </p:blipFill>
        <p:spPr>
          <a:xfrm>
            <a:off x="1355217" y="4420630"/>
            <a:ext cx="4248150" cy="533400"/>
          </a:xfrm>
          <a:prstGeom prst="rect">
            <a:avLst/>
          </a:prstGeom>
          <a:ln w="28575">
            <a:solidFill>
              <a:srgbClr val="7030A0"/>
            </a:solidFill>
          </a:ln>
        </p:spPr>
      </p:pic>
      <p:sp>
        <p:nvSpPr>
          <p:cNvPr id="5" name="Rectangle 4"/>
          <p:cNvSpPr/>
          <p:nvPr/>
        </p:nvSpPr>
        <p:spPr>
          <a:xfrm>
            <a:off x="1355217" y="5028527"/>
            <a:ext cx="6096000" cy="1261884"/>
          </a:xfrm>
          <a:prstGeom prst="rect">
            <a:avLst/>
          </a:prstGeom>
        </p:spPr>
        <p:txBody>
          <a:bodyPr>
            <a:spAutoFit/>
          </a:bodyPr>
          <a:lstStyle/>
          <a:p>
            <a:r>
              <a:rPr lang="en-US" sz="2400" dirty="0"/>
              <a:t>where,</a:t>
            </a:r>
          </a:p>
          <a:p>
            <a:endParaRPr lang="en-US" sz="400" dirty="0"/>
          </a:p>
          <a:p>
            <a:r>
              <a:rPr lang="en-US" sz="2400" dirty="0"/>
              <a:t>    </a:t>
            </a:r>
            <a:r>
              <a:rPr lang="en-US" sz="2400" dirty="0" smtClean="0">
                <a:sym typeface="Wingdings" panose="05000000000000000000" pitchFamily="2" charset="2"/>
              </a:rPr>
              <a:t> </a:t>
            </a:r>
            <a:r>
              <a:rPr lang="en-US" sz="2400" dirty="0" smtClean="0"/>
              <a:t>x</a:t>
            </a:r>
            <a:r>
              <a:rPr lang="en-US" sz="2400" baseline="-25000" dirty="0" smtClean="0"/>
              <a:t>i</a:t>
            </a:r>
            <a:r>
              <a:rPr lang="en-US" sz="2400" dirty="0" smtClean="0"/>
              <a:t> </a:t>
            </a:r>
            <a:r>
              <a:rPr lang="en-US" sz="2400" dirty="0"/>
              <a:t>and </a:t>
            </a:r>
            <a:r>
              <a:rPr lang="en-US" sz="2400" dirty="0" err="1" smtClean="0"/>
              <a:t>y</a:t>
            </a:r>
            <a:r>
              <a:rPr lang="en-US" sz="2400" baseline="-25000" dirty="0" err="1" smtClean="0"/>
              <a:t>i</a:t>
            </a:r>
            <a:r>
              <a:rPr lang="en-US" sz="2400" dirty="0" smtClean="0"/>
              <a:t> </a:t>
            </a:r>
            <a:r>
              <a:rPr lang="en-US" sz="2400" dirty="0"/>
              <a:t>are Observed Data Sets</a:t>
            </a:r>
          </a:p>
          <a:p>
            <a:r>
              <a:rPr lang="en-US" sz="2400" dirty="0"/>
              <a:t>    </a:t>
            </a:r>
            <a:r>
              <a:rPr lang="en-US" sz="2400" dirty="0" smtClean="0">
                <a:sym typeface="Wingdings" panose="05000000000000000000" pitchFamily="2" charset="2"/>
              </a:rPr>
              <a:t> </a:t>
            </a:r>
            <a:r>
              <a:rPr lang="en-US" sz="2400" dirty="0" smtClean="0"/>
              <a:t>x </a:t>
            </a:r>
            <a:r>
              <a:rPr lang="en-US" sz="2400" dirty="0"/>
              <a:t>and y are Mean Value</a:t>
            </a:r>
          </a:p>
        </p:txBody>
      </p:sp>
      <p:sp>
        <p:nvSpPr>
          <p:cNvPr id="6" name="Rectangle 5"/>
          <p:cNvSpPr/>
          <p:nvPr/>
        </p:nvSpPr>
        <p:spPr>
          <a:xfrm>
            <a:off x="6943344" y="318118"/>
            <a:ext cx="4696968" cy="3570208"/>
          </a:xfrm>
          <a:prstGeom prst="rect">
            <a:avLst/>
          </a:prstGeom>
          <a:ln w="28575">
            <a:solidFill>
              <a:srgbClr val="FF0000"/>
            </a:solidFill>
          </a:ln>
        </p:spPr>
        <p:txBody>
          <a:bodyPr wrap="square">
            <a:spAutoFit/>
          </a:bodyPr>
          <a:lstStyle/>
          <a:p>
            <a:pPr algn="ctr"/>
            <a:r>
              <a:rPr lang="en-US" sz="2200" b="1" dirty="0">
                <a:solidFill>
                  <a:schemeClr val="accent2">
                    <a:lumMod val="75000"/>
                  </a:schemeClr>
                </a:solidFill>
                <a:effectLst>
                  <a:outerShdw blurRad="38100" dist="38100" dir="2700000" algn="tl">
                    <a:srgbClr val="000000">
                      <a:alpha val="43137"/>
                    </a:srgbClr>
                  </a:outerShdw>
                </a:effectLst>
              </a:rPr>
              <a:t>What is Linear Regression Used for</a:t>
            </a:r>
            <a:r>
              <a:rPr lang="en-US" sz="2200" b="1" dirty="0" smtClean="0">
                <a:solidFill>
                  <a:schemeClr val="accent2">
                    <a:lumMod val="75000"/>
                  </a:schemeClr>
                </a:solidFill>
                <a:effectLst>
                  <a:outerShdw blurRad="38100" dist="38100" dir="2700000" algn="tl">
                    <a:srgbClr val="000000">
                      <a:alpha val="43137"/>
                    </a:srgbClr>
                  </a:outerShdw>
                </a:effectLst>
              </a:rPr>
              <a:t>?</a:t>
            </a:r>
          </a:p>
          <a:p>
            <a:pPr algn="ctr"/>
            <a:endParaRPr lang="en-US" sz="600" b="1" dirty="0">
              <a:solidFill>
                <a:schemeClr val="accent2">
                  <a:lumMod val="75000"/>
                </a:schemeClr>
              </a:solidFill>
              <a:effectLst>
                <a:outerShdw blurRad="38100" dist="38100" dir="2700000" algn="tl">
                  <a:srgbClr val="000000">
                    <a:alpha val="43137"/>
                  </a:srgbClr>
                </a:outerShdw>
              </a:effectLst>
            </a:endParaRPr>
          </a:p>
          <a:p>
            <a:r>
              <a:rPr lang="en-US" sz="2200" u="sng" dirty="0"/>
              <a:t>Various uses of Linear Regression are</a:t>
            </a:r>
            <a:r>
              <a:rPr lang="en-US" sz="2200" dirty="0"/>
              <a:t>:</a:t>
            </a:r>
          </a:p>
          <a:p>
            <a:r>
              <a:rPr lang="en-US" sz="2200" dirty="0"/>
              <a:t>    </a:t>
            </a:r>
            <a:r>
              <a:rPr lang="en-US" sz="2200" dirty="0" smtClean="0">
                <a:sym typeface="Wingdings" panose="05000000000000000000" pitchFamily="2" charset="2"/>
              </a:rPr>
              <a:t> </a:t>
            </a:r>
            <a:r>
              <a:rPr lang="en-US" sz="2200" dirty="0" smtClean="0"/>
              <a:t>It </a:t>
            </a:r>
            <a:r>
              <a:rPr lang="en-US" sz="2200" dirty="0"/>
              <a:t>is used in market research and </a:t>
            </a:r>
            <a:endParaRPr lang="en-US" sz="2200" dirty="0" smtClean="0"/>
          </a:p>
          <a:p>
            <a:r>
              <a:rPr lang="en-US" sz="2200" dirty="0"/>
              <a:t> </a:t>
            </a:r>
            <a:r>
              <a:rPr lang="en-US" sz="2200" dirty="0" smtClean="0"/>
              <a:t>         study </a:t>
            </a:r>
            <a:r>
              <a:rPr lang="en-US" sz="2200" dirty="0"/>
              <a:t>of customer survey results.</a:t>
            </a:r>
          </a:p>
          <a:p>
            <a:r>
              <a:rPr lang="en-US" sz="2200" dirty="0"/>
              <a:t>    </a:t>
            </a:r>
            <a:r>
              <a:rPr lang="en-US" sz="2200" dirty="0" smtClean="0">
                <a:sym typeface="Wingdings" panose="05000000000000000000" pitchFamily="2" charset="2"/>
              </a:rPr>
              <a:t> </a:t>
            </a:r>
            <a:r>
              <a:rPr lang="en-US" sz="2200" dirty="0" smtClean="0"/>
              <a:t>It </a:t>
            </a:r>
            <a:r>
              <a:rPr lang="en-US" sz="2200" dirty="0"/>
              <a:t>is used for studying </a:t>
            </a:r>
            <a:endParaRPr lang="en-US" sz="2200" dirty="0" smtClean="0"/>
          </a:p>
          <a:p>
            <a:r>
              <a:rPr lang="en-US" sz="2200" dirty="0"/>
              <a:t> </a:t>
            </a:r>
            <a:r>
              <a:rPr lang="en-US" sz="2200" dirty="0" smtClean="0"/>
              <a:t>         performance </a:t>
            </a:r>
            <a:r>
              <a:rPr lang="en-US" sz="2200" dirty="0"/>
              <a:t>of engine of </a:t>
            </a:r>
            <a:endParaRPr lang="en-US" sz="2200" dirty="0" smtClean="0"/>
          </a:p>
          <a:p>
            <a:r>
              <a:rPr lang="en-US" sz="2200" dirty="0"/>
              <a:t> </a:t>
            </a:r>
            <a:r>
              <a:rPr lang="en-US" sz="2200" dirty="0" smtClean="0"/>
              <a:t>         automobiles</a:t>
            </a:r>
            <a:r>
              <a:rPr lang="en-US" sz="2200" dirty="0"/>
              <a:t>.</a:t>
            </a:r>
          </a:p>
          <a:p>
            <a:r>
              <a:rPr lang="en-US" sz="2200" dirty="0"/>
              <a:t>    </a:t>
            </a:r>
            <a:r>
              <a:rPr lang="en-US" sz="2200" dirty="0" smtClean="0">
                <a:sym typeface="Wingdings" panose="05000000000000000000" pitchFamily="2" charset="2"/>
              </a:rPr>
              <a:t> </a:t>
            </a:r>
            <a:r>
              <a:rPr lang="en-US" sz="2200" dirty="0" smtClean="0"/>
              <a:t>It </a:t>
            </a:r>
            <a:r>
              <a:rPr lang="en-US" sz="2200" dirty="0"/>
              <a:t>is used in deciding the </a:t>
            </a:r>
            <a:r>
              <a:rPr lang="en-US" sz="2200" dirty="0" smtClean="0"/>
              <a:t>effective</a:t>
            </a:r>
          </a:p>
          <a:p>
            <a:r>
              <a:rPr lang="en-US" sz="2200" dirty="0"/>
              <a:t> </a:t>
            </a:r>
            <a:r>
              <a:rPr lang="en-US" sz="2200" dirty="0" smtClean="0"/>
              <a:t>         </a:t>
            </a:r>
            <a:r>
              <a:rPr lang="en-US" sz="2200" dirty="0"/>
              <a:t>price of any goods.</a:t>
            </a:r>
          </a:p>
          <a:p>
            <a:r>
              <a:rPr lang="en-US" sz="2200" dirty="0"/>
              <a:t>    </a:t>
            </a:r>
            <a:r>
              <a:rPr lang="en-US" sz="2200" dirty="0" smtClean="0">
                <a:sym typeface="Wingdings" panose="05000000000000000000" pitchFamily="2" charset="2"/>
              </a:rPr>
              <a:t> </a:t>
            </a:r>
            <a:r>
              <a:rPr lang="en-US" sz="2200" dirty="0" smtClean="0"/>
              <a:t>It </a:t>
            </a:r>
            <a:r>
              <a:rPr lang="en-US" sz="2200" dirty="0"/>
              <a:t>is used in astronomy.</a:t>
            </a:r>
          </a:p>
        </p:txBody>
      </p:sp>
    </p:spTree>
    <p:extLst>
      <p:ext uri="{BB962C8B-B14F-4D97-AF65-F5344CB8AC3E}">
        <p14:creationId xmlns:p14="http://schemas.microsoft.com/office/powerpoint/2010/main" val="30056237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64095" y="605047"/>
            <a:ext cx="3840480" cy="2666289"/>
          </a:xfrm>
          <a:prstGeom prst="rect">
            <a:avLst/>
          </a:prstGeom>
          <a:ln w="28575">
            <a:solidFill>
              <a:srgbClr val="002060"/>
            </a:solidFill>
          </a:ln>
        </p:spPr>
      </p:pic>
      <p:sp>
        <p:nvSpPr>
          <p:cNvPr id="3" name="Rectangle 2"/>
          <p:cNvSpPr/>
          <p:nvPr/>
        </p:nvSpPr>
        <p:spPr>
          <a:xfrm>
            <a:off x="5434584" y="330727"/>
            <a:ext cx="6096000" cy="769441"/>
          </a:xfrm>
          <a:prstGeom prst="rect">
            <a:avLst/>
          </a:prstGeom>
        </p:spPr>
        <p:txBody>
          <a:bodyPr>
            <a:spAutoFit/>
          </a:bodyPr>
          <a:lstStyle/>
          <a:p>
            <a:pPr algn="ctr"/>
            <a:r>
              <a:rPr lang="en-US" sz="2200" b="1" dirty="0">
                <a:solidFill>
                  <a:schemeClr val="accent2">
                    <a:lumMod val="75000"/>
                  </a:schemeClr>
                </a:solidFill>
              </a:rPr>
              <a:t>Question 1: Find the linear regression equation for the given data:</a:t>
            </a:r>
            <a:endParaRPr lang="en-US" sz="2200" dirty="0">
              <a:solidFill>
                <a:schemeClr val="accent2">
                  <a:lumMod val="75000"/>
                </a:schemeClr>
              </a:solidFill>
            </a:endParaRPr>
          </a:p>
        </p:txBody>
      </p:sp>
      <p:pic>
        <p:nvPicPr>
          <p:cNvPr id="4" name="Picture 3"/>
          <p:cNvPicPr>
            <a:picLocks noChangeAspect="1"/>
          </p:cNvPicPr>
          <p:nvPr/>
        </p:nvPicPr>
        <p:blipFill>
          <a:blip r:embed="rId3"/>
          <a:stretch>
            <a:fillRect/>
          </a:stretch>
        </p:blipFill>
        <p:spPr>
          <a:xfrm>
            <a:off x="764095" y="3376630"/>
            <a:ext cx="2194560" cy="1151108"/>
          </a:xfrm>
          <a:prstGeom prst="rect">
            <a:avLst/>
          </a:prstGeom>
          <a:ln w="28575">
            <a:solidFill>
              <a:srgbClr val="002060"/>
            </a:solidFill>
          </a:ln>
        </p:spPr>
      </p:pic>
      <p:sp>
        <p:nvSpPr>
          <p:cNvPr id="6" name="Rectangle 5"/>
          <p:cNvSpPr/>
          <p:nvPr/>
        </p:nvSpPr>
        <p:spPr>
          <a:xfrm>
            <a:off x="3330823" y="4372672"/>
            <a:ext cx="1588649" cy="1446550"/>
          </a:xfrm>
          <a:prstGeom prst="rect">
            <a:avLst/>
          </a:prstGeom>
        </p:spPr>
        <p:txBody>
          <a:bodyPr wrap="square">
            <a:spAutoFit/>
          </a:bodyPr>
          <a:lstStyle/>
          <a:p>
            <a:r>
              <a:rPr lang="en-US" sz="2200" b="1" dirty="0">
                <a:solidFill>
                  <a:srgbClr val="FF0000"/>
                </a:solidFill>
              </a:rPr>
              <a:t>Calculating intercept and slope value.</a:t>
            </a:r>
          </a:p>
        </p:txBody>
      </p:sp>
      <p:sp>
        <p:nvSpPr>
          <p:cNvPr id="7" name="Right Arrow 6"/>
          <p:cNvSpPr/>
          <p:nvPr/>
        </p:nvSpPr>
        <p:spPr>
          <a:xfrm>
            <a:off x="4919472" y="4400104"/>
            <a:ext cx="640080" cy="1214694"/>
          </a:xfrm>
          <a:prstGeom prst="rightArrow">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4"/>
          <a:stretch>
            <a:fillRect/>
          </a:stretch>
        </p:blipFill>
        <p:spPr>
          <a:xfrm>
            <a:off x="7749159" y="1214455"/>
            <a:ext cx="1466850" cy="2162175"/>
          </a:xfrm>
          <a:prstGeom prst="rect">
            <a:avLst/>
          </a:prstGeom>
        </p:spPr>
      </p:pic>
      <p:pic>
        <p:nvPicPr>
          <p:cNvPr id="10" name="Picture 9"/>
          <p:cNvPicPr>
            <a:picLocks noChangeAspect="1"/>
          </p:cNvPicPr>
          <p:nvPr/>
        </p:nvPicPr>
        <p:blipFill>
          <a:blip r:embed="rId5"/>
          <a:stretch>
            <a:fillRect/>
          </a:stretch>
        </p:blipFill>
        <p:spPr>
          <a:xfrm>
            <a:off x="5626036" y="3913459"/>
            <a:ext cx="6035040" cy="2364976"/>
          </a:xfrm>
          <a:prstGeom prst="rect">
            <a:avLst/>
          </a:prstGeom>
        </p:spPr>
      </p:pic>
    </p:spTree>
    <p:extLst>
      <p:ext uri="{BB962C8B-B14F-4D97-AF65-F5344CB8AC3E}">
        <p14:creationId xmlns:p14="http://schemas.microsoft.com/office/powerpoint/2010/main" val="27657145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7280" y="784366"/>
            <a:ext cx="10195560" cy="5262979"/>
          </a:xfrm>
          <a:prstGeom prst="rect">
            <a:avLst/>
          </a:prstGeom>
        </p:spPr>
        <p:txBody>
          <a:bodyPr wrap="square">
            <a:spAutoFit/>
          </a:bodyPr>
          <a:lstStyle/>
          <a:p>
            <a:r>
              <a:rPr lang="en-US" sz="2400" b="1" dirty="0" smtClean="0">
                <a:solidFill>
                  <a:srgbClr val="FF0000"/>
                </a:solidFill>
                <a:effectLst>
                  <a:outerShdw blurRad="38100" dist="38100" dir="2700000" algn="tl">
                    <a:srgbClr val="000000">
                      <a:alpha val="43137"/>
                    </a:srgbClr>
                  </a:outerShdw>
                </a:effectLst>
              </a:rPr>
              <a:t>Using formula for </a:t>
            </a:r>
            <a:r>
              <a:rPr lang="en-US" sz="2400" b="1" i="1" dirty="0" smtClean="0">
                <a:solidFill>
                  <a:srgbClr val="FF0000"/>
                </a:solidFill>
                <a:effectLst>
                  <a:outerShdw blurRad="38100" dist="38100" dir="2700000" algn="tl">
                    <a:srgbClr val="000000">
                      <a:alpha val="43137"/>
                    </a:srgbClr>
                  </a:outerShdw>
                </a:effectLst>
              </a:rPr>
              <a:t>a</a:t>
            </a:r>
            <a:r>
              <a:rPr lang="en-US" sz="2400" dirty="0" smtClean="0"/>
              <a:t>,</a:t>
            </a:r>
            <a:endParaRPr lang="en-US" sz="2400" dirty="0"/>
          </a:p>
          <a:p>
            <a:endParaRPr lang="en-US" sz="2400" dirty="0" smtClean="0"/>
          </a:p>
          <a:p>
            <a:endParaRPr lang="en-US" sz="2400" dirty="0"/>
          </a:p>
          <a:p>
            <a:r>
              <a:rPr lang="en-US" sz="2400" dirty="0" smtClean="0"/>
              <a:t>a </a:t>
            </a:r>
            <a:r>
              <a:rPr lang="en-US" sz="2400" dirty="0"/>
              <a:t>= {20 (124) – 20 (104)} / {4 (124) – 400</a:t>
            </a:r>
            <a:r>
              <a:rPr lang="en-US" sz="2400" dirty="0" smtClean="0"/>
              <a:t>}</a:t>
            </a:r>
          </a:p>
          <a:p>
            <a:endParaRPr lang="en-US" sz="600" dirty="0"/>
          </a:p>
          <a:p>
            <a:r>
              <a:rPr lang="en-US" sz="2400" dirty="0"/>
              <a:t>a = 400/96 = </a:t>
            </a:r>
            <a:r>
              <a:rPr lang="en-US" sz="2400" dirty="0" smtClean="0"/>
              <a:t>4.17</a:t>
            </a:r>
          </a:p>
          <a:p>
            <a:endParaRPr lang="en-US" sz="600" dirty="0"/>
          </a:p>
          <a:p>
            <a:endParaRPr lang="en-US" sz="1200" dirty="0" smtClean="0"/>
          </a:p>
          <a:p>
            <a:endParaRPr lang="en-US" sz="1200" dirty="0" smtClean="0"/>
          </a:p>
          <a:p>
            <a:r>
              <a:rPr lang="en-US" sz="2400" b="1" dirty="0" smtClean="0">
                <a:solidFill>
                  <a:srgbClr val="002060"/>
                </a:solidFill>
                <a:effectLst>
                  <a:outerShdw blurRad="38100" dist="38100" dir="2700000" algn="tl">
                    <a:srgbClr val="000000">
                      <a:alpha val="43137"/>
                    </a:srgbClr>
                  </a:outerShdw>
                </a:effectLst>
              </a:rPr>
              <a:t>Using </a:t>
            </a:r>
            <a:r>
              <a:rPr lang="en-US" sz="2400" b="1" dirty="0">
                <a:solidFill>
                  <a:srgbClr val="002060"/>
                </a:solidFill>
                <a:effectLst>
                  <a:outerShdw blurRad="38100" dist="38100" dir="2700000" algn="tl">
                    <a:srgbClr val="000000">
                      <a:alpha val="43137"/>
                    </a:srgbClr>
                  </a:outerShdw>
                </a:effectLst>
              </a:rPr>
              <a:t>formula for </a:t>
            </a:r>
            <a:r>
              <a:rPr lang="en-US" sz="2400" b="1" i="1" dirty="0" smtClean="0">
                <a:solidFill>
                  <a:srgbClr val="002060"/>
                </a:solidFill>
                <a:effectLst>
                  <a:outerShdw blurRad="38100" dist="38100" dir="2700000" algn="tl">
                    <a:srgbClr val="000000">
                      <a:alpha val="43137"/>
                    </a:srgbClr>
                  </a:outerShdw>
                </a:effectLst>
              </a:rPr>
              <a:t>b</a:t>
            </a:r>
            <a:r>
              <a:rPr lang="en-US" sz="2400" dirty="0" smtClean="0"/>
              <a:t>,</a:t>
            </a:r>
            <a:endParaRPr lang="en-US" sz="2400" dirty="0"/>
          </a:p>
          <a:p>
            <a:endParaRPr lang="en-US" sz="2400" dirty="0" smtClean="0"/>
          </a:p>
          <a:p>
            <a:endParaRPr lang="en-US" sz="2400" dirty="0"/>
          </a:p>
          <a:p>
            <a:r>
              <a:rPr lang="en-US" sz="2400" dirty="0" smtClean="0"/>
              <a:t>b </a:t>
            </a:r>
            <a:r>
              <a:rPr lang="en-US" sz="2400" dirty="0"/>
              <a:t>= {4 (104) – 20 (20)} / {4 (124) – 400}</a:t>
            </a:r>
          </a:p>
          <a:p>
            <a:r>
              <a:rPr lang="en-US" sz="2400" dirty="0"/>
              <a:t>b = 16/96 = 0.166 </a:t>
            </a:r>
            <a:endParaRPr lang="en-US" sz="2400" dirty="0" smtClean="0"/>
          </a:p>
          <a:p>
            <a:endParaRPr lang="en-US" sz="1200" dirty="0"/>
          </a:p>
          <a:p>
            <a:r>
              <a:rPr lang="en-US" sz="2400" dirty="0">
                <a:solidFill>
                  <a:srgbClr val="7030A0"/>
                </a:solidFill>
                <a:effectLst>
                  <a:outerShdw blurRad="38100" dist="38100" dir="2700000" algn="tl">
                    <a:srgbClr val="000000">
                      <a:alpha val="43137"/>
                    </a:srgbClr>
                  </a:outerShdw>
                </a:effectLst>
              </a:rPr>
              <a:t>So, linear regression equation </a:t>
            </a:r>
            <a:r>
              <a:rPr lang="en-US" sz="2400" dirty="0" smtClean="0">
                <a:solidFill>
                  <a:srgbClr val="7030A0"/>
                </a:solidFill>
                <a:effectLst>
                  <a:outerShdw blurRad="38100" dist="38100" dir="2700000" algn="tl">
                    <a:srgbClr val="000000">
                      <a:alpha val="43137"/>
                    </a:srgbClr>
                  </a:outerShdw>
                </a:effectLst>
              </a:rPr>
              <a:t>is:</a:t>
            </a:r>
          </a:p>
          <a:p>
            <a:r>
              <a:rPr lang="en-US" sz="2400" dirty="0">
                <a:solidFill>
                  <a:srgbClr val="7030A0"/>
                </a:solidFill>
                <a:effectLst>
                  <a:outerShdw blurRad="38100" dist="38100" dir="2700000" algn="tl">
                    <a:srgbClr val="000000">
                      <a:alpha val="43137"/>
                    </a:srgbClr>
                  </a:outerShdw>
                </a:effectLst>
              </a:rPr>
              <a:t> </a:t>
            </a:r>
            <a:r>
              <a:rPr lang="en-US" sz="2400" dirty="0" smtClean="0">
                <a:solidFill>
                  <a:srgbClr val="7030A0"/>
                </a:solidFill>
                <a:effectLst>
                  <a:outerShdw blurRad="38100" dist="38100" dir="2700000" algn="tl">
                    <a:srgbClr val="000000">
                      <a:alpha val="43137"/>
                    </a:srgbClr>
                  </a:outerShdw>
                </a:effectLst>
              </a:rPr>
              <a:t>      </a:t>
            </a:r>
            <a:r>
              <a:rPr lang="en-US" sz="2400" dirty="0">
                <a:solidFill>
                  <a:srgbClr val="7030A0"/>
                </a:solidFill>
                <a:effectLst>
                  <a:outerShdw blurRad="38100" dist="38100" dir="2700000" algn="tl">
                    <a:srgbClr val="000000">
                      <a:alpha val="43137"/>
                    </a:srgbClr>
                  </a:outerShdw>
                </a:effectLst>
              </a:rPr>
              <a:t>y=</a:t>
            </a:r>
            <a:r>
              <a:rPr lang="en-US" sz="2400" dirty="0" err="1">
                <a:solidFill>
                  <a:srgbClr val="7030A0"/>
                </a:solidFill>
                <a:effectLst>
                  <a:outerShdw blurRad="38100" dist="38100" dir="2700000" algn="tl">
                    <a:srgbClr val="000000">
                      <a:alpha val="43137"/>
                    </a:srgbClr>
                  </a:outerShdw>
                </a:effectLst>
              </a:rPr>
              <a:t>a+bx</a:t>
            </a:r>
            <a:r>
              <a:rPr lang="en-US" sz="2400" dirty="0">
                <a:solidFill>
                  <a:srgbClr val="7030A0"/>
                </a:solidFill>
                <a:effectLst>
                  <a:outerShdw blurRad="38100" dist="38100" dir="2700000" algn="tl">
                    <a:srgbClr val="000000">
                      <a:alpha val="43137"/>
                    </a:srgbClr>
                  </a:outerShdw>
                </a:effectLst>
              </a:rPr>
              <a:t> =&gt; y = 4.17 + 0.166x</a:t>
            </a:r>
          </a:p>
        </p:txBody>
      </p:sp>
      <p:pic>
        <p:nvPicPr>
          <p:cNvPr id="3" name="Picture 2"/>
          <p:cNvPicPr>
            <a:picLocks noChangeAspect="1"/>
          </p:cNvPicPr>
          <p:nvPr/>
        </p:nvPicPr>
        <p:blipFill>
          <a:blip r:embed="rId2"/>
          <a:stretch>
            <a:fillRect/>
          </a:stretch>
        </p:blipFill>
        <p:spPr>
          <a:xfrm>
            <a:off x="3752850" y="1129665"/>
            <a:ext cx="2324100" cy="666750"/>
          </a:xfrm>
          <a:prstGeom prst="rect">
            <a:avLst/>
          </a:prstGeom>
        </p:spPr>
      </p:pic>
      <p:pic>
        <p:nvPicPr>
          <p:cNvPr id="4" name="Picture 3"/>
          <p:cNvPicPr>
            <a:picLocks noChangeAspect="1"/>
          </p:cNvPicPr>
          <p:nvPr/>
        </p:nvPicPr>
        <p:blipFill>
          <a:blip r:embed="rId3"/>
          <a:stretch>
            <a:fillRect/>
          </a:stretch>
        </p:blipFill>
        <p:spPr>
          <a:xfrm>
            <a:off x="3752850" y="3484730"/>
            <a:ext cx="2362200" cy="647700"/>
          </a:xfrm>
          <a:prstGeom prst="rect">
            <a:avLst/>
          </a:prstGeom>
        </p:spPr>
      </p:pic>
      <p:pic>
        <p:nvPicPr>
          <p:cNvPr id="5" name="Picture 4"/>
          <p:cNvPicPr>
            <a:picLocks noChangeAspect="1"/>
          </p:cNvPicPr>
          <p:nvPr/>
        </p:nvPicPr>
        <p:blipFill>
          <a:blip r:embed="rId4"/>
          <a:stretch>
            <a:fillRect/>
          </a:stretch>
        </p:blipFill>
        <p:spPr>
          <a:xfrm>
            <a:off x="6887908" y="429595"/>
            <a:ext cx="4900146" cy="1920240"/>
          </a:xfrm>
          <a:prstGeom prst="rect">
            <a:avLst/>
          </a:prstGeom>
          <a:ln w="28575">
            <a:solidFill>
              <a:schemeClr val="accent6">
                <a:lumMod val="75000"/>
              </a:schemeClr>
            </a:solidFill>
          </a:ln>
        </p:spPr>
      </p:pic>
    </p:spTree>
    <p:extLst>
      <p:ext uri="{BB962C8B-B14F-4D97-AF65-F5344CB8AC3E}">
        <p14:creationId xmlns:p14="http://schemas.microsoft.com/office/powerpoint/2010/main" val="26376830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09928" y="902131"/>
            <a:ext cx="8366760" cy="954107"/>
          </a:xfrm>
          <a:prstGeom prst="rect">
            <a:avLst/>
          </a:prstGeom>
        </p:spPr>
        <p:txBody>
          <a:bodyPr wrap="square">
            <a:spAutoFit/>
          </a:bodyPr>
          <a:lstStyle/>
          <a:p>
            <a:pPr algn="ctr"/>
            <a:r>
              <a:rPr lang="en-US" sz="2800" b="1" dirty="0">
                <a:solidFill>
                  <a:srgbClr val="7030A0"/>
                </a:solidFill>
              </a:rPr>
              <a:t>Find the intercept of linear regression line if ∑x = 25, ∑y = 20, ∑x</a:t>
            </a:r>
            <a:r>
              <a:rPr lang="en-US" sz="2800" b="1" baseline="30000" dirty="0">
                <a:solidFill>
                  <a:srgbClr val="7030A0"/>
                </a:solidFill>
              </a:rPr>
              <a:t>2</a:t>
            </a:r>
            <a:r>
              <a:rPr lang="en-US" sz="2800" b="1" dirty="0">
                <a:solidFill>
                  <a:srgbClr val="7030A0"/>
                </a:solidFill>
              </a:rPr>
              <a:t> = 90, ∑</a:t>
            </a:r>
            <a:r>
              <a:rPr lang="en-US" sz="2800" b="1" dirty="0" err="1">
                <a:solidFill>
                  <a:srgbClr val="7030A0"/>
                </a:solidFill>
              </a:rPr>
              <a:t>xy</a:t>
            </a:r>
            <a:r>
              <a:rPr lang="en-US" sz="2800" b="1" dirty="0">
                <a:solidFill>
                  <a:srgbClr val="7030A0"/>
                </a:solidFill>
              </a:rPr>
              <a:t> = 150 and </a:t>
            </a:r>
            <a:r>
              <a:rPr lang="en-US" sz="2800" b="1" dirty="0">
                <a:solidFill>
                  <a:srgbClr val="FF0000"/>
                </a:solidFill>
              </a:rPr>
              <a:t>n</a:t>
            </a:r>
            <a:r>
              <a:rPr lang="en-US" sz="2800" b="1" dirty="0">
                <a:solidFill>
                  <a:srgbClr val="7030A0"/>
                </a:solidFill>
              </a:rPr>
              <a:t> = 5.</a:t>
            </a:r>
            <a:endParaRPr lang="en-US" sz="2800" dirty="0">
              <a:solidFill>
                <a:srgbClr val="7030A0"/>
              </a:solidFill>
            </a:endParaRPr>
          </a:p>
        </p:txBody>
      </p:sp>
      <p:pic>
        <p:nvPicPr>
          <p:cNvPr id="3" name="Picture 2"/>
          <p:cNvPicPr>
            <a:picLocks noChangeAspect="1"/>
          </p:cNvPicPr>
          <p:nvPr/>
        </p:nvPicPr>
        <p:blipFill>
          <a:blip r:embed="rId2"/>
          <a:stretch>
            <a:fillRect/>
          </a:stretch>
        </p:blipFill>
        <p:spPr>
          <a:xfrm>
            <a:off x="1914525" y="2138934"/>
            <a:ext cx="4248150" cy="2324100"/>
          </a:xfrm>
          <a:prstGeom prst="rect">
            <a:avLst/>
          </a:prstGeom>
        </p:spPr>
      </p:pic>
      <p:sp>
        <p:nvSpPr>
          <p:cNvPr id="4" name="Rectangle 3"/>
          <p:cNvSpPr/>
          <p:nvPr/>
        </p:nvSpPr>
        <p:spPr>
          <a:xfrm>
            <a:off x="3051048" y="4745730"/>
            <a:ext cx="8366760" cy="523220"/>
          </a:xfrm>
          <a:prstGeom prst="rect">
            <a:avLst/>
          </a:prstGeom>
        </p:spPr>
        <p:txBody>
          <a:bodyPr wrap="square">
            <a:spAutoFit/>
          </a:bodyPr>
          <a:lstStyle/>
          <a:p>
            <a:pPr algn="ctr"/>
            <a:r>
              <a:rPr lang="en-US" sz="2800" b="1" dirty="0" smtClean="0">
                <a:solidFill>
                  <a:srgbClr val="FF0000"/>
                </a:solidFill>
              </a:rPr>
              <a:t>SLOPE??</a:t>
            </a:r>
            <a:endParaRPr lang="en-US" sz="2800" dirty="0">
              <a:solidFill>
                <a:srgbClr val="FF0000"/>
              </a:solidFill>
            </a:endParaRPr>
          </a:p>
        </p:txBody>
      </p:sp>
    </p:spTree>
    <p:extLst>
      <p:ext uri="{BB962C8B-B14F-4D97-AF65-F5344CB8AC3E}">
        <p14:creationId xmlns:p14="http://schemas.microsoft.com/office/powerpoint/2010/main" val="2940983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90145" y="298323"/>
            <a:ext cx="4697987" cy="3108960"/>
          </a:xfrm>
          <a:prstGeom prst="rect">
            <a:avLst/>
          </a:prstGeom>
        </p:spPr>
      </p:pic>
      <p:sp>
        <p:nvSpPr>
          <p:cNvPr id="3" name="Rectangle 2"/>
          <p:cNvSpPr/>
          <p:nvPr/>
        </p:nvSpPr>
        <p:spPr>
          <a:xfrm>
            <a:off x="5388864" y="1131838"/>
            <a:ext cx="6096000" cy="3908762"/>
          </a:xfrm>
          <a:prstGeom prst="rect">
            <a:avLst/>
          </a:prstGeom>
        </p:spPr>
        <p:txBody>
          <a:bodyPr>
            <a:spAutoFit/>
          </a:bodyPr>
          <a:lstStyle/>
          <a:p>
            <a:pPr algn="just"/>
            <a:r>
              <a:rPr lang="en-US" sz="2400" dirty="0"/>
              <a:t>The equation for a simple linear regression model can be written as follows:</a:t>
            </a:r>
          </a:p>
          <a:p>
            <a:pPr algn="ctr"/>
            <a:r>
              <a:rPr lang="en-US" sz="2400" b="1" dirty="0">
                <a:effectLst>
                  <a:outerShdw blurRad="38100" dist="38100" dir="2700000" algn="tl">
                    <a:srgbClr val="000000">
                      <a:alpha val="43137"/>
                    </a:srgbClr>
                  </a:outerShdw>
                </a:effectLst>
              </a:rPr>
              <a:t>y = </a:t>
            </a:r>
            <a:r>
              <a:rPr lang="en-US" sz="2400" b="1" dirty="0" smtClean="0">
                <a:effectLst>
                  <a:outerShdw blurRad="38100" dist="38100" dir="2700000" algn="tl">
                    <a:srgbClr val="000000">
                      <a:alpha val="43137"/>
                    </a:srgbClr>
                  </a:outerShdw>
                </a:effectLst>
              </a:rPr>
              <a:t>b</a:t>
            </a:r>
            <a:r>
              <a:rPr lang="en-US" sz="2400" b="1" baseline="-25000" dirty="0" smtClean="0">
                <a:effectLst>
                  <a:outerShdw blurRad="38100" dist="38100" dir="2700000" algn="tl">
                    <a:srgbClr val="000000">
                      <a:alpha val="43137"/>
                    </a:srgbClr>
                  </a:outerShdw>
                </a:effectLst>
              </a:rPr>
              <a:t>0</a:t>
            </a:r>
            <a:r>
              <a:rPr lang="en-US" sz="2400" b="1" dirty="0" smtClean="0">
                <a:effectLst>
                  <a:outerShdw blurRad="38100" dist="38100" dir="2700000" algn="tl">
                    <a:srgbClr val="000000">
                      <a:alpha val="43137"/>
                    </a:srgbClr>
                  </a:outerShdw>
                </a:effectLst>
              </a:rPr>
              <a:t> </a:t>
            </a:r>
            <a:r>
              <a:rPr lang="en-US" sz="2400" b="1" dirty="0">
                <a:effectLst>
                  <a:outerShdw blurRad="38100" dist="38100" dir="2700000" algn="tl">
                    <a:srgbClr val="000000">
                      <a:alpha val="43137"/>
                    </a:srgbClr>
                  </a:outerShdw>
                </a:effectLst>
              </a:rPr>
              <a:t>+ </a:t>
            </a:r>
            <a:r>
              <a:rPr lang="en-US" sz="2400" b="1" dirty="0" smtClean="0">
                <a:effectLst>
                  <a:outerShdw blurRad="38100" dist="38100" dir="2700000" algn="tl">
                    <a:srgbClr val="000000">
                      <a:alpha val="43137"/>
                    </a:srgbClr>
                  </a:outerShdw>
                </a:effectLst>
              </a:rPr>
              <a:t>b</a:t>
            </a:r>
            <a:r>
              <a:rPr lang="en-US" sz="2400" b="1" baseline="-25000" dirty="0" smtClean="0">
                <a:effectLst>
                  <a:outerShdw blurRad="38100" dist="38100" dir="2700000" algn="tl">
                    <a:srgbClr val="000000">
                      <a:alpha val="43137"/>
                    </a:srgbClr>
                  </a:outerShdw>
                </a:effectLst>
              </a:rPr>
              <a:t>1</a:t>
            </a:r>
            <a:r>
              <a:rPr lang="en-US" sz="2400" b="1" dirty="0" smtClean="0">
                <a:effectLst>
                  <a:outerShdw blurRad="38100" dist="38100" dir="2700000" algn="tl">
                    <a:srgbClr val="000000">
                      <a:alpha val="43137"/>
                    </a:srgbClr>
                  </a:outerShdw>
                </a:effectLst>
              </a:rPr>
              <a:t> </a:t>
            </a:r>
            <a:r>
              <a:rPr lang="en-US" sz="2400" b="1" dirty="0">
                <a:effectLst>
                  <a:outerShdw blurRad="38100" dist="38100" dir="2700000" algn="tl">
                    <a:srgbClr val="000000">
                      <a:alpha val="43137"/>
                    </a:srgbClr>
                  </a:outerShdw>
                </a:effectLst>
              </a:rPr>
              <a:t>* x</a:t>
            </a:r>
          </a:p>
          <a:p>
            <a:pPr algn="just"/>
            <a:r>
              <a:rPr lang="en-US" sz="2400" dirty="0"/>
              <a:t>Here, </a:t>
            </a:r>
            <a:r>
              <a:rPr lang="en-US" sz="2400" b="1" dirty="0">
                <a:solidFill>
                  <a:srgbClr val="FF0000"/>
                </a:solidFill>
              </a:rPr>
              <a:t>y is the dependent variable (the variable we are trying to predict</a:t>
            </a:r>
            <a:r>
              <a:rPr lang="en-US" sz="2400" dirty="0"/>
              <a:t>), </a:t>
            </a:r>
            <a:r>
              <a:rPr lang="en-US" sz="2400" b="1" dirty="0">
                <a:solidFill>
                  <a:schemeClr val="accent6">
                    <a:lumMod val="75000"/>
                  </a:schemeClr>
                </a:solidFill>
              </a:rPr>
              <a:t>x is the independent variable (the predictor or </a:t>
            </a:r>
            <a:r>
              <a:rPr lang="en-US" sz="2400" b="1" dirty="0" smtClean="0">
                <a:solidFill>
                  <a:schemeClr val="accent6">
                    <a:lumMod val="75000"/>
                  </a:schemeClr>
                </a:solidFill>
              </a:rPr>
              <a:t>feature)</a:t>
            </a:r>
            <a:r>
              <a:rPr lang="en-US" sz="2400" dirty="0" smtClean="0"/>
              <a:t>.</a:t>
            </a:r>
          </a:p>
          <a:p>
            <a:pPr algn="just"/>
            <a:r>
              <a:rPr lang="en-US" sz="2400" b="1" i="1" dirty="0" smtClean="0">
                <a:solidFill>
                  <a:schemeClr val="accent1">
                    <a:lumMod val="75000"/>
                  </a:schemeClr>
                </a:solidFill>
              </a:rPr>
              <a:t>b0 </a:t>
            </a:r>
            <a:r>
              <a:rPr lang="en-US" sz="2400" b="1" i="1" dirty="0">
                <a:solidFill>
                  <a:schemeClr val="accent1">
                    <a:lumMod val="75000"/>
                  </a:schemeClr>
                </a:solidFill>
              </a:rPr>
              <a:t>is the intercept term (the value of y when x is zero), </a:t>
            </a:r>
            <a:r>
              <a:rPr lang="en-US" sz="2400" dirty="0"/>
              <a:t>and </a:t>
            </a:r>
            <a:endParaRPr lang="en-US" sz="2400" dirty="0" smtClean="0"/>
          </a:p>
          <a:p>
            <a:pPr algn="just"/>
            <a:r>
              <a:rPr lang="en-US" sz="2400" b="1" i="1" dirty="0" smtClean="0">
                <a:solidFill>
                  <a:srgbClr val="7030A0"/>
                </a:solidFill>
              </a:rPr>
              <a:t>b1 </a:t>
            </a:r>
            <a:r>
              <a:rPr lang="en-US" sz="2400" b="1" i="1" dirty="0">
                <a:solidFill>
                  <a:srgbClr val="7030A0"/>
                </a:solidFill>
              </a:rPr>
              <a:t>is the slope coefficient (the change in y for a unit change in x</a:t>
            </a:r>
            <a:r>
              <a:rPr lang="en-US" sz="2400" b="1" i="1" dirty="0" smtClean="0">
                <a:solidFill>
                  <a:srgbClr val="7030A0"/>
                </a:solidFill>
              </a:rPr>
              <a:t>).</a:t>
            </a:r>
          </a:p>
          <a:p>
            <a:pPr algn="just"/>
            <a:endParaRPr lang="en-US" sz="800" b="1" i="1" dirty="0">
              <a:solidFill>
                <a:srgbClr val="7030A0"/>
              </a:solidFill>
            </a:endParaRPr>
          </a:p>
        </p:txBody>
      </p:sp>
      <p:sp>
        <p:nvSpPr>
          <p:cNvPr id="4" name="Rectangle 3"/>
          <p:cNvSpPr/>
          <p:nvPr/>
        </p:nvSpPr>
        <p:spPr>
          <a:xfrm>
            <a:off x="1225296" y="5050828"/>
            <a:ext cx="9930384" cy="1200329"/>
          </a:xfrm>
          <a:prstGeom prst="rect">
            <a:avLst/>
          </a:prstGeom>
        </p:spPr>
        <p:txBody>
          <a:bodyPr wrap="square">
            <a:spAutoFit/>
          </a:bodyPr>
          <a:lstStyle/>
          <a:p>
            <a:pPr algn="ctr"/>
            <a:r>
              <a:rPr lang="en-US" sz="2400" b="1" dirty="0"/>
              <a:t>The goal of Linear Regression is to find the best values for b0 and b1 such that the line best fits the data points, minimizing the errors or the difference between the </a:t>
            </a:r>
            <a:r>
              <a:rPr lang="en-US" sz="2400" b="1" u="sng" dirty="0">
                <a:solidFill>
                  <a:schemeClr val="accent2">
                    <a:lumMod val="75000"/>
                  </a:schemeClr>
                </a:solidFill>
                <a:effectLst>
                  <a:outerShdw blurRad="38100" dist="38100" dir="2700000" algn="tl">
                    <a:srgbClr val="000000">
                      <a:alpha val="43137"/>
                    </a:srgbClr>
                  </a:outerShdw>
                </a:effectLst>
              </a:rPr>
              <a:t>predicted values and the actual values</a:t>
            </a:r>
            <a:r>
              <a:rPr lang="en-US" sz="2400" b="1" dirty="0"/>
              <a:t>.</a:t>
            </a:r>
            <a:endParaRPr lang="en-US" sz="2400" b="1" i="1" dirty="0">
              <a:solidFill>
                <a:srgbClr val="7030A0"/>
              </a:solidFill>
            </a:endParaRPr>
          </a:p>
        </p:txBody>
      </p:sp>
      <p:sp>
        <p:nvSpPr>
          <p:cNvPr id="5" name="Rectangle 4"/>
          <p:cNvSpPr/>
          <p:nvPr/>
        </p:nvSpPr>
        <p:spPr>
          <a:xfrm>
            <a:off x="9405195" y="503477"/>
            <a:ext cx="2528658" cy="415498"/>
          </a:xfrm>
          <a:prstGeom prst="rect">
            <a:avLst/>
          </a:prstGeom>
        </p:spPr>
        <p:txBody>
          <a:bodyPr wrap="square">
            <a:spAutoFit/>
          </a:bodyPr>
          <a:lstStyle/>
          <a:p>
            <a:pPr algn="ctr"/>
            <a:r>
              <a:rPr lang="en-US" sz="2100" b="1" dirty="0" smtClean="0"/>
              <a:t>11/11/2024</a:t>
            </a:r>
            <a:endParaRPr lang="en-US" sz="2100" b="1" dirty="0"/>
          </a:p>
        </p:txBody>
      </p:sp>
    </p:spTree>
    <p:extLst>
      <p:ext uri="{BB962C8B-B14F-4D97-AF65-F5344CB8AC3E}">
        <p14:creationId xmlns:p14="http://schemas.microsoft.com/office/powerpoint/2010/main" val="7615830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8741" y="722761"/>
            <a:ext cx="9800253" cy="1569660"/>
          </a:xfrm>
          <a:prstGeom prst="rect">
            <a:avLst/>
          </a:prstGeom>
        </p:spPr>
        <p:txBody>
          <a:bodyPr wrap="square">
            <a:spAutoFit/>
          </a:bodyPr>
          <a:lstStyle/>
          <a:p>
            <a:pPr algn="just"/>
            <a:r>
              <a:rPr lang="en-US" sz="2400" b="1" dirty="0"/>
              <a:t>Types of Linear Regression?</a:t>
            </a:r>
          </a:p>
          <a:p>
            <a:pPr algn="just"/>
            <a:r>
              <a:rPr lang="en-US" sz="2400" dirty="0"/>
              <a:t>There are two main types of Linear Regression models: </a:t>
            </a:r>
            <a:endParaRPr lang="en-US" sz="2400" dirty="0" smtClean="0"/>
          </a:p>
          <a:p>
            <a:pPr algn="just"/>
            <a:r>
              <a:rPr lang="en-US" sz="2400" dirty="0" smtClean="0"/>
              <a:t>-- </a:t>
            </a:r>
            <a:r>
              <a:rPr lang="en-US" sz="2400" b="1" dirty="0" smtClean="0">
                <a:solidFill>
                  <a:srgbClr val="FF0000"/>
                </a:solidFill>
                <a:effectLst>
                  <a:outerShdw blurRad="38100" dist="38100" dir="2700000" algn="tl">
                    <a:srgbClr val="000000">
                      <a:alpha val="43137"/>
                    </a:srgbClr>
                  </a:outerShdw>
                </a:effectLst>
              </a:rPr>
              <a:t>Simple </a:t>
            </a:r>
            <a:r>
              <a:rPr lang="en-US" sz="2400" b="1" dirty="0">
                <a:solidFill>
                  <a:srgbClr val="FF0000"/>
                </a:solidFill>
                <a:effectLst>
                  <a:outerShdw blurRad="38100" dist="38100" dir="2700000" algn="tl">
                    <a:srgbClr val="000000">
                      <a:alpha val="43137"/>
                    </a:srgbClr>
                  </a:outerShdw>
                </a:effectLst>
              </a:rPr>
              <a:t>Linear Regression </a:t>
            </a:r>
            <a:r>
              <a:rPr lang="en-US" sz="2400" dirty="0"/>
              <a:t>and </a:t>
            </a:r>
            <a:endParaRPr lang="en-US" sz="2400" dirty="0" smtClean="0"/>
          </a:p>
          <a:p>
            <a:pPr algn="just"/>
            <a:r>
              <a:rPr lang="en-US" sz="2400" dirty="0" smtClean="0"/>
              <a:t>-- Multiple </a:t>
            </a:r>
            <a:r>
              <a:rPr lang="en-US" sz="2400" dirty="0"/>
              <a:t>Linear Regression.</a:t>
            </a:r>
          </a:p>
        </p:txBody>
      </p:sp>
      <p:sp>
        <p:nvSpPr>
          <p:cNvPr id="3" name="Rectangle 2"/>
          <p:cNvSpPr/>
          <p:nvPr/>
        </p:nvSpPr>
        <p:spPr>
          <a:xfrm>
            <a:off x="2227590" y="2680160"/>
            <a:ext cx="9125339" cy="3477875"/>
          </a:xfrm>
          <a:prstGeom prst="rect">
            <a:avLst/>
          </a:prstGeom>
        </p:spPr>
        <p:txBody>
          <a:bodyPr wrap="square">
            <a:spAutoFit/>
          </a:bodyPr>
          <a:lstStyle/>
          <a:p>
            <a:pPr algn="just"/>
            <a:r>
              <a:rPr lang="en-US" sz="2400" b="1" dirty="0">
                <a:solidFill>
                  <a:srgbClr val="FF0000"/>
                </a:solidFill>
              </a:rPr>
              <a:t>Simple Linear Regression: </a:t>
            </a:r>
            <a:r>
              <a:rPr lang="en-US" sz="2400" dirty="0"/>
              <a:t>In simple linear regression, there is only one independent variable (also known as the predictor or feature) and one dependent variable (also known as the response variable). The goal of simple linear regression is to find the best-fitting line to describe the relationship between the independent and dependent variable. The equation for a simple linear regression model can be written as:</a:t>
            </a:r>
          </a:p>
          <a:p>
            <a:pPr algn="ctr"/>
            <a:r>
              <a:rPr lang="en-US" sz="2400" dirty="0"/>
              <a:t>Y = </a:t>
            </a:r>
            <a:r>
              <a:rPr lang="en-US" sz="2400" dirty="0" smtClean="0"/>
              <a:t>b</a:t>
            </a:r>
            <a:r>
              <a:rPr lang="en-US" sz="2400" baseline="-25000" dirty="0" smtClean="0"/>
              <a:t>0</a:t>
            </a:r>
            <a:r>
              <a:rPr lang="en-US" sz="2400" dirty="0" smtClean="0"/>
              <a:t> </a:t>
            </a:r>
            <a:r>
              <a:rPr lang="en-US" sz="2400" dirty="0"/>
              <a:t>+ </a:t>
            </a:r>
            <a:r>
              <a:rPr lang="en-US" sz="2400" dirty="0" smtClean="0"/>
              <a:t>b</a:t>
            </a:r>
            <a:r>
              <a:rPr lang="en-US" sz="2400" baseline="-25000" dirty="0" smtClean="0"/>
              <a:t>1</a:t>
            </a:r>
            <a:r>
              <a:rPr lang="en-US" sz="2400" dirty="0" smtClean="0"/>
              <a:t> </a:t>
            </a:r>
            <a:r>
              <a:rPr lang="en-US" sz="2400" dirty="0"/>
              <a:t>* </a:t>
            </a:r>
            <a:r>
              <a:rPr lang="en-US" sz="2400" dirty="0" smtClean="0"/>
              <a:t>X</a:t>
            </a:r>
          </a:p>
          <a:p>
            <a:pPr algn="ctr"/>
            <a:endParaRPr lang="en-US" sz="1200" dirty="0" smtClean="0"/>
          </a:p>
          <a:p>
            <a:pPr algn="ctr"/>
            <a:r>
              <a:rPr lang="en-US" sz="2000" dirty="0" smtClean="0">
                <a:solidFill>
                  <a:schemeClr val="accent6">
                    <a:lumMod val="50000"/>
                  </a:schemeClr>
                </a:solidFill>
              </a:rPr>
              <a:t>Here, Y is the dependent variable, X is the independent variable, b0 is the intercept term, and b1 is the slope coefficient.</a:t>
            </a:r>
            <a:endParaRPr lang="en-US" sz="2000" dirty="0">
              <a:solidFill>
                <a:schemeClr val="accent6">
                  <a:lumMod val="50000"/>
                </a:schemeClr>
              </a:solidFill>
            </a:endParaRPr>
          </a:p>
        </p:txBody>
      </p:sp>
    </p:spTree>
    <p:extLst>
      <p:ext uri="{BB962C8B-B14F-4D97-AF65-F5344CB8AC3E}">
        <p14:creationId xmlns:p14="http://schemas.microsoft.com/office/powerpoint/2010/main" val="22966739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4128" y="1420428"/>
            <a:ext cx="10195560" cy="4031873"/>
          </a:xfrm>
          <a:prstGeom prst="rect">
            <a:avLst/>
          </a:prstGeom>
        </p:spPr>
        <p:txBody>
          <a:bodyPr wrap="square">
            <a:spAutoFit/>
          </a:bodyPr>
          <a:lstStyle/>
          <a:p>
            <a:pPr algn="just"/>
            <a:r>
              <a:rPr lang="en-US" sz="2400" b="1" dirty="0"/>
              <a:t>Multiple Linear Regression:</a:t>
            </a:r>
            <a:r>
              <a:rPr lang="en-US" sz="2400" dirty="0"/>
              <a:t> In multiple linear regression, there are multiple independent variables and one dependent variable. The goal of multiple linear regression is to find the best-fitting line to describe the relationship between the independent variables and the dependent variable. The equation for a multiple linear regression model can be written as</a:t>
            </a:r>
            <a:r>
              <a:rPr lang="en-US" sz="2400" dirty="0" smtClean="0"/>
              <a:t>:</a:t>
            </a:r>
          </a:p>
          <a:p>
            <a:pPr algn="just"/>
            <a:endParaRPr lang="en-US" sz="800" dirty="0"/>
          </a:p>
          <a:p>
            <a:pPr algn="ctr"/>
            <a:r>
              <a:rPr lang="en-US" sz="2400" dirty="0"/>
              <a:t>Y = </a:t>
            </a:r>
            <a:r>
              <a:rPr lang="en-US" sz="2400" dirty="0" smtClean="0"/>
              <a:t>b</a:t>
            </a:r>
            <a:r>
              <a:rPr lang="en-US" sz="2400" baseline="-25000" dirty="0" smtClean="0"/>
              <a:t>0</a:t>
            </a:r>
            <a:r>
              <a:rPr lang="en-US" sz="2400" dirty="0" smtClean="0"/>
              <a:t> </a:t>
            </a:r>
            <a:r>
              <a:rPr lang="en-US" sz="2400" dirty="0"/>
              <a:t>+ </a:t>
            </a:r>
            <a:r>
              <a:rPr lang="en-US" sz="2400" dirty="0" smtClean="0"/>
              <a:t>b</a:t>
            </a:r>
            <a:r>
              <a:rPr lang="en-US" sz="2400" baseline="-25000" dirty="0" smtClean="0"/>
              <a:t>1</a:t>
            </a:r>
            <a:r>
              <a:rPr lang="en-US" sz="2400" dirty="0" smtClean="0"/>
              <a:t> </a:t>
            </a:r>
            <a:r>
              <a:rPr lang="en-US" sz="2400" dirty="0"/>
              <a:t>* </a:t>
            </a:r>
            <a:r>
              <a:rPr lang="en-US" sz="2400" dirty="0" smtClean="0"/>
              <a:t>X</a:t>
            </a:r>
            <a:r>
              <a:rPr lang="en-US" sz="2400" baseline="-25000" dirty="0" smtClean="0"/>
              <a:t>1</a:t>
            </a:r>
            <a:r>
              <a:rPr lang="en-US" sz="2400" dirty="0" smtClean="0"/>
              <a:t> </a:t>
            </a:r>
            <a:r>
              <a:rPr lang="en-US" sz="2400" dirty="0"/>
              <a:t>+ </a:t>
            </a:r>
            <a:r>
              <a:rPr lang="en-US" sz="2400" dirty="0" smtClean="0"/>
              <a:t>b</a:t>
            </a:r>
            <a:r>
              <a:rPr lang="en-US" sz="2400" baseline="-25000" dirty="0" smtClean="0"/>
              <a:t>2</a:t>
            </a:r>
            <a:r>
              <a:rPr lang="en-US" sz="2400" dirty="0" smtClean="0"/>
              <a:t> </a:t>
            </a:r>
            <a:r>
              <a:rPr lang="en-US" sz="2400" dirty="0"/>
              <a:t>* </a:t>
            </a:r>
            <a:r>
              <a:rPr lang="en-US" sz="2400" dirty="0" smtClean="0"/>
              <a:t>X</a:t>
            </a:r>
            <a:r>
              <a:rPr lang="en-US" sz="2400" baseline="-25000" dirty="0" smtClean="0"/>
              <a:t>2</a:t>
            </a:r>
            <a:r>
              <a:rPr lang="en-US" sz="2400" dirty="0" smtClean="0"/>
              <a:t> </a:t>
            </a:r>
            <a:r>
              <a:rPr lang="en-US" sz="2400" dirty="0"/>
              <a:t>+ … + </a:t>
            </a:r>
            <a:r>
              <a:rPr lang="en-US" sz="2400" dirty="0" err="1" smtClean="0"/>
              <a:t>b</a:t>
            </a:r>
            <a:r>
              <a:rPr lang="en-US" sz="2400" baseline="-25000" dirty="0" err="1" smtClean="0"/>
              <a:t>n</a:t>
            </a:r>
            <a:r>
              <a:rPr lang="en-US" sz="2400" dirty="0" smtClean="0"/>
              <a:t> </a:t>
            </a:r>
            <a:r>
              <a:rPr lang="en-US" sz="2400" dirty="0"/>
              <a:t>* </a:t>
            </a:r>
            <a:r>
              <a:rPr lang="en-US" sz="2400" dirty="0" err="1" smtClean="0"/>
              <a:t>X</a:t>
            </a:r>
            <a:r>
              <a:rPr lang="en-US" sz="2400" baseline="-25000" dirty="0" err="1" smtClean="0"/>
              <a:t>n</a:t>
            </a:r>
            <a:endParaRPr lang="en-US" sz="2400" dirty="0" smtClean="0"/>
          </a:p>
          <a:p>
            <a:pPr algn="ctr"/>
            <a:endParaRPr lang="en-US" sz="800" dirty="0"/>
          </a:p>
          <a:p>
            <a:pPr algn="just"/>
            <a:r>
              <a:rPr lang="en-US" sz="2400" dirty="0"/>
              <a:t>Here, Y is the dependent variable, X1, X2, …, </a:t>
            </a:r>
            <a:endParaRPr lang="en-US" sz="2400" dirty="0" smtClean="0"/>
          </a:p>
          <a:p>
            <a:pPr algn="just"/>
            <a:r>
              <a:rPr lang="en-US" sz="2400" dirty="0"/>
              <a:t> </a:t>
            </a:r>
            <a:r>
              <a:rPr lang="en-US" sz="2400" dirty="0" smtClean="0"/>
              <a:t>          </a:t>
            </a:r>
            <a:r>
              <a:rPr lang="en-US" sz="2400" dirty="0" err="1" smtClean="0"/>
              <a:t>Xn</a:t>
            </a:r>
            <a:r>
              <a:rPr lang="en-US" sz="2400" dirty="0" smtClean="0"/>
              <a:t> </a:t>
            </a:r>
            <a:r>
              <a:rPr lang="en-US" sz="2400" dirty="0"/>
              <a:t>are the independent variables, </a:t>
            </a:r>
            <a:endParaRPr lang="en-US" sz="2400" dirty="0" smtClean="0"/>
          </a:p>
          <a:p>
            <a:pPr algn="just"/>
            <a:r>
              <a:rPr lang="en-US" sz="2400" dirty="0"/>
              <a:t> </a:t>
            </a:r>
            <a:r>
              <a:rPr lang="en-US" sz="2400" dirty="0" smtClean="0"/>
              <a:t>          b0 </a:t>
            </a:r>
            <a:r>
              <a:rPr lang="en-US" sz="2400" dirty="0"/>
              <a:t>is the intercept term, and </a:t>
            </a:r>
            <a:endParaRPr lang="en-US" sz="2400" dirty="0" smtClean="0"/>
          </a:p>
          <a:p>
            <a:pPr algn="just"/>
            <a:r>
              <a:rPr lang="en-US" sz="2400" dirty="0"/>
              <a:t> </a:t>
            </a:r>
            <a:r>
              <a:rPr lang="en-US" sz="2400" dirty="0" smtClean="0"/>
              <a:t>          b1</a:t>
            </a:r>
            <a:r>
              <a:rPr lang="en-US" sz="2400" dirty="0"/>
              <a:t>, b2, …, </a:t>
            </a:r>
            <a:r>
              <a:rPr lang="en-US" sz="2400" dirty="0" err="1"/>
              <a:t>bn</a:t>
            </a:r>
            <a:r>
              <a:rPr lang="en-US" sz="2400" dirty="0"/>
              <a:t> are the slope coefficients.</a:t>
            </a:r>
          </a:p>
        </p:txBody>
      </p:sp>
    </p:spTree>
    <p:extLst>
      <p:ext uri="{BB962C8B-B14F-4D97-AF65-F5344CB8AC3E}">
        <p14:creationId xmlns:p14="http://schemas.microsoft.com/office/powerpoint/2010/main" val="7778609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40864" y="2188756"/>
            <a:ext cx="7059168" cy="2554545"/>
          </a:xfrm>
          <a:prstGeom prst="rect">
            <a:avLst/>
          </a:prstGeom>
        </p:spPr>
        <p:txBody>
          <a:bodyPr wrap="square">
            <a:spAutoFit/>
          </a:bodyPr>
          <a:lstStyle/>
          <a:p>
            <a:pPr algn="ctr"/>
            <a:r>
              <a:rPr lang="en-US" sz="3200" dirty="0">
                <a:solidFill>
                  <a:schemeClr val="accent1">
                    <a:lumMod val="75000"/>
                  </a:schemeClr>
                </a:solidFill>
                <a:effectLst>
                  <a:outerShdw blurRad="38100" dist="38100" dir="2700000" algn="tl">
                    <a:srgbClr val="000000">
                      <a:alpha val="43137"/>
                    </a:srgbClr>
                  </a:outerShdw>
                </a:effectLst>
              </a:rPr>
              <a:t>In both types of linear regression, the goal is to find the best values for the intercept and slope coefficients that minimize the difference between the predicted values and the actual values.</a:t>
            </a:r>
          </a:p>
        </p:txBody>
      </p:sp>
    </p:spTree>
    <p:extLst>
      <p:ext uri="{BB962C8B-B14F-4D97-AF65-F5344CB8AC3E}">
        <p14:creationId xmlns:p14="http://schemas.microsoft.com/office/powerpoint/2010/main" val="36917812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6072" y="467004"/>
            <a:ext cx="6309360" cy="5878532"/>
          </a:xfrm>
          <a:prstGeom prst="rect">
            <a:avLst/>
          </a:prstGeom>
        </p:spPr>
        <p:txBody>
          <a:bodyPr wrap="square">
            <a:spAutoFit/>
          </a:bodyPr>
          <a:lstStyle/>
          <a:p>
            <a:pPr algn="just"/>
            <a:r>
              <a:rPr lang="en-US" sz="2600" b="1" dirty="0"/>
              <a:t>Finding the best fit line</a:t>
            </a:r>
          </a:p>
          <a:p>
            <a:pPr algn="just"/>
            <a:endParaRPr lang="en-US" sz="800" dirty="0" smtClean="0"/>
          </a:p>
          <a:p>
            <a:pPr algn="just"/>
            <a:r>
              <a:rPr lang="en-US" sz="2400" dirty="0" smtClean="0"/>
              <a:t>In </a:t>
            </a:r>
            <a:r>
              <a:rPr lang="en-US" sz="2400" dirty="0"/>
              <a:t>machine learning, finding the best-fitting line is crucial in linear regression, as it determines the accuracy of the predictions made by the model. </a:t>
            </a:r>
            <a:r>
              <a:rPr lang="en-US" sz="2400" i="1" dirty="0">
                <a:effectLst>
                  <a:outerShdw blurRad="38100" dist="38100" dir="2700000" algn="tl">
                    <a:srgbClr val="000000">
                      <a:alpha val="43137"/>
                    </a:srgbClr>
                  </a:outerShdw>
                </a:effectLst>
              </a:rPr>
              <a:t>The best-fitting line is the line that has the smallest difference between the predicted values and the actual values</a:t>
            </a:r>
            <a:r>
              <a:rPr lang="en-US" sz="2400" dirty="0" smtClean="0"/>
              <a:t>.</a:t>
            </a:r>
          </a:p>
          <a:p>
            <a:pPr algn="just"/>
            <a:endParaRPr lang="en-US" sz="600" dirty="0" smtClean="0"/>
          </a:p>
          <a:p>
            <a:pPr algn="just"/>
            <a:r>
              <a:rPr lang="en-US" sz="2400" dirty="0"/>
              <a:t>To find the best-fitting line in a linear regression model, </a:t>
            </a:r>
            <a:r>
              <a:rPr lang="en-US" sz="2400" dirty="0" smtClean="0"/>
              <a:t>one uses </a:t>
            </a:r>
            <a:r>
              <a:rPr lang="en-US" sz="2400" dirty="0"/>
              <a:t>a process called “</a:t>
            </a:r>
            <a:r>
              <a:rPr lang="en-US" sz="2400" b="1" dirty="0"/>
              <a:t>ordinary least squares (OLS) regression</a:t>
            </a:r>
            <a:r>
              <a:rPr lang="en-US" sz="2400" dirty="0"/>
              <a:t>”. </a:t>
            </a:r>
            <a:endParaRPr lang="en-US" sz="2400" dirty="0" smtClean="0"/>
          </a:p>
          <a:p>
            <a:pPr algn="just"/>
            <a:r>
              <a:rPr lang="en-US" sz="2400" dirty="0" smtClean="0"/>
              <a:t>This </a:t>
            </a:r>
            <a:r>
              <a:rPr lang="en-US" sz="2400" dirty="0"/>
              <a:t>process involves calculating the sum of the squared differences between the predicted values and the actual values for each data point, and then finding the line that minimizes this sum of squared errors.</a:t>
            </a:r>
          </a:p>
        </p:txBody>
      </p:sp>
      <p:pic>
        <p:nvPicPr>
          <p:cNvPr id="3" name="Picture 2"/>
          <p:cNvPicPr>
            <a:picLocks noChangeAspect="1"/>
          </p:cNvPicPr>
          <p:nvPr/>
        </p:nvPicPr>
        <p:blipFill>
          <a:blip r:embed="rId2"/>
          <a:stretch>
            <a:fillRect/>
          </a:stretch>
        </p:blipFill>
        <p:spPr>
          <a:xfrm>
            <a:off x="6964489" y="1667446"/>
            <a:ext cx="4724010" cy="3657600"/>
          </a:xfrm>
          <a:prstGeom prst="rect">
            <a:avLst/>
          </a:prstGeom>
        </p:spPr>
      </p:pic>
    </p:spTree>
    <p:extLst>
      <p:ext uri="{BB962C8B-B14F-4D97-AF65-F5344CB8AC3E}">
        <p14:creationId xmlns:p14="http://schemas.microsoft.com/office/powerpoint/2010/main" val="33866828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25296" y="358616"/>
            <a:ext cx="9838944" cy="1938992"/>
          </a:xfrm>
          <a:prstGeom prst="rect">
            <a:avLst/>
          </a:prstGeom>
        </p:spPr>
        <p:txBody>
          <a:bodyPr wrap="square">
            <a:spAutoFit/>
          </a:bodyPr>
          <a:lstStyle/>
          <a:p>
            <a:pPr algn="just"/>
            <a:r>
              <a:rPr lang="en-US" sz="2400" dirty="0"/>
              <a:t>The best-fitting line is found by minimizing the residual sum of squares (RSS), </a:t>
            </a:r>
            <a:r>
              <a:rPr lang="en-US" sz="2400" i="1" dirty="0">
                <a:effectLst>
                  <a:outerShdw blurRad="38100" dist="38100" dir="2700000" algn="tl">
                    <a:srgbClr val="000000">
                      <a:alpha val="43137"/>
                    </a:srgbClr>
                  </a:outerShdw>
                </a:effectLst>
              </a:rPr>
              <a:t>which is the sum of the squared differences between the predicted values and the actual values</a:t>
            </a:r>
            <a:r>
              <a:rPr lang="en-US" sz="2400" dirty="0"/>
              <a:t>. </a:t>
            </a:r>
            <a:endParaRPr lang="en-US" sz="2400" dirty="0" smtClean="0"/>
          </a:p>
          <a:p>
            <a:pPr algn="just"/>
            <a:r>
              <a:rPr lang="en-US" sz="2400" u="sng" dirty="0" smtClean="0">
                <a:solidFill>
                  <a:srgbClr val="FF0000"/>
                </a:solidFill>
                <a:effectLst>
                  <a:outerShdw blurRad="38100" dist="38100" dir="2700000" algn="tl">
                    <a:srgbClr val="000000">
                      <a:alpha val="43137"/>
                    </a:srgbClr>
                  </a:outerShdw>
                </a:effectLst>
              </a:rPr>
              <a:t>This </a:t>
            </a:r>
            <a:r>
              <a:rPr lang="en-US" sz="2400" u="sng" dirty="0">
                <a:solidFill>
                  <a:srgbClr val="FF0000"/>
                </a:solidFill>
                <a:effectLst>
                  <a:outerShdw blurRad="38100" dist="38100" dir="2700000" algn="tl">
                    <a:srgbClr val="000000">
                      <a:alpha val="43137"/>
                    </a:srgbClr>
                  </a:outerShdw>
                </a:effectLst>
              </a:rPr>
              <a:t>is achieved by adjusting the values of the intercept and slope coefficients, also known as c and m</a:t>
            </a:r>
            <a:r>
              <a:rPr lang="en-US" sz="2400" dirty="0"/>
              <a:t>, respectively.</a:t>
            </a:r>
          </a:p>
        </p:txBody>
      </p:sp>
      <p:sp>
        <p:nvSpPr>
          <p:cNvPr id="4" name="Rectangle 3"/>
          <p:cNvSpPr/>
          <p:nvPr/>
        </p:nvSpPr>
        <p:spPr>
          <a:xfrm>
            <a:off x="1216152" y="3567458"/>
            <a:ext cx="9838944" cy="3046988"/>
          </a:xfrm>
          <a:prstGeom prst="rect">
            <a:avLst/>
          </a:prstGeom>
        </p:spPr>
        <p:txBody>
          <a:bodyPr wrap="square">
            <a:spAutoFit/>
          </a:bodyPr>
          <a:lstStyle/>
          <a:p>
            <a:r>
              <a:rPr lang="en-US" sz="2400" dirty="0"/>
              <a:t>Once the values of c and m are determined, we can use the linear regression equation to make predictions for new data points. The equation for a simple linear regression model can be written as:</a:t>
            </a:r>
          </a:p>
          <a:p>
            <a:pPr algn="ctr"/>
            <a:r>
              <a:rPr lang="en-US" sz="2400" b="1" dirty="0">
                <a:effectLst>
                  <a:outerShdw blurRad="38100" dist="38100" dir="2700000" algn="tl">
                    <a:srgbClr val="000000">
                      <a:alpha val="43137"/>
                    </a:srgbClr>
                  </a:outerShdw>
                </a:effectLst>
              </a:rPr>
              <a:t>y = c + m * x</a:t>
            </a:r>
          </a:p>
          <a:p>
            <a:r>
              <a:rPr lang="en-US" sz="2400" dirty="0">
                <a:solidFill>
                  <a:srgbClr val="7030A0"/>
                </a:solidFill>
                <a:effectLst>
                  <a:outerShdw blurRad="38100" dist="38100" dir="2700000" algn="tl">
                    <a:srgbClr val="000000">
                      <a:alpha val="43137"/>
                    </a:srgbClr>
                  </a:outerShdw>
                </a:effectLst>
              </a:rPr>
              <a:t>Here, y is the dependent variable (the variable we are trying to predict), x is the independent variable (the predictor or feature), c is the intercept term (the value of y when x is zero), and m is the slope coefficient (the change in y for a unit change in x)</a:t>
            </a:r>
            <a:r>
              <a:rPr lang="en-US" sz="2400" dirty="0"/>
              <a:t>.</a:t>
            </a:r>
          </a:p>
        </p:txBody>
      </p:sp>
      <p:pic>
        <p:nvPicPr>
          <p:cNvPr id="5" name="Picture 4"/>
          <p:cNvPicPr>
            <a:picLocks noChangeAspect="1"/>
          </p:cNvPicPr>
          <p:nvPr/>
        </p:nvPicPr>
        <p:blipFill>
          <a:blip r:embed="rId2"/>
          <a:stretch>
            <a:fillRect/>
          </a:stretch>
        </p:blipFill>
        <p:spPr>
          <a:xfrm>
            <a:off x="4224337" y="2269848"/>
            <a:ext cx="3017520" cy="1297610"/>
          </a:xfrm>
          <a:prstGeom prst="rect">
            <a:avLst/>
          </a:prstGeom>
        </p:spPr>
      </p:pic>
    </p:spTree>
    <p:extLst>
      <p:ext uri="{BB962C8B-B14F-4D97-AF65-F5344CB8AC3E}">
        <p14:creationId xmlns:p14="http://schemas.microsoft.com/office/powerpoint/2010/main" val="33119256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8448" y="329613"/>
            <a:ext cx="9738360" cy="4601260"/>
          </a:xfrm>
          <a:prstGeom prst="rect">
            <a:avLst/>
          </a:prstGeom>
        </p:spPr>
        <p:txBody>
          <a:bodyPr wrap="square">
            <a:spAutoFit/>
          </a:bodyPr>
          <a:lstStyle/>
          <a:p>
            <a:pPr algn="just"/>
            <a:r>
              <a:rPr lang="en-US" sz="2900" b="1" dirty="0">
                <a:solidFill>
                  <a:srgbClr val="7030A0"/>
                </a:solidFill>
                <a:effectLst>
                  <a:outerShdw blurRad="38100" dist="38100" dir="2700000" algn="tl">
                    <a:srgbClr val="000000">
                      <a:alpha val="43137"/>
                    </a:srgbClr>
                  </a:outerShdw>
                </a:effectLst>
              </a:rPr>
              <a:t>Cost function</a:t>
            </a:r>
          </a:p>
          <a:p>
            <a:pPr algn="just"/>
            <a:endParaRPr lang="en-US" sz="800" dirty="0" smtClean="0"/>
          </a:p>
          <a:p>
            <a:pPr algn="just"/>
            <a:r>
              <a:rPr lang="en-US" sz="2400" b="1" i="1" dirty="0" smtClean="0">
                <a:effectLst>
                  <a:outerShdw blurRad="38100" dist="38100" dir="2700000" algn="tl">
                    <a:srgbClr val="000000">
                      <a:alpha val="43137"/>
                    </a:srgbClr>
                  </a:outerShdw>
                </a:effectLst>
              </a:rPr>
              <a:t>The </a:t>
            </a:r>
            <a:r>
              <a:rPr lang="en-US" sz="2400" b="1" i="1" dirty="0">
                <a:effectLst>
                  <a:outerShdw blurRad="38100" dist="38100" dir="2700000" algn="tl">
                    <a:srgbClr val="000000">
                      <a:alpha val="43137"/>
                    </a:srgbClr>
                  </a:outerShdw>
                </a:effectLst>
              </a:rPr>
              <a:t>cost function, also known as the loss function or objective function, is a measure of how well the model is performing</a:t>
            </a:r>
            <a:r>
              <a:rPr lang="en-US" sz="2400" dirty="0"/>
              <a:t>. </a:t>
            </a:r>
            <a:r>
              <a:rPr lang="en-US" sz="2400" dirty="0">
                <a:solidFill>
                  <a:srgbClr val="FF0000"/>
                </a:solidFill>
                <a:effectLst>
                  <a:outerShdw blurRad="38100" dist="38100" dir="2700000" algn="tl">
                    <a:srgbClr val="000000">
                      <a:alpha val="43137"/>
                    </a:srgbClr>
                  </a:outerShdw>
                </a:effectLst>
              </a:rPr>
              <a:t>In linear regression, the cost function is used to calculate the difference between the predicted values and the actual values, also known as the residuals or errors</a:t>
            </a:r>
            <a:r>
              <a:rPr lang="en-US" sz="2400" dirty="0" smtClean="0"/>
              <a:t>.</a:t>
            </a:r>
          </a:p>
          <a:p>
            <a:pPr algn="just"/>
            <a:endParaRPr lang="en-US" sz="1200" dirty="0"/>
          </a:p>
          <a:p>
            <a:pPr algn="just"/>
            <a:r>
              <a:rPr lang="en-US" sz="2400" b="1" dirty="0">
                <a:solidFill>
                  <a:schemeClr val="accent6">
                    <a:lumMod val="75000"/>
                  </a:schemeClr>
                </a:solidFill>
                <a:effectLst>
                  <a:outerShdw blurRad="38100" dist="38100" dir="2700000" algn="tl">
                    <a:srgbClr val="000000">
                      <a:alpha val="43137"/>
                    </a:srgbClr>
                  </a:outerShdw>
                </a:effectLst>
              </a:rPr>
              <a:t>The goal of linear regression is to minimize the cost function, which is achieved by finding the best-fitting line that minimizes the sum of the squared differences between the predicted values and the actual values</a:t>
            </a:r>
            <a:r>
              <a:rPr lang="en-US" sz="2400" dirty="0"/>
              <a:t>. The most commonly used cost function in linear regression is the </a:t>
            </a:r>
            <a:r>
              <a:rPr lang="en-US" sz="2400" b="1" u="sng" dirty="0">
                <a:solidFill>
                  <a:srgbClr val="FF0000"/>
                </a:solidFill>
                <a:latin typeface="Georgia" panose="02040502050405020303" pitchFamily="18" charset="0"/>
              </a:rPr>
              <a:t>Mean Squared Error (MSE)</a:t>
            </a:r>
            <a:r>
              <a:rPr lang="en-US" sz="2400" dirty="0"/>
              <a:t>, which is calculated as the average of the squared differences between the predicted and actual values:</a:t>
            </a:r>
          </a:p>
        </p:txBody>
      </p:sp>
      <p:pic>
        <p:nvPicPr>
          <p:cNvPr id="3" name="Picture 2"/>
          <p:cNvPicPr>
            <a:picLocks noChangeAspect="1"/>
          </p:cNvPicPr>
          <p:nvPr/>
        </p:nvPicPr>
        <p:blipFill>
          <a:blip r:embed="rId2"/>
          <a:stretch>
            <a:fillRect/>
          </a:stretch>
        </p:blipFill>
        <p:spPr>
          <a:xfrm>
            <a:off x="3329712" y="5030151"/>
            <a:ext cx="3353255" cy="822960"/>
          </a:xfrm>
          <a:prstGeom prst="rect">
            <a:avLst/>
          </a:prstGeom>
        </p:spPr>
      </p:pic>
      <p:sp>
        <p:nvSpPr>
          <p:cNvPr id="4" name="Rectangle 3"/>
          <p:cNvSpPr/>
          <p:nvPr/>
        </p:nvSpPr>
        <p:spPr>
          <a:xfrm>
            <a:off x="7089648" y="5391446"/>
            <a:ext cx="4139184" cy="923330"/>
          </a:xfrm>
          <a:prstGeom prst="rect">
            <a:avLst/>
          </a:prstGeom>
        </p:spPr>
        <p:txBody>
          <a:bodyPr wrap="square">
            <a:spAutoFit/>
          </a:bodyPr>
          <a:lstStyle/>
          <a:p>
            <a:r>
              <a:rPr lang="en-US" dirty="0" smtClean="0"/>
              <a:t>* </a:t>
            </a:r>
            <a:r>
              <a:rPr lang="en-US" b="1" dirty="0" smtClean="0">
                <a:solidFill>
                  <a:srgbClr val="FF0000"/>
                </a:solidFill>
              </a:rPr>
              <a:t>Here</a:t>
            </a:r>
            <a:r>
              <a:rPr lang="en-US" b="1" dirty="0">
                <a:solidFill>
                  <a:srgbClr val="FF0000"/>
                </a:solidFill>
              </a:rPr>
              <a:t>, n is the number of data points, </a:t>
            </a:r>
            <a:r>
              <a:rPr lang="en-US" b="1" dirty="0" err="1" smtClean="0">
                <a:solidFill>
                  <a:srgbClr val="FF0000"/>
                </a:solidFill>
              </a:rPr>
              <a:t>y</a:t>
            </a:r>
            <a:r>
              <a:rPr lang="en-US" b="1" baseline="-25000" dirty="0" err="1" smtClean="0">
                <a:solidFill>
                  <a:srgbClr val="FF0000"/>
                </a:solidFill>
              </a:rPr>
              <a:t>i</a:t>
            </a:r>
            <a:r>
              <a:rPr lang="en-US" b="1" dirty="0" smtClean="0">
                <a:solidFill>
                  <a:srgbClr val="FF0000"/>
                </a:solidFill>
              </a:rPr>
              <a:t> </a:t>
            </a:r>
            <a:r>
              <a:rPr lang="en-US" b="1" dirty="0">
                <a:solidFill>
                  <a:srgbClr val="FF0000"/>
                </a:solidFill>
              </a:rPr>
              <a:t>is the actual value, and </a:t>
            </a:r>
            <a:r>
              <a:rPr lang="en-US" b="1" dirty="0" err="1" smtClean="0">
                <a:solidFill>
                  <a:srgbClr val="FF0000"/>
                </a:solidFill>
              </a:rPr>
              <a:t>ŷ</a:t>
            </a:r>
            <a:r>
              <a:rPr lang="en-US" b="1" baseline="-25000" dirty="0" err="1" smtClean="0">
                <a:solidFill>
                  <a:srgbClr val="FF0000"/>
                </a:solidFill>
              </a:rPr>
              <a:t>i</a:t>
            </a:r>
            <a:r>
              <a:rPr lang="en-US" b="1" dirty="0" smtClean="0">
                <a:solidFill>
                  <a:srgbClr val="FF0000"/>
                </a:solidFill>
              </a:rPr>
              <a:t> </a:t>
            </a:r>
            <a:r>
              <a:rPr lang="en-US" b="1" dirty="0">
                <a:solidFill>
                  <a:srgbClr val="FF0000"/>
                </a:solidFill>
              </a:rPr>
              <a:t>is the predicted value.</a:t>
            </a:r>
          </a:p>
        </p:txBody>
      </p:sp>
    </p:spTree>
    <p:extLst>
      <p:ext uri="{BB962C8B-B14F-4D97-AF65-F5344CB8AC3E}">
        <p14:creationId xmlns:p14="http://schemas.microsoft.com/office/powerpoint/2010/main" val="20188480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1560" y="2159984"/>
            <a:ext cx="10222992" cy="2185214"/>
          </a:xfrm>
          <a:prstGeom prst="rect">
            <a:avLst/>
          </a:prstGeom>
        </p:spPr>
        <p:txBody>
          <a:bodyPr wrap="square">
            <a:spAutoFit/>
          </a:bodyPr>
          <a:lstStyle/>
          <a:p>
            <a:pPr algn="just"/>
            <a:r>
              <a:rPr lang="en-US" sz="2600" b="1" dirty="0">
                <a:solidFill>
                  <a:srgbClr val="7030A0"/>
                </a:solidFill>
                <a:effectLst>
                  <a:outerShdw blurRad="38100" dist="38100" dir="2700000" algn="tl">
                    <a:srgbClr val="000000">
                      <a:alpha val="43137"/>
                    </a:srgbClr>
                  </a:outerShdw>
                </a:effectLst>
              </a:rPr>
              <a:t>Model Performance</a:t>
            </a:r>
          </a:p>
          <a:p>
            <a:pPr algn="just"/>
            <a:endParaRPr lang="en-US" sz="600" dirty="0" smtClean="0"/>
          </a:p>
          <a:p>
            <a:pPr algn="just"/>
            <a:r>
              <a:rPr lang="en-US" sz="2600" dirty="0" smtClean="0"/>
              <a:t>Model </a:t>
            </a:r>
            <a:r>
              <a:rPr lang="en-US" sz="2600" dirty="0"/>
              <a:t>performance in linear regression can be evaluated using various metrics that measure how well the model fits the data and how well it generalizes to new data. </a:t>
            </a:r>
            <a:r>
              <a:rPr lang="en-US" sz="2600" dirty="0" smtClean="0"/>
              <a:t>Go to next slides for </a:t>
            </a:r>
            <a:r>
              <a:rPr lang="en-US" sz="2600" dirty="0"/>
              <a:t>common metrics used in linear regression</a:t>
            </a:r>
            <a:r>
              <a:rPr lang="en-US" sz="2600" dirty="0" smtClean="0"/>
              <a:t>: ………………………………</a:t>
            </a:r>
            <a:endParaRPr lang="en-US" sz="2600" dirty="0"/>
          </a:p>
        </p:txBody>
      </p:sp>
    </p:spTree>
    <p:extLst>
      <p:ext uri="{BB962C8B-B14F-4D97-AF65-F5344CB8AC3E}">
        <p14:creationId xmlns:p14="http://schemas.microsoft.com/office/powerpoint/2010/main" val="769726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52144" y="457861"/>
            <a:ext cx="9957816" cy="3354765"/>
          </a:xfrm>
          <a:prstGeom prst="rect">
            <a:avLst/>
          </a:prstGeom>
        </p:spPr>
        <p:txBody>
          <a:bodyPr wrap="square">
            <a:spAutoFit/>
          </a:bodyPr>
          <a:lstStyle/>
          <a:p>
            <a:pPr algn="just"/>
            <a:r>
              <a:rPr lang="en-US" sz="2400" b="1" dirty="0"/>
              <a:t>Example:</a:t>
            </a:r>
            <a:r>
              <a:rPr lang="en-US" sz="2400" dirty="0"/>
              <a:t> </a:t>
            </a:r>
            <a:endParaRPr lang="en-US" sz="2400" dirty="0" smtClean="0"/>
          </a:p>
          <a:p>
            <a:pPr algn="just"/>
            <a:endParaRPr lang="en-US" sz="1000" dirty="0"/>
          </a:p>
          <a:p>
            <a:pPr algn="just"/>
            <a:r>
              <a:rPr lang="en-US" sz="2400" dirty="0" smtClean="0"/>
              <a:t>Let, there is a linear </a:t>
            </a:r>
            <a:r>
              <a:rPr lang="en-US" sz="2400" dirty="0"/>
              <a:t>regression model that predicts housing prices based on the size of the house. </a:t>
            </a:r>
            <a:r>
              <a:rPr lang="en-US" sz="2400" dirty="0" smtClean="0"/>
              <a:t>Here, 10 </a:t>
            </a:r>
            <a:r>
              <a:rPr lang="en-US" sz="2400" dirty="0"/>
              <a:t>data points with the following </a:t>
            </a:r>
            <a:r>
              <a:rPr lang="en-US" sz="2400" b="1" dirty="0">
                <a:solidFill>
                  <a:srgbClr val="7030A0"/>
                </a:solidFill>
                <a:effectLst>
                  <a:outerShdw blurRad="38100" dist="38100" dir="2700000" algn="tl">
                    <a:srgbClr val="000000">
                      <a:alpha val="43137"/>
                    </a:srgbClr>
                  </a:outerShdw>
                </a:effectLst>
              </a:rPr>
              <a:t>actual prices </a:t>
            </a:r>
            <a:r>
              <a:rPr lang="en-US" sz="2400" dirty="0"/>
              <a:t>(y) and </a:t>
            </a:r>
            <a:r>
              <a:rPr lang="en-US" sz="2400" b="1" dirty="0">
                <a:solidFill>
                  <a:srgbClr val="FF0000"/>
                </a:solidFill>
                <a:effectLst>
                  <a:outerShdw blurRad="38100" dist="38100" dir="2700000" algn="tl">
                    <a:srgbClr val="000000">
                      <a:alpha val="43137"/>
                    </a:srgbClr>
                  </a:outerShdw>
                </a:effectLst>
              </a:rPr>
              <a:t>predicted prices </a:t>
            </a:r>
            <a:r>
              <a:rPr lang="en-US" sz="2400" dirty="0"/>
              <a:t>(</a:t>
            </a:r>
            <a:r>
              <a:rPr lang="en-US" sz="2400" dirty="0" err="1"/>
              <a:t>y_hat</a:t>
            </a:r>
            <a:r>
              <a:rPr lang="en-US" sz="2400" dirty="0"/>
              <a:t>):</a:t>
            </a:r>
          </a:p>
          <a:p>
            <a:pPr algn="just"/>
            <a:r>
              <a:rPr lang="en-US" sz="2400" b="1" dirty="0" smtClean="0">
                <a:solidFill>
                  <a:srgbClr val="7030A0"/>
                </a:solidFill>
              </a:rPr>
              <a:t>                  y </a:t>
            </a:r>
            <a:r>
              <a:rPr lang="en-US" sz="2400" dirty="0" smtClean="0"/>
              <a:t> </a:t>
            </a:r>
            <a:r>
              <a:rPr lang="en-US" sz="2400" dirty="0"/>
              <a:t>= [100, 150, 200, 250, 300, 350, 400, 450, 500, 550]</a:t>
            </a:r>
          </a:p>
          <a:p>
            <a:pPr algn="just"/>
            <a:r>
              <a:rPr lang="en-US" sz="2400" b="1" dirty="0" smtClean="0">
                <a:solidFill>
                  <a:srgbClr val="FF0000"/>
                </a:solidFill>
              </a:rPr>
              <a:t>                  </a:t>
            </a:r>
            <a:r>
              <a:rPr lang="en-US" sz="2400" b="1" dirty="0" err="1" smtClean="0">
                <a:solidFill>
                  <a:srgbClr val="FF0000"/>
                </a:solidFill>
              </a:rPr>
              <a:t>y_hat</a:t>
            </a:r>
            <a:r>
              <a:rPr lang="en-US" sz="2400" dirty="0" smtClean="0"/>
              <a:t> </a:t>
            </a:r>
            <a:r>
              <a:rPr lang="en-US" sz="2400" dirty="0"/>
              <a:t>= [110, 140, 180, 240, 290, 320, 380, 420, 480, 520</a:t>
            </a:r>
            <a:r>
              <a:rPr lang="en-US" sz="2400" dirty="0" smtClean="0"/>
              <a:t>]</a:t>
            </a:r>
          </a:p>
          <a:p>
            <a:pPr algn="just"/>
            <a:endParaRPr lang="en-US" sz="1000" dirty="0"/>
          </a:p>
          <a:p>
            <a:pPr algn="just"/>
            <a:r>
              <a:rPr lang="en-US" sz="2400" b="1" dirty="0" smtClean="0"/>
              <a:t>* </a:t>
            </a:r>
            <a:r>
              <a:rPr lang="en-US" sz="2400" b="1" dirty="0" err="1" smtClean="0"/>
              <a:t>y_mean</a:t>
            </a:r>
            <a:r>
              <a:rPr lang="en-US" sz="2400" b="1" dirty="0" smtClean="0"/>
              <a:t> </a:t>
            </a:r>
            <a:r>
              <a:rPr lang="en-US" sz="2400" b="1" dirty="0"/>
              <a:t>= sum(y) / </a:t>
            </a:r>
            <a:r>
              <a:rPr lang="en-US" sz="2400" b="1" dirty="0" err="1"/>
              <a:t>len</a:t>
            </a:r>
            <a:r>
              <a:rPr lang="en-US" sz="2400" b="1" dirty="0"/>
              <a:t>(y) = </a:t>
            </a:r>
            <a:r>
              <a:rPr lang="en-US" sz="2400" b="1" dirty="0" smtClean="0"/>
              <a:t>325</a:t>
            </a:r>
          </a:p>
          <a:p>
            <a:pPr algn="just"/>
            <a:endParaRPr lang="en-US" sz="2400" b="1" dirty="0"/>
          </a:p>
        </p:txBody>
      </p:sp>
      <p:sp>
        <p:nvSpPr>
          <p:cNvPr id="5" name="Rectangle 4"/>
          <p:cNvSpPr/>
          <p:nvPr/>
        </p:nvSpPr>
        <p:spPr>
          <a:xfrm>
            <a:off x="1728216" y="3830658"/>
            <a:ext cx="8842248" cy="2723887"/>
          </a:xfrm>
          <a:prstGeom prst="rect">
            <a:avLst/>
          </a:prstGeom>
          <a:ln w="57150">
            <a:solidFill>
              <a:schemeClr val="accent1">
                <a:lumMod val="75000"/>
              </a:schemeClr>
            </a:solidFill>
          </a:ln>
        </p:spPr>
        <p:txBody>
          <a:bodyPr wrap="square">
            <a:spAutoFit/>
          </a:bodyPr>
          <a:lstStyle/>
          <a:p>
            <a:pPr marL="457200" indent="-457200">
              <a:lnSpc>
                <a:spcPct val="114000"/>
              </a:lnSpc>
              <a:buAutoNum type="arabicPeriod"/>
            </a:pPr>
            <a:r>
              <a:rPr lang="en-US" sz="2300" b="1" dirty="0" smtClean="0"/>
              <a:t>Sum </a:t>
            </a:r>
            <a:r>
              <a:rPr lang="en-US" sz="2300" b="1" dirty="0"/>
              <a:t>of Squares Regression (SSR):</a:t>
            </a:r>
            <a:r>
              <a:rPr lang="en-US" sz="2300" dirty="0"/>
              <a:t> </a:t>
            </a:r>
            <a:endParaRPr lang="en-US" sz="2300" dirty="0" smtClean="0"/>
          </a:p>
          <a:p>
            <a:pPr algn="just">
              <a:lnSpc>
                <a:spcPct val="114000"/>
              </a:lnSpc>
            </a:pPr>
            <a:r>
              <a:rPr lang="en-US" sz="2300" dirty="0" smtClean="0"/>
              <a:t>SSR </a:t>
            </a:r>
            <a:r>
              <a:rPr lang="en-US" sz="2300" dirty="0"/>
              <a:t>is calculated by taking the </a:t>
            </a:r>
            <a:r>
              <a:rPr lang="en-US" sz="2300" dirty="0">
                <a:solidFill>
                  <a:srgbClr val="0070C0"/>
                </a:solidFill>
                <a:effectLst>
                  <a:outerShdw blurRad="38100" dist="38100" dir="2700000" algn="tl">
                    <a:srgbClr val="000000">
                      <a:alpha val="43137"/>
                    </a:srgbClr>
                  </a:outerShdw>
                </a:effectLst>
              </a:rPr>
              <a:t>sum of the squared differences between the predicted values and the mean of the dependent variable</a:t>
            </a:r>
            <a:r>
              <a:rPr lang="en-US" sz="2300" dirty="0"/>
              <a:t>. It represents the variability in the dependent variable that is explained by the independent variables. Mathematically, it can be expressed as</a:t>
            </a:r>
            <a:r>
              <a:rPr lang="en-US" sz="2300" dirty="0" smtClean="0"/>
              <a:t>:</a:t>
            </a:r>
          </a:p>
          <a:p>
            <a:pPr algn="just">
              <a:lnSpc>
                <a:spcPct val="114000"/>
              </a:lnSpc>
            </a:pPr>
            <a:endParaRPr lang="en-US" sz="800" dirty="0"/>
          </a:p>
          <a:p>
            <a:pPr>
              <a:lnSpc>
                <a:spcPct val="114000"/>
              </a:lnSpc>
            </a:pPr>
            <a:r>
              <a:rPr lang="en-US" sz="2300" dirty="0" smtClean="0"/>
              <a:t>                               </a:t>
            </a:r>
            <a:r>
              <a:rPr lang="en-US" sz="2300" b="1" dirty="0" smtClean="0">
                <a:solidFill>
                  <a:srgbClr val="0070C0"/>
                </a:solidFill>
              </a:rPr>
              <a:t>SSR </a:t>
            </a:r>
            <a:r>
              <a:rPr lang="en-US" sz="2300" b="1" dirty="0">
                <a:solidFill>
                  <a:srgbClr val="0070C0"/>
                </a:solidFill>
              </a:rPr>
              <a:t>= sum((</a:t>
            </a:r>
            <a:r>
              <a:rPr lang="en-US" sz="2300" b="1" dirty="0" err="1">
                <a:solidFill>
                  <a:srgbClr val="0070C0"/>
                </a:solidFill>
              </a:rPr>
              <a:t>y_hat</a:t>
            </a:r>
            <a:r>
              <a:rPr lang="en-US" sz="2300" b="1" dirty="0">
                <a:solidFill>
                  <a:srgbClr val="0070C0"/>
                </a:solidFill>
              </a:rPr>
              <a:t> — </a:t>
            </a:r>
            <a:r>
              <a:rPr lang="en-US" sz="2300" b="1" dirty="0" err="1">
                <a:solidFill>
                  <a:srgbClr val="0070C0"/>
                </a:solidFill>
              </a:rPr>
              <a:t>y_mean</a:t>
            </a:r>
            <a:r>
              <a:rPr lang="en-US" sz="2300" b="1" dirty="0">
                <a:solidFill>
                  <a:srgbClr val="0070C0"/>
                </a:solidFill>
              </a:rPr>
              <a:t>)²) = </a:t>
            </a:r>
            <a:r>
              <a:rPr lang="en-US" sz="2300" b="1" dirty="0" smtClean="0">
                <a:solidFill>
                  <a:srgbClr val="0070C0"/>
                </a:solidFill>
              </a:rPr>
              <a:t>28300</a:t>
            </a:r>
            <a:endParaRPr lang="en-US" sz="2300" b="1" dirty="0">
              <a:solidFill>
                <a:srgbClr val="0070C0"/>
              </a:solidFill>
            </a:endParaRPr>
          </a:p>
        </p:txBody>
      </p:sp>
    </p:spTree>
    <p:extLst>
      <p:ext uri="{BB962C8B-B14F-4D97-AF65-F5344CB8AC3E}">
        <p14:creationId xmlns:p14="http://schemas.microsoft.com/office/powerpoint/2010/main" val="39576678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34440" y="980408"/>
            <a:ext cx="9820656" cy="2062103"/>
          </a:xfrm>
          <a:prstGeom prst="rect">
            <a:avLst/>
          </a:prstGeom>
          <a:ln w="38100">
            <a:solidFill>
              <a:schemeClr val="accent1">
                <a:lumMod val="75000"/>
              </a:schemeClr>
            </a:solidFill>
          </a:ln>
        </p:spPr>
        <p:txBody>
          <a:bodyPr wrap="square">
            <a:spAutoFit/>
          </a:bodyPr>
          <a:lstStyle/>
          <a:p>
            <a:pPr algn="just"/>
            <a:r>
              <a:rPr lang="en-US" sz="2400" b="1" dirty="0"/>
              <a:t>2. Sum of Squares Error (SSE):</a:t>
            </a:r>
            <a:r>
              <a:rPr lang="en-US" sz="2400" dirty="0"/>
              <a:t> </a:t>
            </a:r>
            <a:endParaRPr lang="en-US" sz="2400" dirty="0" smtClean="0"/>
          </a:p>
          <a:p>
            <a:pPr algn="just"/>
            <a:r>
              <a:rPr lang="en-US" sz="2400" dirty="0" smtClean="0"/>
              <a:t>SSE </a:t>
            </a:r>
            <a:r>
              <a:rPr lang="en-US" sz="2400" dirty="0"/>
              <a:t>is calculated by taking the </a:t>
            </a:r>
            <a:r>
              <a:rPr lang="en-US" sz="2400" dirty="0">
                <a:solidFill>
                  <a:srgbClr val="0070C0"/>
                </a:solidFill>
                <a:effectLst>
                  <a:outerShdw blurRad="38100" dist="38100" dir="2700000" algn="tl">
                    <a:srgbClr val="000000">
                      <a:alpha val="43137"/>
                    </a:srgbClr>
                  </a:outerShdw>
                </a:effectLst>
              </a:rPr>
              <a:t>sum of the squared differences between the predicted values and the actual values of the dependent variable</a:t>
            </a:r>
            <a:r>
              <a:rPr lang="en-US" sz="2400" dirty="0"/>
              <a:t>. Mathematically, it can be expressed as</a:t>
            </a:r>
            <a:r>
              <a:rPr lang="en-US" sz="2400" dirty="0" smtClean="0"/>
              <a:t>:</a:t>
            </a:r>
          </a:p>
          <a:p>
            <a:pPr algn="just"/>
            <a:endParaRPr lang="en-US" sz="800" dirty="0"/>
          </a:p>
          <a:p>
            <a:pPr algn="ctr"/>
            <a:r>
              <a:rPr lang="en-US" sz="2400" b="1" dirty="0">
                <a:solidFill>
                  <a:srgbClr val="0070C0"/>
                </a:solidFill>
              </a:rPr>
              <a:t>SSE = sum((y — </a:t>
            </a:r>
            <a:r>
              <a:rPr lang="en-US" sz="2400" b="1" dirty="0" err="1">
                <a:solidFill>
                  <a:srgbClr val="0070C0"/>
                </a:solidFill>
              </a:rPr>
              <a:t>y_hat</a:t>
            </a:r>
            <a:r>
              <a:rPr lang="en-US" sz="2400" b="1" dirty="0">
                <a:solidFill>
                  <a:srgbClr val="0070C0"/>
                </a:solidFill>
              </a:rPr>
              <a:t>)²) = 26700</a:t>
            </a:r>
          </a:p>
        </p:txBody>
      </p:sp>
      <p:sp>
        <p:nvSpPr>
          <p:cNvPr id="5" name="Rectangle 4"/>
          <p:cNvSpPr/>
          <p:nvPr/>
        </p:nvSpPr>
        <p:spPr>
          <a:xfrm>
            <a:off x="1234440" y="3555968"/>
            <a:ext cx="9820656" cy="2431435"/>
          </a:xfrm>
          <a:prstGeom prst="rect">
            <a:avLst/>
          </a:prstGeom>
          <a:ln w="38100">
            <a:solidFill>
              <a:schemeClr val="accent1">
                <a:lumMod val="75000"/>
              </a:schemeClr>
            </a:solidFill>
          </a:ln>
        </p:spPr>
        <p:txBody>
          <a:bodyPr wrap="square">
            <a:spAutoFit/>
          </a:bodyPr>
          <a:lstStyle/>
          <a:p>
            <a:pPr algn="just"/>
            <a:r>
              <a:rPr lang="en-US" sz="2400" b="1" dirty="0"/>
              <a:t>3. Mean Squared Error (MSE):</a:t>
            </a:r>
            <a:r>
              <a:rPr lang="en-US" sz="2400" dirty="0"/>
              <a:t> </a:t>
            </a:r>
            <a:endParaRPr lang="en-US" sz="2400" dirty="0" smtClean="0"/>
          </a:p>
          <a:p>
            <a:pPr algn="just"/>
            <a:r>
              <a:rPr lang="en-US" sz="2400" dirty="0" smtClean="0"/>
              <a:t>This </a:t>
            </a:r>
            <a:r>
              <a:rPr lang="en-US" sz="2400" dirty="0"/>
              <a:t>metric measures the average squared difference between the predicted and actual values. It is calculated as the sum of squared residuals divided by the number of data points. A lower MSE indicates better performance. Mathematically, it can be expressed as</a:t>
            </a:r>
            <a:r>
              <a:rPr lang="en-US" sz="2400" dirty="0" smtClean="0"/>
              <a:t>:</a:t>
            </a:r>
          </a:p>
          <a:p>
            <a:endParaRPr lang="en-US" sz="800" dirty="0"/>
          </a:p>
          <a:p>
            <a:pPr algn="ctr"/>
            <a:r>
              <a:rPr lang="en-US" sz="2400" b="1" dirty="0">
                <a:solidFill>
                  <a:srgbClr val="0070C0"/>
                </a:solidFill>
              </a:rPr>
              <a:t>MSE = (1/n) * sum((y — </a:t>
            </a:r>
            <a:r>
              <a:rPr lang="en-US" sz="2400" b="1" dirty="0" err="1">
                <a:solidFill>
                  <a:srgbClr val="0070C0"/>
                </a:solidFill>
              </a:rPr>
              <a:t>y_hat</a:t>
            </a:r>
            <a:r>
              <a:rPr lang="en-US" sz="2400" b="1" dirty="0">
                <a:solidFill>
                  <a:srgbClr val="0070C0"/>
                </a:solidFill>
              </a:rPr>
              <a:t>)²) = </a:t>
            </a:r>
            <a:r>
              <a:rPr lang="en-US" sz="2400" b="1" dirty="0" smtClean="0">
                <a:solidFill>
                  <a:srgbClr val="0070C0"/>
                </a:solidFill>
              </a:rPr>
              <a:t>2670</a:t>
            </a:r>
            <a:endParaRPr lang="en-US" sz="2400" b="1" dirty="0">
              <a:solidFill>
                <a:srgbClr val="0070C0"/>
              </a:solidFill>
            </a:endParaRPr>
          </a:p>
        </p:txBody>
      </p:sp>
    </p:spTree>
    <p:extLst>
      <p:ext uri="{BB962C8B-B14F-4D97-AF65-F5344CB8AC3E}">
        <p14:creationId xmlns:p14="http://schemas.microsoft.com/office/powerpoint/2010/main" val="22145572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43584" y="194024"/>
            <a:ext cx="9820656" cy="2062103"/>
          </a:xfrm>
          <a:prstGeom prst="rect">
            <a:avLst/>
          </a:prstGeom>
          <a:ln w="38100">
            <a:solidFill>
              <a:schemeClr val="accent1">
                <a:lumMod val="75000"/>
              </a:schemeClr>
            </a:solidFill>
          </a:ln>
        </p:spPr>
        <p:txBody>
          <a:bodyPr wrap="square">
            <a:spAutoFit/>
          </a:bodyPr>
          <a:lstStyle/>
          <a:p>
            <a:r>
              <a:rPr lang="en-US" sz="2400" b="1" dirty="0"/>
              <a:t>4.</a:t>
            </a:r>
            <a:r>
              <a:rPr lang="en-US" sz="2400" dirty="0"/>
              <a:t> </a:t>
            </a:r>
            <a:r>
              <a:rPr lang="en-US" sz="2400" b="1" dirty="0"/>
              <a:t>Root Mean Squared Error (RMSE): </a:t>
            </a:r>
            <a:endParaRPr lang="en-US" sz="2400" b="1" dirty="0" smtClean="0"/>
          </a:p>
          <a:p>
            <a:r>
              <a:rPr lang="en-US" sz="2400" dirty="0" smtClean="0"/>
              <a:t>This </a:t>
            </a:r>
            <a:r>
              <a:rPr lang="en-US" sz="2400" dirty="0"/>
              <a:t>metric measures the square root of the MSE and is useful for interpreting the errors in the same units as the dependent variable. Mathematically, it can be expressed as</a:t>
            </a:r>
            <a:r>
              <a:rPr lang="en-US" sz="2400" dirty="0" smtClean="0"/>
              <a:t>:</a:t>
            </a:r>
          </a:p>
          <a:p>
            <a:endParaRPr lang="en-US" sz="400" dirty="0"/>
          </a:p>
          <a:p>
            <a:pPr algn="ctr"/>
            <a:r>
              <a:rPr lang="en-US" sz="2400" b="1" dirty="0">
                <a:solidFill>
                  <a:srgbClr val="0070C0"/>
                </a:solidFill>
              </a:rPr>
              <a:t>RMSE = </a:t>
            </a:r>
            <a:r>
              <a:rPr lang="en-US" sz="2400" b="1" dirty="0" err="1">
                <a:solidFill>
                  <a:srgbClr val="0070C0"/>
                </a:solidFill>
              </a:rPr>
              <a:t>sqrt</a:t>
            </a:r>
            <a:r>
              <a:rPr lang="en-US" sz="2400" b="1" dirty="0">
                <a:solidFill>
                  <a:srgbClr val="0070C0"/>
                </a:solidFill>
              </a:rPr>
              <a:t>(MSE) = </a:t>
            </a:r>
            <a:r>
              <a:rPr lang="en-US" sz="2400" b="1" dirty="0" err="1">
                <a:solidFill>
                  <a:srgbClr val="0070C0"/>
                </a:solidFill>
              </a:rPr>
              <a:t>sqrt</a:t>
            </a:r>
            <a:r>
              <a:rPr lang="en-US" sz="2400" b="1" dirty="0">
                <a:solidFill>
                  <a:srgbClr val="0070C0"/>
                </a:solidFill>
              </a:rPr>
              <a:t>(2670) = </a:t>
            </a:r>
            <a:r>
              <a:rPr lang="en-US" sz="2400" b="1" dirty="0" smtClean="0">
                <a:solidFill>
                  <a:srgbClr val="0070C0"/>
                </a:solidFill>
              </a:rPr>
              <a:t>51.68</a:t>
            </a:r>
            <a:endParaRPr lang="en-US" sz="2400" b="1" dirty="0">
              <a:solidFill>
                <a:srgbClr val="0070C0"/>
              </a:solidFill>
            </a:endParaRPr>
          </a:p>
        </p:txBody>
      </p:sp>
      <p:sp>
        <p:nvSpPr>
          <p:cNvPr id="5" name="Rectangle 4"/>
          <p:cNvSpPr/>
          <p:nvPr/>
        </p:nvSpPr>
        <p:spPr>
          <a:xfrm>
            <a:off x="1249680" y="2412968"/>
            <a:ext cx="9820656" cy="2062103"/>
          </a:xfrm>
          <a:prstGeom prst="rect">
            <a:avLst/>
          </a:prstGeom>
          <a:ln w="38100">
            <a:solidFill>
              <a:schemeClr val="accent1">
                <a:lumMod val="75000"/>
              </a:schemeClr>
            </a:solidFill>
          </a:ln>
        </p:spPr>
        <p:txBody>
          <a:bodyPr wrap="square">
            <a:spAutoFit/>
          </a:bodyPr>
          <a:lstStyle/>
          <a:p>
            <a:r>
              <a:rPr lang="en-US" sz="2400" b="1" dirty="0"/>
              <a:t>5. Mean Absolute Error (MAE):</a:t>
            </a:r>
            <a:r>
              <a:rPr lang="en-US" sz="2400" dirty="0"/>
              <a:t> </a:t>
            </a:r>
            <a:endParaRPr lang="en-US" sz="2400" dirty="0" smtClean="0"/>
          </a:p>
          <a:p>
            <a:r>
              <a:rPr lang="en-US" sz="2400" dirty="0" smtClean="0"/>
              <a:t>This </a:t>
            </a:r>
            <a:r>
              <a:rPr lang="en-US" sz="2400" dirty="0"/>
              <a:t>metric measures the average </a:t>
            </a:r>
            <a:r>
              <a:rPr lang="en-US" sz="2400" dirty="0">
                <a:solidFill>
                  <a:srgbClr val="0070C0"/>
                </a:solidFill>
                <a:effectLst>
                  <a:outerShdw blurRad="38100" dist="38100" dir="2700000" algn="tl">
                    <a:srgbClr val="000000">
                      <a:alpha val="43137"/>
                    </a:srgbClr>
                  </a:outerShdw>
                </a:effectLst>
              </a:rPr>
              <a:t>absolute difference between the predicted and actual values</a:t>
            </a:r>
            <a:r>
              <a:rPr lang="en-US" sz="2400" dirty="0"/>
              <a:t>. It is less sensitive to outliers than MSE, but still provides a measure of the model’s accuracy. Mathematically, it can be expressed as:</a:t>
            </a:r>
          </a:p>
          <a:p>
            <a:endParaRPr lang="en-US" sz="400" dirty="0" smtClean="0"/>
          </a:p>
          <a:p>
            <a:pPr algn="ctr"/>
            <a:r>
              <a:rPr lang="en-US" sz="2400" b="1" dirty="0" smtClean="0">
                <a:solidFill>
                  <a:srgbClr val="0070C0"/>
                </a:solidFill>
              </a:rPr>
              <a:t>MAE </a:t>
            </a:r>
            <a:r>
              <a:rPr lang="en-US" sz="2400" b="1" dirty="0">
                <a:solidFill>
                  <a:srgbClr val="0070C0"/>
                </a:solidFill>
              </a:rPr>
              <a:t>= (1/n) * sum(abs(y — </a:t>
            </a:r>
            <a:r>
              <a:rPr lang="en-US" sz="2400" b="1" dirty="0" err="1">
                <a:solidFill>
                  <a:srgbClr val="0070C0"/>
                </a:solidFill>
              </a:rPr>
              <a:t>y_hat</a:t>
            </a:r>
            <a:r>
              <a:rPr lang="en-US" sz="2400" b="1" dirty="0">
                <a:solidFill>
                  <a:srgbClr val="0070C0"/>
                </a:solidFill>
              </a:rPr>
              <a:t>)) = </a:t>
            </a:r>
            <a:r>
              <a:rPr lang="en-US" sz="2400" b="1" dirty="0" smtClean="0">
                <a:solidFill>
                  <a:srgbClr val="0070C0"/>
                </a:solidFill>
              </a:rPr>
              <a:t>36</a:t>
            </a:r>
            <a:endParaRPr lang="en-US" sz="2400" b="1" dirty="0">
              <a:solidFill>
                <a:srgbClr val="0070C0"/>
              </a:solidFill>
            </a:endParaRPr>
          </a:p>
        </p:txBody>
      </p:sp>
      <p:sp>
        <p:nvSpPr>
          <p:cNvPr id="6" name="Rectangle 5"/>
          <p:cNvSpPr/>
          <p:nvPr/>
        </p:nvSpPr>
        <p:spPr>
          <a:xfrm>
            <a:off x="1243584" y="4613017"/>
            <a:ext cx="9820656" cy="2062103"/>
          </a:xfrm>
          <a:prstGeom prst="rect">
            <a:avLst/>
          </a:prstGeom>
          <a:ln w="38100">
            <a:solidFill>
              <a:schemeClr val="accent1">
                <a:lumMod val="75000"/>
              </a:schemeClr>
            </a:solidFill>
          </a:ln>
        </p:spPr>
        <p:txBody>
          <a:bodyPr wrap="square">
            <a:spAutoFit/>
          </a:bodyPr>
          <a:lstStyle/>
          <a:p>
            <a:r>
              <a:rPr lang="en-US" sz="2400" b="1" dirty="0"/>
              <a:t>6. Sum Of Squares Total (SST): </a:t>
            </a:r>
            <a:endParaRPr lang="en-US" sz="2400" b="1" dirty="0" smtClean="0"/>
          </a:p>
          <a:p>
            <a:r>
              <a:rPr lang="en-US" sz="2400" dirty="0" smtClean="0"/>
              <a:t>SST </a:t>
            </a:r>
            <a:r>
              <a:rPr lang="en-US" sz="2400" dirty="0"/>
              <a:t>is calculated by taking the sum of the squared differences between the actual values of the dependent variable and its mean value. Mathematically, it can be expressed as</a:t>
            </a:r>
            <a:r>
              <a:rPr lang="en-US" sz="2400" dirty="0" smtClean="0"/>
              <a:t>:</a:t>
            </a:r>
          </a:p>
          <a:p>
            <a:endParaRPr lang="en-US" sz="500" dirty="0"/>
          </a:p>
          <a:p>
            <a:pPr algn="ctr"/>
            <a:r>
              <a:rPr lang="en-US" sz="2400" dirty="0">
                <a:solidFill>
                  <a:srgbClr val="0070C0"/>
                </a:solidFill>
                <a:effectLst>
                  <a:outerShdw blurRad="38100" dist="38100" dir="2700000" algn="tl">
                    <a:srgbClr val="000000">
                      <a:alpha val="43137"/>
                    </a:srgbClr>
                  </a:outerShdw>
                </a:effectLst>
              </a:rPr>
              <a:t>SST = sum((y — </a:t>
            </a:r>
            <a:r>
              <a:rPr lang="en-US" sz="2400" dirty="0" err="1">
                <a:solidFill>
                  <a:srgbClr val="0070C0"/>
                </a:solidFill>
                <a:effectLst>
                  <a:outerShdw blurRad="38100" dist="38100" dir="2700000" algn="tl">
                    <a:srgbClr val="000000">
                      <a:alpha val="43137"/>
                    </a:srgbClr>
                  </a:outerShdw>
                </a:effectLst>
              </a:rPr>
              <a:t>y_mean</a:t>
            </a:r>
            <a:r>
              <a:rPr lang="en-US" sz="2400" dirty="0">
                <a:solidFill>
                  <a:srgbClr val="0070C0"/>
                </a:solidFill>
                <a:effectLst>
                  <a:outerShdw blurRad="38100" dist="38100" dir="2700000" algn="tl">
                    <a:srgbClr val="000000">
                      <a:alpha val="43137"/>
                    </a:srgbClr>
                  </a:outerShdw>
                </a:effectLst>
              </a:rPr>
              <a:t>)²) = </a:t>
            </a:r>
            <a:r>
              <a:rPr lang="en-US" sz="2400" dirty="0" smtClean="0">
                <a:solidFill>
                  <a:srgbClr val="0070C0"/>
                </a:solidFill>
                <a:effectLst>
                  <a:outerShdw blurRad="38100" dist="38100" dir="2700000" algn="tl">
                    <a:srgbClr val="000000">
                      <a:alpha val="43137"/>
                    </a:srgbClr>
                  </a:outerShdw>
                </a:effectLst>
              </a:rPr>
              <a:t>55000</a:t>
            </a:r>
            <a:endParaRPr lang="en-US" sz="2400" b="1"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170326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6152" y="1147441"/>
            <a:ext cx="9820656" cy="4308872"/>
          </a:xfrm>
          <a:prstGeom prst="rect">
            <a:avLst/>
          </a:prstGeom>
          <a:ln w="38100">
            <a:solidFill>
              <a:schemeClr val="accent1">
                <a:lumMod val="75000"/>
              </a:schemeClr>
            </a:solidFill>
          </a:ln>
        </p:spPr>
        <p:txBody>
          <a:bodyPr wrap="square">
            <a:spAutoFit/>
          </a:bodyPr>
          <a:lstStyle/>
          <a:p>
            <a:pPr algn="just"/>
            <a:endParaRPr lang="en-US" sz="2600" b="1" dirty="0" smtClean="0"/>
          </a:p>
          <a:p>
            <a:pPr algn="just"/>
            <a:r>
              <a:rPr lang="en-US" sz="2600" b="1" dirty="0" smtClean="0"/>
              <a:t>R-Squared </a:t>
            </a:r>
            <a:r>
              <a:rPr lang="en-US" sz="2600" b="1" dirty="0"/>
              <a:t>(R²):</a:t>
            </a:r>
            <a:r>
              <a:rPr lang="en-US" sz="2600" dirty="0"/>
              <a:t> </a:t>
            </a:r>
            <a:endParaRPr lang="en-US" sz="2600" dirty="0" smtClean="0"/>
          </a:p>
          <a:p>
            <a:pPr algn="just"/>
            <a:r>
              <a:rPr lang="en-US" sz="2600" dirty="0" smtClean="0"/>
              <a:t>This </a:t>
            </a:r>
            <a:r>
              <a:rPr lang="en-US" sz="2600" dirty="0"/>
              <a:t>metric measures the proportion of variance in the dependent variable that is explained by the independent variable(s). </a:t>
            </a:r>
            <a:endParaRPr lang="en-US" sz="2600" dirty="0" smtClean="0"/>
          </a:p>
          <a:p>
            <a:pPr algn="just"/>
            <a:endParaRPr lang="en-US" sz="1000" dirty="0" smtClean="0"/>
          </a:p>
          <a:p>
            <a:pPr algn="just"/>
            <a:r>
              <a:rPr lang="en-US" sz="26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It </a:t>
            </a:r>
            <a:r>
              <a:rPr lang="en-US" sz="26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ranges from 0 to 1, with a higher value indicating better </a:t>
            </a:r>
            <a:r>
              <a:rPr lang="en-US" sz="26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performance.</a:t>
            </a:r>
          </a:p>
          <a:p>
            <a:pPr algn="just"/>
            <a:endParaRPr lang="en-US" sz="26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pt-BR" sz="2800" dirty="0" smtClean="0"/>
              <a:t>R² </a:t>
            </a:r>
            <a:r>
              <a:rPr lang="pt-BR" sz="2800" dirty="0"/>
              <a:t>= SSR / SST = 28300 / 55000 = 0.5164</a:t>
            </a:r>
          </a:p>
          <a:p>
            <a:pPr algn="ctr"/>
            <a:r>
              <a:rPr lang="pt-BR" sz="2800" dirty="0"/>
              <a:t>R² = 1 — SSE / SST = 1 —26700 / 55000 = 0.5164</a:t>
            </a:r>
          </a:p>
          <a:p>
            <a:pPr algn="just"/>
            <a:endParaRPr lang="en-US" sz="2600" b="1"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810540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1600" y="995842"/>
            <a:ext cx="9390888" cy="3600986"/>
          </a:xfrm>
          <a:prstGeom prst="rect">
            <a:avLst/>
          </a:prstGeom>
        </p:spPr>
        <p:txBody>
          <a:bodyPr wrap="square">
            <a:spAutoFit/>
          </a:bodyPr>
          <a:lstStyle/>
          <a:p>
            <a:pPr algn="r"/>
            <a:r>
              <a:rPr lang="en-US" sz="2400" dirty="0" smtClean="0"/>
              <a:t>13/11/2024</a:t>
            </a:r>
          </a:p>
          <a:p>
            <a:pPr algn="just"/>
            <a:r>
              <a:rPr lang="en-US" sz="2400" dirty="0" smtClean="0"/>
              <a:t>As one </a:t>
            </a:r>
            <a:r>
              <a:rPr lang="en-US" sz="2400" dirty="0"/>
              <a:t>did when studying </a:t>
            </a:r>
            <a:r>
              <a:rPr lang="en-US" sz="2400" dirty="0" smtClean="0"/>
              <a:t>regression:</a:t>
            </a:r>
          </a:p>
          <a:p>
            <a:pPr algn="just"/>
            <a:r>
              <a:rPr lang="en-US" sz="2400" dirty="0" smtClean="0"/>
              <a:t>let’s </a:t>
            </a:r>
            <a:r>
              <a:rPr lang="en-US" sz="2400" dirty="0"/>
              <a:t>begin by thinking about the type of problems </a:t>
            </a:r>
            <a:r>
              <a:rPr lang="en-US" sz="2400" dirty="0" smtClean="0"/>
              <a:t>are </a:t>
            </a:r>
            <a:r>
              <a:rPr lang="en-US" sz="2400" dirty="0"/>
              <a:t>trying to solve. </a:t>
            </a:r>
            <a:endParaRPr lang="en-US" sz="2400" dirty="0" smtClean="0"/>
          </a:p>
          <a:p>
            <a:pPr algn="just"/>
            <a:r>
              <a:rPr lang="en-US" sz="2400" dirty="0" smtClean="0"/>
              <a:t>Here </a:t>
            </a:r>
            <a:r>
              <a:rPr lang="en-US" sz="2400" dirty="0"/>
              <a:t>are a few examples of classification tasks: </a:t>
            </a:r>
            <a:endParaRPr lang="en-US" sz="2400" dirty="0" smtClean="0"/>
          </a:p>
          <a:p>
            <a:pPr algn="just"/>
            <a:endParaRPr lang="en-US" sz="1200" dirty="0" smtClean="0"/>
          </a:p>
          <a:p>
            <a:pPr marL="457200" indent="-457200" algn="just">
              <a:buAutoNum type="arabicPeriod"/>
            </a:pPr>
            <a:r>
              <a:rPr lang="en-US" sz="2400" dirty="0" smtClean="0"/>
              <a:t>Predicting </a:t>
            </a:r>
            <a:r>
              <a:rPr lang="en-US" sz="2400" dirty="0"/>
              <a:t>whether a given email is spam. </a:t>
            </a:r>
            <a:endParaRPr lang="en-US" sz="2400" dirty="0" smtClean="0"/>
          </a:p>
          <a:p>
            <a:pPr marL="457200" indent="-457200" algn="just">
              <a:buAutoNum type="arabicPeriod"/>
            </a:pPr>
            <a:r>
              <a:rPr lang="en-US" sz="2400" dirty="0" smtClean="0"/>
              <a:t>Predicting </a:t>
            </a:r>
            <a:r>
              <a:rPr lang="en-US" sz="2400" dirty="0"/>
              <a:t>the type of object in an image. </a:t>
            </a:r>
            <a:endParaRPr lang="en-US" sz="2400" dirty="0" smtClean="0"/>
          </a:p>
          <a:p>
            <a:pPr marL="457200" indent="-457200" algn="just">
              <a:buAutoNum type="arabicPeriod"/>
            </a:pPr>
            <a:r>
              <a:rPr lang="en-US" sz="2400" dirty="0" smtClean="0"/>
              <a:t>Predicting </a:t>
            </a:r>
            <a:r>
              <a:rPr lang="en-US" sz="2400" dirty="0"/>
              <a:t>whether a manufactured good is defective. The point of classification is hopefully clear: we’re trying to identify the most appropriate class for an input data point.</a:t>
            </a:r>
          </a:p>
        </p:txBody>
      </p:sp>
      <p:pic>
        <p:nvPicPr>
          <p:cNvPr id="3" name="Picture 2"/>
          <p:cNvPicPr>
            <a:picLocks noChangeAspect="1"/>
          </p:cNvPicPr>
          <p:nvPr/>
        </p:nvPicPr>
        <p:blipFill>
          <a:blip r:embed="rId2"/>
          <a:stretch>
            <a:fillRect/>
          </a:stretch>
        </p:blipFill>
        <p:spPr>
          <a:xfrm>
            <a:off x="1266444" y="4650676"/>
            <a:ext cx="9601200" cy="838491"/>
          </a:xfrm>
          <a:prstGeom prst="rect">
            <a:avLst/>
          </a:prstGeom>
        </p:spPr>
      </p:pic>
    </p:spTree>
    <p:extLst>
      <p:ext uri="{BB962C8B-B14F-4D97-AF65-F5344CB8AC3E}">
        <p14:creationId xmlns:p14="http://schemas.microsoft.com/office/powerpoint/2010/main" val="5286921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57159" y="1224342"/>
            <a:ext cx="6737113" cy="4480560"/>
          </a:xfrm>
          <a:prstGeom prst="rect">
            <a:avLst/>
          </a:prstGeom>
        </p:spPr>
      </p:pic>
    </p:spTree>
    <p:extLst>
      <p:ext uri="{BB962C8B-B14F-4D97-AF65-F5344CB8AC3E}">
        <p14:creationId xmlns:p14="http://schemas.microsoft.com/office/powerpoint/2010/main" val="31285050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23975" y="1047750"/>
            <a:ext cx="9544050" cy="4762500"/>
          </a:xfrm>
          <a:prstGeom prst="rect">
            <a:avLst/>
          </a:prstGeom>
        </p:spPr>
      </p:pic>
    </p:spTree>
    <p:extLst>
      <p:ext uri="{BB962C8B-B14F-4D97-AF65-F5344CB8AC3E}">
        <p14:creationId xmlns:p14="http://schemas.microsoft.com/office/powerpoint/2010/main" val="22539211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48702" y="1299400"/>
            <a:ext cx="5248275" cy="4295775"/>
          </a:xfrm>
          <a:prstGeom prst="rect">
            <a:avLst/>
          </a:prstGeom>
        </p:spPr>
      </p:pic>
      <p:sp>
        <p:nvSpPr>
          <p:cNvPr id="5" name="Rectangle 4"/>
          <p:cNvSpPr/>
          <p:nvPr/>
        </p:nvSpPr>
        <p:spPr>
          <a:xfrm>
            <a:off x="3986784" y="1299400"/>
            <a:ext cx="2157984" cy="50196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7" name="Straight Arrow Connector 6"/>
          <p:cNvCxnSpPr/>
          <p:nvPr/>
        </p:nvCxnSpPr>
        <p:spPr>
          <a:xfrm>
            <a:off x="6144768" y="1682496"/>
            <a:ext cx="3008376" cy="1920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5559552" y="1801368"/>
            <a:ext cx="2953512" cy="34747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9153144" y="1623536"/>
            <a:ext cx="2157984" cy="127511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smtClean="0">
                <a:solidFill>
                  <a:schemeClr val="tx1"/>
                </a:solidFill>
              </a:rPr>
              <a:t>If it exists then one can claim it is supervised </a:t>
            </a:r>
            <a:endParaRPr lang="en-US" sz="2200" dirty="0">
              <a:solidFill>
                <a:schemeClr val="tx1"/>
              </a:solidFill>
            </a:endParaRPr>
          </a:p>
        </p:txBody>
      </p:sp>
      <p:sp>
        <p:nvSpPr>
          <p:cNvPr id="12" name="Rectangle 11"/>
          <p:cNvSpPr/>
          <p:nvPr/>
        </p:nvSpPr>
        <p:spPr>
          <a:xfrm>
            <a:off x="4261104" y="942236"/>
            <a:ext cx="1609344" cy="40543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smtClean="0">
                <a:solidFill>
                  <a:schemeClr val="tx1"/>
                </a:solidFill>
              </a:rPr>
              <a:t>label</a:t>
            </a:r>
            <a:endParaRPr lang="en-US" sz="2200" dirty="0">
              <a:solidFill>
                <a:schemeClr val="tx1"/>
              </a:solidFill>
            </a:endParaRPr>
          </a:p>
        </p:txBody>
      </p:sp>
      <p:sp>
        <p:nvSpPr>
          <p:cNvPr id="13" name="Rectangle 12"/>
          <p:cNvSpPr/>
          <p:nvPr/>
        </p:nvSpPr>
        <p:spPr>
          <a:xfrm>
            <a:off x="8583168" y="4638532"/>
            <a:ext cx="2157984" cy="127511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smtClean="0">
                <a:solidFill>
                  <a:schemeClr val="tx1"/>
                </a:solidFill>
              </a:rPr>
              <a:t>If it doesn’t exist then one can claim it is un-supervised </a:t>
            </a:r>
            <a:endParaRPr lang="en-US" sz="2200" dirty="0">
              <a:solidFill>
                <a:schemeClr val="tx1"/>
              </a:solidFill>
            </a:endParaRPr>
          </a:p>
        </p:txBody>
      </p:sp>
    </p:spTree>
    <p:extLst>
      <p:ext uri="{BB962C8B-B14F-4D97-AF65-F5344CB8AC3E}">
        <p14:creationId xmlns:p14="http://schemas.microsoft.com/office/powerpoint/2010/main" val="201623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54264" y="846201"/>
            <a:ext cx="9629775" cy="5238750"/>
          </a:xfrm>
          <a:prstGeom prst="rect">
            <a:avLst/>
          </a:prstGeom>
        </p:spPr>
      </p:pic>
    </p:spTree>
    <p:extLst>
      <p:ext uri="{BB962C8B-B14F-4D97-AF65-F5344CB8AC3E}">
        <p14:creationId xmlns:p14="http://schemas.microsoft.com/office/powerpoint/2010/main" val="34696880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8934" y="1061089"/>
            <a:ext cx="10972800" cy="4719294"/>
          </a:xfrm>
          <a:prstGeom prst="rect">
            <a:avLst/>
          </a:prstGeom>
          <a:ln w="57150">
            <a:solidFill>
              <a:srgbClr val="7030A0"/>
            </a:solidFill>
          </a:ln>
        </p:spPr>
      </p:pic>
    </p:spTree>
    <p:extLst>
      <p:ext uri="{BB962C8B-B14F-4D97-AF65-F5344CB8AC3E}">
        <p14:creationId xmlns:p14="http://schemas.microsoft.com/office/powerpoint/2010/main" val="42294554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99873" y="397679"/>
            <a:ext cx="7284879" cy="523220"/>
          </a:xfrm>
          <a:prstGeom prst="rect">
            <a:avLst/>
          </a:prstGeom>
        </p:spPr>
        <p:txBody>
          <a:bodyPr wrap="none">
            <a:spAutoFit/>
          </a:bodyPr>
          <a:lstStyle/>
          <a:p>
            <a:pPr algn="ctr"/>
            <a:r>
              <a:rPr lang="en-US" sz="2800" b="1" dirty="0" smtClean="0"/>
              <a:t>How will one automates the last slide problem?</a:t>
            </a:r>
            <a:endParaRPr lang="en-US" sz="2800" b="1" dirty="0"/>
          </a:p>
        </p:txBody>
      </p:sp>
      <p:sp>
        <p:nvSpPr>
          <p:cNvPr id="3" name="Rectangle 2"/>
          <p:cNvSpPr/>
          <p:nvPr/>
        </p:nvSpPr>
        <p:spPr>
          <a:xfrm>
            <a:off x="4889953" y="873581"/>
            <a:ext cx="2449710" cy="461665"/>
          </a:xfrm>
          <a:prstGeom prst="rect">
            <a:avLst/>
          </a:prstGeom>
        </p:spPr>
        <p:txBody>
          <a:bodyPr wrap="none">
            <a:spAutoFit/>
          </a:bodyPr>
          <a:lstStyle/>
          <a:p>
            <a:pPr algn="ctr"/>
            <a:r>
              <a:rPr lang="en-US" sz="2400" b="1" u="sng" dirty="0" smtClean="0">
                <a:solidFill>
                  <a:srgbClr val="FF0000"/>
                </a:solidFill>
                <a:effectLst>
                  <a:outerShdw blurRad="38100" dist="38100" dir="2700000" algn="tl">
                    <a:srgbClr val="000000">
                      <a:alpha val="43137"/>
                    </a:srgbClr>
                  </a:outerShdw>
                </a:effectLst>
              </a:rPr>
              <a:t>It needs a MODEL</a:t>
            </a:r>
            <a:endParaRPr lang="en-US" sz="2400" b="1" u="sng" dirty="0">
              <a:solidFill>
                <a:srgbClr val="FF0000"/>
              </a:solidFill>
              <a:effectLst>
                <a:outerShdw blurRad="38100" dist="38100" dir="2700000" algn="tl">
                  <a:srgbClr val="000000">
                    <a:alpha val="43137"/>
                  </a:srgbClr>
                </a:outerShdw>
              </a:effectLst>
            </a:endParaRPr>
          </a:p>
        </p:txBody>
      </p:sp>
      <p:pic>
        <p:nvPicPr>
          <p:cNvPr id="4" name="Picture 3"/>
          <p:cNvPicPr>
            <a:picLocks noChangeAspect="1"/>
          </p:cNvPicPr>
          <p:nvPr/>
        </p:nvPicPr>
        <p:blipFill>
          <a:blip r:embed="rId2"/>
          <a:stretch>
            <a:fillRect/>
          </a:stretch>
        </p:blipFill>
        <p:spPr>
          <a:xfrm>
            <a:off x="2191350" y="1396550"/>
            <a:ext cx="7589520" cy="5131959"/>
          </a:xfrm>
          <a:prstGeom prst="rect">
            <a:avLst/>
          </a:prstGeom>
          <a:ln w="38100">
            <a:solidFill>
              <a:srgbClr val="002060"/>
            </a:solidFill>
          </a:ln>
        </p:spPr>
      </p:pic>
    </p:spTree>
    <p:extLst>
      <p:ext uri="{BB962C8B-B14F-4D97-AF65-F5344CB8AC3E}">
        <p14:creationId xmlns:p14="http://schemas.microsoft.com/office/powerpoint/2010/main" val="6452810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79894" y="673689"/>
            <a:ext cx="10424160" cy="5670417"/>
          </a:xfrm>
          <a:prstGeom prst="rect">
            <a:avLst/>
          </a:prstGeom>
          <a:ln w="57150">
            <a:solidFill>
              <a:srgbClr val="7030A0"/>
            </a:solidFill>
          </a:ln>
        </p:spPr>
      </p:pic>
    </p:spTree>
    <p:extLst>
      <p:ext uri="{BB962C8B-B14F-4D97-AF65-F5344CB8AC3E}">
        <p14:creationId xmlns:p14="http://schemas.microsoft.com/office/powerpoint/2010/main" val="39295614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44423" y="721472"/>
            <a:ext cx="10058400" cy="5444798"/>
          </a:xfrm>
          <a:prstGeom prst="rect">
            <a:avLst/>
          </a:prstGeom>
          <a:ln w="57150">
            <a:solidFill>
              <a:srgbClr val="7030A0"/>
            </a:solidFill>
          </a:ln>
        </p:spPr>
      </p:pic>
    </p:spTree>
    <p:extLst>
      <p:ext uri="{BB962C8B-B14F-4D97-AF65-F5344CB8AC3E}">
        <p14:creationId xmlns:p14="http://schemas.microsoft.com/office/powerpoint/2010/main" val="22230004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58542" y="458002"/>
            <a:ext cx="3729867" cy="523220"/>
          </a:xfrm>
          <a:prstGeom prst="rect">
            <a:avLst/>
          </a:prstGeom>
        </p:spPr>
        <p:txBody>
          <a:bodyPr wrap="none">
            <a:spAutoFit/>
          </a:bodyPr>
          <a:lstStyle/>
          <a:p>
            <a:pPr algn="ctr"/>
            <a:r>
              <a:rPr lang="en-US" sz="2800" b="1" dirty="0" smtClean="0">
                <a:solidFill>
                  <a:srgbClr val="FF0000"/>
                </a:solidFill>
                <a:effectLst>
                  <a:outerShdw blurRad="38100" dist="38100" dir="2700000" algn="tl">
                    <a:srgbClr val="000000">
                      <a:alpha val="43137"/>
                    </a:srgbClr>
                  </a:outerShdw>
                </a:effectLst>
              </a:rPr>
              <a:t>Multiclass Classification</a:t>
            </a:r>
            <a:endParaRPr lang="en-US" sz="2800" b="1" dirty="0">
              <a:solidFill>
                <a:srgbClr val="FF0000"/>
              </a:solidFill>
              <a:effectLst>
                <a:outerShdw blurRad="38100" dist="38100" dir="2700000" algn="tl">
                  <a:srgbClr val="000000">
                    <a:alpha val="43137"/>
                  </a:srgbClr>
                </a:outerShdw>
              </a:effectLst>
            </a:endParaRPr>
          </a:p>
        </p:txBody>
      </p:sp>
      <p:pic>
        <p:nvPicPr>
          <p:cNvPr id="3" name="Picture 2"/>
          <p:cNvPicPr>
            <a:picLocks noChangeAspect="1"/>
          </p:cNvPicPr>
          <p:nvPr/>
        </p:nvPicPr>
        <p:blipFill>
          <a:blip r:embed="rId2"/>
          <a:stretch>
            <a:fillRect/>
          </a:stretch>
        </p:blipFill>
        <p:spPr>
          <a:xfrm>
            <a:off x="536638" y="1290997"/>
            <a:ext cx="4975655" cy="2743200"/>
          </a:xfrm>
          <a:prstGeom prst="rect">
            <a:avLst/>
          </a:prstGeom>
          <a:ln w="38100">
            <a:solidFill>
              <a:srgbClr val="7030A0"/>
            </a:solidFill>
          </a:ln>
        </p:spPr>
      </p:pic>
      <p:pic>
        <p:nvPicPr>
          <p:cNvPr id="4" name="Picture 3"/>
          <p:cNvPicPr>
            <a:picLocks noChangeAspect="1"/>
          </p:cNvPicPr>
          <p:nvPr/>
        </p:nvPicPr>
        <p:blipFill>
          <a:blip r:embed="rId3"/>
          <a:stretch>
            <a:fillRect/>
          </a:stretch>
        </p:blipFill>
        <p:spPr>
          <a:xfrm>
            <a:off x="6112174" y="2342164"/>
            <a:ext cx="5577840" cy="4331580"/>
          </a:xfrm>
          <a:prstGeom prst="rect">
            <a:avLst/>
          </a:prstGeom>
          <a:ln w="38100">
            <a:solidFill>
              <a:srgbClr val="C00000"/>
            </a:solidFill>
          </a:ln>
        </p:spPr>
      </p:pic>
    </p:spTree>
    <p:extLst>
      <p:ext uri="{BB962C8B-B14F-4D97-AF65-F5344CB8AC3E}">
        <p14:creationId xmlns:p14="http://schemas.microsoft.com/office/powerpoint/2010/main" val="3088804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82625" y="1404034"/>
            <a:ext cx="11225574" cy="3931920"/>
          </a:xfrm>
          <a:prstGeom prst="rect">
            <a:avLst/>
          </a:prstGeom>
        </p:spPr>
      </p:pic>
    </p:spTree>
    <p:extLst>
      <p:ext uri="{BB962C8B-B14F-4D97-AF65-F5344CB8AC3E}">
        <p14:creationId xmlns:p14="http://schemas.microsoft.com/office/powerpoint/2010/main" val="19843053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40711" y="982065"/>
            <a:ext cx="8972550" cy="4600575"/>
          </a:xfrm>
          <a:prstGeom prst="rect">
            <a:avLst/>
          </a:prstGeom>
        </p:spPr>
      </p:pic>
      <p:sp>
        <p:nvSpPr>
          <p:cNvPr id="5" name="Cloud 4"/>
          <p:cNvSpPr/>
          <p:nvPr/>
        </p:nvSpPr>
        <p:spPr>
          <a:xfrm>
            <a:off x="6271404" y="4458510"/>
            <a:ext cx="3027872" cy="1424706"/>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effectLst>
                  <a:outerShdw blurRad="38100" dist="38100" dir="2700000" algn="tl">
                    <a:srgbClr val="000000">
                      <a:alpha val="43137"/>
                    </a:srgbClr>
                  </a:outerShdw>
                </a:effectLst>
              </a:rPr>
              <a:t>Knowledge</a:t>
            </a:r>
            <a:endParaRPr lang="en-US"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554514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29343" y="681212"/>
            <a:ext cx="9829800" cy="4029075"/>
          </a:xfrm>
          <a:prstGeom prst="rect">
            <a:avLst/>
          </a:prstGeom>
        </p:spPr>
      </p:pic>
      <p:sp>
        <p:nvSpPr>
          <p:cNvPr id="3" name="Rectangle 2"/>
          <p:cNvSpPr/>
          <p:nvPr/>
        </p:nvSpPr>
        <p:spPr>
          <a:xfrm>
            <a:off x="1500657" y="4739423"/>
            <a:ext cx="5067286" cy="523220"/>
          </a:xfrm>
          <a:prstGeom prst="rect">
            <a:avLst/>
          </a:prstGeom>
        </p:spPr>
        <p:txBody>
          <a:bodyPr wrap="none">
            <a:spAutoFit/>
          </a:bodyPr>
          <a:lstStyle/>
          <a:p>
            <a:pPr algn="ctr"/>
            <a:r>
              <a:rPr lang="en-US" sz="2800" b="1" dirty="0" smtClean="0">
                <a:solidFill>
                  <a:srgbClr val="FF0000"/>
                </a:solidFill>
                <a:effectLst>
                  <a:outerShdw blurRad="38100" dist="38100" dir="2700000" algn="tl">
                    <a:srgbClr val="000000">
                      <a:alpha val="43137"/>
                    </a:srgbClr>
                  </a:outerShdw>
                </a:effectLst>
              </a:rPr>
              <a:t>Initially, store data (no activities)</a:t>
            </a:r>
            <a:endParaRPr lang="en-US" sz="2800" b="1" dirty="0">
              <a:solidFill>
                <a:srgbClr val="FF0000"/>
              </a:solidFill>
              <a:effectLst>
                <a:outerShdw blurRad="38100" dist="38100" dir="2700000" algn="tl">
                  <a:srgbClr val="000000">
                    <a:alpha val="43137"/>
                  </a:srgbClr>
                </a:outerShdw>
              </a:effectLst>
            </a:endParaRPr>
          </a:p>
        </p:txBody>
      </p:sp>
      <p:sp>
        <p:nvSpPr>
          <p:cNvPr id="5" name="Rectangle 4"/>
          <p:cNvSpPr/>
          <p:nvPr/>
        </p:nvSpPr>
        <p:spPr>
          <a:xfrm>
            <a:off x="3469898" y="5262643"/>
            <a:ext cx="7840160" cy="954107"/>
          </a:xfrm>
          <a:prstGeom prst="rect">
            <a:avLst/>
          </a:prstGeom>
        </p:spPr>
        <p:txBody>
          <a:bodyPr wrap="none">
            <a:spAutoFit/>
          </a:bodyPr>
          <a:lstStyle/>
          <a:p>
            <a:pPr algn="ctr"/>
            <a:r>
              <a:rPr lang="en-US" sz="2800" b="1" dirty="0" smtClean="0">
                <a:solidFill>
                  <a:schemeClr val="accent1"/>
                </a:solidFill>
                <a:effectLst>
                  <a:outerShdw blurRad="38100" dist="38100" dir="2700000" algn="tl">
                    <a:srgbClr val="000000">
                      <a:alpha val="43137"/>
                    </a:srgbClr>
                  </a:outerShdw>
                </a:effectLst>
              </a:rPr>
              <a:t>Less training time: take few samples to calculate</a:t>
            </a:r>
          </a:p>
          <a:p>
            <a:pPr algn="ctr"/>
            <a:r>
              <a:rPr lang="en-US" sz="2800" b="1" dirty="0" smtClean="0">
                <a:solidFill>
                  <a:schemeClr val="accent2">
                    <a:lumMod val="75000"/>
                  </a:schemeClr>
                </a:solidFill>
                <a:effectLst>
                  <a:outerShdw blurRad="38100" dist="38100" dir="2700000" algn="tl">
                    <a:srgbClr val="000000">
                      <a:alpha val="43137"/>
                    </a:srgbClr>
                  </a:outerShdw>
                </a:effectLst>
              </a:rPr>
              <a:t>More prediction time. Due to distance calculation</a:t>
            </a:r>
            <a:endParaRPr lang="en-US" sz="2800" b="1" dirty="0">
              <a:solidFill>
                <a:schemeClr val="accent2">
                  <a:lumMod val="75000"/>
                </a:schemeClr>
              </a:solidFill>
              <a:effectLst>
                <a:outerShdw blurRad="38100" dist="38100" dir="2700000" algn="tl">
                  <a:srgbClr val="000000">
                    <a:alpha val="43137"/>
                  </a:srgbClr>
                </a:outerShdw>
              </a:effectLst>
            </a:endParaRPr>
          </a:p>
        </p:txBody>
      </p:sp>
      <p:cxnSp>
        <p:nvCxnSpPr>
          <p:cNvPr id="6" name="Straight Arrow Connector 5"/>
          <p:cNvCxnSpPr/>
          <p:nvPr/>
        </p:nvCxnSpPr>
        <p:spPr>
          <a:xfrm flipV="1">
            <a:off x="6461185" y="2208355"/>
            <a:ext cx="1147313" cy="27926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8022566" y="4270069"/>
            <a:ext cx="687598" cy="99257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1129343" y="785004"/>
            <a:ext cx="1838144" cy="457200"/>
          </a:xfrm>
          <a:prstGeom prst="rect">
            <a:avLst/>
          </a:prstGeom>
          <a:noFill/>
          <a:ln w="571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06440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59958" y="917810"/>
            <a:ext cx="10220325" cy="3676650"/>
          </a:xfrm>
          <a:prstGeom prst="rect">
            <a:avLst/>
          </a:prstGeom>
        </p:spPr>
      </p:pic>
      <p:sp>
        <p:nvSpPr>
          <p:cNvPr id="5" name="Rectangle 4"/>
          <p:cNvSpPr/>
          <p:nvPr/>
        </p:nvSpPr>
        <p:spPr>
          <a:xfrm>
            <a:off x="1025827" y="978190"/>
            <a:ext cx="2071055" cy="457200"/>
          </a:xfrm>
          <a:prstGeom prst="rect">
            <a:avLst/>
          </a:prstGeom>
          <a:noFill/>
          <a:ln w="571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647188" y="5331653"/>
            <a:ext cx="7433831" cy="954107"/>
          </a:xfrm>
          <a:prstGeom prst="rect">
            <a:avLst/>
          </a:prstGeom>
        </p:spPr>
        <p:txBody>
          <a:bodyPr wrap="none">
            <a:spAutoFit/>
          </a:bodyPr>
          <a:lstStyle/>
          <a:p>
            <a:pPr algn="ctr"/>
            <a:r>
              <a:rPr lang="en-US" sz="2800" b="1" dirty="0" smtClean="0">
                <a:solidFill>
                  <a:schemeClr val="accent1"/>
                </a:solidFill>
                <a:effectLst>
                  <a:outerShdw blurRad="38100" dist="38100" dir="2700000" algn="tl">
                    <a:srgbClr val="000000">
                      <a:alpha val="43137"/>
                    </a:srgbClr>
                  </a:outerShdw>
                </a:effectLst>
              </a:rPr>
              <a:t>More training time: full data set</a:t>
            </a:r>
          </a:p>
          <a:p>
            <a:pPr algn="ctr"/>
            <a:r>
              <a:rPr lang="en-US" sz="2800" b="1" dirty="0" smtClean="0">
                <a:solidFill>
                  <a:schemeClr val="accent2">
                    <a:lumMod val="75000"/>
                  </a:schemeClr>
                </a:solidFill>
                <a:effectLst>
                  <a:outerShdw blurRad="38100" dist="38100" dir="2700000" algn="tl">
                    <a:srgbClr val="000000">
                      <a:alpha val="43137"/>
                    </a:srgbClr>
                  </a:outerShdw>
                </a:effectLst>
              </a:rPr>
              <a:t>less prediction time. Due to created table or tree</a:t>
            </a:r>
            <a:endParaRPr lang="en-US" sz="2800" b="1" dirty="0">
              <a:solidFill>
                <a:schemeClr val="accent2">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76478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68199" y="1097886"/>
            <a:ext cx="10650914" cy="4572000"/>
          </a:xfrm>
          <a:prstGeom prst="rect">
            <a:avLst/>
          </a:prstGeom>
          <a:ln w="38100">
            <a:solidFill>
              <a:srgbClr val="7030A0"/>
            </a:solidFill>
          </a:ln>
        </p:spPr>
      </p:pic>
    </p:spTree>
    <p:extLst>
      <p:ext uri="{BB962C8B-B14F-4D97-AF65-F5344CB8AC3E}">
        <p14:creationId xmlns:p14="http://schemas.microsoft.com/office/powerpoint/2010/main" val="31521244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00150" y="942975"/>
            <a:ext cx="9791700" cy="4972050"/>
          </a:xfrm>
          <a:prstGeom prst="rect">
            <a:avLst/>
          </a:prstGeom>
        </p:spPr>
      </p:pic>
      <p:pic>
        <p:nvPicPr>
          <p:cNvPr id="3" name="Picture 2"/>
          <p:cNvPicPr>
            <a:picLocks noChangeAspect="1"/>
          </p:cNvPicPr>
          <p:nvPr/>
        </p:nvPicPr>
        <p:blipFill>
          <a:blip r:embed="rId3"/>
          <a:stretch>
            <a:fillRect/>
          </a:stretch>
        </p:blipFill>
        <p:spPr>
          <a:xfrm>
            <a:off x="6096000" y="2706453"/>
            <a:ext cx="4480560" cy="2303169"/>
          </a:xfrm>
          <a:prstGeom prst="rect">
            <a:avLst/>
          </a:prstGeom>
          <a:ln w="38100">
            <a:solidFill>
              <a:schemeClr val="accent6">
                <a:lumMod val="75000"/>
              </a:schemeClr>
            </a:solidFill>
          </a:ln>
        </p:spPr>
      </p:pic>
    </p:spTree>
    <p:extLst>
      <p:ext uri="{BB962C8B-B14F-4D97-AF65-F5344CB8AC3E}">
        <p14:creationId xmlns:p14="http://schemas.microsoft.com/office/powerpoint/2010/main" val="12741918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33475" y="1057275"/>
            <a:ext cx="9925050" cy="4743450"/>
          </a:xfrm>
          <a:prstGeom prst="rect">
            <a:avLst/>
          </a:prstGeom>
        </p:spPr>
      </p:pic>
    </p:spTree>
    <p:extLst>
      <p:ext uri="{BB962C8B-B14F-4D97-AF65-F5344CB8AC3E}">
        <p14:creationId xmlns:p14="http://schemas.microsoft.com/office/powerpoint/2010/main" val="7812473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79432" y="513182"/>
            <a:ext cx="9235440" cy="2815030"/>
          </a:xfrm>
          <a:prstGeom prst="rect">
            <a:avLst/>
          </a:prstGeom>
        </p:spPr>
      </p:pic>
      <p:pic>
        <p:nvPicPr>
          <p:cNvPr id="3" name="Picture 2"/>
          <p:cNvPicPr>
            <a:picLocks noChangeAspect="1"/>
          </p:cNvPicPr>
          <p:nvPr/>
        </p:nvPicPr>
        <p:blipFill>
          <a:blip r:embed="rId3"/>
          <a:stretch>
            <a:fillRect/>
          </a:stretch>
        </p:blipFill>
        <p:spPr>
          <a:xfrm>
            <a:off x="2150567" y="3328212"/>
            <a:ext cx="8046720" cy="2904982"/>
          </a:xfrm>
          <a:prstGeom prst="rect">
            <a:avLst/>
          </a:prstGeom>
        </p:spPr>
      </p:pic>
    </p:spTree>
    <p:extLst>
      <p:ext uri="{BB962C8B-B14F-4D97-AF65-F5344CB8AC3E}">
        <p14:creationId xmlns:p14="http://schemas.microsoft.com/office/powerpoint/2010/main" val="8306014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08144" y="957262"/>
            <a:ext cx="9896475" cy="4943475"/>
          </a:xfrm>
          <a:prstGeom prst="rect">
            <a:avLst/>
          </a:prstGeom>
        </p:spPr>
      </p:pic>
    </p:spTree>
    <p:extLst>
      <p:ext uri="{BB962C8B-B14F-4D97-AF65-F5344CB8AC3E}">
        <p14:creationId xmlns:p14="http://schemas.microsoft.com/office/powerpoint/2010/main" val="9472284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36490" y="1352550"/>
            <a:ext cx="9153525" cy="4152900"/>
          </a:xfrm>
          <a:prstGeom prst="rect">
            <a:avLst/>
          </a:prstGeom>
        </p:spPr>
      </p:pic>
    </p:spTree>
    <p:extLst>
      <p:ext uri="{BB962C8B-B14F-4D97-AF65-F5344CB8AC3E}">
        <p14:creationId xmlns:p14="http://schemas.microsoft.com/office/powerpoint/2010/main" val="21030279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19200" y="1000125"/>
            <a:ext cx="9753600" cy="4857750"/>
          </a:xfrm>
          <a:prstGeom prst="rect">
            <a:avLst/>
          </a:prstGeom>
        </p:spPr>
      </p:pic>
    </p:spTree>
    <p:extLst>
      <p:ext uri="{BB962C8B-B14F-4D97-AF65-F5344CB8AC3E}">
        <p14:creationId xmlns:p14="http://schemas.microsoft.com/office/powerpoint/2010/main" val="39771192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64851" y="399511"/>
            <a:ext cx="4369803" cy="3566160"/>
          </a:xfrm>
          <a:prstGeom prst="rect">
            <a:avLst/>
          </a:prstGeom>
          <a:ln w="57150">
            <a:solidFill>
              <a:srgbClr val="002060"/>
            </a:solidFill>
          </a:ln>
        </p:spPr>
      </p:pic>
      <p:pic>
        <p:nvPicPr>
          <p:cNvPr id="5" name="Picture 4"/>
          <p:cNvPicPr>
            <a:picLocks noChangeAspect="1"/>
          </p:cNvPicPr>
          <p:nvPr/>
        </p:nvPicPr>
        <p:blipFill>
          <a:blip r:embed="rId3"/>
          <a:stretch>
            <a:fillRect/>
          </a:stretch>
        </p:blipFill>
        <p:spPr>
          <a:xfrm>
            <a:off x="5109083" y="3324871"/>
            <a:ext cx="6766560" cy="3210023"/>
          </a:xfrm>
          <a:prstGeom prst="rect">
            <a:avLst/>
          </a:prstGeom>
          <a:ln w="57150">
            <a:solidFill>
              <a:schemeClr val="accent6">
                <a:lumMod val="75000"/>
              </a:schemeClr>
            </a:solidFill>
          </a:ln>
        </p:spPr>
      </p:pic>
    </p:spTree>
    <p:extLst>
      <p:ext uri="{BB962C8B-B14F-4D97-AF65-F5344CB8AC3E}">
        <p14:creationId xmlns:p14="http://schemas.microsoft.com/office/powerpoint/2010/main" val="21570455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40865" y="1151986"/>
            <a:ext cx="3330120" cy="2468880"/>
          </a:xfrm>
          <a:prstGeom prst="rect">
            <a:avLst/>
          </a:prstGeom>
          <a:ln w="57150">
            <a:solidFill>
              <a:srgbClr val="7030A0"/>
            </a:solidFill>
          </a:ln>
        </p:spPr>
      </p:pic>
      <p:pic>
        <p:nvPicPr>
          <p:cNvPr id="5" name="Picture 4"/>
          <p:cNvPicPr>
            <a:picLocks noChangeAspect="1"/>
          </p:cNvPicPr>
          <p:nvPr/>
        </p:nvPicPr>
        <p:blipFill>
          <a:blip r:embed="rId3"/>
          <a:stretch>
            <a:fillRect/>
          </a:stretch>
        </p:blipFill>
        <p:spPr>
          <a:xfrm>
            <a:off x="6775780" y="3335636"/>
            <a:ext cx="3627457" cy="2468880"/>
          </a:xfrm>
          <a:prstGeom prst="rect">
            <a:avLst/>
          </a:prstGeom>
          <a:ln w="57150">
            <a:solidFill>
              <a:schemeClr val="accent2">
                <a:lumMod val="75000"/>
              </a:schemeClr>
            </a:solidFill>
          </a:ln>
        </p:spPr>
      </p:pic>
      <p:sp>
        <p:nvSpPr>
          <p:cNvPr id="6" name="Rectangle 5"/>
          <p:cNvSpPr/>
          <p:nvPr/>
        </p:nvSpPr>
        <p:spPr>
          <a:xfrm>
            <a:off x="2669185" y="3778898"/>
            <a:ext cx="2436950" cy="523220"/>
          </a:xfrm>
          <a:prstGeom prst="rect">
            <a:avLst/>
          </a:prstGeom>
        </p:spPr>
        <p:txBody>
          <a:bodyPr wrap="none">
            <a:spAutoFit/>
          </a:bodyPr>
          <a:lstStyle/>
          <a:p>
            <a:pPr algn="ctr"/>
            <a:r>
              <a:rPr lang="en-US" sz="2800" b="1" dirty="0" smtClean="0">
                <a:solidFill>
                  <a:schemeClr val="accent1"/>
                </a:solidFill>
                <a:effectLst>
                  <a:outerShdw blurRad="38100" dist="38100" dir="2700000" algn="tl">
                    <a:srgbClr val="000000">
                      <a:alpha val="43137"/>
                    </a:srgbClr>
                  </a:outerShdw>
                </a:effectLst>
              </a:rPr>
              <a:t>Hard clustering</a:t>
            </a:r>
            <a:endParaRPr lang="en-US" sz="2800" b="1" dirty="0">
              <a:solidFill>
                <a:schemeClr val="accent2">
                  <a:lumMod val="75000"/>
                </a:schemeClr>
              </a:solidFill>
              <a:effectLst>
                <a:outerShdw blurRad="38100" dist="38100" dir="2700000" algn="tl">
                  <a:srgbClr val="000000">
                    <a:alpha val="43137"/>
                  </a:srgbClr>
                </a:outerShdw>
              </a:effectLst>
            </a:endParaRPr>
          </a:p>
        </p:txBody>
      </p:sp>
      <p:sp>
        <p:nvSpPr>
          <p:cNvPr id="7" name="Rectangle 6"/>
          <p:cNvSpPr/>
          <p:nvPr/>
        </p:nvSpPr>
        <p:spPr>
          <a:xfrm>
            <a:off x="7608397" y="5915373"/>
            <a:ext cx="2317879" cy="523220"/>
          </a:xfrm>
          <a:prstGeom prst="rect">
            <a:avLst/>
          </a:prstGeom>
        </p:spPr>
        <p:txBody>
          <a:bodyPr wrap="none">
            <a:spAutoFit/>
          </a:bodyPr>
          <a:lstStyle/>
          <a:p>
            <a:pPr algn="ctr"/>
            <a:r>
              <a:rPr lang="en-US" sz="2800" b="1" dirty="0" smtClean="0">
                <a:solidFill>
                  <a:schemeClr val="accent1"/>
                </a:solidFill>
                <a:effectLst>
                  <a:outerShdw blurRad="38100" dist="38100" dir="2700000" algn="tl">
                    <a:srgbClr val="000000">
                      <a:alpha val="43137"/>
                    </a:srgbClr>
                  </a:outerShdw>
                </a:effectLst>
              </a:rPr>
              <a:t>Soft clustering</a:t>
            </a:r>
            <a:endParaRPr lang="en-US" sz="2800" b="1" dirty="0">
              <a:solidFill>
                <a:schemeClr val="accent2">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823982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65519" y="1670824"/>
            <a:ext cx="3457575" cy="3181350"/>
          </a:xfrm>
          <a:prstGeom prst="rect">
            <a:avLst/>
          </a:prstGeom>
          <a:ln w="38100">
            <a:solidFill>
              <a:srgbClr val="7030A0"/>
            </a:solidFill>
          </a:ln>
        </p:spPr>
      </p:pic>
      <p:sp>
        <p:nvSpPr>
          <p:cNvPr id="5" name="Rectangle 4"/>
          <p:cNvSpPr/>
          <p:nvPr/>
        </p:nvSpPr>
        <p:spPr>
          <a:xfrm>
            <a:off x="1258015" y="902703"/>
            <a:ext cx="3934090" cy="584775"/>
          </a:xfrm>
          <a:prstGeom prst="rect">
            <a:avLst/>
          </a:prstGeom>
        </p:spPr>
        <p:txBody>
          <a:bodyPr wrap="none">
            <a:spAutoFit/>
          </a:bodyPr>
          <a:lstStyle/>
          <a:p>
            <a:pPr algn="ctr"/>
            <a:r>
              <a:rPr lang="en-US" sz="3200" b="1" dirty="0" smtClean="0">
                <a:solidFill>
                  <a:schemeClr val="accent1"/>
                </a:solidFill>
                <a:effectLst>
                  <a:outerShdw blurRad="38100" dist="38100" dir="2700000" algn="tl">
                    <a:srgbClr val="000000">
                      <a:alpha val="43137"/>
                    </a:srgbClr>
                  </a:outerShdw>
                </a:effectLst>
              </a:rPr>
              <a:t>Partitioning clustering</a:t>
            </a:r>
            <a:endParaRPr lang="en-US" sz="3200" b="1" dirty="0">
              <a:solidFill>
                <a:schemeClr val="accent2">
                  <a:lumMod val="75000"/>
                </a:schemeClr>
              </a:solidFill>
              <a:effectLst>
                <a:outerShdw blurRad="38100" dist="38100" dir="2700000" algn="tl">
                  <a:srgbClr val="000000">
                    <a:alpha val="43137"/>
                  </a:srgbClr>
                </a:outerShdw>
              </a:effectLst>
            </a:endParaRPr>
          </a:p>
        </p:txBody>
      </p:sp>
      <p:sp>
        <p:nvSpPr>
          <p:cNvPr id="6" name="Rectangle 5"/>
          <p:cNvSpPr/>
          <p:nvPr/>
        </p:nvSpPr>
        <p:spPr>
          <a:xfrm>
            <a:off x="746129" y="5035520"/>
            <a:ext cx="5383460" cy="830997"/>
          </a:xfrm>
          <a:prstGeom prst="rect">
            <a:avLst/>
          </a:prstGeom>
        </p:spPr>
        <p:txBody>
          <a:bodyPr wrap="none">
            <a:spAutoFit/>
          </a:bodyPr>
          <a:lstStyle/>
          <a:p>
            <a:pPr algn="ctr"/>
            <a:r>
              <a:rPr lang="en-US" sz="2400" b="1" dirty="0" smtClean="0">
                <a:solidFill>
                  <a:schemeClr val="accent1"/>
                </a:solidFill>
                <a:effectLst>
                  <a:outerShdw blurRad="38100" dist="38100" dir="2700000" algn="tl">
                    <a:srgbClr val="000000">
                      <a:alpha val="43137"/>
                    </a:srgbClr>
                  </a:outerShdw>
                </a:effectLst>
              </a:rPr>
              <a:t>Centered base: properties or objects are </a:t>
            </a:r>
          </a:p>
          <a:p>
            <a:pPr algn="ctr"/>
            <a:r>
              <a:rPr lang="en-US" sz="2400" b="1" dirty="0" smtClean="0">
                <a:solidFill>
                  <a:schemeClr val="accent1"/>
                </a:solidFill>
                <a:effectLst>
                  <a:outerShdw blurRad="38100" dist="38100" dir="2700000" algn="tl">
                    <a:srgbClr val="000000">
                      <a:alpha val="43137"/>
                    </a:srgbClr>
                  </a:outerShdw>
                </a:effectLst>
              </a:rPr>
              <a:t>close to center</a:t>
            </a:r>
            <a:endParaRPr lang="en-US" sz="2400" b="1" dirty="0">
              <a:solidFill>
                <a:schemeClr val="accent2">
                  <a:lumMod val="75000"/>
                </a:schemeClr>
              </a:solidFill>
              <a:effectLst>
                <a:outerShdw blurRad="38100" dist="38100" dir="2700000" algn="tl">
                  <a:srgbClr val="000000">
                    <a:alpha val="43137"/>
                  </a:srgbClr>
                </a:outerShdw>
              </a:effectLst>
            </a:endParaRPr>
          </a:p>
        </p:txBody>
      </p:sp>
      <p:pic>
        <p:nvPicPr>
          <p:cNvPr id="7" name="Picture 6"/>
          <p:cNvPicPr>
            <a:picLocks noChangeAspect="1"/>
          </p:cNvPicPr>
          <p:nvPr/>
        </p:nvPicPr>
        <p:blipFill>
          <a:blip r:embed="rId3"/>
          <a:stretch>
            <a:fillRect/>
          </a:stretch>
        </p:blipFill>
        <p:spPr>
          <a:xfrm>
            <a:off x="7429167" y="1827503"/>
            <a:ext cx="3314700" cy="2543175"/>
          </a:xfrm>
          <a:prstGeom prst="rect">
            <a:avLst/>
          </a:prstGeom>
          <a:ln w="38100">
            <a:solidFill>
              <a:schemeClr val="accent6">
                <a:lumMod val="75000"/>
              </a:schemeClr>
            </a:solidFill>
          </a:ln>
        </p:spPr>
      </p:pic>
      <p:sp>
        <p:nvSpPr>
          <p:cNvPr id="8" name="Rectangle 7"/>
          <p:cNvSpPr/>
          <p:nvPr/>
        </p:nvSpPr>
        <p:spPr>
          <a:xfrm>
            <a:off x="7149931" y="1086049"/>
            <a:ext cx="3873176" cy="584775"/>
          </a:xfrm>
          <a:prstGeom prst="rect">
            <a:avLst/>
          </a:prstGeom>
        </p:spPr>
        <p:txBody>
          <a:bodyPr wrap="none">
            <a:spAutoFit/>
          </a:bodyPr>
          <a:lstStyle/>
          <a:p>
            <a:pPr algn="ctr"/>
            <a:r>
              <a:rPr lang="en-US" sz="3200" b="1" dirty="0" smtClean="0">
                <a:solidFill>
                  <a:schemeClr val="accent1"/>
                </a:solidFill>
                <a:effectLst>
                  <a:outerShdw blurRad="38100" dist="38100" dir="2700000" algn="tl">
                    <a:srgbClr val="000000">
                      <a:alpha val="43137"/>
                    </a:srgbClr>
                  </a:outerShdw>
                </a:effectLst>
              </a:rPr>
              <a:t>Dense base clustering</a:t>
            </a:r>
            <a:endParaRPr lang="en-US" sz="3200" b="1" dirty="0">
              <a:solidFill>
                <a:schemeClr val="accent2">
                  <a:lumMod val="75000"/>
                </a:schemeClr>
              </a:solidFill>
              <a:effectLst>
                <a:outerShdw blurRad="38100" dist="38100" dir="2700000" algn="tl">
                  <a:srgbClr val="000000">
                    <a:alpha val="43137"/>
                  </a:srgbClr>
                </a:outerShdw>
              </a:effectLst>
            </a:endParaRPr>
          </a:p>
        </p:txBody>
      </p:sp>
      <p:sp>
        <p:nvSpPr>
          <p:cNvPr id="9" name="Rectangle 8"/>
          <p:cNvSpPr/>
          <p:nvPr/>
        </p:nvSpPr>
        <p:spPr>
          <a:xfrm>
            <a:off x="7556491" y="4730534"/>
            <a:ext cx="3293659" cy="461665"/>
          </a:xfrm>
          <a:prstGeom prst="rect">
            <a:avLst/>
          </a:prstGeom>
        </p:spPr>
        <p:txBody>
          <a:bodyPr wrap="none">
            <a:spAutoFit/>
          </a:bodyPr>
          <a:lstStyle/>
          <a:p>
            <a:r>
              <a:rPr lang="en-US" sz="2400" b="1" dirty="0" smtClean="0">
                <a:solidFill>
                  <a:schemeClr val="accent2">
                    <a:lumMod val="75000"/>
                  </a:schemeClr>
                </a:solidFill>
                <a:effectLst>
                  <a:outerShdw blurRad="38100" dist="38100" dir="2700000" algn="tl">
                    <a:srgbClr val="000000">
                      <a:alpha val="43137"/>
                    </a:srgbClr>
                  </a:outerShdw>
                </a:effectLst>
              </a:rPr>
              <a:t>Density based clustering</a:t>
            </a:r>
            <a:endParaRPr lang="en-US" sz="2400" b="1" dirty="0">
              <a:solidFill>
                <a:schemeClr val="accent2">
                  <a:lumMod val="75000"/>
                </a:schemeClr>
              </a:solidFill>
              <a:effectLst>
                <a:outerShdw blurRad="38100" dist="38100" dir="2700000" algn="tl">
                  <a:srgbClr val="000000">
                    <a:alpha val="43137"/>
                  </a:srgbClr>
                </a:outerShdw>
              </a:effectLst>
            </a:endParaRPr>
          </a:p>
        </p:txBody>
      </p:sp>
      <p:cxnSp>
        <p:nvCxnSpPr>
          <p:cNvPr id="11" name="Straight Arrow Connector 10"/>
          <p:cNvCxnSpPr/>
          <p:nvPr/>
        </p:nvCxnSpPr>
        <p:spPr>
          <a:xfrm flipV="1">
            <a:off x="2460157" y="2877627"/>
            <a:ext cx="215661" cy="2157893"/>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7873041" y="3217652"/>
            <a:ext cx="227162" cy="1594301"/>
          </a:xfrm>
          <a:prstGeom prst="straightConnector1">
            <a:avLst/>
          </a:prstGeom>
          <a:ln w="3810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60154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47108" y="798933"/>
            <a:ext cx="10401300" cy="5191125"/>
          </a:xfrm>
          <a:prstGeom prst="rect">
            <a:avLst/>
          </a:prstGeom>
        </p:spPr>
      </p:pic>
    </p:spTree>
    <p:extLst>
      <p:ext uri="{BB962C8B-B14F-4D97-AF65-F5344CB8AC3E}">
        <p14:creationId xmlns:p14="http://schemas.microsoft.com/office/powerpoint/2010/main" val="12527366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effectLst>
                  <a:outerShdw blurRad="38100" dist="38100" dir="2700000" algn="tl">
                    <a:srgbClr val="000000">
                      <a:alpha val="43137"/>
                    </a:srgbClr>
                  </a:outerShdw>
                </a:effectLst>
              </a:rPr>
              <a:t>K-means Clustering</a:t>
            </a:r>
            <a:endParaRPr lang="en-US"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What is clustering? [done]</a:t>
            </a:r>
          </a:p>
          <a:p>
            <a:r>
              <a:rPr lang="en-US" dirty="0" smtClean="0"/>
              <a:t>Why would we want to cluster? </a:t>
            </a:r>
          </a:p>
          <a:p>
            <a:r>
              <a:rPr lang="en-US" dirty="0" smtClean="0"/>
              <a:t>How would you determine clusters?</a:t>
            </a:r>
          </a:p>
          <a:p>
            <a:r>
              <a:rPr lang="en-US" dirty="0" smtClean="0"/>
              <a:t>How can you do this efficiently?</a:t>
            </a:r>
            <a:endParaRPr lang="en-US" dirty="0"/>
          </a:p>
        </p:txBody>
      </p:sp>
      <p:sp>
        <p:nvSpPr>
          <p:cNvPr id="4" name="Title 1"/>
          <p:cNvSpPr txBox="1">
            <a:spLocks/>
          </p:cNvSpPr>
          <p:nvPr/>
        </p:nvSpPr>
        <p:spPr>
          <a:xfrm>
            <a:off x="9901687" y="365125"/>
            <a:ext cx="1726721" cy="43138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600" b="1" dirty="0" smtClean="0">
                <a:solidFill>
                  <a:schemeClr val="accent1"/>
                </a:solidFill>
                <a:effectLst>
                  <a:outerShdw blurRad="38100" dist="38100" dir="2700000" algn="tl">
                    <a:srgbClr val="000000">
                      <a:alpha val="43137"/>
                    </a:srgbClr>
                  </a:outerShdw>
                </a:effectLst>
              </a:rPr>
              <a:t>18-11-2024</a:t>
            </a:r>
            <a:endParaRPr lang="en-US" sz="2600" b="1" dirty="0">
              <a:solidFill>
                <a:schemeClr val="accent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774766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05000" y="566737"/>
            <a:ext cx="8382000" cy="5724525"/>
          </a:xfrm>
          <a:prstGeom prst="rect">
            <a:avLst/>
          </a:prstGeom>
        </p:spPr>
      </p:pic>
    </p:spTree>
    <p:extLst>
      <p:ext uri="{BB962C8B-B14F-4D97-AF65-F5344CB8AC3E}">
        <p14:creationId xmlns:p14="http://schemas.microsoft.com/office/powerpoint/2010/main" val="40101959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81820" y="1050361"/>
            <a:ext cx="9782355" cy="4616648"/>
          </a:xfrm>
          <a:prstGeom prst="rect">
            <a:avLst/>
          </a:prstGeom>
        </p:spPr>
        <p:txBody>
          <a:bodyPr wrap="square">
            <a:spAutoFit/>
          </a:bodyPr>
          <a:lstStyle/>
          <a:p>
            <a:pPr algn="just"/>
            <a:r>
              <a:rPr lang="en-US" sz="2400" dirty="0"/>
              <a:t>The key objective of a k-means algorithm is to organize data </a:t>
            </a:r>
            <a:r>
              <a:rPr lang="en-US" sz="2400" dirty="0" smtClean="0"/>
              <a:t>into clusters </a:t>
            </a:r>
            <a:r>
              <a:rPr lang="en-US" sz="2400" dirty="0"/>
              <a:t>such that there is high intra-cluster similarity and </a:t>
            </a:r>
            <a:r>
              <a:rPr lang="en-US" sz="2400" dirty="0" smtClean="0"/>
              <a:t>low inter-cluster </a:t>
            </a:r>
            <a:r>
              <a:rPr lang="en-US" sz="2400" dirty="0"/>
              <a:t>similarity. </a:t>
            </a:r>
            <a:endParaRPr lang="en-US" sz="2400" dirty="0" smtClean="0"/>
          </a:p>
          <a:p>
            <a:pPr algn="just"/>
            <a:r>
              <a:rPr lang="en-US" sz="2400" dirty="0" smtClean="0"/>
              <a:t>An </a:t>
            </a:r>
            <a:r>
              <a:rPr lang="en-US" sz="2400" dirty="0"/>
              <a:t>item will only belong to one cluster, </a:t>
            </a:r>
            <a:r>
              <a:rPr lang="en-US" sz="2400" dirty="0" smtClean="0"/>
              <a:t>not several</a:t>
            </a:r>
            <a:r>
              <a:rPr lang="en-US" sz="2400" dirty="0"/>
              <a:t>, that is, it generates a specific number of disjoint, </a:t>
            </a:r>
            <a:r>
              <a:rPr lang="en-US" sz="2400" dirty="0" smtClean="0"/>
              <a:t>non-hierarchical </a:t>
            </a:r>
            <a:r>
              <a:rPr lang="en-US" sz="2400" dirty="0"/>
              <a:t>clusters</a:t>
            </a:r>
            <a:r>
              <a:rPr lang="en-US" sz="2400" dirty="0" smtClean="0"/>
              <a:t>.</a:t>
            </a:r>
          </a:p>
          <a:p>
            <a:pPr algn="just"/>
            <a:endParaRPr lang="en-US" sz="1200" dirty="0"/>
          </a:p>
          <a:p>
            <a:pPr algn="just"/>
            <a:r>
              <a:rPr lang="en-US" sz="2400" dirty="0"/>
              <a:t>K-means uses the strategy of divide and concur, and it is a </a:t>
            </a:r>
            <a:r>
              <a:rPr lang="en-US" sz="2400" dirty="0" smtClean="0"/>
              <a:t>classic example </a:t>
            </a:r>
            <a:r>
              <a:rPr lang="en-US" sz="2400" dirty="0"/>
              <a:t>for an expectation maximization (EM) algorithm. </a:t>
            </a:r>
            <a:endParaRPr lang="en-US" sz="2400" dirty="0" smtClean="0"/>
          </a:p>
          <a:p>
            <a:pPr algn="just"/>
            <a:r>
              <a:rPr lang="en-US" sz="2400" dirty="0" smtClean="0"/>
              <a:t>EM algorithms </a:t>
            </a:r>
            <a:r>
              <a:rPr lang="en-US" sz="2400" dirty="0"/>
              <a:t>are made up of two steps</a:t>
            </a:r>
            <a:r>
              <a:rPr lang="en-US" sz="2400" dirty="0" smtClean="0"/>
              <a:t>:</a:t>
            </a:r>
          </a:p>
          <a:p>
            <a:pPr algn="just"/>
            <a:endParaRPr lang="en-US" sz="1000" dirty="0"/>
          </a:p>
          <a:p>
            <a:pPr algn="just"/>
            <a:r>
              <a:rPr lang="en-US" sz="2400" dirty="0"/>
              <a:t>– </a:t>
            </a:r>
            <a:r>
              <a:rPr lang="en-US" sz="2400" b="1" dirty="0">
                <a:solidFill>
                  <a:srgbClr val="7030A0"/>
                </a:solidFill>
              </a:rPr>
              <a:t>The first step </a:t>
            </a:r>
            <a:r>
              <a:rPr lang="en-US" sz="2400" dirty="0"/>
              <a:t>is known as expectation(E) and is used to find the </a:t>
            </a:r>
            <a:r>
              <a:rPr lang="en-US" sz="2400" dirty="0" smtClean="0"/>
              <a:t>expected point </a:t>
            </a:r>
            <a:r>
              <a:rPr lang="en-US" sz="2400" dirty="0"/>
              <a:t>associated with a cluster; </a:t>
            </a:r>
            <a:r>
              <a:rPr lang="en-US" sz="2400" dirty="0" smtClean="0"/>
              <a:t>and</a:t>
            </a:r>
          </a:p>
          <a:p>
            <a:pPr algn="just"/>
            <a:endParaRPr lang="en-US" sz="800" dirty="0"/>
          </a:p>
          <a:p>
            <a:pPr algn="just"/>
            <a:r>
              <a:rPr lang="en-US" sz="2400" dirty="0"/>
              <a:t>– </a:t>
            </a:r>
            <a:r>
              <a:rPr lang="en-US" sz="2400" b="1" dirty="0">
                <a:solidFill>
                  <a:srgbClr val="7030A0"/>
                </a:solidFill>
              </a:rPr>
              <a:t>The second step </a:t>
            </a:r>
            <a:r>
              <a:rPr lang="en-US" sz="2400" dirty="0"/>
              <a:t>is known as maximization(M) and is used to improve </a:t>
            </a:r>
            <a:r>
              <a:rPr lang="en-US" sz="2400" dirty="0" smtClean="0"/>
              <a:t>the estimation </a:t>
            </a:r>
            <a:r>
              <a:rPr lang="en-US" sz="2400" dirty="0"/>
              <a:t>of the cluster using knowledge from the first step.</a:t>
            </a:r>
          </a:p>
        </p:txBody>
      </p:sp>
    </p:spTree>
    <p:extLst>
      <p:ext uri="{BB962C8B-B14F-4D97-AF65-F5344CB8AC3E}">
        <p14:creationId xmlns:p14="http://schemas.microsoft.com/office/powerpoint/2010/main" val="23077479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effectLst>
                  <a:outerShdw blurRad="38100" dist="38100" dir="2700000" algn="tl">
                    <a:srgbClr val="000000">
                      <a:alpha val="43137"/>
                    </a:srgbClr>
                  </a:outerShdw>
                </a:effectLst>
              </a:rPr>
              <a:t>K-means Clustering</a:t>
            </a:r>
            <a:endParaRPr lang="en-US"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Strengths</a:t>
            </a:r>
          </a:p>
          <a:p>
            <a:pPr lvl="1"/>
            <a:r>
              <a:rPr lang="en-US" dirty="0" smtClean="0"/>
              <a:t>Simple iterative method</a:t>
            </a:r>
          </a:p>
          <a:p>
            <a:pPr lvl="1"/>
            <a:r>
              <a:rPr lang="en-US" dirty="0" smtClean="0"/>
              <a:t>User provides “K”</a:t>
            </a:r>
          </a:p>
          <a:p>
            <a:r>
              <a:rPr lang="en-US" dirty="0" smtClean="0"/>
              <a:t>Weaknesses</a:t>
            </a:r>
          </a:p>
          <a:p>
            <a:pPr lvl="1"/>
            <a:r>
              <a:rPr lang="en-US" dirty="0" smtClean="0"/>
              <a:t>Often too simple </a:t>
            </a:r>
            <a:r>
              <a:rPr lang="en-US" dirty="0" smtClean="0">
                <a:sym typeface="Wingdings" panose="05000000000000000000" pitchFamily="2" charset="2"/>
              </a:rPr>
              <a:t> bad results</a:t>
            </a:r>
          </a:p>
          <a:p>
            <a:pPr lvl="1"/>
            <a:r>
              <a:rPr lang="en-US" dirty="0" smtClean="0">
                <a:sym typeface="Wingdings" panose="05000000000000000000" pitchFamily="2" charset="2"/>
              </a:rPr>
              <a:t>Difficult to guess the correct “K”</a:t>
            </a:r>
            <a:endParaRPr lang="en-US" dirty="0" smtClean="0"/>
          </a:p>
        </p:txBody>
      </p:sp>
    </p:spTree>
    <p:extLst>
      <p:ext uri="{BB962C8B-B14F-4D97-AF65-F5344CB8AC3E}">
        <p14:creationId xmlns:p14="http://schemas.microsoft.com/office/powerpoint/2010/main" val="31659806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4226" y="573088"/>
            <a:ext cx="4859548" cy="1143000"/>
          </a:xfrm>
        </p:spPr>
        <p:txBody>
          <a:bodyPr/>
          <a:lstStyle/>
          <a:p>
            <a:r>
              <a:rPr lang="en-US" b="1" dirty="0" smtClean="0">
                <a:solidFill>
                  <a:srgbClr val="FF0000"/>
                </a:solidFill>
                <a:effectLst>
                  <a:outerShdw blurRad="38100" dist="38100" dir="2700000" algn="tl">
                    <a:srgbClr val="000000">
                      <a:alpha val="43137"/>
                    </a:srgbClr>
                  </a:outerShdw>
                </a:effectLst>
              </a:rPr>
              <a:t>K-means Clustering</a:t>
            </a:r>
            <a:endParaRPr lang="en-US"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584085"/>
            <a:ext cx="10515600" cy="4351338"/>
          </a:xfrm>
        </p:spPr>
        <p:txBody>
          <a:bodyPr/>
          <a:lstStyle/>
          <a:p>
            <a:pPr marL="0" indent="0">
              <a:buNone/>
            </a:pPr>
            <a:r>
              <a:rPr lang="en-US" dirty="0" smtClean="0"/>
              <a:t>Basic Algorithm:</a:t>
            </a:r>
          </a:p>
          <a:p>
            <a:r>
              <a:rPr lang="en-US" dirty="0" smtClean="0"/>
              <a:t>Step 0: select K</a:t>
            </a:r>
          </a:p>
          <a:p>
            <a:r>
              <a:rPr lang="en-US" dirty="0" smtClean="0"/>
              <a:t>Step 1: randomly select initial cluster seeds</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2110938980"/>
              </p:ext>
            </p:extLst>
          </p:nvPr>
        </p:nvGraphicFramePr>
        <p:xfrm>
          <a:off x="3581400" y="3026438"/>
          <a:ext cx="3581400" cy="3581400"/>
        </p:xfrm>
        <a:graphic>
          <a:graphicData uri="http://schemas.openxmlformats.org/presentationml/2006/ole">
            <mc:AlternateContent xmlns:mc="http://schemas.openxmlformats.org/markup-compatibility/2006">
              <mc:Choice xmlns:v="urn:schemas-microsoft-com:vml" Requires="v">
                <p:oleObj spid="_x0000_s1046" name="Acrobat Document" r:id="rId3" imgW="4114665" imgH="4114800" progId="AcroExch.Document.7">
                  <p:embed/>
                </p:oleObj>
              </mc:Choice>
              <mc:Fallback>
                <p:oleObj name="Acrobat Document" r:id="rId3" imgW="4114665" imgH="4114800" progId="AcroExch.Document.7">
                  <p:embed/>
                  <p:pic>
                    <p:nvPicPr>
                      <p:cNvPr id="0" name=""/>
                      <p:cNvPicPr/>
                      <p:nvPr/>
                    </p:nvPicPr>
                    <p:blipFill>
                      <a:blip r:embed="rId4"/>
                      <a:stretch>
                        <a:fillRect/>
                      </a:stretch>
                    </p:blipFill>
                    <p:spPr>
                      <a:xfrm>
                        <a:off x="3581400" y="3026438"/>
                        <a:ext cx="3581400" cy="3581400"/>
                      </a:xfrm>
                      <a:prstGeom prst="rect">
                        <a:avLst/>
                      </a:prstGeom>
                    </p:spPr>
                  </p:pic>
                </p:oleObj>
              </mc:Fallback>
            </mc:AlternateContent>
          </a:graphicData>
        </a:graphic>
      </p:graphicFrame>
      <p:grpSp>
        <p:nvGrpSpPr>
          <p:cNvPr id="10" name="Group 9"/>
          <p:cNvGrpSpPr/>
          <p:nvPr/>
        </p:nvGrpSpPr>
        <p:grpSpPr>
          <a:xfrm>
            <a:off x="6968705" y="3309834"/>
            <a:ext cx="2743200" cy="2121932"/>
            <a:chOff x="5410200" y="3516868"/>
            <a:chExt cx="2743200" cy="2121932"/>
          </a:xfrm>
        </p:grpSpPr>
        <p:cxnSp>
          <p:nvCxnSpPr>
            <p:cNvPr id="6" name="Straight Arrow Connector 5"/>
            <p:cNvCxnSpPr/>
            <p:nvPr/>
          </p:nvCxnSpPr>
          <p:spPr>
            <a:xfrm flipH="1">
              <a:off x="5410200" y="3657600"/>
              <a:ext cx="1676400" cy="990600"/>
            </a:xfrm>
            <a:prstGeom prst="straightConnector1">
              <a:avLst/>
            </a:prstGeom>
            <a:ln w="25400">
              <a:solidFill>
                <a:srgbClr val="3211F5"/>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5410200" y="4648200"/>
              <a:ext cx="1676400" cy="9906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162800" y="3516868"/>
              <a:ext cx="990600" cy="646331"/>
            </a:xfrm>
            <a:prstGeom prst="rect">
              <a:avLst/>
            </a:prstGeom>
            <a:noFill/>
          </p:spPr>
          <p:txBody>
            <a:bodyPr wrap="square" rtlCol="0">
              <a:spAutoFit/>
            </a:bodyPr>
            <a:lstStyle/>
            <a:p>
              <a:r>
                <a:rPr lang="en-US" dirty="0"/>
                <a:t>Seed 1 650</a:t>
              </a:r>
            </a:p>
          </p:txBody>
        </p:sp>
        <p:sp>
          <p:nvSpPr>
            <p:cNvPr id="9" name="TextBox 8"/>
            <p:cNvSpPr txBox="1"/>
            <p:nvPr/>
          </p:nvSpPr>
          <p:spPr>
            <a:xfrm>
              <a:off x="7162800" y="4507468"/>
              <a:ext cx="990600" cy="646331"/>
            </a:xfrm>
            <a:prstGeom prst="rect">
              <a:avLst/>
            </a:prstGeom>
            <a:noFill/>
          </p:spPr>
          <p:txBody>
            <a:bodyPr wrap="square" rtlCol="0">
              <a:spAutoFit/>
            </a:bodyPr>
            <a:lstStyle/>
            <a:p>
              <a:r>
                <a:rPr lang="en-US" dirty="0"/>
                <a:t>Seed 2 200</a:t>
              </a:r>
            </a:p>
          </p:txBody>
        </p:sp>
      </p:grpSp>
    </p:spTree>
    <p:extLst>
      <p:ext uri="{BB962C8B-B14F-4D97-AF65-F5344CB8AC3E}">
        <p14:creationId xmlns:p14="http://schemas.microsoft.com/office/powerpoint/2010/main" val="15686322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effectLst>
                  <a:outerShdw blurRad="38100" dist="38100" dir="2700000" algn="tl">
                    <a:srgbClr val="000000">
                      <a:alpha val="43137"/>
                    </a:srgbClr>
                  </a:outerShdw>
                </a:effectLst>
              </a:rPr>
              <a:t>K-means Clustering</a:t>
            </a:r>
            <a:endParaRPr lang="en-US"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An initial cluster seed represents the “mean value” of its cluster.</a:t>
            </a:r>
          </a:p>
          <a:p>
            <a:r>
              <a:rPr lang="en-US" dirty="0" smtClean="0"/>
              <a:t>In the preceding figure:</a:t>
            </a:r>
          </a:p>
          <a:p>
            <a:pPr lvl="1"/>
            <a:r>
              <a:rPr lang="en-US" dirty="0"/>
              <a:t>C</a:t>
            </a:r>
            <a:r>
              <a:rPr lang="en-US" dirty="0" smtClean="0"/>
              <a:t>luster seed 1 = 650</a:t>
            </a:r>
          </a:p>
          <a:p>
            <a:pPr lvl="1"/>
            <a:r>
              <a:rPr lang="en-US" dirty="0" smtClean="0"/>
              <a:t>Cluster seed 2 = 200</a:t>
            </a:r>
            <a:endParaRPr lang="en-US" dirty="0"/>
          </a:p>
        </p:txBody>
      </p:sp>
    </p:spTree>
    <p:extLst>
      <p:ext uri="{BB962C8B-B14F-4D97-AF65-F5344CB8AC3E}">
        <p14:creationId xmlns:p14="http://schemas.microsoft.com/office/powerpoint/2010/main" val="26165460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effectLst>
                  <a:outerShdw blurRad="38100" dist="38100" dir="2700000" algn="tl">
                    <a:srgbClr val="000000">
                      <a:alpha val="43137"/>
                    </a:srgbClr>
                  </a:outerShdw>
                </a:effectLst>
              </a:rPr>
              <a:t>K-means Clustering</a:t>
            </a:r>
            <a:endParaRPr lang="en-US"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Step 2: calculate distance from each object to each cluster seed.</a:t>
            </a:r>
          </a:p>
          <a:p>
            <a:r>
              <a:rPr lang="en-US" dirty="0" smtClean="0"/>
              <a:t>What type of distance should we use?</a:t>
            </a:r>
          </a:p>
          <a:p>
            <a:pPr lvl="1"/>
            <a:r>
              <a:rPr lang="en-US" b="1" dirty="0" smtClean="0">
                <a:solidFill>
                  <a:schemeClr val="accent6">
                    <a:lumMod val="75000"/>
                  </a:schemeClr>
                </a:solidFill>
              </a:rPr>
              <a:t>Squared Euclidean distance</a:t>
            </a:r>
          </a:p>
          <a:p>
            <a:r>
              <a:rPr lang="en-US" dirty="0" smtClean="0"/>
              <a:t>Step 3: Assign each object to the closest cluster</a:t>
            </a:r>
          </a:p>
        </p:txBody>
      </p:sp>
    </p:spTree>
    <p:extLst>
      <p:ext uri="{BB962C8B-B14F-4D97-AF65-F5344CB8AC3E}">
        <p14:creationId xmlns:p14="http://schemas.microsoft.com/office/powerpoint/2010/main" val="40537215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effectLst>
                  <a:outerShdw blurRad="38100" dist="38100" dir="2700000" algn="tl">
                    <a:srgbClr val="000000">
                      <a:alpha val="43137"/>
                    </a:srgbClr>
                  </a:outerShdw>
                </a:effectLst>
              </a:rPr>
              <a:t>K-means Clustering</a:t>
            </a:r>
            <a:endParaRPr lang="en-US" b="1" dirty="0">
              <a:solidFill>
                <a:srgbClr val="FF0000"/>
              </a:solidFill>
              <a:effectLst>
                <a:outerShdw blurRad="38100" dist="38100" dir="2700000" algn="tl">
                  <a:srgbClr val="000000">
                    <a:alpha val="43137"/>
                  </a:srgbClr>
                </a:outerShdw>
              </a:effectLst>
            </a:endParaRPr>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2072480342"/>
              </p:ext>
            </p:extLst>
          </p:nvPr>
        </p:nvGraphicFramePr>
        <p:xfrm>
          <a:off x="2487613" y="1547813"/>
          <a:ext cx="4957762" cy="4957762"/>
        </p:xfrm>
        <a:graphic>
          <a:graphicData uri="http://schemas.openxmlformats.org/presentationml/2006/ole">
            <mc:AlternateContent xmlns:mc="http://schemas.openxmlformats.org/markup-compatibility/2006">
              <mc:Choice xmlns:v="urn:schemas-microsoft-com:vml" Requires="v">
                <p:oleObj spid="_x0000_s2070" name="Acrobat Document" r:id="rId3" imgW="4114665" imgH="4114800" progId="AcroExch.Document.DC">
                  <p:embed/>
                </p:oleObj>
              </mc:Choice>
              <mc:Fallback>
                <p:oleObj name="Acrobat Document" r:id="rId3" imgW="4114665" imgH="4114800" progId="AcroExch.Document.DC">
                  <p:embed/>
                  <p:pic>
                    <p:nvPicPr>
                      <p:cNvPr id="0" name=""/>
                      <p:cNvPicPr/>
                      <p:nvPr/>
                    </p:nvPicPr>
                    <p:blipFill>
                      <a:blip r:embed="rId4"/>
                      <a:stretch>
                        <a:fillRect/>
                      </a:stretch>
                    </p:blipFill>
                    <p:spPr>
                      <a:xfrm>
                        <a:off x="2487613" y="1547813"/>
                        <a:ext cx="4957762" cy="4957762"/>
                      </a:xfrm>
                      <a:prstGeom prst="rect">
                        <a:avLst/>
                      </a:prstGeom>
                    </p:spPr>
                  </p:pic>
                </p:oleObj>
              </mc:Fallback>
            </mc:AlternateContent>
          </a:graphicData>
        </a:graphic>
      </p:graphicFrame>
      <p:cxnSp>
        <p:nvCxnSpPr>
          <p:cNvPr id="8" name="Straight Arrow Connector 7"/>
          <p:cNvCxnSpPr/>
          <p:nvPr/>
        </p:nvCxnSpPr>
        <p:spPr>
          <a:xfrm flipH="1">
            <a:off x="7162800" y="2286000"/>
            <a:ext cx="1524000" cy="1066800"/>
          </a:xfrm>
          <a:prstGeom prst="straightConnector1">
            <a:avLst/>
          </a:prstGeom>
          <a:ln w="25400">
            <a:solidFill>
              <a:srgbClr val="3211F5"/>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8724900" y="2057400"/>
            <a:ext cx="876300" cy="369332"/>
          </a:xfrm>
          <a:prstGeom prst="rect">
            <a:avLst/>
          </a:prstGeom>
          <a:noFill/>
        </p:spPr>
        <p:txBody>
          <a:bodyPr wrap="square" rtlCol="0">
            <a:spAutoFit/>
          </a:bodyPr>
          <a:lstStyle/>
          <a:p>
            <a:r>
              <a:rPr lang="en-US" dirty="0"/>
              <a:t>Seed 1</a:t>
            </a:r>
          </a:p>
        </p:txBody>
      </p:sp>
      <p:cxnSp>
        <p:nvCxnSpPr>
          <p:cNvPr id="10" name="Straight Arrow Connector 9"/>
          <p:cNvCxnSpPr/>
          <p:nvPr/>
        </p:nvCxnSpPr>
        <p:spPr>
          <a:xfrm flipH="1">
            <a:off x="7162800" y="3886200"/>
            <a:ext cx="1524000" cy="10668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724900" y="3657600"/>
            <a:ext cx="876300" cy="369332"/>
          </a:xfrm>
          <a:prstGeom prst="rect">
            <a:avLst/>
          </a:prstGeom>
          <a:noFill/>
        </p:spPr>
        <p:txBody>
          <a:bodyPr wrap="square" rtlCol="0">
            <a:spAutoFit/>
          </a:bodyPr>
          <a:lstStyle/>
          <a:p>
            <a:r>
              <a:rPr lang="en-US" dirty="0"/>
              <a:t>Seed 2</a:t>
            </a:r>
          </a:p>
        </p:txBody>
      </p:sp>
    </p:spTree>
    <p:extLst>
      <p:ext uri="{BB962C8B-B14F-4D97-AF65-F5344CB8AC3E}">
        <p14:creationId xmlns:p14="http://schemas.microsoft.com/office/powerpoint/2010/main" val="37236522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K-means Clustering</a:t>
            </a:r>
          </a:p>
        </p:txBody>
      </p:sp>
      <p:sp>
        <p:nvSpPr>
          <p:cNvPr id="3" name="Content Placeholder 2"/>
          <p:cNvSpPr>
            <a:spLocks noGrp="1"/>
          </p:cNvSpPr>
          <p:nvPr>
            <p:ph idx="1"/>
          </p:nvPr>
        </p:nvSpPr>
        <p:spPr>
          <a:xfrm>
            <a:off x="950343" y="1402935"/>
            <a:ext cx="10515600" cy="4351338"/>
          </a:xfrm>
        </p:spPr>
        <p:txBody>
          <a:bodyPr/>
          <a:lstStyle/>
          <a:p>
            <a:r>
              <a:rPr lang="en-US" dirty="0" smtClean="0"/>
              <a:t>Step 4: Compute the new centroid for each cluster</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215070262"/>
              </p:ext>
            </p:extLst>
          </p:nvPr>
        </p:nvGraphicFramePr>
        <p:xfrm>
          <a:off x="3581400" y="1917940"/>
          <a:ext cx="4724400" cy="4724400"/>
        </p:xfrm>
        <a:graphic>
          <a:graphicData uri="http://schemas.openxmlformats.org/presentationml/2006/ole">
            <mc:AlternateContent xmlns:mc="http://schemas.openxmlformats.org/markup-compatibility/2006">
              <mc:Choice xmlns:v="urn:schemas-microsoft-com:vml" Requires="v">
                <p:oleObj spid="_x0000_s3094" name="Acrobat Document" r:id="rId3" imgW="4114665" imgH="4114800" progId="AcroExch.Document.7">
                  <p:embed/>
                </p:oleObj>
              </mc:Choice>
              <mc:Fallback>
                <p:oleObj name="Acrobat Document" r:id="rId3" imgW="4114665" imgH="4114800" progId="AcroExch.Document.7">
                  <p:embed/>
                  <p:pic>
                    <p:nvPicPr>
                      <p:cNvPr id="0" name=""/>
                      <p:cNvPicPr/>
                      <p:nvPr/>
                    </p:nvPicPr>
                    <p:blipFill>
                      <a:blip r:embed="rId4"/>
                      <a:stretch>
                        <a:fillRect/>
                      </a:stretch>
                    </p:blipFill>
                    <p:spPr>
                      <a:xfrm>
                        <a:off x="3581400" y="1917940"/>
                        <a:ext cx="4724400" cy="4724400"/>
                      </a:xfrm>
                      <a:prstGeom prst="rect">
                        <a:avLst/>
                      </a:prstGeom>
                    </p:spPr>
                  </p:pic>
                </p:oleObj>
              </mc:Fallback>
            </mc:AlternateContent>
          </a:graphicData>
        </a:graphic>
      </p:graphicFrame>
      <p:cxnSp>
        <p:nvCxnSpPr>
          <p:cNvPr id="6" name="Straight Arrow Connector 5"/>
          <p:cNvCxnSpPr/>
          <p:nvPr/>
        </p:nvCxnSpPr>
        <p:spPr>
          <a:xfrm flipH="1">
            <a:off x="8097329" y="2655341"/>
            <a:ext cx="990600" cy="838200"/>
          </a:xfrm>
          <a:prstGeom prst="straightConnector1">
            <a:avLst/>
          </a:prstGeom>
          <a:ln w="25400">
            <a:solidFill>
              <a:srgbClr val="3211F5"/>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9144000" y="2332175"/>
            <a:ext cx="1676400" cy="646331"/>
          </a:xfrm>
          <a:prstGeom prst="rect">
            <a:avLst/>
          </a:prstGeom>
          <a:noFill/>
        </p:spPr>
        <p:txBody>
          <a:bodyPr wrap="square" rtlCol="0">
            <a:spAutoFit/>
          </a:bodyPr>
          <a:lstStyle/>
          <a:p>
            <a:r>
              <a:rPr lang="en-US" dirty="0"/>
              <a:t>Cluster Seed 1 708.9</a:t>
            </a:r>
          </a:p>
        </p:txBody>
      </p:sp>
      <p:cxnSp>
        <p:nvCxnSpPr>
          <p:cNvPr id="8" name="Straight Arrow Connector 7"/>
          <p:cNvCxnSpPr/>
          <p:nvPr/>
        </p:nvCxnSpPr>
        <p:spPr>
          <a:xfrm flipH="1">
            <a:off x="8003157" y="4204807"/>
            <a:ext cx="990600" cy="8382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9105900" y="3881641"/>
            <a:ext cx="1676400" cy="646331"/>
          </a:xfrm>
          <a:prstGeom prst="rect">
            <a:avLst/>
          </a:prstGeom>
          <a:noFill/>
        </p:spPr>
        <p:txBody>
          <a:bodyPr wrap="square" rtlCol="0">
            <a:spAutoFit/>
          </a:bodyPr>
          <a:lstStyle/>
          <a:p>
            <a:r>
              <a:rPr lang="en-US" dirty="0"/>
              <a:t>Cluster Seed 2 214.2</a:t>
            </a:r>
          </a:p>
        </p:txBody>
      </p:sp>
    </p:spTree>
    <p:extLst>
      <p:ext uri="{BB962C8B-B14F-4D97-AF65-F5344CB8AC3E}">
        <p14:creationId xmlns:p14="http://schemas.microsoft.com/office/powerpoint/2010/main" val="25792950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K-means Clustering</a:t>
            </a:r>
          </a:p>
        </p:txBody>
      </p:sp>
      <p:sp>
        <p:nvSpPr>
          <p:cNvPr id="3" name="Content Placeholder 2"/>
          <p:cNvSpPr>
            <a:spLocks noGrp="1"/>
          </p:cNvSpPr>
          <p:nvPr>
            <p:ph idx="1"/>
          </p:nvPr>
        </p:nvSpPr>
        <p:spPr/>
        <p:txBody>
          <a:bodyPr/>
          <a:lstStyle/>
          <a:p>
            <a:r>
              <a:rPr lang="en-US" dirty="0" smtClean="0"/>
              <a:t>Iterate:</a:t>
            </a:r>
          </a:p>
          <a:p>
            <a:pPr lvl="1"/>
            <a:r>
              <a:rPr lang="en-US" dirty="0" smtClean="0"/>
              <a:t>Calculate distance from objects to cluster centroids.</a:t>
            </a:r>
          </a:p>
          <a:p>
            <a:pPr lvl="1"/>
            <a:r>
              <a:rPr lang="en-US" dirty="0" smtClean="0"/>
              <a:t>Assign objects to closest cluster</a:t>
            </a:r>
          </a:p>
          <a:p>
            <a:pPr lvl="1"/>
            <a:r>
              <a:rPr lang="en-US" dirty="0" smtClean="0"/>
              <a:t>Recalculate new centroids</a:t>
            </a:r>
          </a:p>
          <a:p>
            <a:r>
              <a:rPr lang="en-US" dirty="0" smtClean="0"/>
              <a:t>Stop based on convergence criteria</a:t>
            </a:r>
          </a:p>
          <a:p>
            <a:pPr lvl="1"/>
            <a:r>
              <a:rPr lang="en-US" dirty="0" smtClean="0"/>
              <a:t>No change in clusters</a:t>
            </a:r>
          </a:p>
          <a:p>
            <a:pPr lvl="1"/>
            <a:r>
              <a:rPr lang="en-US" dirty="0" smtClean="0"/>
              <a:t>Max iterations</a:t>
            </a:r>
            <a:endParaRPr lang="en-US" dirty="0"/>
          </a:p>
        </p:txBody>
      </p:sp>
    </p:spTree>
    <p:extLst>
      <p:ext uri="{BB962C8B-B14F-4D97-AF65-F5344CB8AC3E}">
        <p14:creationId xmlns:p14="http://schemas.microsoft.com/office/powerpoint/2010/main" val="8732520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effectLst>
                  <a:outerShdw blurRad="38100" dist="38100" dir="2700000" algn="tl">
                    <a:srgbClr val="000000">
                      <a:alpha val="43137"/>
                    </a:srgbClr>
                  </a:outerShdw>
                </a:effectLst>
              </a:rPr>
              <a:t>K-means Issues</a:t>
            </a:r>
            <a:endParaRPr lang="en-US"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Distance measure is squared </a:t>
            </a:r>
            <a:r>
              <a:rPr lang="en-US" dirty="0"/>
              <a:t>E</a:t>
            </a:r>
            <a:r>
              <a:rPr lang="en-US" dirty="0" smtClean="0"/>
              <a:t>uclidean</a:t>
            </a:r>
            <a:endParaRPr lang="en-US" dirty="0"/>
          </a:p>
          <a:p>
            <a:pPr lvl="1"/>
            <a:r>
              <a:rPr lang="en-US" dirty="0" smtClean="0"/>
              <a:t>Scale should be similar in all dimensions</a:t>
            </a:r>
          </a:p>
          <a:p>
            <a:pPr lvl="2"/>
            <a:r>
              <a:rPr lang="en-US" dirty="0" smtClean="0"/>
              <a:t>Rescale data?</a:t>
            </a:r>
          </a:p>
          <a:p>
            <a:pPr lvl="1"/>
            <a:r>
              <a:rPr lang="en-US" dirty="0" smtClean="0"/>
              <a:t>Not good for nominal data. Why?</a:t>
            </a:r>
          </a:p>
          <a:p>
            <a:r>
              <a:rPr lang="en-US" dirty="0" smtClean="0"/>
              <a:t>Approach tries to minimize the within-cluster sum of squares error (WCSS)</a:t>
            </a:r>
          </a:p>
          <a:p>
            <a:pPr lvl="1"/>
            <a:r>
              <a:rPr lang="en-US" dirty="0" smtClean="0"/>
              <a:t>Implicit assumption that SSE is  similar for each group</a:t>
            </a:r>
            <a:endParaRPr lang="en-US" dirty="0"/>
          </a:p>
        </p:txBody>
      </p:sp>
    </p:spTree>
    <p:extLst>
      <p:ext uri="{BB962C8B-B14F-4D97-AF65-F5344CB8AC3E}">
        <p14:creationId xmlns:p14="http://schemas.microsoft.com/office/powerpoint/2010/main" val="2968691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WCSS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The over all WCSS is given by: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a:rPr>
                          <m:t>𝑖</m:t>
                        </m:r>
                        <m:r>
                          <a:rPr lang="en-US" b="0" i="1" smtClean="0">
                            <a:latin typeface="Cambria Math"/>
                          </a:rPr>
                          <m:t>=1</m:t>
                        </m:r>
                      </m:sub>
                      <m:sup>
                        <m:r>
                          <a:rPr lang="en-US" b="0" i="1" smtClean="0">
                            <a:latin typeface="Cambria Math"/>
                          </a:rPr>
                          <m:t>𝑘</m:t>
                        </m:r>
                      </m:sup>
                      <m:e>
                        <m:nary>
                          <m:naryPr>
                            <m:chr m:val="∑"/>
                            <m:supHide m:val="on"/>
                            <m:ctrlPr>
                              <a:rPr lang="en-US" i="1" smtClean="0">
                                <a:latin typeface="Cambria Math" panose="02040503050406030204" pitchFamily="18" charset="0"/>
                              </a:rPr>
                            </m:ctrlPr>
                          </m:naryPr>
                          <m:sub>
                            <m:r>
                              <m:rPr>
                                <m:brk m:alnAt="7"/>
                              </m:rPr>
                              <a:rPr lang="en-US" b="0" i="1" smtClean="0">
                                <a:latin typeface="Cambria Math"/>
                              </a:rPr>
                              <m:t>𝑥</m:t>
                            </m:r>
                            <m:r>
                              <a:rPr lang="en-US" b="0" i="1" smtClean="0">
                                <a:latin typeface="Cambria Math"/>
                                <a:ea typeface="Cambria Math"/>
                              </a:rPr>
                              <m:t>∈</m:t>
                            </m:r>
                            <m:sSub>
                              <m:sSubPr>
                                <m:ctrlPr>
                                  <a:rPr lang="en-US" b="0" i="1" smtClean="0">
                                    <a:latin typeface="Cambria Math" panose="02040503050406030204" pitchFamily="18" charset="0"/>
                                    <a:ea typeface="Cambria Math"/>
                                  </a:rPr>
                                </m:ctrlPr>
                              </m:sSubPr>
                              <m:e>
                                <m:r>
                                  <a:rPr lang="en-US" b="0" i="1" smtClean="0">
                                    <a:latin typeface="Cambria Math"/>
                                    <a:ea typeface="Cambria Math"/>
                                  </a:rPr>
                                  <m:t>𝐶</m:t>
                                </m:r>
                              </m:e>
                              <m:sub>
                                <m:r>
                                  <a:rPr lang="en-US" b="0" i="1" smtClean="0">
                                    <a:latin typeface="Cambria Math"/>
                                    <a:ea typeface="Cambria Math"/>
                                  </a:rPr>
                                  <m:t>𝑖</m:t>
                                </m:r>
                              </m:sub>
                            </m:sSub>
                          </m:sub>
                          <m:sup/>
                          <m:e>
                            <m:sSup>
                              <m:sSupPr>
                                <m:ctrlPr>
                                  <a:rPr lang="en-US" i="1" smtClean="0">
                                    <a:latin typeface="Cambria Math" panose="02040503050406030204" pitchFamily="18" charset="0"/>
                                  </a:rPr>
                                </m:ctrlPr>
                              </m:sSupPr>
                              <m:e>
                                <m:d>
                                  <m:dPr>
                                    <m:begChr m:val="‖"/>
                                    <m:endChr m:val="‖"/>
                                    <m:ctrlPr>
                                      <a:rPr lang="en-US" i="1" smtClean="0">
                                        <a:latin typeface="Cambria Math" panose="02040503050406030204" pitchFamily="18" charset="0"/>
                                      </a:rPr>
                                    </m:ctrlPr>
                                  </m:dPr>
                                  <m:e>
                                    <m:r>
                                      <a:rPr lang="en-US" b="0" i="1" smtClean="0">
                                        <a:latin typeface="Cambria Math"/>
                                      </a:rPr>
                                      <m:t>𝑥</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ea typeface="Cambria Math"/>
                                          </a:rPr>
                                          <m:t>𝜇</m:t>
                                        </m:r>
                                      </m:e>
                                      <m:sub>
                                        <m:r>
                                          <a:rPr lang="en-US" b="0" i="1" smtClean="0">
                                            <a:latin typeface="Cambria Math"/>
                                          </a:rPr>
                                          <m:t>𝑖</m:t>
                                        </m:r>
                                      </m:sub>
                                    </m:sSub>
                                  </m:e>
                                </m:d>
                              </m:e>
                              <m:sup>
                                <m:r>
                                  <a:rPr lang="en-US" b="0" i="1" smtClean="0">
                                    <a:latin typeface="Cambria Math"/>
                                  </a:rPr>
                                  <m:t>2</m:t>
                                </m:r>
                              </m:sup>
                            </m:sSup>
                          </m:e>
                        </m:nary>
                      </m:e>
                    </m:nary>
                  </m:oMath>
                </a14:m>
                <a:endParaRPr lang="en-US" dirty="0" smtClean="0"/>
              </a:p>
              <a:p>
                <a:r>
                  <a:rPr lang="en-US" dirty="0" smtClean="0"/>
                  <a:t>The goal is to find the smallest WCSS</a:t>
                </a:r>
              </a:p>
              <a:p>
                <a:r>
                  <a:rPr lang="en-US" dirty="0" smtClean="0"/>
                  <a:t>Does this depend on the initial seed values?</a:t>
                </a:r>
              </a:p>
              <a:p>
                <a:r>
                  <a:rPr lang="en-US" dirty="0" smtClean="0"/>
                  <a:t>Possibly.</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en-US">
                    <a:noFill/>
                  </a:rPr>
                  <a:t> </a:t>
                </a:r>
              </a:p>
            </p:txBody>
          </p:sp>
        </mc:Fallback>
      </mc:AlternateContent>
    </p:spTree>
    <p:extLst>
      <p:ext uri="{BB962C8B-B14F-4D97-AF65-F5344CB8AC3E}">
        <p14:creationId xmlns:p14="http://schemas.microsoft.com/office/powerpoint/2010/main" val="25796368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effectLst>
                  <a:outerShdw blurRad="38100" dist="38100" dir="2700000" algn="tl">
                    <a:srgbClr val="000000">
                      <a:alpha val="43137"/>
                    </a:srgbClr>
                  </a:outerShdw>
                </a:effectLst>
              </a:rPr>
              <a:t>Bottom Line</a:t>
            </a:r>
            <a:endParaRPr lang="en-US"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K-means</a:t>
            </a:r>
          </a:p>
          <a:p>
            <a:pPr lvl="1"/>
            <a:r>
              <a:rPr lang="en-US" dirty="0" smtClean="0"/>
              <a:t>Easy to use</a:t>
            </a:r>
          </a:p>
          <a:p>
            <a:pPr lvl="1"/>
            <a:r>
              <a:rPr lang="en-US" dirty="0"/>
              <a:t>N</a:t>
            </a:r>
            <a:r>
              <a:rPr lang="en-US" dirty="0" smtClean="0"/>
              <a:t>eed to know K</a:t>
            </a:r>
          </a:p>
          <a:p>
            <a:pPr lvl="1"/>
            <a:r>
              <a:rPr lang="en-US" dirty="0" smtClean="0"/>
              <a:t>May need to scale data</a:t>
            </a:r>
          </a:p>
          <a:p>
            <a:pPr lvl="1"/>
            <a:r>
              <a:rPr lang="en-US" dirty="0" smtClean="0"/>
              <a:t>Good initial method</a:t>
            </a:r>
          </a:p>
          <a:p>
            <a:r>
              <a:rPr lang="en-US" dirty="0" smtClean="0"/>
              <a:t>Local optima</a:t>
            </a:r>
          </a:p>
          <a:p>
            <a:pPr lvl="1"/>
            <a:r>
              <a:rPr lang="en-US" dirty="0" smtClean="0"/>
              <a:t>No guarantee of optimal solution</a:t>
            </a:r>
          </a:p>
          <a:p>
            <a:pPr lvl="1"/>
            <a:r>
              <a:rPr lang="en-US" dirty="0" smtClean="0"/>
              <a:t>Repeat with different starting values</a:t>
            </a:r>
            <a:endParaRPr lang="en-US" dirty="0"/>
          </a:p>
        </p:txBody>
      </p:sp>
    </p:spTree>
    <p:extLst>
      <p:ext uri="{BB962C8B-B14F-4D97-AF65-F5344CB8AC3E}">
        <p14:creationId xmlns:p14="http://schemas.microsoft.com/office/powerpoint/2010/main" val="41086243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467244" y="2300377"/>
            <a:ext cx="7343775" cy="1981200"/>
          </a:xfrm>
          <a:prstGeom prst="rect">
            <a:avLst/>
          </a:prstGeom>
        </p:spPr>
      </p:pic>
    </p:spTree>
    <p:extLst>
      <p:ext uri="{BB962C8B-B14F-4D97-AF65-F5344CB8AC3E}">
        <p14:creationId xmlns:p14="http://schemas.microsoft.com/office/powerpoint/2010/main" val="23149574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74969" y="328791"/>
            <a:ext cx="5120640" cy="2581479"/>
          </a:xfrm>
          <a:prstGeom prst="rect">
            <a:avLst/>
          </a:prstGeom>
          <a:ln w="38100">
            <a:solidFill>
              <a:srgbClr val="FF0000"/>
            </a:solidFill>
          </a:ln>
        </p:spPr>
      </p:pic>
      <p:pic>
        <p:nvPicPr>
          <p:cNvPr id="3" name="Picture 2"/>
          <p:cNvPicPr>
            <a:picLocks noChangeAspect="1"/>
          </p:cNvPicPr>
          <p:nvPr/>
        </p:nvPicPr>
        <p:blipFill>
          <a:blip r:embed="rId3"/>
          <a:stretch>
            <a:fillRect/>
          </a:stretch>
        </p:blipFill>
        <p:spPr>
          <a:xfrm>
            <a:off x="3435289" y="3498999"/>
            <a:ext cx="8321040" cy="2862897"/>
          </a:xfrm>
          <a:prstGeom prst="rect">
            <a:avLst/>
          </a:prstGeom>
        </p:spPr>
      </p:pic>
      <p:sp>
        <p:nvSpPr>
          <p:cNvPr id="4" name="Curved Left Arrow 3"/>
          <p:cNvSpPr/>
          <p:nvPr/>
        </p:nvSpPr>
        <p:spPr>
          <a:xfrm>
            <a:off x="6245525" y="1619531"/>
            <a:ext cx="612475" cy="2001329"/>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Title 1"/>
          <p:cNvSpPr>
            <a:spLocks noGrp="1"/>
          </p:cNvSpPr>
          <p:nvPr>
            <p:ph type="title"/>
          </p:nvPr>
        </p:nvSpPr>
        <p:spPr>
          <a:xfrm>
            <a:off x="5781855" y="5431316"/>
            <a:ext cx="2152290" cy="667559"/>
          </a:xfrm>
        </p:spPr>
        <p:txBody>
          <a:bodyPr>
            <a:noAutofit/>
          </a:bodyPr>
          <a:lstStyle/>
          <a:p>
            <a:pPr algn="ctr"/>
            <a:r>
              <a:rPr lang="en-US" sz="2400" b="1" dirty="0" smtClean="0">
                <a:solidFill>
                  <a:srgbClr val="FF0000"/>
                </a:solidFill>
                <a:effectLst>
                  <a:outerShdw blurRad="38100" dist="38100" dir="2700000" algn="tl">
                    <a:srgbClr val="000000">
                      <a:alpha val="43137"/>
                    </a:srgbClr>
                  </a:outerShdw>
                </a:effectLst>
              </a:rPr>
              <a:t>Randomly chosen</a:t>
            </a:r>
            <a:endParaRPr lang="en-US" sz="2400" b="1" dirty="0">
              <a:solidFill>
                <a:srgbClr val="FF0000"/>
              </a:solidFill>
              <a:effectLst>
                <a:outerShdw blurRad="38100" dist="38100" dir="2700000" algn="tl">
                  <a:srgbClr val="000000">
                    <a:alpha val="43137"/>
                  </a:srgbClr>
                </a:outerShdw>
              </a:effectLst>
            </a:endParaRPr>
          </a:p>
        </p:txBody>
      </p:sp>
      <p:sp>
        <p:nvSpPr>
          <p:cNvPr id="6" name="Right Brace 5"/>
          <p:cNvSpPr/>
          <p:nvPr/>
        </p:nvSpPr>
        <p:spPr>
          <a:xfrm>
            <a:off x="5549192" y="5301468"/>
            <a:ext cx="500332" cy="927254"/>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939390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51511" y="1334579"/>
            <a:ext cx="10332720" cy="3868410"/>
          </a:xfrm>
          <a:prstGeom prst="rect">
            <a:avLst/>
          </a:prstGeom>
          <a:ln w="38100">
            <a:solidFill>
              <a:schemeClr val="accent2">
                <a:lumMod val="75000"/>
              </a:schemeClr>
            </a:solidFill>
          </a:ln>
        </p:spPr>
      </p:pic>
    </p:spTree>
    <p:extLst>
      <p:ext uri="{BB962C8B-B14F-4D97-AF65-F5344CB8AC3E}">
        <p14:creationId xmlns:p14="http://schemas.microsoft.com/office/powerpoint/2010/main" val="13598009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50839" y="911884"/>
            <a:ext cx="8143537" cy="5120640"/>
          </a:xfrm>
          <a:prstGeom prst="rect">
            <a:avLst/>
          </a:prstGeom>
          <a:ln w="38100">
            <a:solidFill>
              <a:srgbClr val="C00000"/>
            </a:solidFill>
          </a:ln>
        </p:spPr>
      </p:pic>
    </p:spTree>
    <p:extLst>
      <p:ext uri="{BB962C8B-B14F-4D97-AF65-F5344CB8AC3E}">
        <p14:creationId xmlns:p14="http://schemas.microsoft.com/office/powerpoint/2010/main" val="1259339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02179" y="1612421"/>
            <a:ext cx="10439400" cy="4495800"/>
          </a:xfrm>
          <a:prstGeom prst="rect">
            <a:avLst/>
          </a:prstGeom>
          <a:solidFill>
            <a:schemeClr val="accent2">
              <a:lumMod val="75000"/>
            </a:schemeClr>
          </a:solidFill>
          <a:ln w="38100">
            <a:solidFill>
              <a:schemeClr val="accent2">
                <a:lumMod val="75000"/>
              </a:schemeClr>
            </a:solidFill>
          </a:ln>
        </p:spPr>
      </p:pic>
      <p:sp>
        <p:nvSpPr>
          <p:cNvPr id="3" name="Title 1"/>
          <p:cNvSpPr>
            <a:spLocks noGrp="1"/>
          </p:cNvSpPr>
          <p:nvPr>
            <p:ph type="title"/>
          </p:nvPr>
        </p:nvSpPr>
        <p:spPr>
          <a:xfrm>
            <a:off x="4660421" y="626403"/>
            <a:ext cx="2152290" cy="667559"/>
          </a:xfrm>
        </p:spPr>
        <p:txBody>
          <a:bodyPr>
            <a:noAutofit/>
          </a:bodyPr>
          <a:lstStyle/>
          <a:p>
            <a:pPr algn="ctr"/>
            <a:r>
              <a:rPr lang="en-US" sz="3200" b="1" dirty="0" smtClean="0">
                <a:solidFill>
                  <a:srgbClr val="7030A0"/>
                </a:solidFill>
                <a:effectLst>
                  <a:outerShdw blurRad="38100" dist="38100" dir="2700000" algn="tl">
                    <a:srgbClr val="000000">
                      <a:alpha val="43137"/>
                    </a:srgbClr>
                  </a:outerShdw>
                </a:effectLst>
              </a:rPr>
              <a:t>Iteration 1</a:t>
            </a:r>
            <a:endParaRPr lang="en-US" sz="3200" b="1" dirty="0">
              <a:solidFill>
                <a:srgbClr val="7030A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051262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78132" y="1307981"/>
            <a:ext cx="9801225" cy="4000500"/>
          </a:xfrm>
          <a:prstGeom prst="rect">
            <a:avLst/>
          </a:prstGeom>
          <a:ln w="38100">
            <a:solidFill>
              <a:schemeClr val="accent2">
                <a:lumMod val="75000"/>
              </a:schemeClr>
            </a:solidFill>
          </a:ln>
        </p:spPr>
      </p:pic>
      <p:sp>
        <p:nvSpPr>
          <p:cNvPr id="5" name="Title 1"/>
          <p:cNvSpPr>
            <a:spLocks noGrp="1"/>
          </p:cNvSpPr>
          <p:nvPr>
            <p:ph type="title"/>
          </p:nvPr>
        </p:nvSpPr>
        <p:spPr>
          <a:xfrm>
            <a:off x="7489885" y="557392"/>
            <a:ext cx="4086764" cy="667559"/>
          </a:xfrm>
        </p:spPr>
        <p:txBody>
          <a:bodyPr>
            <a:noAutofit/>
          </a:bodyPr>
          <a:lstStyle/>
          <a:p>
            <a:pPr algn="ctr"/>
            <a:r>
              <a:rPr lang="en-US" sz="3200" b="1" dirty="0" smtClean="0">
                <a:solidFill>
                  <a:srgbClr val="7030A0"/>
                </a:solidFill>
                <a:effectLst>
                  <a:outerShdw blurRad="38100" dist="38100" dir="2700000" algn="tl">
                    <a:srgbClr val="000000">
                      <a:alpha val="43137"/>
                    </a:srgbClr>
                  </a:outerShdw>
                </a:effectLst>
              </a:rPr>
              <a:t>Iteration 1, step-1</a:t>
            </a:r>
            <a:endParaRPr lang="en-US" sz="3200" b="1" dirty="0">
              <a:solidFill>
                <a:srgbClr val="7030A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952235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47301" y="182527"/>
            <a:ext cx="7305543" cy="2011680"/>
          </a:xfrm>
          <a:prstGeom prst="rect">
            <a:avLst/>
          </a:prstGeom>
          <a:ln w="38100">
            <a:solidFill>
              <a:schemeClr val="accent2">
                <a:lumMod val="75000"/>
              </a:schemeClr>
            </a:solidFill>
          </a:ln>
        </p:spPr>
      </p:pic>
      <p:sp>
        <p:nvSpPr>
          <p:cNvPr id="6" name="Title 1"/>
          <p:cNvSpPr>
            <a:spLocks noGrp="1"/>
          </p:cNvSpPr>
          <p:nvPr>
            <p:ph type="title"/>
          </p:nvPr>
        </p:nvSpPr>
        <p:spPr>
          <a:xfrm>
            <a:off x="7851422" y="1704442"/>
            <a:ext cx="2152290" cy="667559"/>
          </a:xfrm>
        </p:spPr>
        <p:txBody>
          <a:bodyPr>
            <a:noAutofit/>
          </a:bodyPr>
          <a:lstStyle/>
          <a:p>
            <a:pPr algn="ctr"/>
            <a:r>
              <a:rPr lang="en-US" sz="3200" b="1" dirty="0" smtClean="0">
                <a:solidFill>
                  <a:srgbClr val="7030A0"/>
                </a:solidFill>
                <a:effectLst>
                  <a:outerShdw blurRad="38100" dist="38100" dir="2700000" algn="tl">
                    <a:srgbClr val="000000">
                      <a:alpha val="43137"/>
                    </a:srgbClr>
                  </a:outerShdw>
                </a:effectLst>
              </a:rPr>
              <a:t>Iteration 2</a:t>
            </a:r>
            <a:endParaRPr lang="en-US" sz="3200" b="1" dirty="0">
              <a:solidFill>
                <a:srgbClr val="7030A0"/>
              </a:solidFill>
              <a:effectLst>
                <a:outerShdw blurRad="38100" dist="38100" dir="2700000" algn="tl">
                  <a:srgbClr val="000000">
                    <a:alpha val="43137"/>
                  </a:srgbClr>
                </a:outerShdw>
              </a:effectLst>
            </a:endParaRPr>
          </a:p>
        </p:txBody>
      </p:sp>
      <p:pic>
        <p:nvPicPr>
          <p:cNvPr id="7" name="Picture 6"/>
          <p:cNvPicPr>
            <a:picLocks noChangeAspect="1"/>
          </p:cNvPicPr>
          <p:nvPr/>
        </p:nvPicPr>
        <p:blipFill>
          <a:blip r:embed="rId3"/>
          <a:stretch>
            <a:fillRect/>
          </a:stretch>
        </p:blipFill>
        <p:spPr>
          <a:xfrm>
            <a:off x="2242868" y="2372001"/>
            <a:ext cx="7620000" cy="4219575"/>
          </a:xfrm>
          <a:prstGeom prst="rect">
            <a:avLst/>
          </a:prstGeom>
        </p:spPr>
      </p:pic>
    </p:spTree>
    <p:extLst>
      <p:ext uri="{BB962C8B-B14F-4D97-AF65-F5344CB8AC3E}">
        <p14:creationId xmlns:p14="http://schemas.microsoft.com/office/powerpoint/2010/main" val="5666020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84043" y="1066171"/>
            <a:ext cx="8242947" cy="5212080"/>
          </a:xfrm>
          <a:prstGeom prst="rect">
            <a:avLst/>
          </a:prstGeom>
          <a:ln w="38100">
            <a:solidFill>
              <a:schemeClr val="accent2">
                <a:lumMod val="75000"/>
              </a:schemeClr>
            </a:solidFill>
          </a:ln>
        </p:spPr>
      </p:pic>
      <p:sp>
        <p:nvSpPr>
          <p:cNvPr id="5" name="Title 1"/>
          <p:cNvSpPr>
            <a:spLocks noGrp="1"/>
          </p:cNvSpPr>
          <p:nvPr>
            <p:ph type="title"/>
          </p:nvPr>
        </p:nvSpPr>
        <p:spPr>
          <a:xfrm>
            <a:off x="6549606" y="398612"/>
            <a:ext cx="3931488" cy="667559"/>
          </a:xfrm>
        </p:spPr>
        <p:txBody>
          <a:bodyPr>
            <a:noAutofit/>
          </a:bodyPr>
          <a:lstStyle/>
          <a:p>
            <a:pPr algn="ctr"/>
            <a:r>
              <a:rPr lang="en-US" sz="3200" b="1" dirty="0" smtClean="0">
                <a:solidFill>
                  <a:srgbClr val="7030A0"/>
                </a:solidFill>
                <a:effectLst>
                  <a:outerShdw blurRad="38100" dist="38100" dir="2700000" algn="tl">
                    <a:srgbClr val="000000">
                      <a:alpha val="43137"/>
                    </a:srgbClr>
                  </a:outerShdw>
                </a:effectLst>
              </a:rPr>
              <a:t>Iteration 2, step-2</a:t>
            </a:r>
            <a:endParaRPr lang="en-US" sz="3200" b="1" dirty="0">
              <a:solidFill>
                <a:srgbClr val="7030A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872067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08712" y="2016782"/>
            <a:ext cx="10876788" cy="3566160"/>
          </a:xfrm>
          <a:prstGeom prst="rect">
            <a:avLst/>
          </a:prstGeom>
          <a:ln w="38100">
            <a:solidFill>
              <a:schemeClr val="accent2">
                <a:lumMod val="75000"/>
              </a:schemeClr>
            </a:solidFill>
          </a:ln>
        </p:spPr>
      </p:pic>
      <p:sp>
        <p:nvSpPr>
          <p:cNvPr id="5" name="Title 1"/>
          <p:cNvSpPr>
            <a:spLocks noGrp="1"/>
          </p:cNvSpPr>
          <p:nvPr>
            <p:ph type="title"/>
          </p:nvPr>
        </p:nvSpPr>
        <p:spPr>
          <a:xfrm>
            <a:off x="4039319" y="976582"/>
            <a:ext cx="3931488" cy="667559"/>
          </a:xfrm>
        </p:spPr>
        <p:txBody>
          <a:bodyPr>
            <a:noAutofit/>
          </a:bodyPr>
          <a:lstStyle/>
          <a:p>
            <a:pPr algn="ctr"/>
            <a:r>
              <a:rPr lang="en-US" sz="3200" b="1" dirty="0" smtClean="0">
                <a:solidFill>
                  <a:srgbClr val="7030A0"/>
                </a:solidFill>
                <a:effectLst>
                  <a:outerShdw blurRad="38100" dist="38100" dir="2700000" algn="tl">
                    <a:srgbClr val="000000">
                      <a:alpha val="43137"/>
                    </a:srgbClr>
                  </a:outerShdw>
                </a:effectLst>
              </a:rPr>
              <a:t>Last step</a:t>
            </a:r>
            <a:endParaRPr lang="en-US" sz="3200" b="1" dirty="0">
              <a:solidFill>
                <a:srgbClr val="7030A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075340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04730" y="1782162"/>
            <a:ext cx="8296275" cy="3914775"/>
          </a:xfrm>
          <a:prstGeom prst="rect">
            <a:avLst/>
          </a:prstGeom>
          <a:ln w="38100">
            <a:solidFill>
              <a:schemeClr val="accent2">
                <a:lumMod val="75000"/>
              </a:schemeClr>
            </a:solidFill>
          </a:ln>
        </p:spPr>
      </p:pic>
      <p:sp>
        <p:nvSpPr>
          <p:cNvPr id="5" name="Title 1"/>
          <p:cNvSpPr>
            <a:spLocks noGrp="1"/>
          </p:cNvSpPr>
          <p:nvPr>
            <p:ph type="title"/>
          </p:nvPr>
        </p:nvSpPr>
        <p:spPr>
          <a:xfrm>
            <a:off x="4039319" y="976582"/>
            <a:ext cx="3931488" cy="667559"/>
          </a:xfrm>
        </p:spPr>
        <p:txBody>
          <a:bodyPr>
            <a:noAutofit/>
          </a:bodyPr>
          <a:lstStyle/>
          <a:p>
            <a:pPr algn="ctr"/>
            <a:r>
              <a:rPr lang="en-US" sz="3200" b="1" dirty="0" smtClean="0">
                <a:solidFill>
                  <a:srgbClr val="7030A0"/>
                </a:solidFill>
                <a:effectLst>
                  <a:outerShdw blurRad="38100" dist="38100" dir="2700000" algn="tl">
                    <a:srgbClr val="000000">
                      <a:alpha val="43137"/>
                    </a:srgbClr>
                  </a:outerShdw>
                </a:effectLst>
              </a:rPr>
              <a:t>Answer</a:t>
            </a:r>
            <a:endParaRPr lang="en-US" sz="3200" b="1" dirty="0">
              <a:solidFill>
                <a:srgbClr val="7030A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32234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028700" y="661987"/>
            <a:ext cx="10134600" cy="5534025"/>
          </a:xfrm>
          <a:prstGeom prst="rect">
            <a:avLst/>
          </a:prstGeom>
          <a:ln w="38100">
            <a:solidFill>
              <a:schemeClr val="accent2">
                <a:lumMod val="75000"/>
              </a:schemeClr>
            </a:solidFill>
          </a:ln>
        </p:spPr>
      </p:pic>
    </p:spTree>
    <p:extLst>
      <p:ext uri="{BB962C8B-B14F-4D97-AF65-F5344CB8AC3E}">
        <p14:creationId xmlns:p14="http://schemas.microsoft.com/office/powerpoint/2010/main" val="18787048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09237" y="346580"/>
            <a:ext cx="8046720" cy="6078028"/>
          </a:xfrm>
          <a:prstGeom prst="rect">
            <a:avLst/>
          </a:prstGeom>
        </p:spPr>
      </p:pic>
      <p:sp>
        <p:nvSpPr>
          <p:cNvPr id="5" name="Rectangle 4"/>
          <p:cNvSpPr/>
          <p:nvPr/>
        </p:nvSpPr>
        <p:spPr>
          <a:xfrm>
            <a:off x="2009237" y="1509623"/>
            <a:ext cx="1967540" cy="577969"/>
          </a:xfrm>
          <a:prstGeom prst="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076649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02286" y="347033"/>
            <a:ext cx="6099792" cy="6035040"/>
          </a:xfrm>
          <a:prstGeom prst="rect">
            <a:avLst/>
          </a:prstGeom>
        </p:spPr>
      </p:pic>
      <p:pic>
        <p:nvPicPr>
          <p:cNvPr id="4" name="Picture 3"/>
          <p:cNvPicPr>
            <a:picLocks noChangeAspect="1"/>
          </p:cNvPicPr>
          <p:nvPr/>
        </p:nvPicPr>
        <p:blipFill>
          <a:blip r:embed="rId3"/>
          <a:stretch>
            <a:fillRect/>
          </a:stretch>
        </p:blipFill>
        <p:spPr>
          <a:xfrm>
            <a:off x="6822862" y="2411694"/>
            <a:ext cx="4969350" cy="2560320"/>
          </a:xfrm>
          <a:prstGeom prst="rect">
            <a:avLst/>
          </a:prstGeom>
        </p:spPr>
      </p:pic>
    </p:spTree>
    <p:extLst>
      <p:ext uri="{BB962C8B-B14F-4D97-AF65-F5344CB8AC3E}">
        <p14:creationId xmlns:p14="http://schemas.microsoft.com/office/powerpoint/2010/main" val="26517895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728607" y="159948"/>
            <a:ext cx="8752576" cy="6492240"/>
          </a:xfrm>
          <a:prstGeom prst="rect">
            <a:avLst/>
          </a:prstGeom>
        </p:spPr>
      </p:pic>
    </p:spTree>
    <p:extLst>
      <p:ext uri="{BB962C8B-B14F-4D97-AF65-F5344CB8AC3E}">
        <p14:creationId xmlns:p14="http://schemas.microsoft.com/office/powerpoint/2010/main" val="7301718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66544" y="232916"/>
            <a:ext cx="7772400" cy="6387296"/>
          </a:xfrm>
          <a:prstGeom prst="rect">
            <a:avLst/>
          </a:prstGeom>
        </p:spPr>
      </p:pic>
    </p:spTree>
    <p:extLst>
      <p:ext uri="{BB962C8B-B14F-4D97-AF65-F5344CB8AC3E}">
        <p14:creationId xmlns:p14="http://schemas.microsoft.com/office/powerpoint/2010/main" val="25256284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91634" y="157612"/>
            <a:ext cx="7859110" cy="6583680"/>
          </a:xfrm>
          <a:prstGeom prst="rect">
            <a:avLst/>
          </a:prstGeom>
        </p:spPr>
      </p:pic>
    </p:spTree>
    <p:extLst>
      <p:ext uri="{BB962C8B-B14F-4D97-AF65-F5344CB8AC3E}">
        <p14:creationId xmlns:p14="http://schemas.microsoft.com/office/powerpoint/2010/main" val="34027927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18613" y="1223960"/>
            <a:ext cx="10649395" cy="3931920"/>
          </a:xfrm>
          <a:prstGeom prst="rect">
            <a:avLst/>
          </a:prstGeom>
        </p:spPr>
      </p:pic>
    </p:spTree>
    <p:extLst>
      <p:ext uri="{BB962C8B-B14F-4D97-AF65-F5344CB8AC3E}">
        <p14:creationId xmlns:p14="http://schemas.microsoft.com/office/powerpoint/2010/main" val="35410257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8200" y="938212"/>
            <a:ext cx="10515600" cy="4981575"/>
          </a:xfrm>
          <a:prstGeom prst="rect">
            <a:avLst/>
          </a:prstGeom>
        </p:spPr>
      </p:pic>
    </p:spTree>
    <p:extLst>
      <p:ext uri="{BB962C8B-B14F-4D97-AF65-F5344CB8AC3E}">
        <p14:creationId xmlns:p14="http://schemas.microsoft.com/office/powerpoint/2010/main" val="24794625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84250" y="206223"/>
            <a:ext cx="7955433" cy="6400800"/>
          </a:xfrm>
          <a:prstGeom prst="rect">
            <a:avLst/>
          </a:prstGeom>
        </p:spPr>
      </p:pic>
    </p:spTree>
    <p:extLst>
      <p:ext uri="{BB962C8B-B14F-4D97-AF65-F5344CB8AC3E}">
        <p14:creationId xmlns:p14="http://schemas.microsoft.com/office/powerpoint/2010/main" val="42075321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04850" y="676275"/>
            <a:ext cx="10782300" cy="5505450"/>
          </a:xfrm>
          <a:prstGeom prst="rect">
            <a:avLst/>
          </a:prstGeom>
        </p:spPr>
      </p:pic>
      <p:sp>
        <p:nvSpPr>
          <p:cNvPr id="5" name="Rectangle 4"/>
          <p:cNvSpPr/>
          <p:nvPr/>
        </p:nvSpPr>
        <p:spPr>
          <a:xfrm>
            <a:off x="2544792" y="862642"/>
            <a:ext cx="7220310" cy="508958"/>
          </a:xfrm>
          <a:prstGeom prst="rect">
            <a:avLst/>
          </a:prstGeom>
          <a:noFill/>
          <a:ln w="571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15956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32551" y="951602"/>
            <a:ext cx="10344150" cy="4972050"/>
          </a:xfrm>
          <a:prstGeom prst="rect">
            <a:avLst/>
          </a:prstGeom>
        </p:spPr>
      </p:pic>
      <p:sp>
        <p:nvSpPr>
          <p:cNvPr id="5" name="Rectangle 4"/>
          <p:cNvSpPr/>
          <p:nvPr/>
        </p:nvSpPr>
        <p:spPr>
          <a:xfrm>
            <a:off x="6823495" y="1268083"/>
            <a:ext cx="2536165" cy="500332"/>
          </a:xfrm>
          <a:prstGeom prst="rect">
            <a:avLst/>
          </a:prstGeom>
          <a:noFill/>
          <a:ln w="571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6763" y="1936630"/>
            <a:ext cx="4520242" cy="3001993"/>
          </a:xfrm>
          <a:prstGeom prst="rect">
            <a:avLst/>
          </a:prstGeom>
          <a:noFill/>
          <a:ln w="571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54964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60418" y="898853"/>
            <a:ext cx="10116770" cy="5577840"/>
          </a:xfrm>
          <a:prstGeom prst="rect">
            <a:avLst/>
          </a:prstGeom>
        </p:spPr>
      </p:pic>
      <p:pic>
        <p:nvPicPr>
          <p:cNvPr id="3" name="Picture 2"/>
          <p:cNvPicPr>
            <a:picLocks noChangeAspect="1"/>
          </p:cNvPicPr>
          <p:nvPr/>
        </p:nvPicPr>
        <p:blipFill>
          <a:blip r:embed="rId3"/>
          <a:stretch>
            <a:fillRect/>
          </a:stretch>
        </p:blipFill>
        <p:spPr>
          <a:xfrm>
            <a:off x="1244809" y="1507375"/>
            <a:ext cx="3267075" cy="962025"/>
          </a:xfrm>
          <a:prstGeom prst="rect">
            <a:avLst/>
          </a:prstGeom>
        </p:spPr>
      </p:pic>
    </p:spTree>
    <p:extLst>
      <p:ext uri="{BB962C8B-B14F-4D97-AF65-F5344CB8AC3E}">
        <p14:creationId xmlns:p14="http://schemas.microsoft.com/office/powerpoint/2010/main" val="37790132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68045" y="1016747"/>
            <a:ext cx="10316585" cy="4572000"/>
          </a:xfrm>
          <a:prstGeom prst="rect">
            <a:avLst/>
          </a:prstGeom>
        </p:spPr>
      </p:pic>
    </p:spTree>
    <p:extLst>
      <p:ext uri="{BB962C8B-B14F-4D97-AF65-F5344CB8AC3E}">
        <p14:creationId xmlns:p14="http://schemas.microsoft.com/office/powerpoint/2010/main" val="41558551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60467" y="368061"/>
            <a:ext cx="10731686" cy="6126480"/>
          </a:xfrm>
          <a:prstGeom prst="rect">
            <a:avLst/>
          </a:prstGeom>
        </p:spPr>
      </p:pic>
    </p:spTree>
    <p:extLst>
      <p:ext uri="{BB962C8B-B14F-4D97-AF65-F5344CB8AC3E}">
        <p14:creationId xmlns:p14="http://schemas.microsoft.com/office/powerpoint/2010/main" val="33133199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7350" y="708884"/>
            <a:ext cx="11261325" cy="5394960"/>
          </a:xfrm>
          <a:prstGeom prst="rect">
            <a:avLst/>
          </a:prstGeom>
        </p:spPr>
      </p:pic>
    </p:spTree>
    <p:extLst>
      <p:ext uri="{BB962C8B-B14F-4D97-AF65-F5344CB8AC3E}">
        <p14:creationId xmlns:p14="http://schemas.microsoft.com/office/powerpoint/2010/main" val="27044868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06422" y="991679"/>
            <a:ext cx="7395313" cy="4754880"/>
          </a:xfrm>
          <a:prstGeom prst="rect">
            <a:avLst/>
          </a:prstGeom>
        </p:spPr>
      </p:pic>
    </p:spTree>
    <p:extLst>
      <p:ext uri="{BB962C8B-B14F-4D97-AF65-F5344CB8AC3E}">
        <p14:creationId xmlns:p14="http://schemas.microsoft.com/office/powerpoint/2010/main" val="32036031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47137" y="543730"/>
            <a:ext cx="11095744" cy="5669280"/>
          </a:xfrm>
          <a:prstGeom prst="rect">
            <a:avLst/>
          </a:prstGeom>
        </p:spPr>
      </p:pic>
    </p:spTree>
    <p:extLst>
      <p:ext uri="{BB962C8B-B14F-4D97-AF65-F5344CB8AC3E}">
        <p14:creationId xmlns:p14="http://schemas.microsoft.com/office/powerpoint/2010/main" val="776212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28409" y="843413"/>
            <a:ext cx="10561318" cy="5212080"/>
          </a:xfrm>
          <a:prstGeom prst="rect">
            <a:avLst/>
          </a:prstGeom>
        </p:spPr>
      </p:pic>
    </p:spTree>
    <p:extLst>
      <p:ext uri="{BB962C8B-B14F-4D97-AF65-F5344CB8AC3E}">
        <p14:creationId xmlns:p14="http://schemas.microsoft.com/office/powerpoint/2010/main" val="14574238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8707" y="389993"/>
            <a:ext cx="6035040" cy="2159091"/>
          </a:xfrm>
          <a:prstGeom prst="rect">
            <a:avLst/>
          </a:prstGeom>
          <a:ln w="57150">
            <a:solidFill>
              <a:srgbClr val="FF0000"/>
            </a:solidFill>
          </a:ln>
        </p:spPr>
      </p:pic>
      <p:pic>
        <p:nvPicPr>
          <p:cNvPr id="3" name="Picture 2"/>
          <p:cNvPicPr>
            <a:picLocks noChangeAspect="1"/>
          </p:cNvPicPr>
          <p:nvPr/>
        </p:nvPicPr>
        <p:blipFill>
          <a:blip r:embed="rId3"/>
          <a:stretch>
            <a:fillRect/>
          </a:stretch>
        </p:blipFill>
        <p:spPr>
          <a:xfrm>
            <a:off x="3375893" y="2721727"/>
            <a:ext cx="8321040" cy="3834545"/>
          </a:xfrm>
          <a:prstGeom prst="rect">
            <a:avLst/>
          </a:prstGeom>
          <a:ln w="57150">
            <a:solidFill>
              <a:schemeClr val="accent1">
                <a:lumMod val="75000"/>
              </a:schemeClr>
            </a:solidFill>
          </a:ln>
        </p:spPr>
      </p:pic>
    </p:spTree>
    <p:extLst>
      <p:ext uri="{BB962C8B-B14F-4D97-AF65-F5344CB8AC3E}">
        <p14:creationId xmlns:p14="http://schemas.microsoft.com/office/powerpoint/2010/main" val="21100171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02179" y="942077"/>
            <a:ext cx="10439400" cy="4991100"/>
          </a:xfrm>
          <a:prstGeom prst="rect">
            <a:avLst/>
          </a:prstGeom>
        </p:spPr>
      </p:pic>
    </p:spTree>
    <p:extLst>
      <p:ext uri="{BB962C8B-B14F-4D97-AF65-F5344CB8AC3E}">
        <p14:creationId xmlns:p14="http://schemas.microsoft.com/office/powerpoint/2010/main" val="35552072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76921" y="427543"/>
            <a:ext cx="8715278" cy="5943600"/>
          </a:xfrm>
          <a:prstGeom prst="rect">
            <a:avLst/>
          </a:prstGeom>
        </p:spPr>
      </p:pic>
    </p:spTree>
    <p:extLst>
      <p:ext uri="{BB962C8B-B14F-4D97-AF65-F5344CB8AC3E}">
        <p14:creationId xmlns:p14="http://schemas.microsoft.com/office/powerpoint/2010/main" val="33364246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39683" y="302643"/>
            <a:ext cx="6378254" cy="6126480"/>
          </a:xfrm>
          <a:prstGeom prst="rect">
            <a:avLst/>
          </a:prstGeom>
        </p:spPr>
      </p:pic>
    </p:spTree>
    <p:extLst>
      <p:ext uri="{BB962C8B-B14F-4D97-AF65-F5344CB8AC3E}">
        <p14:creationId xmlns:p14="http://schemas.microsoft.com/office/powerpoint/2010/main" val="20019891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68828" y="544455"/>
            <a:ext cx="10706100" cy="5648325"/>
          </a:xfrm>
          <a:prstGeom prst="rect">
            <a:avLst/>
          </a:prstGeom>
        </p:spPr>
      </p:pic>
    </p:spTree>
    <p:extLst>
      <p:ext uri="{BB962C8B-B14F-4D97-AF65-F5344CB8AC3E}">
        <p14:creationId xmlns:p14="http://schemas.microsoft.com/office/powerpoint/2010/main" val="17627608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17672" y="1152527"/>
            <a:ext cx="9877425" cy="4552950"/>
          </a:xfrm>
          <a:prstGeom prst="rect">
            <a:avLst/>
          </a:prstGeom>
        </p:spPr>
      </p:pic>
      <p:sp>
        <p:nvSpPr>
          <p:cNvPr id="3" name="Title 1"/>
          <p:cNvSpPr>
            <a:spLocks noGrp="1"/>
          </p:cNvSpPr>
          <p:nvPr>
            <p:ph type="title"/>
          </p:nvPr>
        </p:nvSpPr>
        <p:spPr>
          <a:xfrm>
            <a:off x="8663078" y="243430"/>
            <a:ext cx="2870439" cy="667559"/>
          </a:xfrm>
        </p:spPr>
        <p:txBody>
          <a:bodyPr>
            <a:noAutofit/>
          </a:bodyPr>
          <a:lstStyle/>
          <a:p>
            <a:pPr algn="ctr"/>
            <a:r>
              <a:rPr lang="en-US" sz="3200" b="1" dirty="0" smtClean="0">
                <a:solidFill>
                  <a:srgbClr val="7030A0"/>
                </a:solidFill>
                <a:effectLst>
                  <a:outerShdw blurRad="38100" dist="38100" dir="2700000" algn="tl">
                    <a:srgbClr val="000000">
                      <a:alpha val="43137"/>
                    </a:srgbClr>
                  </a:outerShdw>
                </a:effectLst>
              </a:rPr>
              <a:t>Example-2</a:t>
            </a:r>
            <a:endParaRPr lang="en-US" sz="3200" b="1" dirty="0">
              <a:solidFill>
                <a:srgbClr val="7030A0"/>
              </a:solidFill>
              <a:effectLst>
                <a:outerShdw blurRad="38100" dist="38100" dir="2700000" algn="tl">
                  <a:srgbClr val="000000">
                    <a:alpha val="43137"/>
                  </a:srgbClr>
                </a:outerShdw>
              </a:effectLst>
            </a:endParaRPr>
          </a:p>
        </p:txBody>
      </p:sp>
      <p:sp>
        <p:nvSpPr>
          <p:cNvPr id="4" name="Title 1"/>
          <p:cNvSpPr txBox="1">
            <a:spLocks/>
          </p:cNvSpPr>
          <p:nvPr/>
        </p:nvSpPr>
        <p:spPr>
          <a:xfrm>
            <a:off x="1950647" y="5795964"/>
            <a:ext cx="8411473" cy="66755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smtClean="0">
                <a:solidFill>
                  <a:srgbClr val="FF0000"/>
                </a:solidFill>
                <a:effectLst>
                  <a:outerShdw blurRad="38100" dist="38100" dir="2700000" algn="tl">
                    <a:srgbClr val="000000">
                      <a:alpha val="43137"/>
                    </a:srgbClr>
                  </a:outerShdw>
                </a:effectLst>
              </a:rPr>
              <a:t>Lily age 5, find out her class when k = 3</a:t>
            </a:r>
            <a:endParaRPr lang="en-US" sz="3200" b="1" dirty="0">
              <a:solidFill>
                <a:srgbClr val="FF0000"/>
              </a:solidFill>
              <a:effectLst>
                <a:outerShdw blurRad="38100" dist="38100" dir="2700000" algn="tl">
                  <a:srgbClr val="000000">
                    <a:alpha val="43137"/>
                  </a:srgbClr>
                </a:outerShdw>
              </a:effectLst>
            </a:endParaRPr>
          </a:p>
        </p:txBody>
      </p:sp>
      <p:sp>
        <p:nvSpPr>
          <p:cNvPr id="5" name="Title 1"/>
          <p:cNvSpPr txBox="1">
            <a:spLocks/>
          </p:cNvSpPr>
          <p:nvPr/>
        </p:nvSpPr>
        <p:spPr>
          <a:xfrm>
            <a:off x="1303937" y="394481"/>
            <a:ext cx="2526191" cy="66755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effectLst>
                  <a:outerShdw blurRad="38100" dist="38100" dir="2700000" algn="tl">
                    <a:srgbClr val="000000">
                      <a:alpha val="43137"/>
                    </a:srgbClr>
                  </a:outerShdw>
                </a:effectLst>
              </a:rPr>
              <a:t>d</a:t>
            </a:r>
            <a:r>
              <a:rPr lang="en-US" sz="2400" b="1" dirty="0" smtClean="0">
                <a:effectLst>
                  <a:outerShdw blurRad="38100" dist="38100" dir="2700000" algn="tl">
                    <a:srgbClr val="000000">
                      <a:alpha val="43137"/>
                    </a:srgbClr>
                  </a:outerShdw>
                </a:effectLst>
              </a:rPr>
              <a:t>ate. 20/11/2024</a:t>
            </a:r>
            <a:endParaRPr lang="en-US" sz="2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34584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79134" y="239814"/>
            <a:ext cx="5660016" cy="3383280"/>
          </a:xfrm>
          <a:prstGeom prst="rect">
            <a:avLst/>
          </a:prstGeom>
        </p:spPr>
      </p:pic>
      <p:sp>
        <p:nvSpPr>
          <p:cNvPr id="4" name="Title 1"/>
          <p:cNvSpPr>
            <a:spLocks noGrp="1"/>
          </p:cNvSpPr>
          <p:nvPr>
            <p:ph type="title"/>
          </p:nvPr>
        </p:nvSpPr>
        <p:spPr>
          <a:xfrm>
            <a:off x="6469811" y="263968"/>
            <a:ext cx="5158597" cy="3383280"/>
          </a:xfrm>
          <a:ln w="57150">
            <a:solidFill>
              <a:schemeClr val="accent6">
                <a:lumMod val="75000"/>
              </a:schemeClr>
            </a:solidFill>
          </a:ln>
        </p:spPr>
        <p:txBody>
          <a:bodyPr>
            <a:noAutofit/>
          </a:bodyPr>
          <a:lstStyle/>
          <a:p>
            <a:pPr algn="ctr"/>
            <a:r>
              <a:rPr lang="en-US" sz="2800" b="1" dirty="0" smtClean="0">
                <a:effectLst>
                  <a:outerShdw blurRad="38100" dist="38100" dir="2700000" algn="tl">
                    <a:srgbClr val="000000">
                      <a:alpha val="43137"/>
                    </a:srgbClr>
                  </a:outerShdw>
                </a:effectLst>
              </a:rPr>
              <a:t>Here male is denoted by 0 and female is 1. Lily’s age 5 and gender female. (note. K = 3)</a:t>
            </a:r>
            <a:br>
              <a:rPr lang="en-US" sz="2800" b="1" dirty="0" smtClean="0">
                <a:effectLst>
                  <a:outerShdw blurRad="38100" dist="38100" dir="2700000" algn="tl">
                    <a:srgbClr val="000000">
                      <a:alpha val="43137"/>
                    </a:srgbClr>
                  </a:outerShdw>
                </a:effectLst>
              </a:rPr>
            </a:br>
            <a:r>
              <a:rPr lang="en-US" sz="2800" b="1" dirty="0" smtClean="0">
                <a:effectLst>
                  <a:outerShdw blurRad="38100" dist="38100" dir="2700000" algn="tl">
                    <a:srgbClr val="000000">
                      <a:alpha val="43137"/>
                    </a:srgbClr>
                  </a:outerShdw>
                </a:effectLst>
              </a:rPr>
              <a:t/>
            </a:r>
            <a:br>
              <a:rPr lang="en-US" sz="2800" b="1" dirty="0" smtClean="0">
                <a:effectLst>
                  <a:outerShdw blurRad="38100" dist="38100" dir="2700000" algn="tl">
                    <a:srgbClr val="000000">
                      <a:alpha val="43137"/>
                    </a:srgbClr>
                  </a:outerShdw>
                </a:effectLst>
              </a:rPr>
            </a:br>
            <a:r>
              <a:rPr lang="en-US" sz="2800" b="1" dirty="0" smtClean="0">
                <a:solidFill>
                  <a:srgbClr val="FF0000"/>
                </a:solidFill>
                <a:effectLst>
                  <a:outerShdw blurRad="38100" dist="38100" dir="2700000" algn="tl">
                    <a:srgbClr val="000000">
                      <a:alpha val="43137"/>
                    </a:srgbClr>
                  </a:outerShdw>
                </a:effectLst>
              </a:rPr>
              <a:t>lily (x</a:t>
            </a:r>
            <a:r>
              <a:rPr lang="en-US" sz="2800" b="1" baseline="-25000" dirty="0" smtClean="0">
                <a:solidFill>
                  <a:srgbClr val="FF0000"/>
                </a:solidFill>
                <a:effectLst>
                  <a:outerShdw blurRad="38100" dist="38100" dir="2700000" algn="tl">
                    <a:srgbClr val="000000">
                      <a:alpha val="43137"/>
                    </a:srgbClr>
                  </a:outerShdw>
                </a:effectLst>
              </a:rPr>
              <a:t>2</a:t>
            </a:r>
            <a:r>
              <a:rPr lang="en-US" sz="2800" b="1" dirty="0" smtClean="0">
                <a:solidFill>
                  <a:srgbClr val="FF0000"/>
                </a:solidFill>
                <a:effectLst>
                  <a:outerShdw blurRad="38100" dist="38100" dir="2700000" algn="tl">
                    <a:srgbClr val="000000">
                      <a:alpha val="43137"/>
                    </a:srgbClr>
                  </a:outerShdw>
                </a:effectLst>
              </a:rPr>
              <a:t>, y</a:t>
            </a:r>
            <a:r>
              <a:rPr lang="en-US" sz="2800" b="1" baseline="-25000" dirty="0" smtClean="0">
                <a:solidFill>
                  <a:srgbClr val="FF0000"/>
                </a:solidFill>
                <a:effectLst>
                  <a:outerShdw blurRad="38100" dist="38100" dir="2700000" algn="tl">
                    <a:srgbClr val="000000">
                      <a:alpha val="43137"/>
                    </a:srgbClr>
                  </a:outerShdw>
                </a:effectLst>
              </a:rPr>
              <a:t>2</a:t>
            </a:r>
            <a:r>
              <a:rPr lang="en-US" sz="2800" b="1" dirty="0" smtClean="0">
                <a:solidFill>
                  <a:srgbClr val="FF0000"/>
                </a:solidFill>
                <a:effectLst>
                  <a:outerShdw blurRad="38100" dist="38100" dir="2700000" algn="tl">
                    <a:srgbClr val="000000">
                      <a:alpha val="43137"/>
                    </a:srgbClr>
                  </a:outerShdw>
                </a:effectLst>
              </a:rPr>
              <a:t>): lily (5, 1)</a:t>
            </a:r>
            <a:r>
              <a:rPr lang="en-US" sz="2800" b="1" dirty="0" smtClean="0">
                <a:solidFill>
                  <a:schemeClr val="accent2">
                    <a:lumMod val="75000"/>
                  </a:schemeClr>
                </a:solidFill>
                <a:effectLst>
                  <a:outerShdw blurRad="38100" dist="38100" dir="2700000" algn="tl">
                    <a:srgbClr val="000000">
                      <a:alpha val="43137"/>
                    </a:srgbClr>
                  </a:outerShdw>
                </a:effectLst>
              </a:rPr>
              <a:t/>
            </a:r>
            <a:br>
              <a:rPr lang="en-US" sz="2800" b="1" dirty="0" smtClean="0">
                <a:solidFill>
                  <a:schemeClr val="accent2">
                    <a:lumMod val="75000"/>
                  </a:schemeClr>
                </a:solidFill>
                <a:effectLst>
                  <a:outerShdw blurRad="38100" dist="38100" dir="2700000" algn="tl">
                    <a:srgbClr val="000000">
                      <a:alpha val="43137"/>
                    </a:srgbClr>
                  </a:outerShdw>
                </a:effectLst>
              </a:rPr>
            </a:br>
            <a:r>
              <a:rPr lang="en-US" sz="2800" b="1" dirty="0" smtClean="0">
                <a:solidFill>
                  <a:schemeClr val="accent2">
                    <a:lumMod val="75000"/>
                  </a:schemeClr>
                </a:solidFill>
                <a:effectLst>
                  <a:outerShdw blurRad="38100" dist="38100" dir="2700000" algn="tl">
                    <a:srgbClr val="000000">
                      <a:alpha val="43137"/>
                    </a:srgbClr>
                  </a:outerShdw>
                </a:effectLst>
              </a:rPr>
              <a:t/>
            </a:r>
            <a:br>
              <a:rPr lang="en-US" sz="2800" b="1" dirty="0" smtClean="0">
                <a:solidFill>
                  <a:schemeClr val="accent2">
                    <a:lumMod val="75000"/>
                  </a:schemeClr>
                </a:solidFill>
                <a:effectLst>
                  <a:outerShdw blurRad="38100" dist="38100" dir="2700000" algn="tl">
                    <a:srgbClr val="000000">
                      <a:alpha val="43137"/>
                    </a:srgbClr>
                  </a:outerShdw>
                </a:effectLst>
              </a:rPr>
            </a:br>
            <a:r>
              <a:rPr lang="en-US" sz="2800" b="1" dirty="0" smtClean="0">
                <a:solidFill>
                  <a:schemeClr val="accent2">
                    <a:lumMod val="75000"/>
                  </a:schemeClr>
                </a:solidFill>
                <a:effectLst>
                  <a:outerShdw blurRad="38100" dist="38100" dir="2700000" algn="tl">
                    <a:srgbClr val="000000">
                      <a:alpha val="43137"/>
                    </a:srgbClr>
                  </a:outerShdw>
                </a:effectLst>
              </a:rPr>
              <a:t>* rest of the data-set subtract from the lily for finding distance.</a:t>
            </a:r>
            <a:endParaRPr lang="en-US" sz="2800" b="1" dirty="0">
              <a:effectLst>
                <a:outerShdw blurRad="38100" dist="38100" dir="2700000" algn="tl">
                  <a:srgbClr val="000000">
                    <a:alpha val="43137"/>
                  </a:srgbClr>
                </a:outerShdw>
              </a:effectLst>
            </a:endParaRPr>
          </a:p>
        </p:txBody>
      </p:sp>
      <p:pic>
        <p:nvPicPr>
          <p:cNvPr id="6" name="Picture 5"/>
          <p:cNvPicPr>
            <a:picLocks noChangeAspect="1"/>
          </p:cNvPicPr>
          <p:nvPr/>
        </p:nvPicPr>
        <p:blipFill>
          <a:blip r:embed="rId3"/>
          <a:stretch>
            <a:fillRect/>
          </a:stretch>
        </p:blipFill>
        <p:spPr>
          <a:xfrm>
            <a:off x="1220106" y="3924298"/>
            <a:ext cx="9784080" cy="2626598"/>
          </a:xfrm>
          <a:prstGeom prst="rect">
            <a:avLst/>
          </a:prstGeom>
        </p:spPr>
      </p:pic>
      <p:sp>
        <p:nvSpPr>
          <p:cNvPr id="7" name="Rectangle 6"/>
          <p:cNvSpPr/>
          <p:nvPr/>
        </p:nvSpPr>
        <p:spPr>
          <a:xfrm>
            <a:off x="6273654" y="4718649"/>
            <a:ext cx="2991114" cy="379562"/>
          </a:xfrm>
          <a:prstGeom prst="rect">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25179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672681" y="526571"/>
            <a:ext cx="3600450" cy="5753100"/>
          </a:xfrm>
          <a:prstGeom prst="rect">
            <a:avLst/>
          </a:prstGeom>
        </p:spPr>
      </p:pic>
      <p:pic>
        <p:nvPicPr>
          <p:cNvPr id="4" name="Picture 3"/>
          <p:cNvPicPr>
            <a:picLocks noChangeAspect="1"/>
          </p:cNvPicPr>
          <p:nvPr/>
        </p:nvPicPr>
        <p:blipFill>
          <a:blip r:embed="rId3"/>
          <a:stretch>
            <a:fillRect/>
          </a:stretch>
        </p:blipFill>
        <p:spPr>
          <a:xfrm>
            <a:off x="8174966" y="604837"/>
            <a:ext cx="3657600" cy="1076325"/>
          </a:xfrm>
          <a:prstGeom prst="rect">
            <a:avLst/>
          </a:prstGeom>
        </p:spPr>
      </p:pic>
      <p:cxnSp>
        <p:nvCxnSpPr>
          <p:cNvPr id="6" name="Straight Arrow Connector 5"/>
          <p:cNvCxnSpPr/>
          <p:nvPr/>
        </p:nvCxnSpPr>
        <p:spPr>
          <a:xfrm flipV="1">
            <a:off x="3752491" y="871268"/>
            <a:ext cx="4422475" cy="238089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4012811" y="1276215"/>
            <a:ext cx="4285800" cy="4819784"/>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3890694" y="1681162"/>
            <a:ext cx="4804732" cy="34084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6577732" y="4185053"/>
            <a:ext cx="5158597" cy="1714427"/>
          </a:xfrm>
          <a:ln w="57150">
            <a:solidFill>
              <a:schemeClr val="accent6">
                <a:lumMod val="75000"/>
              </a:schemeClr>
            </a:solidFill>
          </a:ln>
        </p:spPr>
        <p:txBody>
          <a:bodyPr>
            <a:noAutofit/>
          </a:bodyPr>
          <a:lstStyle/>
          <a:p>
            <a:pPr algn="ctr"/>
            <a:r>
              <a:rPr lang="en-US" sz="2800" b="1" dirty="0">
                <a:effectLst>
                  <a:outerShdw blurRad="38100" dist="38100" dir="2700000" algn="tl">
                    <a:srgbClr val="000000">
                      <a:alpha val="43137"/>
                    </a:srgbClr>
                  </a:outerShdw>
                </a:effectLst>
              </a:rPr>
              <a:t>k</a:t>
            </a:r>
            <a:r>
              <a:rPr lang="en-US" sz="2800" b="1" dirty="0" smtClean="0">
                <a:effectLst>
                  <a:outerShdw blurRad="38100" dist="38100" dir="2700000" algn="tl">
                    <a:srgbClr val="000000">
                      <a:alpha val="43137"/>
                    </a:srgbClr>
                  </a:outerShdw>
                </a:effectLst>
              </a:rPr>
              <a:t> = 3, so we will sort according to the least distance and then take the voting power for 3.</a:t>
            </a:r>
            <a:endParaRPr lang="en-US" sz="2800" b="1" dirty="0">
              <a:effectLst>
                <a:outerShdw blurRad="38100" dist="38100" dir="2700000" algn="tl">
                  <a:srgbClr val="000000">
                    <a:alpha val="43137"/>
                  </a:srgbClr>
                </a:outerShdw>
              </a:effectLst>
            </a:endParaRPr>
          </a:p>
        </p:txBody>
      </p:sp>
      <p:sp>
        <p:nvSpPr>
          <p:cNvPr id="16" name="Rectangle 15"/>
          <p:cNvSpPr/>
          <p:nvPr/>
        </p:nvSpPr>
        <p:spPr>
          <a:xfrm>
            <a:off x="10515600" y="604837"/>
            <a:ext cx="1316966" cy="73225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90972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9954" y="354920"/>
            <a:ext cx="8397905" cy="568102"/>
          </a:xfrm>
          <a:ln w="57150">
            <a:solidFill>
              <a:schemeClr val="accent6">
                <a:lumMod val="75000"/>
              </a:schemeClr>
            </a:solidFill>
          </a:ln>
        </p:spPr>
        <p:txBody>
          <a:bodyPr>
            <a:noAutofit/>
          </a:bodyPr>
          <a:lstStyle/>
          <a:p>
            <a:pPr algn="ctr"/>
            <a:r>
              <a:rPr lang="en-US" sz="3200" b="1" dirty="0" smtClean="0">
                <a:effectLst>
                  <a:outerShdw blurRad="38100" dist="38100" dir="2700000" algn="tl">
                    <a:srgbClr val="000000">
                      <a:alpha val="43137"/>
                    </a:srgbClr>
                  </a:outerShdw>
                </a:effectLst>
              </a:rPr>
              <a:t>Difference between K-means and KNN algorithm</a:t>
            </a:r>
            <a:endParaRPr lang="en-US" sz="3200" b="1" dirty="0">
              <a:effectLst>
                <a:outerShdw blurRad="38100" dist="38100" dir="2700000" algn="tl">
                  <a:srgbClr val="000000">
                    <a:alpha val="43137"/>
                  </a:srgbClr>
                </a:outerShdw>
              </a:effectLst>
            </a:endParaRPr>
          </a:p>
        </p:txBody>
      </p:sp>
      <p:pic>
        <p:nvPicPr>
          <p:cNvPr id="3" name="Picture 2"/>
          <p:cNvPicPr>
            <a:picLocks noChangeAspect="1"/>
          </p:cNvPicPr>
          <p:nvPr/>
        </p:nvPicPr>
        <p:blipFill>
          <a:blip r:embed="rId2"/>
          <a:stretch>
            <a:fillRect/>
          </a:stretch>
        </p:blipFill>
        <p:spPr>
          <a:xfrm>
            <a:off x="1411133" y="1205809"/>
            <a:ext cx="9453697" cy="5303520"/>
          </a:xfrm>
          <a:prstGeom prst="rect">
            <a:avLst/>
          </a:prstGeom>
        </p:spPr>
      </p:pic>
    </p:spTree>
    <p:extLst>
      <p:ext uri="{BB962C8B-B14F-4D97-AF65-F5344CB8AC3E}">
        <p14:creationId xmlns:p14="http://schemas.microsoft.com/office/powerpoint/2010/main" val="11315941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33859" y="1408532"/>
            <a:ext cx="9334500" cy="4886325"/>
          </a:xfrm>
          <a:prstGeom prst="rect">
            <a:avLst/>
          </a:prstGeom>
        </p:spPr>
      </p:pic>
      <p:sp>
        <p:nvSpPr>
          <p:cNvPr id="5" name="Title 1"/>
          <p:cNvSpPr>
            <a:spLocks noGrp="1"/>
          </p:cNvSpPr>
          <p:nvPr>
            <p:ph type="title"/>
          </p:nvPr>
        </p:nvSpPr>
        <p:spPr>
          <a:xfrm>
            <a:off x="1837428" y="518827"/>
            <a:ext cx="8190872" cy="542222"/>
          </a:xfrm>
          <a:ln w="57150">
            <a:solidFill>
              <a:schemeClr val="accent6">
                <a:lumMod val="75000"/>
              </a:schemeClr>
            </a:solidFill>
          </a:ln>
        </p:spPr>
        <p:txBody>
          <a:bodyPr>
            <a:noAutofit/>
          </a:bodyPr>
          <a:lstStyle/>
          <a:p>
            <a:pPr algn="ctr"/>
            <a:r>
              <a:rPr lang="en-US" sz="2800" b="1" dirty="0" smtClean="0">
                <a:effectLst>
                  <a:outerShdw blurRad="38100" dist="38100" dir="2700000" algn="tl">
                    <a:srgbClr val="000000">
                      <a:alpha val="43137"/>
                    </a:srgbClr>
                  </a:outerShdw>
                </a:effectLst>
              </a:rPr>
              <a:t>Choosing reason of K-means and KNN</a:t>
            </a:r>
            <a:endParaRPr lang="en-US"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5114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76250" y="1166812"/>
            <a:ext cx="11239500" cy="4524375"/>
          </a:xfrm>
          <a:prstGeom prst="rect">
            <a:avLst/>
          </a:prstGeom>
        </p:spPr>
      </p:pic>
    </p:spTree>
    <p:extLst>
      <p:ext uri="{BB962C8B-B14F-4D97-AF65-F5344CB8AC3E}">
        <p14:creationId xmlns:p14="http://schemas.microsoft.com/office/powerpoint/2010/main" val="2797755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85775" y="366712"/>
            <a:ext cx="11220450" cy="6124575"/>
          </a:xfrm>
          <a:prstGeom prst="rect">
            <a:avLst/>
          </a:prstGeom>
        </p:spPr>
      </p:pic>
    </p:spTree>
    <p:extLst>
      <p:ext uri="{BB962C8B-B14F-4D97-AF65-F5344CB8AC3E}">
        <p14:creationId xmlns:p14="http://schemas.microsoft.com/office/powerpoint/2010/main" val="41236102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06427" y="577618"/>
            <a:ext cx="10149840" cy="5779394"/>
          </a:xfrm>
          <a:prstGeom prst="rect">
            <a:avLst/>
          </a:prstGeom>
        </p:spPr>
      </p:pic>
      <p:sp>
        <p:nvSpPr>
          <p:cNvPr id="5" name="Title 1"/>
          <p:cNvSpPr>
            <a:spLocks noGrp="1"/>
          </p:cNvSpPr>
          <p:nvPr>
            <p:ph type="title"/>
          </p:nvPr>
        </p:nvSpPr>
        <p:spPr>
          <a:xfrm>
            <a:off x="7134045" y="803502"/>
            <a:ext cx="3804249" cy="1353106"/>
          </a:xfrm>
          <a:ln w="57150">
            <a:solidFill>
              <a:schemeClr val="accent6">
                <a:lumMod val="75000"/>
              </a:schemeClr>
            </a:solidFill>
          </a:ln>
        </p:spPr>
        <p:txBody>
          <a:bodyPr>
            <a:noAutofit/>
          </a:bodyPr>
          <a:lstStyle/>
          <a:p>
            <a:pPr algn="ctr"/>
            <a:r>
              <a:rPr lang="en-US" sz="3200" b="1" dirty="0" smtClean="0">
                <a:solidFill>
                  <a:srgbClr val="FF0000"/>
                </a:solidFill>
                <a:effectLst>
                  <a:outerShdw blurRad="38100" dist="38100" dir="2700000" algn="tl">
                    <a:srgbClr val="000000">
                      <a:alpha val="43137"/>
                    </a:srgbClr>
                  </a:outerShdw>
                </a:effectLst>
              </a:rPr>
              <a:t>K-means and KNN ?</a:t>
            </a:r>
            <a:endParaRPr lang="en-US" sz="32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657317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93630" y="2605995"/>
            <a:ext cx="10515600" cy="2505982"/>
          </a:xfrm>
          <a:prstGeom prst="rect">
            <a:avLst/>
          </a:prstGeom>
        </p:spPr>
      </p:pic>
      <p:sp>
        <p:nvSpPr>
          <p:cNvPr id="5" name="Right Arrow 4"/>
          <p:cNvSpPr/>
          <p:nvPr/>
        </p:nvSpPr>
        <p:spPr>
          <a:xfrm>
            <a:off x="5313871" y="3200398"/>
            <a:ext cx="1475117" cy="14492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title"/>
          </p:nvPr>
        </p:nvSpPr>
        <p:spPr>
          <a:xfrm>
            <a:off x="7134045" y="1157184"/>
            <a:ext cx="3804249" cy="1353106"/>
          </a:xfrm>
          <a:ln w="57150">
            <a:solidFill>
              <a:schemeClr val="accent6">
                <a:lumMod val="75000"/>
              </a:schemeClr>
            </a:solidFill>
          </a:ln>
        </p:spPr>
        <p:txBody>
          <a:bodyPr>
            <a:noAutofit/>
          </a:bodyPr>
          <a:lstStyle/>
          <a:p>
            <a:pPr algn="ctr"/>
            <a:r>
              <a:rPr lang="en-US" sz="3200" b="1" dirty="0" smtClean="0">
                <a:solidFill>
                  <a:srgbClr val="FF0000"/>
                </a:solidFill>
                <a:effectLst>
                  <a:outerShdw blurRad="38100" dist="38100" dir="2700000" algn="tl">
                    <a:srgbClr val="000000">
                      <a:alpha val="43137"/>
                    </a:srgbClr>
                  </a:outerShdw>
                </a:effectLst>
              </a:rPr>
              <a:t>K-means and KNN ?</a:t>
            </a:r>
            <a:endParaRPr lang="en-US" sz="32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242651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840820" y="436343"/>
            <a:ext cx="3804249" cy="1353106"/>
          </a:xfrm>
          <a:ln w="57150">
            <a:solidFill>
              <a:schemeClr val="accent6">
                <a:lumMod val="75000"/>
              </a:schemeClr>
            </a:solidFill>
          </a:ln>
        </p:spPr>
        <p:txBody>
          <a:bodyPr>
            <a:noAutofit/>
          </a:bodyPr>
          <a:lstStyle/>
          <a:p>
            <a:pPr algn="ctr"/>
            <a:r>
              <a:rPr lang="en-US" sz="3200" b="1" dirty="0" smtClean="0">
                <a:solidFill>
                  <a:srgbClr val="FF0000"/>
                </a:solidFill>
                <a:effectLst>
                  <a:outerShdw blurRad="38100" dist="38100" dir="2700000" algn="tl">
                    <a:srgbClr val="000000">
                      <a:alpha val="43137"/>
                    </a:srgbClr>
                  </a:outerShdw>
                </a:effectLst>
              </a:rPr>
              <a:t>K-means and KNN ?</a:t>
            </a:r>
            <a:endParaRPr lang="en-US" sz="3200" b="1" dirty="0">
              <a:solidFill>
                <a:srgbClr val="FF0000"/>
              </a:solidFill>
              <a:effectLst>
                <a:outerShdw blurRad="38100" dist="38100" dir="2700000" algn="tl">
                  <a:srgbClr val="000000">
                    <a:alpha val="43137"/>
                  </a:srgbClr>
                </a:outerShdw>
              </a:effectLst>
            </a:endParaRPr>
          </a:p>
        </p:txBody>
      </p:sp>
      <p:pic>
        <p:nvPicPr>
          <p:cNvPr id="2" name="Picture 1"/>
          <p:cNvPicPr>
            <a:picLocks noChangeAspect="1"/>
          </p:cNvPicPr>
          <p:nvPr/>
        </p:nvPicPr>
        <p:blipFill>
          <a:blip r:embed="rId2"/>
          <a:stretch>
            <a:fillRect/>
          </a:stretch>
        </p:blipFill>
        <p:spPr>
          <a:xfrm>
            <a:off x="1080366" y="1823952"/>
            <a:ext cx="10131815" cy="4754880"/>
          </a:xfrm>
          <a:prstGeom prst="rect">
            <a:avLst/>
          </a:prstGeom>
        </p:spPr>
      </p:pic>
    </p:spTree>
    <p:extLst>
      <p:ext uri="{BB962C8B-B14F-4D97-AF65-F5344CB8AC3E}">
        <p14:creationId xmlns:p14="http://schemas.microsoft.com/office/powerpoint/2010/main" val="22198024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9562" y="1119187"/>
            <a:ext cx="11572875" cy="4619625"/>
          </a:xfrm>
          <a:prstGeom prst="rect">
            <a:avLst/>
          </a:prstGeom>
        </p:spPr>
      </p:pic>
    </p:spTree>
    <p:extLst>
      <p:ext uri="{BB962C8B-B14F-4D97-AF65-F5344CB8AC3E}">
        <p14:creationId xmlns:p14="http://schemas.microsoft.com/office/powerpoint/2010/main" val="8892630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690954" y="514896"/>
            <a:ext cx="8896737" cy="5669280"/>
          </a:xfrm>
          <a:prstGeom prst="rect">
            <a:avLst/>
          </a:prstGeom>
        </p:spPr>
      </p:pic>
      <p:sp>
        <p:nvSpPr>
          <p:cNvPr id="6" name="Rectangle 5"/>
          <p:cNvSpPr/>
          <p:nvPr/>
        </p:nvSpPr>
        <p:spPr>
          <a:xfrm>
            <a:off x="8108830" y="5598543"/>
            <a:ext cx="3804249" cy="8798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AutoNum type="arabicPeriod"/>
            </a:pPr>
            <a:r>
              <a:rPr lang="en-US" dirty="0" smtClean="0"/>
              <a:t>(feature data) </a:t>
            </a:r>
            <a:r>
              <a:rPr lang="en-US" dirty="0" err="1" smtClean="0"/>
              <a:t>Vectori</a:t>
            </a:r>
            <a:r>
              <a:rPr lang="en-US" dirty="0" smtClean="0"/>
              <a:t>-zed</a:t>
            </a:r>
          </a:p>
          <a:p>
            <a:pPr marL="342900" indent="-342900" algn="ctr">
              <a:buAutoNum type="arabicPeriod"/>
            </a:pPr>
            <a:r>
              <a:rPr lang="en-US" dirty="0" smtClean="0"/>
              <a:t>hyperplane</a:t>
            </a:r>
            <a:endParaRPr lang="en-US" dirty="0"/>
          </a:p>
        </p:txBody>
      </p:sp>
    </p:spTree>
    <p:extLst>
      <p:ext uri="{BB962C8B-B14F-4D97-AF65-F5344CB8AC3E}">
        <p14:creationId xmlns:p14="http://schemas.microsoft.com/office/powerpoint/2010/main" val="880698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25036" y="1127365"/>
            <a:ext cx="6924675" cy="4171950"/>
          </a:xfrm>
          <a:prstGeom prst="rect">
            <a:avLst/>
          </a:prstGeom>
        </p:spPr>
      </p:pic>
    </p:spTree>
    <p:extLst>
      <p:ext uri="{BB962C8B-B14F-4D97-AF65-F5344CB8AC3E}">
        <p14:creationId xmlns:p14="http://schemas.microsoft.com/office/powerpoint/2010/main" val="41473710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816412" y="4178509"/>
            <a:ext cx="6949440" cy="2388870"/>
          </a:xfrm>
          <a:prstGeom prst="rect">
            <a:avLst/>
          </a:prstGeom>
          <a:ln w="28575">
            <a:solidFill>
              <a:schemeClr val="accent2">
                <a:lumMod val="75000"/>
              </a:schemeClr>
            </a:solidFill>
          </a:ln>
        </p:spPr>
      </p:pic>
      <p:pic>
        <p:nvPicPr>
          <p:cNvPr id="3" name="Picture 2"/>
          <p:cNvPicPr>
            <a:picLocks noChangeAspect="1"/>
          </p:cNvPicPr>
          <p:nvPr/>
        </p:nvPicPr>
        <p:blipFill>
          <a:blip r:embed="rId3"/>
          <a:stretch>
            <a:fillRect/>
          </a:stretch>
        </p:blipFill>
        <p:spPr>
          <a:xfrm>
            <a:off x="458992" y="219757"/>
            <a:ext cx="4480560" cy="3872492"/>
          </a:xfrm>
          <a:prstGeom prst="rect">
            <a:avLst/>
          </a:prstGeom>
          <a:ln w="38100">
            <a:solidFill>
              <a:srgbClr val="0070C0"/>
            </a:solidFill>
          </a:ln>
        </p:spPr>
      </p:pic>
    </p:spTree>
    <p:extLst>
      <p:ext uri="{BB962C8B-B14F-4D97-AF65-F5344CB8AC3E}">
        <p14:creationId xmlns:p14="http://schemas.microsoft.com/office/powerpoint/2010/main" val="26777259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013513" y="710336"/>
            <a:ext cx="10251816" cy="2560320"/>
          </a:xfrm>
          <a:prstGeom prst="rect">
            <a:avLst/>
          </a:prstGeom>
        </p:spPr>
      </p:pic>
      <p:sp>
        <p:nvSpPr>
          <p:cNvPr id="4" name="Rectangle 3"/>
          <p:cNvSpPr/>
          <p:nvPr/>
        </p:nvSpPr>
        <p:spPr>
          <a:xfrm>
            <a:off x="1099008" y="2191115"/>
            <a:ext cx="10166321" cy="655607"/>
          </a:xfrm>
          <a:prstGeom prst="rect">
            <a:avLst/>
          </a:pr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099009" y="2863975"/>
            <a:ext cx="3757664" cy="406682"/>
          </a:xfrm>
          <a:prstGeom prst="rect">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a:off x="4931723" y="4718655"/>
            <a:ext cx="191506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a:stretch>
            <a:fillRect/>
          </a:stretch>
        </p:blipFill>
        <p:spPr>
          <a:xfrm>
            <a:off x="6910836" y="3620585"/>
            <a:ext cx="2468880" cy="2482747"/>
          </a:xfrm>
          <a:prstGeom prst="rect">
            <a:avLst/>
          </a:prstGeom>
        </p:spPr>
      </p:pic>
      <p:pic>
        <p:nvPicPr>
          <p:cNvPr id="10" name="Picture 9"/>
          <p:cNvPicPr>
            <a:picLocks noChangeAspect="1"/>
          </p:cNvPicPr>
          <p:nvPr/>
        </p:nvPicPr>
        <p:blipFill>
          <a:blip r:embed="rId4"/>
          <a:stretch>
            <a:fillRect/>
          </a:stretch>
        </p:blipFill>
        <p:spPr>
          <a:xfrm>
            <a:off x="2264793" y="3598981"/>
            <a:ext cx="2468880" cy="2504351"/>
          </a:xfrm>
          <a:prstGeom prst="rect">
            <a:avLst/>
          </a:prstGeom>
        </p:spPr>
      </p:pic>
    </p:spTree>
    <p:extLst>
      <p:ext uri="{BB962C8B-B14F-4D97-AF65-F5344CB8AC3E}">
        <p14:creationId xmlns:p14="http://schemas.microsoft.com/office/powerpoint/2010/main" val="11398457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53747" y="1043797"/>
            <a:ext cx="5215195" cy="3383280"/>
          </a:xfrm>
          <a:prstGeom prst="rect">
            <a:avLst/>
          </a:prstGeom>
        </p:spPr>
      </p:pic>
      <p:sp>
        <p:nvSpPr>
          <p:cNvPr id="3" name="Rectangle 2"/>
          <p:cNvSpPr/>
          <p:nvPr/>
        </p:nvSpPr>
        <p:spPr>
          <a:xfrm>
            <a:off x="2743200" y="474454"/>
            <a:ext cx="1268083" cy="5693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t>1</a:t>
            </a:r>
            <a:endParaRPr lang="en-US" sz="3600" dirty="0"/>
          </a:p>
        </p:txBody>
      </p:sp>
      <p:pic>
        <p:nvPicPr>
          <p:cNvPr id="4" name="Picture 3"/>
          <p:cNvPicPr>
            <a:picLocks noChangeAspect="1"/>
          </p:cNvPicPr>
          <p:nvPr/>
        </p:nvPicPr>
        <p:blipFill>
          <a:blip r:embed="rId3"/>
          <a:stretch>
            <a:fillRect/>
          </a:stretch>
        </p:blipFill>
        <p:spPr>
          <a:xfrm>
            <a:off x="6388433" y="3219821"/>
            <a:ext cx="5288270" cy="3108960"/>
          </a:xfrm>
          <a:prstGeom prst="rect">
            <a:avLst/>
          </a:prstGeom>
        </p:spPr>
      </p:pic>
      <p:sp>
        <p:nvSpPr>
          <p:cNvPr id="5" name="Rectangle 4"/>
          <p:cNvSpPr/>
          <p:nvPr/>
        </p:nvSpPr>
        <p:spPr>
          <a:xfrm>
            <a:off x="8571781" y="2585050"/>
            <a:ext cx="1268083" cy="5693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t>2</a:t>
            </a:r>
            <a:endParaRPr lang="en-US" sz="3600" dirty="0"/>
          </a:p>
        </p:txBody>
      </p:sp>
    </p:spTree>
    <p:extLst>
      <p:ext uri="{BB962C8B-B14F-4D97-AF65-F5344CB8AC3E}">
        <p14:creationId xmlns:p14="http://schemas.microsoft.com/office/powerpoint/2010/main" val="21575146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193174" y="1425797"/>
            <a:ext cx="7772400" cy="3250847"/>
          </a:xfrm>
          <a:prstGeom prst="rect">
            <a:avLst/>
          </a:prstGeom>
        </p:spPr>
      </p:pic>
      <p:sp>
        <p:nvSpPr>
          <p:cNvPr id="7" name="Rectangle 6"/>
          <p:cNvSpPr/>
          <p:nvPr/>
        </p:nvSpPr>
        <p:spPr>
          <a:xfrm>
            <a:off x="4244195" y="770189"/>
            <a:ext cx="1268083" cy="5693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t>S-1</a:t>
            </a:r>
            <a:endParaRPr lang="en-US" sz="3600" dirty="0"/>
          </a:p>
        </p:txBody>
      </p:sp>
      <p:cxnSp>
        <p:nvCxnSpPr>
          <p:cNvPr id="9" name="Straight Arrow Connector 8"/>
          <p:cNvCxnSpPr/>
          <p:nvPr/>
        </p:nvCxnSpPr>
        <p:spPr>
          <a:xfrm>
            <a:off x="3683478" y="2725945"/>
            <a:ext cx="2812211" cy="1199072"/>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6590580" y="3640345"/>
            <a:ext cx="2777706" cy="5693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Support vector</a:t>
            </a:r>
            <a:endParaRPr lang="en-US" sz="2400" dirty="0"/>
          </a:p>
        </p:txBody>
      </p:sp>
      <p:cxnSp>
        <p:nvCxnSpPr>
          <p:cNvPr id="11" name="Straight Arrow Connector 10"/>
          <p:cNvCxnSpPr/>
          <p:nvPr/>
        </p:nvCxnSpPr>
        <p:spPr>
          <a:xfrm>
            <a:off x="2985772" y="3163017"/>
            <a:ext cx="1983042" cy="292723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5089583" y="5692120"/>
            <a:ext cx="2777706" cy="5693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Support vector</a:t>
            </a:r>
            <a:endParaRPr lang="en-US" sz="2400" dirty="0"/>
          </a:p>
        </p:txBody>
      </p:sp>
    </p:spTree>
    <p:extLst>
      <p:ext uri="{BB962C8B-B14F-4D97-AF65-F5344CB8AC3E}">
        <p14:creationId xmlns:p14="http://schemas.microsoft.com/office/powerpoint/2010/main" val="2648828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81597" y="795337"/>
            <a:ext cx="10601325" cy="5267325"/>
          </a:xfrm>
          <a:prstGeom prst="rect">
            <a:avLst/>
          </a:prstGeom>
        </p:spPr>
      </p:pic>
      <p:cxnSp>
        <p:nvCxnSpPr>
          <p:cNvPr id="3" name="Straight Arrow Connector 2"/>
          <p:cNvCxnSpPr/>
          <p:nvPr/>
        </p:nvCxnSpPr>
        <p:spPr>
          <a:xfrm>
            <a:off x="9471804" y="3148642"/>
            <a:ext cx="1199071" cy="2251494"/>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9602362" y="5564665"/>
            <a:ext cx="1835991" cy="5911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5</a:t>
            </a:r>
            <a:endParaRPr lang="en-US" sz="2400" dirty="0"/>
          </a:p>
        </p:txBody>
      </p:sp>
      <p:sp>
        <p:nvSpPr>
          <p:cNvPr id="8" name="Rectangle 7"/>
          <p:cNvSpPr/>
          <p:nvPr/>
        </p:nvSpPr>
        <p:spPr>
          <a:xfrm>
            <a:off x="7911586" y="5583040"/>
            <a:ext cx="3761119" cy="5693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Total Support vector = ?</a:t>
            </a:r>
            <a:endParaRPr lang="en-US" sz="2400" dirty="0"/>
          </a:p>
        </p:txBody>
      </p:sp>
    </p:spTree>
    <p:extLst>
      <p:ext uri="{BB962C8B-B14F-4D97-AF65-F5344CB8AC3E}">
        <p14:creationId xmlns:p14="http://schemas.microsoft.com/office/powerpoint/2010/main" val="18163103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41582" y="1135093"/>
            <a:ext cx="6889176" cy="4663440"/>
          </a:xfrm>
          <a:prstGeom prst="rect">
            <a:avLst/>
          </a:prstGeom>
        </p:spPr>
      </p:pic>
    </p:spTree>
    <p:extLst>
      <p:ext uri="{BB962C8B-B14F-4D97-AF65-F5344CB8AC3E}">
        <p14:creationId xmlns:p14="http://schemas.microsoft.com/office/powerpoint/2010/main" val="27210907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4819</TotalTime>
  <Words>3267</Words>
  <Application>Microsoft Office PowerPoint</Application>
  <PresentationFormat>Widescreen</PresentationFormat>
  <Paragraphs>325</Paragraphs>
  <Slides>115</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115</vt:i4>
      </vt:variant>
    </vt:vector>
  </HeadingPairs>
  <TitlesOfParts>
    <vt:vector size="123" baseType="lpstr">
      <vt:lpstr>Arial</vt:lpstr>
      <vt:lpstr>Calibri</vt:lpstr>
      <vt:lpstr>Calibri Light</vt:lpstr>
      <vt:lpstr>Cambria Math</vt:lpstr>
      <vt:lpstr>Georgia</vt:lpstr>
      <vt:lpstr>Wingdings</vt:lpstr>
      <vt:lpstr>Office Theme</vt:lpstr>
      <vt:lpstr>Acrobat 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K-means Clustering</vt:lpstr>
      <vt:lpstr>PowerPoint Presentation</vt:lpstr>
      <vt:lpstr>PowerPoint Presentation</vt:lpstr>
      <vt:lpstr>K-means Clustering</vt:lpstr>
      <vt:lpstr>K-means Clustering</vt:lpstr>
      <vt:lpstr>K-means Clustering</vt:lpstr>
      <vt:lpstr>K-means Clustering</vt:lpstr>
      <vt:lpstr>K-means Clustering</vt:lpstr>
      <vt:lpstr>K-means Clustering</vt:lpstr>
      <vt:lpstr>K-means Clustering</vt:lpstr>
      <vt:lpstr>K-means Issues</vt:lpstr>
      <vt:lpstr>WCSS</vt:lpstr>
      <vt:lpstr>Bottom Line</vt:lpstr>
      <vt:lpstr>PowerPoint Presentation</vt:lpstr>
      <vt:lpstr>Randomly chosen</vt:lpstr>
      <vt:lpstr>PowerPoint Presentation</vt:lpstr>
      <vt:lpstr>PowerPoint Presentation</vt:lpstr>
      <vt:lpstr>Iteration 1</vt:lpstr>
      <vt:lpstr>Iteration 1, step-1</vt:lpstr>
      <vt:lpstr>Iteration 2</vt:lpstr>
      <vt:lpstr>Iteration 2, step-2</vt:lpstr>
      <vt:lpstr>Last step</vt:lpstr>
      <vt:lpstr>Answer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Example-2</vt:lpstr>
      <vt:lpstr>Here male is denoted by 0 and female is 1. Lily’s age 5 and gender female. (note. K = 3)  lily (x2, y2): lily (5, 1)  * rest of the data-set subtract from the lily for finding distance.</vt:lpstr>
      <vt:lpstr>k = 3, so we will sort according to the least distance and then take the voting power for 3.</vt:lpstr>
      <vt:lpstr>Difference between K-means and KNN algorithm</vt:lpstr>
      <vt:lpstr>Choosing reason of K-means and KNN</vt:lpstr>
      <vt:lpstr>PowerPoint Presentation</vt:lpstr>
      <vt:lpstr>PowerPoint Presentation</vt:lpstr>
      <vt:lpstr>K-means and KNN ?</vt:lpstr>
      <vt:lpstr>K-means and KNN ?</vt:lpstr>
      <vt:lpstr>K-means and KNN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MN</dc:creator>
  <cp:lastModifiedBy>MN</cp:lastModifiedBy>
  <cp:revision>179</cp:revision>
  <dcterms:created xsi:type="dcterms:W3CDTF">2024-09-10T14:03:28Z</dcterms:created>
  <dcterms:modified xsi:type="dcterms:W3CDTF">2025-06-13T05:00:44Z</dcterms:modified>
</cp:coreProperties>
</file>