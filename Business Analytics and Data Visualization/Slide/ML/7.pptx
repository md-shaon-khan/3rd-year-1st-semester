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82" r:id="rId22"/>
    <p:sldId id="283"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8T06:18:43.308"/>
    </inkml:context>
    <inkml:brush xml:id="br0">
      <inkml:brushProperty name="width" value="0.035" units="cm"/>
      <inkml:brushProperty name="height" value="0.035" units="cm"/>
      <inkml:brushProperty name="color" value="#E71224"/>
    </inkml:brush>
  </inkml:definitions>
  <inkml:trace contextRef="#ctx0" brushRef="#br0">1 309 24575,'88'52'-1638,"111"62"-5164,326 181 3943,227 131 4501,-702-397-1131,-25-13 2538,-1 1-1,25 22 1,-48-38-3049,-1 0 0,1 0 0,-1-1 0,1 1 0,-1 0 0,1-1 0,-1 1 0,1-1 0,0 1 0,-1-1 0,1 1 0,0-1 0,0 1 0,-1-1 0,1 0 0,0 1 0,0-1 0,0 0 0,0 0 0,-1 0 0,1 1 0,0-1 0,0 0 0,0 0 0,0 0 0,0 0 0,-1 0 0,1-1 0,0 1 0,0 0 0,0 0 0,0-1 0,-1 1 0,1 0 0,0-1 0,0 1 0,-1-1 0,1 1 0,0-1 0,-1 1 0,1-1 0,0 1 0,-1-1 0,1 0 0,-1 1 0,1-1 0,-1 0 0,1 1 0,-1-1 0,1 0 0,-1 0 0,0 0 0,0 1 0,1-1 0,-1 0 0,0 0 0,0 0 0,0 0 0,0 1 0,0-3 0,1-4 0,0 0 0,0-1 0,-1 1 0,0 0 0,0-1 0,-2-6 0,-10-42 0,-23-61 0,-6-23 0,-29-236 0,8 37 0,56 310 0,-14-39 0,18 61 0,-2-1 0,1 0 0,-1 1 0,0 0 0,0 0 0,-1 0 0,0 1 0,0-1 0,-11-10 0,13 15 0,-1-1 0,1 1 0,0 0 0,-1 0 0,0 0 0,1 1 0,-1-1 0,0 1 0,0 0 0,0 0 0,0 0 0,0 0 0,0 1 0,0 0 0,0 0 0,-1 0 0,1 0 0,0 0 0,0 1 0,0 0 0,0 0 0,0 0 0,0 0 0,1 1 0,-1-1 0,0 1 0,1 0 0,-1 0 0,1 1 0,-1-1 0,1 1 0,0-1 0,0 1 0,0 0 0,1 0 0,-1 0 0,1 1 0,-1-1 0,1 1 0,0-1 0,0 1 0,-2 7 0,-94 343 0,67-258 0,-74 151 0,98-234 0,-13 28 0,-2 0 0,-46 63 0,-15 12 0,33-43 0,14-20 0,22-31 0,-1 0 0,0-1 0,-2-1 0,-28 28 0,31-35 0,1 1 0,1 0 0,0 1 0,1 0 0,-17 33 0,0-2 0,-41 76 0,8-12 0,58-106-195,0 1 0,0-1 0,-1 0 0,0 0 0,1 0 0,-8 5 0,-5 1-6631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39C8F-FFE6-4BD0-9F89-35D144D64C1D}" type="datetimeFigureOut">
              <a:rPr lang="en-US" smtClean="0"/>
              <a:t>7/8/2026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4881ED-8B56-4F3A-B7C8-BF3376E5B8F4}" type="slidenum">
              <a:rPr lang="en-US" smtClean="0"/>
              <a:t>‹#›</a:t>
            </a:fld>
            <a:endParaRPr lang="en-US"/>
          </a:p>
        </p:txBody>
      </p:sp>
    </p:spTree>
    <p:extLst>
      <p:ext uri="{BB962C8B-B14F-4D97-AF65-F5344CB8AC3E}">
        <p14:creationId xmlns:p14="http://schemas.microsoft.com/office/powerpoint/2010/main" val="419849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3E482CB-BE0E-45A2-A8F9-AF0B7F554A3D}"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792268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482CB-BE0E-45A2-A8F9-AF0B7F554A3D}"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987213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E482CB-BE0E-45A2-A8F9-AF0B7F554A3D}"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1344537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3E482CB-BE0E-45A2-A8F9-AF0B7F554A3D}"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913192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3E482CB-BE0E-45A2-A8F9-AF0B7F554A3D}" type="datetimeFigureOut">
              <a:rPr lang="en-US" smtClean="0"/>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4190043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3E482CB-BE0E-45A2-A8F9-AF0B7F554A3D}" type="datetimeFigureOut">
              <a:rPr lang="en-US" smtClean="0"/>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925899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E482CB-BE0E-45A2-A8F9-AF0B7F554A3D}" type="datetimeFigureOut">
              <a:rPr lang="en-US" smtClean="0"/>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8766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2622874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45753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482CB-BE0E-45A2-A8F9-AF0B7F554A3D}"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3645177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482CB-BE0E-45A2-A8F9-AF0B7F554A3D}"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a:p>
        </p:txBody>
      </p:sp>
    </p:spTree>
    <p:extLst>
      <p:ext uri="{BB962C8B-B14F-4D97-AF65-F5344CB8AC3E}">
        <p14:creationId xmlns:p14="http://schemas.microsoft.com/office/powerpoint/2010/main" val="2315667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482CB-BE0E-45A2-A8F9-AF0B7F554A3D}" type="datetimeFigureOut">
              <a:rPr lang="en-US" smtClean="0"/>
              <a:t>7/8/2026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2E4543-BE62-4DF3-B067-5185159305E6}" type="slidenum">
              <a:rPr lang="en-US" smtClean="0"/>
              <a:t>‹#›</a:t>
            </a:fld>
            <a:endParaRPr lang="en-US"/>
          </a:p>
        </p:txBody>
      </p:sp>
    </p:spTree>
    <p:extLst>
      <p:ext uri="{BB962C8B-B14F-4D97-AF65-F5344CB8AC3E}">
        <p14:creationId xmlns:p14="http://schemas.microsoft.com/office/powerpoint/2010/main" val="3297116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64208" y="2017699"/>
            <a:ext cx="9153144" cy="2308324"/>
          </a:xfrm>
          <a:prstGeom prst="rect">
            <a:avLst/>
          </a:prstGeom>
        </p:spPr>
        <p:txBody>
          <a:bodyPr wrap="square">
            <a:spAutoFit/>
          </a:bodyPr>
          <a:lstStyle/>
          <a:p>
            <a:pPr algn="ctr"/>
            <a:r>
              <a:rPr lang="en-US" sz="4800" b="1" spc="150" dirty="0">
                <a:solidFill>
                  <a:srgbClr val="002060"/>
                </a:solidFill>
                <a:effectLst>
                  <a:outerShdw blurRad="38100" dist="38100" dir="2700000" algn="tl">
                    <a:srgbClr val="000000">
                      <a:alpha val="43137"/>
                    </a:srgbClr>
                  </a:outerShdw>
                </a:effectLst>
              </a:rPr>
              <a:t>Preprocessing</a:t>
            </a:r>
          </a:p>
          <a:p>
            <a:endParaRPr lang="en-US" sz="2400" b="1" spc="150" dirty="0">
              <a:solidFill>
                <a:srgbClr val="002060"/>
              </a:solidFill>
              <a:effectLst>
                <a:outerShdw blurRad="38100" dist="38100" dir="2700000" algn="tl">
                  <a:srgbClr val="000000">
                    <a:alpha val="43137"/>
                  </a:srgbClr>
                </a:outerShdw>
              </a:effectLst>
            </a:endParaRPr>
          </a:p>
          <a:p>
            <a:r>
              <a:rPr lang="en-US" sz="2400" b="1" spc="150" dirty="0">
                <a:solidFill>
                  <a:srgbClr val="002060"/>
                </a:solidFill>
                <a:effectLst>
                  <a:outerShdw blurRad="38100" dist="38100" dir="2700000" algn="tl">
                    <a:srgbClr val="000000">
                      <a:alpha val="43137"/>
                    </a:srgbClr>
                  </a:outerShdw>
                </a:effectLst>
              </a:rPr>
              <a:t>                                          - data cleaning (basic done)</a:t>
            </a:r>
          </a:p>
          <a:p>
            <a:r>
              <a:rPr lang="en-US" sz="2400" b="1" spc="150" dirty="0">
                <a:solidFill>
                  <a:srgbClr val="002060"/>
                </a:solidFill>
                <a:effectLst>
                  <a:outerShdw blurRad="38100" dist="38100" dir="2700000" algn="tl">
                    <a:srgbClr val="000000">
                      <a:alpha val="43137"/>
                    </a:srgbClr>
                  </a:outerShdw>
                </a:effectLst>
              </a:rPr>
              <a:t>                                          - </a:t>
            </a:r>
            <a:r>
              <a:rPr lang="en-US" sz="2400" b="1" spc="150" dirty="0">
                <a:solidFill>
                  <a:srgbClr val="FF0000"/>
                </a:solidFill>
                <a:effectLst>
                  <a:outerShdw blurRad="38100" dist="38100" dir="2700000" algn="tl">
                    <a:srgbClr val="000000">
                      <a:alpha val="43137"/>
                    </a:srgbClr>
                  </a:outerShdw>
                </a:effectLst>
              </a:rPr>
              <a:t>train/test data</a:t>
            </a:r>
          </a:p>
          <a:p>
            <a:endParaRPr lang="en-US" sz="2400" b="1" spc="15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89548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1520" y="767185"/>
            <a:ext cx="10799064" cy="5201424"/>
          </a:xfrm>
          <a:prstGeom prst="rect">
            <a:avLst/>
          </a:prstGeom>
        </p:spPr>
        <p:txBody>
          <a:bodyPr wrap="square">
            <a:spAutoFit/>
          </a:bodyPr>
          <a:lstStyle/>
          <a:p>
            <a:pPr algn="ctr"/>
            <a:r>
              <a:rPr lang="en-US" sz="3200" b="1" dirty="0">
                <a:solidFill>
                  <a:srgbClr val="FF0000"/>
                </a:solidFill>
                <a:effectLst>
                  <a:outerShdw blurRad="38100" dist="38100" dir="2700000" algn="tl">
                    <a:srgbClr val="000000">
                      <a:alpha val="43137"/>
                    </a:srgbClr>
                  </a:outerShdw>
                </a:effectLst>
              </a:rPr>
              <a:t>Train and Test datasets in Machine Learning</a:t>
            </a:r>
          </a:p>
          <a:p>
            <a:pPr algn="just"/>
            <a:endParaRPr lang="en-US" sz="1200" dirty="0"/>
          </a:p>
          <a:p>
            <a:pPr algn="just"/>
            <a:r>
              <a:rPr lang="en-US" sz="2400" dirty="0"/>
              <a:t>Machine Learning is one of the booming technologies across the world that enables computers/machines to turn a huge amount of data into predictions. However, these predictions highly depend on the </a:t>
            </a:r>
            <a:r>
              <a:rPr lang="en-US" sz="2400" b="1" u="sng" dirty="0"/>
              <a:t>quality of the data</a:t>
            </a:r>
            <a:r>
              <a:rPr lang="en-US" sz="2400" dirty="0"/>
              <a:t>, and if one is not using the right data for their model, then it will not generate the expected result.</a:t>
            </a:r>
          </a:p>
          <a:p>
            <a:pPr algn="just"/>
            <a:endParaRPr lang="en-US" sz="1200" dirty="0"/>
          </a:p>
          <a:p>
            <a:pPr algn="just"/>
            <a:r>
              <a:rPr lang="en-US" sz="2400" dirty="0"/>
              <a:t>In machine learning projects, generally divide the </a:t>
            </a:r>
            <a:r>
              <a:rPr lang="en-US" sz="2400" b="1" u="sng" dirty="0"/>
              <a:t>original dataset </a:t>
            </a:r>
            <a:r>
              <a:rPr lang="en-US" sz="2400" dirty="0"/>
              <a:t>into </a:t>
            </a:r>
            <a:r>
              <a:rPr lang="en-US" sz="2400" b="1" dirty="0">
                <a:solidFill>
                  <a:srgbClr val="FF0000"/>
                </a:solidFill>
              </a:rPr>
              <a:t>training data</a:t>
            </a:r>
            <a:r>
              <a:rPr lang="en-US" sz="2400" dirty="0"/>
              <a:t> and </a:t>
            </a:r>
            <a:r>
              <a:rPr lang="en-US" sz="2400" b="1" dirty="0">
                <a:solidFill>
                  <a:srgbClr val="7030A0"/>
                </a:solidFill>
              </a:rPr>
              <a:t>test data</a:t>
            </a:r>
            <a:r>
              <a:rPr lang="en-US" sz="2400" dirty="0"/>
              <a:t>. One will train their model </a:t>
            </a:r>
            <a:r>
              <a:rPr lang="en-US" sz="2400" b="1" i="1" u="sng" dirty="0"/>
              <a:t>over a subset of the original dataset</a:t>
            </a:r>
            <a:r>
              <a:rPr lang="en-US" sz="2400" dirty="0"/>
              <a:t>, i.e., the training dataset, and then evaluate whether it can generalize well to </a:t>
            </a:r>
            <a:r>
              <a:rPr lang="en-US" sz="2400" b="1" i="1" u="sng" dirty="0">
                <a:solidFill>
                  <a:srgbClr val="7030A0"/>
                </a:solidFill>
                <a:effectLst>
                  <a:outerShdw blurRad="38100" dist="38100" dir="2700000" algn="tl">
                    <a:srgbClr val="000000">
                      <a:alpha val="43137"/>
                    </a:srgbClr>
                  </a:outerShdw>
                </a:effectLst>
                <a:latin typeface="Georgia" panose="02040502050405020303" pitchFamily="18" charset="0"/>
              </a:rPr>
              <a:t>the new or unseen dataset or test set</a:t>
            </a:r>
            <a:r>
              <a:rPr lang="en-US" sz="2400" i="1" u="sng" dirty="0">
                <a:effectLst>
                  <a:outerShdw blurRad="38100" dist="38100" dir="2700000" algn="tl">
                    <a:srgbClr val="000000">
                      <a:alpha val="43137"/>
                    </a:srgbClr>
                  </a:outerShdw>
                </a:effectLst>
                <a:latin typeface="Georgia" panose="02040502050405020303" pitchFamily="18" charset="0"/>
              </a:rPr>
              <a:t>. </a:t>
            </a:r>
          </a:p>
          <a:p>
            <a:pPr algn="just"/>
            <a:endParaRPr lang="en-US" sz="1200" b="1" i="1" dirty="0"/>
          </a:p>
          <a:p>
            <a:pPr algn="just"/>
            <a:r>
              <a:rPr lang="en-US" sz="2400" b="1" i="1" dirty="0"/>
              <a:t>Therefore, train and test datasets are the two key concepts of machine learning, where the </a:t>
            </a:r>
            <a:r>
              <a:rPr lang="en-US" sz="2400" b="1" i="1" dirty="0">
                <a:solidFill>
                  <a:srgbClr val="C00000"/>
                </a:solidFill>
              </a:rPr>
              <a:t>training dataset is used to fit the model</a:t>
            </a:r>
            <a:r>
              <a:rPr lang="en-US" sz="2400" b="1" i="1" dirty="0"/>
              <a:t>, and </a:t>
            </a:r>
            <a:r>
              <a:rPr lang="en-US" sz="2400" b="1" i="1" dirty="0">
                <a:solidFill>
                  <a:srgbClr val="7030A0"/>
                </a:solidFill>
              </a:rPr>
              <a:t>the test dataset is used to evaluate the model</a:t>
            </a:r>
            <a:r>
              <a:rPr lang="en-US" sz="2400" dirty="0"/>
              <a:t>.</a:t>
            </a:r>
          </a:p>
        </p:txBody>
      </p:sp>
    </p:spTree>
    <p:extLst>
      <p:ext uri="{BB962C8B-B14F-4D97-AF65-F5344CB8AC3E}">
        <p14:creationId xmlns:p14="http://schemas.microsoft.com/office/powerpoint/2010/main" val="4101722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7592" y="899220"/>
            <a:ext cx="9573768" cy="5201424"/>
          </a:xfrm>
          <a:prstGeom prst="rect">
            <a:avLst/>
          </a:prstGeom>
        </p:spPr>
        <p:txBody>
          <a:bodyPr wrap="square">
            <a:spAutoFit/>
          </a:bodyPr>
          <a:lstStyle/>
          <a:p>
            <a:pPr algn="just"/>
            <a:r>
              <a:rPr lang="en-US" sz="3200" b="1" dirty="0">
                <a:solidFill>
                  <a:srgbClr val="C00000"/>
                </a:solidFill>
              </a:rPr>
              <a:t>Training data </a:t>
            </a:r>
          </a:p>
          <a:p>
            <a:pPr algn="just"/>
            <a:r>
              <a:rPr lang="en-US" sz="2400" dirty="0"/>
              <a:t>Training data is used to train the machine learning model. Training data is the power that supplies the model in machine learning, </a:t>
            </a:r>
            <a:r>
              <a:rPr lang="en-US" sz="2400" b="1" i="1" dirty="0">
                <a:solidFill>
                  <a:srgbClr val="FF0000"/>
                </a:solidFill>
                <a:effectLst>
                  <a:outerShdw blurRad="38100" dist="38100" dir="2700000" algn="tl">
                    <a:srgbClr val="000000">
                      <a:alpha val="43137"/>
                    </a:srgbClr>
                  </a:outerShdw>
                </a:effectLst>
              </a:rPr>
              <a:t>it is larger than testing data</a:t>
            </a:r>
            <a:r>
              <a:rPr lang="en-US" sz="2400" dirty="0"/>
              <a:t>. Because </a:t>
            </a:r>
            <a:r>
              <a:rPr lang="en-US" sz="2400" b="1" u="sng" dirty="0"/>
              <a:t>more data helps to more effective predictive models</a:t>
            </a:r>
            <a:r>
              <a:rPr lang="en-US" sz="2400" dirty="0"/>
              <a:t>. </a:t>
            </a:r>
          </a:p>
          <a:p>
            <a:pPr algn="just"/>
            <a:endParaRPr lang="en-US" sz="1200" dirty="0"/>
          </a:p>
          <a:p>
            <a:pPr algn="just"/>
            <a:r>
              <a:rPr lang="en-US" sz="2400" dirty="0"/>
              <a:t>When a </a:t>
            </a:r>
            <a:r>
              <a:rPr lang="en-US" sz="2400" b="1" dirty="0">
                <a:effectLst>
                  <a:outerShdw blurRad="38100" dist="38100" dir="2700000" algn="tl">
                    <a:srgbClr val="000000">
                      <a:alpha val="43137"/>
                    </a:srgbClr>
                  </a:outerShdw>
                </a:effectLst>
              </a:rPr>
              <a:t>machine learning algorithm receives data from the records</a:t>
            </a:r>
            <a:r>
              <a:rPr lang="en-US" sz="2400" dirty="0"/>
              <a:t>, it </a:t>
            </a:r>
            <a:r>
              <a:rPr lang="en-US" sz="2400" u="sng" dirty="0">
                <a:solidFill>
                  <a:srgbClr val="FF0000"/>
                </a:solidFill>
                <a:effectLst>
                  <a:outerShdw blurRad="38100" dist="38100" dir="2700000" algn="tl">
                    <a:srgbClr val="000000">
                      <a:alpha val="43137"/>
                    </a:srgbClr>
                  </a:outerShdw>
                </a:effectLst>
              </a:rPr>
              <a:t>recognizes patterns and creates a decision-making model</a:t>
            </a:r>
            <a:r>
              <a:rPr lang="en-US" sz="2400" dirty="0"/>
              <a:t>.</a:t>
            </a:r>
          </a:p>
          <a:p>
            <a:pPr algn="just"/>
            <a:endParaRPr lang="en-US" sz="1200" dirty="0"/>
          </a:p>
          <a:p>
            <a:pPr algn="just"/>
            <a:r>
              <a:rPr lang="en-US" sz="2400" dirty="0"/>
              <a:t>Algorithms allow a company’s past experience to be used to make decisions. It analyzes all previous cases and their results and, using this data creates models to score and predict the outcome of current cases. The more data ML models have access to, the more reliable their predictions get over time.</a:t>
            </a:r>
            <a:endParaRPr lang="en-US" sz="2400" dirty="0">
              <a:effectLst/>
            </a:endParaRPr>
          </a:p>
        </p:txBody>
      </p:sp>
    </p:spTree>
    <p:extLst>
      <p:ext uri="{BB962C8B-B14F-4D97-AF65-F5344CB8AC3E}">
        <p14:creationId xmlns:p14="http://schemas.microsoft.com/office/powerpoint/2010/main" val="681126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1248" y="866895"/>
            <a:ext cx="4855464" cy="5262979"/>
          </a:xfrm>
          <a:prstGeom prst="rect">
            <a:avLst/>
          </a:prstGeom>
        </p:spPr>
        <p:txBody>
          <a:bodyPr wrap="square">
            <a:spAutoFit/>
          </a:bodyPr>
          <a:lstStyle/>
          <a:p>
            <a:pPr algn="just"/>
            <a:r>
              <a:rPr lang="en-US" sz="2400" b="1" dirty="0">
                <a:solidFill>
                  <a:srgbClr val="C00000"/>
                </a:solidFill>
              </a:rPr>
              <a:t>Training data consists of </a:t>
            </a:r>
            <a:r>
              <a:rPr lang="en-US" sz="2400" b="1" dirty="0">
                <a:solidFill>
                  <a:schemeClr val="accent1">
                    <a:lumMod val="75000"/>
                  </a:schemeClr>
                </a:solidFill>
                <a:effectLst>
                  <a:outerShdw blurRad="38100" dist="38100" dir="2700000" algn="tl">
                    <a:srgbClr val="000000">
                      <a:alpha val="43137"/>
                    </a:srgbClr>
                  </a:outerShdw>
                </a:effectLst>
              </a:rPr>
              <a:t>input-output pairs</a:t>
            </a:r>
            <a:r>
              <a:rPr lang="en-US" sz="2400" b="1" dirty="0">
                <a:solidFill>
                  <a:srgbClr val="C00000"/>
                </a:solidFill>
              </a:rPr>
              <a:t>, where the input, known as “</a:t>
            </a:r>
            <a:r>
              <a:rPr lang="en-US" sz="2400" b="1" dirty="0">
                <a:solidFill>
                  <a:schemeClr val="accent2">
                    <a:lumMod val="75000"/>
                  </a:schemeClr>
                </a:solidFill>
                <a:effectLst>
                  <a:outerShdw blurRad="38100" dist="38100" dir="2700000" algn="tl">
                    <a:srgbClr val="000000">
                      <a:alpha val="43137"/>
                    </a:srgbClr>
                  </a:outerShdw>
                </a:effectLst>
              </a:rPr>
              <a:t>features” or “predictors</a:t>
            </a:r>
            <a:r>
              <a:rPr lang="en-US" sz="2400" b="1" dirty="0">
                <a:solidFill>
                  <a:srgbClr val="C00000"/>
                </a:solidFill>
              </a:rPr>
              <a:t>”, is matched with an </a:t>
            </a:r>
            <a:r>
              <a:rPr lang="en-US" sz="2400" b="1" dirty="0">
                <a:solidFill>
                  <a:schemeClr val="accent6">
                    <a:lumMod val="75000"/>
                  </a:schemeClr>
                </a:solidFill>
                <a:effectLst>
                  <a:outerShdw blurRad="38100" dist="38100" dir="2700000" algn="tl">
                    <a:srgbClr val="000000">
                      <a:alpha val="43137"/>
                    </a:srgbClr>
                  </a:outerShdw>
                </a:effectLst>
              </a:rPr>
              <a:t>output referred to as a “label” or “target</a:t>
            </a:r>
            <a:r>
              <a:rPr lang="en-US" sz="2400" b="1" dirty="0">
                <a:solidFill>
                  <a:srgbClr val="C00000"/>
                </a:solidFill>
              </a:rPr>
              <a:t>.” </a:t>
            </a:r>
          </a:p>
          <a:p>
            <a:pPr algn="just"/>
            <a:endParaRPr lang="en-US" sz="1200" b="1" dirty="0">
              <a:solidFill>
                <a:srgbClr val="C00000"/>
              </a:solidFill>
            </a:endParaRPr>
          </a:p>
          <a:p>
            <a:pPr algn="just"/>
            <a:r>
              <a:rPr lang="en-US" sz="2400" dirty="0"/>
              <a:t>These datasets contain various types of information – from images and text to numerical values and sensor readings. </a:t>
            </a:r>
          </a:p>
          <a:p>
            <a:pPr algn="just"/>
            <a:endParaRPr lang="en-US" sz="1200" dirty="0"/>
          </a:p>
          <a:p>
            <a:pPr algn="just"/>
            <a:r>
              <a:rPr lang="en-US" sz="2400" dirty="0"/>
              <a:t>For instance, in image classification, training data contains images paired with labels that describe objects or scenes depicted in the pictures.</a:t>
            </a:r>
          </a:p>
        </p:txBody>
      </p:sp>
      <p:pic>
        <p:nvPicPr>
          <p:cNvPr id="3" name="Picture 2"/>
          <p:cNvPicPr>
            <a:picLocks noChangeAspect="1"/>
          </p:cNvPicPr>
          <p:nvPr/>
        </p:nvPicPr>
        <p:blipFill>
          <a:blip r:embed="rId2"/>
          <a:stretch>
            <a:fillRect/>
          </a:stretch>
        </p:blipFill>
        <p:spPr>
          <a:xfrm>
            <a:off x="6068860" y="736896"/>
            <a:ext cx="5567139" cy="5394960"/>
          </a:xfrm>
          <a:prstGeom prst="rect">
            <a:avLst/>
          </a:prstGeom>
        </p:spPr>
      </p:pic>
    </p:spTree>
    <p:extLst>
      <p:ext uri="{BB962C8B-B14F-4D97-AF65-F5344CB8AC3E}">
        <p14:creationId xmlns:p14="http://schemas.microsoft.com/office/powerpoint/2010/main" val="3274482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0560" y="419713"/>
            <a:ext cx="7037832" cy="6001643"/>
          </a:xfrm>
          <a:prstGeom prst="rect">
            <a:avLst/>
          </a:prstGeom>
        </p:spPr>
        <p:txBody>
          <a:bodyPr wrap="square">
            <a:spAutoFit/>
          </a:bodyPr>
          <a:lstStyle/>
          <a:p>
            <a:pPr algn="just"/>
            <a:r>
              <a:rPr lang="en-US" sz="2400" b="1" dirty="0"/>
              <a:t>How is training data employed to teach ML and AI models?</a:t>
            </a:r>
          </a:p>
          <a:p>
            <a:pPr algn="just"/>
            <a:r>
              <a:rPr lang="en-US" sz="2400" dirty="0"/>
              <a:t>Machine learning algorithms use training data to learn to analyze patterns within the datasets and improve their understanding of real-world situations. Throughout this process, </a:t>
            </a:r>
            <a:r>
              <a:rPr lang="en-US" sz="2400" b="1" dirty="0">
                <a:solidFill>
                  <a:srgbClr val="C00000"/>
                </a:solidFill>
              </a:rPr>
              <a:t>the algorithm adjusts its parameters to minimize the gap between its predictions and the actual labels in the training data</a:t>
            </a:r>
            <a:r>
              <a:rPr lang="en-US" sz="2400" dirty="0"/>
              <a:t>. </a:t>
            </a:r>
          </a:p>
          <a:p>
            <a:pPr algn="just"/>
            <a:endParaRPr lang="en-US" sz="1200" dirty="0"/>
          </a:p>
          <a:p>
            <a:pPr algn="just"/>
            <a:r>
              <a:rPr lang="en-US" sz="2400" b="1" dirty="0">
                <a:solidFill>
                  <a:schemeClr val="accent6">
                    <a:lumMod val="75000"/>
                  </a:schemeClr>
                </a:solidFill>
                <a:effectLst>
                  <a:outerShdw blurRad="38100" dist="38100" dir="2700000" algn="tl">
                    <a:srgbClr val="000000">
                      <a:alpha val="43137"/>
                    </a:srgbClr>
                  </a:outerShdw>
                </a:effectLst>
              </a:rPr>
              <a:t>This continuous process enhances the model’s accuracy in making predictions</a:t>
            </a:r>
            <a:r>
              <a:rPr lang="en-US" sz="2400" dirty="0"/>
              <a:t>. As the algorithm dives deeper into the dataset’s specifics, it gradually builds a representation of the underlying patterns. The purpose of training is to equip the system with the ability to apply its knowledge to new data, allowing it to predict or classify instances it hasn’t encountered before. </a:t>
            </a:r>
          </a:p>
        </p:txBody>
      </p:sp>
      <p:pic>
        <p:nvPicPr>
          <p:cNvPr id="3" name="Picture 2"/>
          <p:cNvPicPr>
            <a:picLocks noChangeAspect="1"/>
          </p:cNvPicPr>
          <p:nvPr/>
        </p:nvPicPr>
        <p:blipFill>
          <a:blip r:embed="rId2"/>
          <a:stretch>
            <a:fillRect/>
          </a:stretch>
        </p:blipFill>
        <p:spPr>
          <a:xfrm>
            <a:off x="8009816" y="1545243"/>
            <a:ext cx="3657600" cy="3750581"/>
          </a:xfrm>
          <a:prstGeom prst="rect">
            <a:avLst/>
          </a:prstGeom>
        </p:spPr>
      </p:pic>
      <p:sp>
        <p:nvSpPr>
          <p:cNvPr id="4" name="Rectangle 3"/>
          <p:cNvSpPr/>
          <p:nvPr/>
        </p:nvSpPr>
        <p:spPr>
          <a:xfrm>
            <a:off x="9144000" y="2862072"/>
            <a:ext cx="530352" cy="3749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0003208" y="2868168"/>
            <a:ext cx="530352" cy="3749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3861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5336" y="1719733"/>
            <a:ext cx="9134856" cy="3293209"/>
          </a:xfrm>
          <a:prstGeom prst="rect">
            <a:avLst/>
          </a:prstGeom>
        </p:spPr>
        <p:txBody>
          <a:bodyPr wrap="square">
            <a:spAutoFit/>
          </a:bodyPr>
          <a:lstStyle/>
          <a:p>
            <a:pPr algn="just"/>
            <a:r>
              <a:rPr lang="en-US" sz="2800" dirty="0"/>
              <a:t>In essence, training data shapes algorithms by providing them with knowledge and insights needed to handle complexities in real-world data. </a:t>
            </a:r>
          </a:p>
          <a:p>
            <a:pPr algn="just"/>
            <a:endParaRPr lang="en-US" sz="1200" dirty="0"/>
          </a:p>
          <a:p>
            <a:pPr algn="just"/>
            <a:r>
              <a:rPr lang="en-US" sz="2800" b="1" dirty="0">
                <a:solidFill>
                  <a:srgbClr val="C00000"/>
                </a:solidFill>
                <a:effectLst>
                  <a:outerShdw blurRad="38100" dist="38100" dir="2700000" algn="tl">
                    <a:srgbClr val="000000">
                      <a:alpha val="43137"/>
                    </a:srgbClr>
                  </a:outerShdw>
                </a:effectLst>
              </a:rPr>
              <a:t>Without an accurate and representative training dataset, machine learning models may be susceptible to biases and oversights</a:t>
            </a:r>
            <a:r>
              <a:rPr lang="en-US" sz="2800" dirty="0"/>
              <a:t> that could restrict their capacity to generalize to unfamiliar examples.</a:t>
            </a:r>
          </a:p>
        </p:txBody>
      </p:sp>
    </p:spTree>
    <p:extLst>
      <p:ext uri="{BB962C8B-B14F-4D97-AF65-F5344CB8AC3E}">
        <p14:creationId xmlns:p14="http://schemas.microsoft.com/office/powerpoint/2010/main" val="1291871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34440" y="706088"/>
            <a:ext cx="9738360" cy="5570756"/>
          </a:xfrm>
          <a:prstGeom prst="rect">
            <a:avLst/>
          </a:prstGeom>
        </p:spPr>
        <p:txBody>
          <a:bodyPr wrap="square">
            <a:spAutoFit/>
          </a:bodyPr>
          <a:lstStyle/>
          <a:p>
            <a:pPr algn="ctr">
              <a:lnSpc>
                <a:spcPct val="150000"/>
              </a:lnSpc>
            </a:pPr>
            <a:r>
              <a:rPr lang="en-US" sz="3200" b="1" dirty="0">
                <a:solidFill>
                  <a:schemeClr val="accent6">
                    <a:lumMod val="50000"/>
                  </a:schemeClr>
                </a:solidFill>
                <a:effectLst>
                  <a:outerShdw blurRad="38100" dist="38100" dir="2700000" algn="tl">
                    <a:srgbClr val="000000">
                      <a:alpha val="43137"/>
                    </a:srgbClr>
                  </a:outerShdw>
                </a:effectLst>
              </a:rPr>
              <a:t>Types of Training Data</a:t>
            </a:r>
          </a:p>
          <a:p>
            <a:pPr algn="just">
              <a:lnSpc>
                <a:spcPct val="150000"/>
              </a:lnSpc>
            </a:pPr>
            <a:r>
              <a:rPr lang="en-US" sz="2800" dirty="0"/>
              <a:t>Training data comes in different forms – each has its own distinctive characteristics and applications. </a:t>
            </a:r>
          </a:p>
          <a:p>
            <a:pPr algn="just">
              <a:lnSpc>
                <a:spcPct val="200000"/>
              </a:lnSpc>
            </a:pPr>
            <a:r>
              <a:rPr lang="en-US" sz="2800" dirty="0"/>
              <a:t>Let’s explore the three main training data types: </a:t>
            </a:r>
          </a:p>
          <a:p>
            <a:pPr algn="just">
              <a:lnSpc>
                <a:spcPct val="200000"/>
              </a:lnSpc>
            </a:pPr>
            <a:r>
              <a:rPr lang="en-US" sz="2800" dirty="0"/>
              <a:t>   - structured, </a:t>
            </a:r>
          </a:p>
          <a:p>
            <a:pPr algn="just">
              <a:lnSpc>
                <a:spcPct val="200000"/>
              </a:lnSpc>
            </a:pPr>
            <a:r>
              <a:rPr lang="en-US" sz="2800" dirty="0"/>
              <a:t>   - unstructured, and </a:t>
            </a:r>
          </a:p>
          <a:p>
            <a:pPr algn="just">
              <a:lnSpc>
                <a:spcPct val="200000"/>
              </a:lnSpc>
            </a:pPr>
            <a:r>
              <a:rPr lang="en-US" sz="2800" dirty="0"/>
              <a:t>   - semi-structured.</a:t>
            </a:r>
          </a:p>
        </p:txBody>
      </p:sp>
    </p:spTree>
    <p:extLst>
      <p:ext uri="{BB962C8B-B14F-4D97-AF65-F5344CB8AC3E}">
        <p14:creationId xmlns:p14="http://schemas.microsoft.com/office/powerpoint/2010/main" val="644505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3504" y="643188"/>
            <a:ext cx="6675120" cy="5794188"/>
          </a:xfrm>
          <a:prstGeom prst="rect">
            <a:avLst/>
          </a:prstGeom>
        </p:spPr>
        <p:txBody>
          <a:bodyPr wrap="square">
            <a:spAutoFit/>
          </a:bodyPr>
          <a:lstStyle/>
          <a:p>
            <a:pPr algn="just"/>
            <a:r>
              <a:rPr lang="en-US" sz="2800" b="1" dirty="0"/>
              <a:t>Structured data</a:t>
            </a:r>
          </a:p>
          <a:p>
            <a:pPr algn="just"/>
            <a:endParaRPr lang="en-US" sz="1200" dirty="0"/>
          </a:p>
          <a:p>
            <a:pPr algn="just"/>
            <a:r>
              <a:rPr lang="en-US" sz="2400" dirty="0"/>
              <a:t>Structured data is typically arranged in a specific format – </a:t>
            </a:r>
            <a:r>
              <a:rPr lang="en-US" sz="2400" b="1" u="sng" dirty="0">
                <a:solidFill>
                  <a:srgbClr val="C00000"/>
                </a:solidFill>
                <a:effectLst>
                  <a:outerShdw blurRad="38100" dist="38100" dir="2700000" algn="tl">
                    <a:srgbClr val="000000">
                      <a:alpha val="43137"/>
                    </a:srgbClr>
                  </a:outerShdw>
                </a:effectLst>
              </a:rPr>
              <a:t>usually in columns and rows – to aid ML learning models </a:t>
            </a:r>
            <a:r>
              <a:rPr lang="en-US" sz="2400" dirty="0"/>
              <a:t>in data processing and analysis. This type of training data adheres to a defined structure outlined by a schema, making it easy for machines to organize and analyze data. </a:t>
            </a:r>
          </a:p>
          <a:p>
            <a:pPr algn="just"/>
            <a:endParaRPr lang="en-US" sz="1200" dirty="0"/>
          </a:p>
          <a:p>
            <a:pPr algn="just"/>
            <a:r>
              <a:rPr lang="en-US" sz="2400" b="1" dirty="0">
                <a:solidFill>
                  <a:srgbClr val="C00000"/>
                </a:solidFill>
                <a:effectLst>
                  <a:outerShdw blurRad="38100" dist="38100" dir="2700000" algn="tl">
                    <a:srgbClr val="000000">
                      <a:alpha val="43137"/>
                    </a:srgbClr>
                  </a:outerShdw>
                </a:effectLst>
              </a:rPr>
              <a:t>Some basic examples of structured data include databases, spreadsheets, and tables. </a:t>
            </a:r>
          </a:p>
          <a:p>
            <a:pPr algn="just"/>
            <a:r>
              <a:rPr lang="en-US" sz="2400" dirty="0"/>
              <a:t>Imagine an Excel spreadsheet with rows and columns filled with numbers or a database that stores customer information neatly categorized by name, address, and phone number – that’s structured training data.</a:t>
            </a:r>
          </a:p>
        </p:txBody>
      </p:sp>
      <p:pic>
        <p:nvPicPr>
          <p:cNvPr id="3" name="Picture 2"/>
          <p:cNvPicPr>
            <a:picLocks noChangeAspect="1"/>
          </p:cNvPicPr>
          <p:nvPr/>
        </p:nvPicPr>
        <p:blipFill>
          <a:blip r:embed="rId2"/>
          <a:stretch>
            <a:fillRect/>
          </a:stretch>
        </p:blipFill>
        <p:spPr>
          <a:xfrm>
            <a:off x="7378446" y="1544955"/>
            <a:ext cx="4572000" cy="3732512"/>
          </a:xfrm>
          <a:prstGeom prst="rect">
            <a:avLst/>
          </a:prstGeom>
        </p:spPr>
      </p:pic>
      <p:sp>
        <p:nvSpPr>
          <p:cNvPr id="4" name="Rectangle 3"/>
          <p:cNvSpPr/>
          <p:nvPr/>
        </p:nvSpPr>
        <p:spPr>
          <a:xfrm>
            <a:off x="7946136" y="1929384"/>
            <a:ext cx="932688" cy="173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0485120" y="1929384"/>
            <a:ext cx="932688" cy="173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36280" y="4696968"/>
            <a:ext cx="932688" cy="173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0823448" y="4715256"/>
            <a:ext cx="932688" cy="173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6641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4088" y="225243"/>
            <a:ext cx="10853928" cy="6186309"/>
          </a:xfrm>
          <a:prstGeom prst="rect">
            <a:avLst/>
          </a:prstGeom>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rPr>
              <a:t>Sources</a:t>
            </a:r>
          </a:p>
          <a:p>
            <a:pPr algn="just"/>
            <a:r>
              <a:rPr lang="en-US" sz="2400" b="1" u="sng" dirty="0">
                <a:solidFill>
                  <a:schemeClr val="accent6">
                    <a:lumMod val="50000"/>
                  </a:schemeClr>
                </a:solidFill>
                <a:effectLst>
                  <a:outerShdw blurRad="38100" dist="38100" dir="2700000" algn="tl">
                    <a:srgbClr val="000000">
                      <a:alpha val="43137"/>
                    </a:srgbClr>
                  </a:outerShdw>
                </a:effectLst>
              </a:rPr>
              <a:t>Common sources of structured datasets</a:t>
            </a:r>
            <a:r>
              <a:rPr lang="en-US" sz="2400" dirty="0"/>
              <a:t> include databases, customer relationship management (CRM) systems, and financial records. These sources provide data for training machine learning models in tasks such as predictive analytics, customer segmentation, and fraud detection. </a:t>
            </a:r>
          </a:p>
          <a:p>
            <a:pPr algn="just"/>
            <a:endParaRPr lang="en-US" sz="800" dirty="0"/>
          </a:p>
          <a:p>
            <a:pPr algn="just"/>
            <a:r>
              <a:rPr lang="en-US" sz="2400" b="1" u="sng" dirty="0">
                <a:solidFill>
                  <a:schemeClr val="accent6">
                    <a:lumMod val="50000"/>
                  </a:schemeClr>
                </a:solidFill>
                <a:effectLst>
                  <a:outerShdw blurRad="38100" dist="38100" dir="2700000" algn="tl">
                    <a:srgbClr val="000000">
                      <a:alpha val="43137"/>
                    </a:srgbClr>
                  </a:outerShdw>
                </a:effectLst>
              </a:rPr>
              <a:t>Other sources of this data are</a:t>
            </a:r>
            <a:r>
              <a:rPr lang="en-US" sz="2400" dirty="0"/>
              <a:t> APIs, Web Services (like JSON or XML), and Internet of Things (</a:t>
            </a:r>
            <a:r>
              <a:rPr lang="en-US" sz="2400" dirty="0" err="1"/>
              <a:t>IoT</a:t>
            </a:r>
            <a:r>
              <a:rPr lang="en-US" sz="2400" dirty="0"/>
              <a:t>) Devices that generate data in specific formats suitable for analysis across various fields (smart homes, healthcare, and industrial automation).</a:t>
            </a:r>
          </a:p>
          <a:p>
            <a:pPr algn="just"/>
            <a:endParaRPr lang="en-US" sz="1200" dirty="0"/>
          </a:p>
          <a:p>
            <a:pPr algn="just"/>
            <a:r>
              <a:rPr lang="en-US" sz="3200" b="1" dirty="0">
                <a:solidFill>
                  <a:srgbClr val="7030A0"/>
                </a:solidFill>
                <a:effectLst>
                  <a:outerShdw blurRad="38100" dist="38100" dir="2700000" algn="tl">
                    <a:srgbClr val="000000">
                      <a:alpha val="43137"/>
                    </a:srgbClr>
                  </a:outerShdw>
                </a:effectLst>
              </a:rPr>
              <a:t>Applications</a:t>
            </a:r>
          </a:p>
          <a:p>
            <a:r>
              <a:rPr lang="en-US" sz="2400" b="1" i="1" dirty="0">
                <a:effectLst>
                  <a:outerShdw blurRad="38100" dist="38100" dir="2700000" algn="tl">
                    <a:srgbClr val="000000">
                      <a:alpha val="43137"/>
                    </a:srgbClr>
                  </a:outerShdw>
                </a:effectLst>
              </a:rPr>
              <a:t>In finance</a:t>
            </a:r>
            <a:r>
              <a:rPr lang="en-US" sz="2400" dirty="0"/>
              <a:t>, structured data is used in analyzing stock market trends and forecasting market changes. </a:t>
            </a:r>
          </a:p>
          <a:p>
            <a:r>
              <a:rPr lang="en-US" sz="2400" b="1" i="1" dirty="0">
                <a:effectLst>
                  <a:outerShdw blurRad="38100" dist="38100" dir="2700000" algn="tl">
                    <a:srgbClr val="000000">
                      <a:alpha val="43137"/>
                    </a:srgbClr>
                  </a:outerShdw>
                </a:effectLst>
              </a:rPr>
              <a:t>In the field of healthcare</a:t>
            </a:r>
            <a:r>
              <a:rPr lang="en-US" sz="2400" dirty="0"/>
              <a:t>, electronic health records (EHRs) provide data that can assist in decision-making and patient diagnoses. </a:t>
            </a:r>
          </a:p>
          <a:p>
            <a:r>
              <a:rPr lang="en-US" sz="2400" b="1" i="1" dirty="0">
                <a:effectLst>
                  <a:outerShdw blurRad="38100" dist="38100" dir="2700000" algn="tl">
                    <a:srgbClr val="000000">
                      <a:alpha val="43137"/>
                    </a:srgbClr>
                  </a:outerShdw>
                </a:effectLst>
              </a:rPr>
              <a:t>By incorporating microdata tags </a:t>
            </a:r>
            <a:r>
              <a:rPr lang="en-US" sz="2400" dirty="0"/>
              <a:t>within the HTML code of a webpage, search engines receive detailed information to enhance the site’s </a:t>
            </a:r>
            <a:r>
              <a:rPr lang="en-US" sz="2400" b="1" dirty="0">
                <a:solidFill>
                  <a:srgbClr val="FF0000"/>
                </a:solidFill>
                <a:effectLst>
                  <a:outerShdw blurRad="38100" dist="38100" dir="2700000" algn="tl">
                    <a:srgbClr val="000000">
                      <a:alpha val="43137"/>
                    </a:srgbClr>
                  </a:outerShdw>
                </a:effectLst>
              </a:rPr>
              <a:t>SEO features (????)</a:t>
            </a:r>
            <a:r>
              <a:rPr lang="en-US" sz="2400" dirty="0"/>
              <a:t>.</a:t>
            </a:r>
          </a:p>
        </p:txBody>
      </p:sp>
    </p:spTree>
    <p:extLst>
      <p:ext uri="{BB962C8B-B14F-4D97-AF65-F5344CB8AC3E}">
        <p14:creationId xmlns:p14="http://schemas.microsoft.com/office/powerpoint/2010/main" val="3148759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3584" y="926652"/>
            <a:ext cx="9811512" cy="4832092"/>
          </a:xfrm>
          <a:prstGeom prst="rect">
            <a:avLst/>
          </a:prstGeom>
        </p:spPr>
        <p:txBody>
          <a:bodyPr wrap="square">
            <a:spAutoFit/>
          </a:bodyPr>
          <a:lstStyle/>
          <a:p>
            <a:r>
              <a:rPr lang="en-US" sz="3200" b="1" dirty="0"/>
              <a:t>Unstructured data</a:t>
            </a:r>
          </a:p>
          <a:p>
            <a:pPr algn="just"/>
            <a:endParaRPr lang="en-US" sz="1200" dirty="0"/>
          </a:p>
          <a:p>
            <a:pPr algn="just"/>
            <a:r>
              <a:rPr lang="en-US" sz="2400" dirty="0"/>
              <a:t>Unstructured data refers to information that lacks a predefined format or organization. </a:t>
            </a:r>
          </a:p>
          <a:p>
            <a:pPr algn="just"/>
            <a:r>
              <a:rPr lang="en-US" sz="2400" dirty="0"/>
              <a:t>Unlike structured data, which is typically stored in databases with a specific schema, </a:t>
            </a:r>
            <a:r>
              <a:rPr lang="en-US" sz="2400" b="1" dirty="0">
                <a:solidFill>
                  <a:srgbClr val="FF0000"/>
                </a:solidFill>
                <a:effectLst>
                  <a:outerShdw blurRad="38100" dist="38100" dir="2700000" algn="tl">
                    <a:srgbClr val="000000">
                      <a:alpha val="43137"/>
                    </a:srgbClr>
                  </a:outerShdw>
                </a:effectLst>
              </a:rPr>
              <a:t>unstructured data doesn’t follow a fixed structure</a:t>
            </a:r>
            <a:r>
              <a:rPr lang="en-US" sz="2400" dirty="0"/>
              <a:t>. </a:t>
            </a:r>
          </a:p>
          <a:p>
            <a:pPr algn="just"/>
            <a:r>
              <a:rPr lang="en-US" sz="2400" dirty="0"/>
              <a:t>It includes various types of content – text, images, videos, audio recordings, social media posts, and more. </a:t>
            </a:r>
          </a:p>
          <a:p>
            <a:pPr algn="just"/>
            <a:endParaRPr lang="en-US" sz="1200" dirty="0"/>
          </a:p>
          <a:p>
            <a:pPr algn="just"/>
            <a:r>
              <a:rPr lang="en-US" sz="2400" b="1" u="sng" dirty="0">
                <a:solidFill>
                  <a:srgbClr val="FF0000"/>
                </a:solidFill>
                <a:effectLst>
                  <a:outerShdw blurRad="38100" dist="38100" dir="2700000" algn="tl">
                    <a:srgbClr val="000000">
                      <a:alpha val="43137"/>
                    </a:srgbClr>
                  </a:outerShdw>
                </a:effectLst>
              </a:rPr>
              <a:t>Since unstructured data is often qualitative in nature</a:t>
            </a:r>
            <a:r>
              <a:rPr lang="en-US" sz="2400" dirty="0"/>
              <a:t>, it may not neatly (precisely) fit into rows and columns like structured data does. </a:t>
            </a:r>
          </a:p>
          <a:p>
            <a:pPr algn="just"/>
            <a:endParaRPr lang="en-US" sz="1200" dirty="0"/>
          </a:p>
          <a:p>
            <a:pPr algn="just"/>
            <a:r>
              <a:rPr lang="en-US" sz="2400" b="1" i="1" dirty="0">
                <a:solidFill>
                  <a:schemeClr val="accent1">
                    <a:lumMod val="75000"/>
                  </a:schemeClr>
                </a:solidFill>
                <a:effectLst>
                  <a:outerShdw blurRad="38100" dist="38100" dir="2700000" algn="tl">
                    <a:srgbClr val="000000">
                      <a:alpha val="43137"/>
                    </a:srgbClr>
                  </a:outerShdw>
                </a:effectLst>
              </a:rPr>
              <a:t>Examples of unstructured data can include text documents, customer reviews, sensor readings, and multimedia files</a:t>
            </a:r>
            <a:r>
              <a:rPr lang="en-US" sz="2400" dirty="0"/>
              <a:t>. </a:t>
            </a:r>
          </a:p>
        </p:txBody>
      </p:sp>
    </p:spTree>
    <p:extLst>
      <p:ext uri="{BB962C8B-B14F-4D97-AF65-F5344CB8AC3E}">
        <p14:creationId xmlns:p14="http://schemas.microsoft.com/office/powerpoint/2010/main" val="610425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80744" y="925312"/>
            <a:ext cx="9427464" cy="5201424"/>
          </a:xfrm>
          <a:prstGeom prst="rect">
            <a:avLst/>
          </a:prstGeom>
        </p:spPr>
        <p:txBody>
          <a:bodyPr wrap="square">
            <a:spAutoFit/>
          </a:bodyPr>
          <a:lstStyle/>
          <a:p>
            <a:r>
              <a:rPr lang="en-US" sz="3200" b="1" dirty="0"/>
              <a:t>Semi-structured data</a:t>
            </a:r>
          </a:p>
          <a:p>
            <a:pPr algn="just"/>
            <a:endParaRPr lang="en-US" sz="1200" dirty="0"/>
          </a:p>
          <a:p>
            <a:pPr algn="just"/>
            <a:r>
              <a:rPr lang="en-US" sz="2400" dirty="0"/>
              <a:t>Semi-structured data falls between the two previous data types and offers a mix of organization and flexibility. </a:t>
            </a:r>
          </a:p>
          <a:p>
            <a:pPr algn="just"/>
            <a:r>
              <a:rPr lang="en-US" sz="2400" dirty="0"/>
              <a:t>This type of training data possesses a defined structure but still allows for some degree of variation in format. </a:t>
            </a:r>
          </a:p>
          <a:p>
            <a:pPr algn="just"/>
            <a:endParaRPr lang="en-US" sz="1200" b="1" dirty="0">
              <a:solidFill>
                <a:srgbClr val="FF0000"/>
              </a:solidFill>
            </a:endParaRPr>
          </a:p>
          <a:p>
            <a:pPr algn="just"/>
            <a:r>
              <a:rPr lang="en-US" sz="2400" b="1" dirty="0"/>
              <a:t>Sources of semi-structured </a:t>
            </a:r>
            <a:r>
              <a:rPr lang="en-US" sz="2400" b="1" dirty="0">
                <a:solidFill>
                  <a:srgbClr val="FF0000"/>
                </a:solidFill>
              </a:rPr>
              <a:t>training material include web applications with user interactions, API responses, and log files. </a:t>
            </a:r>
          </a:p>
          <a:p>
            <a:pPr algn="just"/>
            <a:endParaRPr lang="en-US" sz="1200" b="1" dirty="0">
              <a:solidFill>
                <a:srgbClr val="FF0000"/>
              </a:solidFill>
            </a:endParaRPr>
          </a:p>
          <a:p>
            <a:pPr algn="just"/>
            <a:r>
              <a:rPr lang="en-US" sz="2400" b="1" dirty="0"/>
              <a:t>Since semi-structured </a:t>
            </a:r>
            <a:r>
              <a:rPr lang="en-US" sz="2400" b="1" dirty="0">
                <a:solidFill>
                  <a:srgbClr val="FF0000"/>
                </a:solidFill>
              </a:rPr>
              <a:t>data is a combination of the two data types mentioned above, its key sources also encompass Internet of Things Devices and social media platforms.</a:t>
            </a:r>
            <a:r>
              <a:rPr lang="en-US" sz="2400" dirty="0"/>
              <a:t> </a:t>
            </a:r>
          </a:p>
          <a:p>
            <a:pPr algn="just"/>
            <a:endParaRPr lang="en-US" sz="1200" dirty="0"/>
          </a:p>
          <a:p>
            <a:pPr algn="just"/>
            <a:r>
              <a:rPr lang="en-US" sz="2400" dirty="0"/>
              <a:t>Semi-structured data can also be found in legal documents and surveys.</a:t>
            </a:r>
            <a:r>
              <a:rPr lang="en-US" dirty="0"/>
              <a:t> </a:t>
            </a:r>
          </a:p>
        </p:txBody>
      </p:sp>
    </p:spTree>
    <p:extLst>
      <p:ext uri="{BB962C8B-B14F-4D97-AF65-F5344CB8AC3E}">
        <p14:creationId xmlns:p14="http://schemas.microsoft.com/office/powerpoint/2010/main" val="84545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94372" y="438916"/>
            <a:ext cx="6492240" cy="6161422"/>
          </a:xfrm>
          <a:prstGeom prst="rect">
            <a:avLst/>
          </a:prstGeom>
        </p:spPr>
      </p:pic>
    </p:spTree>
    <p:extLst>
      <p:ext uri="{BB962C8B-B14F-4D97-AF65-F5344CB8AC3E}">
        <p14:creationId xmlns:p14="http://schemas.microsoft.com/office/powerpoint/2010/main" val="3458533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5880" y="1298645"/>
            <a:ext cx="9409176" cy="4216539"/>
          </a:xfrm>
          <a:prstGeom prst="rect">
            <a:avLst/>
          </a:prstGeom>
        </p:spPr>
        <p:txBody>
          <a:bodyPr wrap="square">
            <a:spAutoFit/>
          </a:bodyPr>
          <a:lstStyle/>
          <a:p>
            <a:pPr algn="ctr"/>
            <a:r>
              <a:rPr lang="en-US" sz="3200" b="1" dirty="0">
                <a:solidFill>
                  <a:srgbClr val="7030A0"/>
                </a:solidFill>
                <a:effectLst>
                  <a:outerShdw blurRad="38100" dist="38100" dir="2700000" algn="tl">
                    <a:srgbClr val="000000">
                      <a:alpha val="43137"/>
                    </a:srgbClr>
                  </a:outerShdw>
                </a:effectLst>
              </a:rPr>
              <a:t>How do training and testing data work in Machine Learning?</a:t>
            </a:r>
          </a:p>
          <a:p>
            <a:endParaRPr lang="en-US" sz="1200" b="1" dirty="0"/>
          </a:p>
          <a:p>
            <a:pPr algn="just"/>
            <a:r>
              <a:rPr lang="en-US" sz="2400" dirty="0"/>
              <a:t>Machine Learning algorithms enable the machines to make predictions and solve problems on the basis of past observations or experiences. </a:t>
            </a:r>
          </a:p>
          <a:p>
            <a:pPr algn="just"/>
            <a:r>
              <a:rPr lang="en-US" sz="2400" dirty="0"/>
              <a:t>These experiences or observations an algorithm can take from the </a:t>
            </a:r>
            <a:r>
              <a:rPr lang="en-US" sz="2400" b="1" dirty="0">
                <a:solidFill>
                  <a:srgbClr val="C00000"/>
                </a:solidFill>
              </a:rPr>
              <a:t>training data</a:t>
            </a:r>
            <a:r>
              <a:rPr lang="en-US" sz="2400" dirty="0"/>
              <a:t>, which is fed to it. </a:t>
            </a:r>
          </a:p>
          <a:p>
            <a:pPr algn="just"/>
            <a:endParaRPr lang="en-US" sz="1600" dirty="0"/>
          </a:p>
          <a:p>
            <a:pPr algn="just"/>
            <a:r>
              <a:rPr lang="en-US" sz="2400" dirty="0"/>
              <a:t>Further, one of the great things about ML algorithms is that they can learn and improve over time on their own, as they are trained with the relevant training data.</a:t>
            </a:r>
          </a:p>
        </p:txBody>
      </p:sp>
    </p:spTree>
    <p:extLst>
      <p:ext uri="{BB962C8B-B14F-4D97-AF65-F5344CB8AC3E}">
        <p14:creationId xmlns:p14="http://schemas.microsoft.com/office/powerpoint/2010/main" val="2283850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0392" y="532120"/>
            <a:ext cx="6784848" cy="5878532"/>
          </a:xfrm>
          <a:prstGeom prst="rect">
            <a:avLst/>
          </a:prstGeom>
        </p:spPr>
        <p:txBody>
          <a:bodyPr wrap="square">
            <a:spAutoFit/>
          </a:bodyPr>
          <a:lstStyle/>
          <a:p>
            <a:pPr algn="just"/>
            <a:r>
              <a:rPr lang="en-US" sz="2400" b="1" u="sng" dirty="0">
                <a:solidFill>
                  <a:srgbClr val="002060"/>
                </a:solidFill>
              </a:rPr>
              <a:t>Once the model is trained enough </a:t>
            </a:r>
            <a:r>
              <a:rPr lang="en-US" sz="2400" dirty="0"/>
              <a:t>with the relevant training data, it is tested with the test data. </a:t>
            </a:r>
          </a:p>
          <a:p>
            <a:pPr algn="just"/>
            <a:endParaRPr lang="en-US" sz="400" dirty="0"/>
          </a:p>
          <a:p>
            <a:pPr algn="just"/>
            <a:r>
              <a:rPr lang="en-US" sz="2400" b="1" dirty="0">
                <a:solidFill>
                  <a:schemeClr val="accent2">
                    <a:lumMod val="75000"/>
                  </a:schemeClr>
                </a:solidFill>
                <a:effectLst>
                  <a:outerShdw blurRad="38100" dist="38100" dir="2700000" algn="tl">
                    <a:srgbClr val="000000">
                      <a:alpha val="43137"/>
                    </a:srgbClr>
                  </a:outerShdw>
                </a:effectLst>
              </a:rPr>
              <a:t>Once can understand the whole process of training and testing in three steps, which are as follows:</a:t>
            </a:r>
          </a:p>
          <a:p>
            <a:pPr algn="just"/>
            <a:endParaRPr lang="en-US" sz="1200" dirty="0"/>
          </a:p>
          <a:p>
            <a:pPr algn="just"/>
            <a:r>
              <a:rPr lang="en-US" sz="2400" b="1" dirty="0"/>
              <a:t>Feed:</a:t>
            </a:r>
            <a:r>
              <a:rPr lang="en-US" sz="2400" dirty="0"/>
              <a:t> Firstly, one needs to train the model by feeding it with training input data.</a:t>
            </a:r>
          </a:p>
          <a:p>
            <a:pPr algn="just"/>
            <a:endParaRPr lang="en-US" sz="1200" b="1" dirty="0"/>
          </a:p>
          <a:p>
            <a:pPr algn="just"/>
            <a:r>
              <a:rPr lang="en-US" sz="2400" b="1" dirty="0"/>
              <a:t>Define:</a:t>
            </a:r>
            <a:r>
              <a:rPr lang="en-US" sz="2400" dirty="0"/>
              <a:t> Now, training data is tagged with the corresponding outputs (in Supervised Learning), and the model transforms the training data into text vectors or a number of data features.</a:t>
            </a:r>
          </a:p>
          <a:p>
            <a:pPr algn="just"/>
            <a:endParaRPr lang="en-US" sz="1200" b="1" dirty="0"/>
          </a:p>
          <a:p>
            <a:pPr algn="just"/>
            <a:r>
              <a:rPr lang="en-US" sz="2400" b="1" dirty="0"/>
              <a:t>Test:</a:t>
            </a:r>
            <a:r>
              <a:rPr lang="en-US" sz="2400" dirty="0"/>
              <a:t> In the last step, one tests the model by feeding it with the test data/unseen dataset. This step ensures that the model is trained efficiently and can generalize well.</a:t>
            </a:r>
          </a:p>
        </p:txBody>
      </p:sp>
      <p:pic>
        <p:nvPicPr>
          <p:cNvPr id="3" name="Picture 2"/>
          <p:cNvPicPr>
            <a:picLocks noChangeAspect="1"/>
          </p:cNvPicPr>
          <p:nvPr/>
        </p:nvPicPr>
        <p:blipFill>
          <a:blip r:embed="rId2"/>
          <a:stretch>
            <a:fillRect/>
          </a:stretch>
        </p:blipFill>
        <p:spPr>
          <a:xfrm>
            <a:off x="8120443" y="696632"/>
            <a:ext cx="3291840" cy="5542816"/>
          </a:xfrm>
          <a:prstGeom prst="rect">
            <a:avLst/>
          </a:prstGeom>
        </p:spPr>
      </p:pic>
    </p:spTree>
    <p:extLst>
      <p:ext uri="{BB962C8B-B14F-4D97-AF65-F5344CB8AC3E}">
        <p14:creationId xmlns:p14="http://schemas.microsoft.com/office/powerpoint/2010/main" val="746649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8368" y="198918"/>
            <a:ext cx="10917936" cy="6740307"/>
          </a:xfrm>
          <a:prstGeom prst="rect">
            <a:avLst/>
          </a:prstGeom>
        </p:spPr>
        <p:txBody>
          <a:bodyPr wrap="square">
            <a:spAutoFit/>
          </a:bodyPr>
          <a:lstStyle/>
          <a:p>
            <a:pPr algn="ctr"/>
            <a:r>
              <a:rPr lang="en-US" sz="3200" b="1" dirty="0">
                <a:solidFill>
                  <a:srgbClr val="FF0000"/>
                </a:solidFill>
              </a:rPr>
              <a:t>Challenges in Creating Training Data</a:t>
            </a:r>
          </a:p>
          <a:p>
            <a:endParaRPr lang="en-US" sz="600" b="1" dirty="0"/>
          </a:p>
          <a:p>
            <a:pPr algn="just"/>
            <a:r>
              <a:rPr lang="en-US" sz="2400" b="1" dirty="0"/>
              <a:t>Data collection</a:t>
            </a:r>
          </a:p>
          <a:p>
            <a:pPr algn="just"/>
            <a:r>
              <a:rPr lang="en-US" sz="2400" dirty="0"/>
              <a:t>The process of collecting data can be quite daunting. Here’re some of the most common challenges in data collection.</a:t>
            </a:r>
          </a:p>
          <a:p>
            <a:pPr algn="just"/>
            <a:r>
              <a:rPr lang="en-US" sz="2400" b="1" dirty="0">
                <a:solidFill>
                  <a:srgbClr val="002060"/>
                </a:solidFill>
                <a:effectLst>
                  <a:outerShdw blurRad="38100" dist="38100" dir="2700000" algn="tl">
                    <a:srgbClr val="000000">
                      <a:alpha val="43137"/>
                    </a:srgbClr>
                  </a:outerShdw>
                </a:effectLst>
              </a:rPr>
              <a:t>Difficulties in sourcing and collecting training data</a:t>
            </a:r>
          </a:p>
          <a:p>
            <a:pPr algn="just"/>
            <a:endParaRPr lang="en-US" sz="600" b="1" dirty="0"/>
          </a:p>
          <a:p>
            <a:pPr algn="just"/>
            <a:r>
              <a:rPr lang="en-US" sz="2200" b="1" i="1" dirty="0">
                <a:solidFill>
                  <a:schemeClr val="accent2">
                    <a:lumMod val="75000"/>
                  </a:schemeClr>
                </a:solidFill>
              </a:rPr>
              <a:t>Managing data quality</a:t>
            </a:r>
          </a:p>
          <a:p>
            <a:pPr algn="just"/>
            <a:r>
              <a:rPr lang="en-US" sz="2200" dirty="0"/>
              <a:t>Raw data often contains errors and discrepancies despite efforts to maintain accuracy during collection. Data profiling is essential to identify issues, while data cleansing helps resolve them.</a:t>
            </a:r>
          </a:p>
          <a:p>
            <a:pPr algn="just"/>
            <a:endParaRPr lang="en-US" sz="600" b="1" dirty="0"/>
          </a:p>
          <a:p>
            <a:pPr algn="just"/>
            <a:r>
              <a:rPr lang="en-US" sz="2200" b="1" i="1" dirty="0">
                <a:solidFill>
                  <a:schemeClr val="accent2">
                    <a:lumMod val="75000"/>
                  </a:schemeClr>
                </a:solidFill>
              </a:rPr>
              <a:t>Finding relevant data</a:t>
            </a:r>
          </a:p>
          <a:p>
            <a:pPr algn="just"/>
            <a:r>
              <a:rPr lang="en-US" sz="2200" dirty="0"/>
              <a:t>The process of gathering data itself presents a complex task for data scientists. Implementing data curation techniques such as creating a data catalog and searchable indexes can simplify data discovery and accessibility.</a:t>
            </a:r>
          </a:p>
          <a:p>
            <a:pPr algn="just"/>
            <a:endParaRPr lang="en-US" sz="600" i="1" dirty="0">
              <a:solidFill>
                <a:schemeClr val="accent2">
                  <a:lumMod val="75000"/>
                </a:schemeClr>
              </a:solidFill>
            </a:endParaRPr>
          </a:p>
          <a:p>
            <a:r>
              <a:rPr lang="en-US" sz="2200" b="1" i="1" dirty="0">
                <a:solidFill>
                  <a:schemeClr val="accent2">
                    <a:lumMod val="75000"/>
                  </a:schemeClr>
                </a:solidFill>
              </a:rPr>
              <a:t>Dealing with Big Data</a:t>
            </a:r>
          </a:p>
          <a:p>
            <a:pPr algn="just"/>
            <a:r>
              <a:rPr lang="en-US" sz="2200" dirty="0"/>
              <a:t>Managing volumes of unstructured and semi-structured data in Big Data environments adds complexity during collection and processing phases. Data scientists often need to navigate through data stored in a data lake (a centralized repository) to extract relevant information.</a:t>
            </a:r>
            <a:endParaRPr lang="en-US" sz="24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91637CA-9C9A-870E-D84D-632D6A00CDF9}"/>
                  </a:ext>
                </a:extLst>
              </p14:cNvPr>
              <p14:cNvContentPartPr/>
              <p14:nvPr/>
            </p14:nvContentPartPr>
            <p14:xfrm>
              <a:off x="630576" y="145152"/>
              <a:ext cx="631440" cy="640440"/>
            </p14:xfrm>
          </p:contentPart>
        </mc:Choice>
        <mc:Fallback>
          <p:pic>
            <p:nvPicPr>
              <p:cNvPr id="3" name="Ink 2">
                <a:extLst>
                  <a:ext uri="{FF2B5EF4-FFF2-40B4-BE49-F238E27FC236}">
                    <a16:creationId xmlns:a16="http://schemas.microsoft.com/office/drawing/2014/main" id="{291637CA-9C9A-870E-D84D-632D6A00CDF9}"/>
                  </a:ext>
                </a:extLst>
              </p:cNvPr>
              <p:cNvPicPr/>
              <p:nvPr/>
            </p:nvPicPr>
            <p:blipFill>
              <a:blip r:embed="rId3"/>
              <a:stretch>
                <a:fillRect/>
              </a:stretch>
            </p:blipFill>
            <p:spPr>
              <a:xfrm>
                <a:off x="624456" y="139032"/>
                <a:ext cx="643680" cy="652680"/>
              </a:xfrm>
              <a:prstGeom prst="rect">
                <a:avLst/>
              </a:prstGeom>
            </p:spPr>
          </p:pic>
        </mc:Fallback>
      </mc:AlternateContent>
    </p:spTree>
    <p:extLst>
      <p:ext uri="{BB962C8B-B14F-4D97-AF65-F5344CB8AC3E}">
        <p14:creationId xmlns:p14="http://schemas.microsoft.com/office/powerpoint/2010/main" val="4011320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9576" y="431768"/>
            <a:ext cx="9994392" cy="6093976"/>
          </a:xfrm>
          <a:prstGeom prst="rect">
            <a:avLst/>
          </a:prstGeom>
        </p:spPr>
        <p:txBody>
          <a:bodyPr wrap="square">
            <a:spAutoFit/>
          </a:bodyPr>
          <a:lstStyle/>
          <a:p>
            <a:pPr algn="just"/>
            <a:r>
              <a:rPr lang="en-US" sz="2800" b="1" u="sng" dirty="0">
                <a:solidFill>
                  <a:schemeClr val="accent2">
                    <a:lumMod val="75000"/>
                  </a:schemeClr>
                </a:solidFill>
                <a:effectLst>
                  <a:outerShdw blurRad="38100" dist="38100" dir="2700000" algn="tl">
                    <a:srgbClr val="000000">
                      <a:alpha val="43137"/>
                    </a:srgbClr>
                  </a:outerShdw>
                </a:effectLst>
              </a:rPr>
              <a:t>Data Annotation</a:t>
            </a:r>
          </a:p>
          <a:p>
            <a:pPr algn="just"/>
            <a:endParaRPr lang="en-US" sz="1200" b="1" dirty="0">
              <a:solidFill>
                <a:schemeClr val="accent2">
                  <a:lumMod val="75000"/>
                </a:schemeClr>
              </a:solidFill>
              <a:effectLst>
                <a:outerShdw blurRad="38100" dist="38100" dir="2700000" algn="tl">
                  <a:srgbClr val="000000">
                    <a:alpha val="43137"/>
                  </a:srgbClr>
                </a:outerShdw>
              </a:effectLst>
            </a:endParaRPr>
          </a:p>
          <a:p>
            <a:pPr algn="just"/>
            <a:r>
              <a:rPr lang="en-US" sz="2400" dirty="0"/>
              <a:t>Once data is collected, it needs to undergo annotation – </a:t>
            </a:r>
            <a:r>
              <a:rPr lang="en-US" sz="2400" b="1" dirty="0">
                <a:solidFill>
                  <a:schemeClr val="accent1">
                    <a:lumMod val="75000"/>
                  </a:schemeClr>
                </a:solidFill>
                <a:effectLst>
                  <a:outerShdw blurRad="38100" dist="38100" dir="2700000" algn="tl">
                    <a:srgbClr val="000000">
                      <a:alpha val="43137"/>
                    </a:srgbClr>
                  </a:outerShdw>
                </a:effectLst>
              </a:rPr>
              <a:t>it’s a process of labeling data with relevant tags to make </a:t>
            </a:r>
            <a:r>
              <a:rPr lang="en-US" sz="2400" dirty="0"/>
              <a:t>it more comprehensive for computers. However, data annotation presents its own set of challenges.</a:t>
            </a:r>
          </a:p>
          <a:p>
            <a:pPr algn="just"/>
            <a:endParaRPr lang="en-US" sz="800" dirty="0"/>
          </a:p>
          <a:p>
            <a:r>
              <a:rPr lang="en-US" sz="2400" b="1" dirty="0">
                <a:solidFill>
                  <a:schemeClr val="accent2">
                    <a:lumMod val="75000"/>
                  </a:schemeClr>
                </a:solidFill>
                <a:effectLst>
                  <a:outerShdw blurRad="38100" dist="38100" dir="2700000" algn="tl">
                    <a:srgbClr val="000000">
                      <a:alpha val="43137"/>
                    </a:srgbClr>
                  </a:outerShdw>
                </a:effectLst>
              </a:rPr>
              <a:t>Importance of Data Annotation</a:t>
            </a:r>
          </a:p>
          <a:p>
            <a:pPr algn="just"/>
            <a:endParaRPr lang="en-US" sz="600" b="1" dirty="0"/>
          </a:p>
          <a:p>
            <a:pPr algn="just"/>
            <a:r>
              <a:rPr lang="en-US" sz="2400" b="1" dirty="0"/>
              <a:t>Training Machine Learning Models</a:t>
            </a:r>
            <a:r>
              <a:rPr lang="en-US" sz="2400" dirty="0"/>
              <a:t>: Machine learning models </a:t>
            </a:r>
            <a:r>
              <a:rPr lang="en-US" sz="2400" b="1" dirty="0">
                <a:solidFill>
                  <a:schemeClr val="accent2">
                    <a:lumMod val="75000"/>
                  </a:schemeClr>
                </a:solidFill>
              </a:rPr>
              <a:t>require labelled data to learn and make accurate predictions</a:t>
            </a:r>
            <a:r>
              <a:rPr lang="en-US" sz="2400" dirty="0"/>
              <a:t>. </a:t>
            </a:r>
          </a:p>
          <a:p>
            <a:pPr algn="just"/>
            <a:endParaRPr lang="en-US" sz="600" b="1" dirty="0"/>
          </a:p>
          <a:p>
            <a:pPr algn="just"/>
            <a:r>
              <a:rPr lang="en-US" sz="2400" b="1" dirty="0"/>
              <a:t>Enhancing Data Understanding</a:t>
            </a:r>
            <a:r>
              <a:rPr lang="en-US" sz="2400" dirty="0"/>
              <a:t>: Data annotation adds valuable context and meaning to raw data. By assigning labels or annotations, annotators provide information that helps algorithms understand the data better. </a:t>
            </a:r>
            <a:r>
              <a:rPr lang="en-US" sz="2400" b="1" dirty="0">
                <a:solidFill>
                  <a:schemeClr val="accent2">
                    <a:lumMod val="75000"/>
                  </a:schemeClr>
                </a:solidFill>
              </a:rPr>
              <a:t>For example, in image recognition, annotating objects within an image helps machines recognize and differentiate objects accurately.</a:t>
            </a:r>
          </a:p>
          <a:p>
            <a:pPr algn="just"/>
            <a:endParaRPr lang="en-US" sz="600" b="1" dirty="0"/>
          </a:p>
          <a:p>
            <a:pPr algn="just"/>
            <a:r>
              <a:rPr lang="en-US" sz="2400" b="1" dirty="0"/>
              <a:t>Validating Model Performance</a:t>
            </a:r>
            <a:r>
              <a:rPr lang="en-US" sz="2400" dirty="0"/>
              <a:t>: Data annotation is essential for evaluating and validating the performance of machine learning models. </a:t>
            </a:r>
          </a:p>
        </p:txBody>
      </p:sp>
    </p:spTree>
    <p:extLst>
      <p:ext uri="{BB962C8B-B14F-4D97-AF65-F5344CB8AC3E}">
        <p14:creationId xmlns:p14="http://schemas.microsoft.com/office/powerpoint/2010/main" val="1619584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2688" y="514707"/>
            <a:ext cx="10405872" cy="5816977"/>
          </a:xfrm>
          <a:prstGeom prst="rect">
            <a:avLst/>
          </a:prstGeom>
        </p:spPr>
        <p:txBody>
          <a:bodyPr wrap="square">
            <a:spAutoFit/>
          </a:bodyPr>
          <a:lstStyle/>
          <a:p>
            <a:pPr algn="ctr"/>
            <a:r>
              <a:rPr lang="en-US" sz="2800" b="1" dirty="0"/>
              <a:t>Types of Data Annotation</a:t>
            </a:r>
          </a:p>
          <a:p>
            <a:pPr algn="just"/>
            <a:endParaRPr lang="en-US" sz="800" b="1" dirty="0"/>
          </a:p>
          <a:p>
            <a:pPr algn="just"/>
            <a:r>
              <a:rPr lang="en-US" sz="2400" b="1" dirty="0">
                <a:effectLst>
                  <a:outerShdw blurRad="38100" dist="38100" dir="2700000" algn="tl">
                    <a:srgbClr val="000000">
                      <a:alpha val="43137"/>
                    </a:srgbClr>
                  </a:outerShdw>
                </a:effectLst>
              </a:rPr>
              <a:t>Image Annotation</a:t>
            </a:r>
            <a:r>
              <a:rPr lang="en-US" sz="2400" dirty="0"/>
              <a:t>: Image annotation involves labelling objects, regions, or features within an image. It can include bounding boxes, polygons, key point annotations, or semantic segmentation, enabling algorithms to recognize and classify objects accurately.</a:t>
            </a:r>
          </a:p>
          <a:p>
            <a:pPr algn="just"/>
            <a:endParaRPr lang="en-US" sz="800" b="1" dirty="0"/>
          </a:p>
          <a:p>
            <a:pPr algn="just"/>
            <a:r>
              <a:rPr lang="en-US" sz="2400" b="1" dirty="0">
                <a:effectLst>
                  <a:outerShdw blurRad="38100" dist="38100" dir="2700000" algn="tl">
                    <a:srgbClr val="000000">
                      <a:alpha val="43137"/>
                    </a:srgbClr>
                  </a:outerShdw>
                </a:effectLst>
              </a:rPr>
              <a:t>Text Annotation</a:t>
            </a:r>
            <a:r>
              <a:rPr lang="en-US" sz="2400" dirty="0"/>
              <a:t>: Text annotation focuses on labelling or tagging textual data. It can involve tasks such as named entity recognition, sentiment analysis, part-of-speech tagging, or text classification. </a:t>
            </a:r>
          </a:p>
          <a:p>
            <a:pPr algn="just"/>
            <a:endParaRPr lang="en-US" sz="800" b="1" dirty="0"/>
          </a:p>
          <a:p>
            <a:pPr algn="just"/>
            <a:r>
              <a:rPr lang="en-US" sz="2400" b="1" dirty="0">
                <a:effectLst>
                  <a:outerShdw blurRad="38100" dist="38100" dir="2700000" algn="tl">
                    <a:srgbClr val="000000">
                      <a:alpha val="43137"/>
                    </a:srgbClr>
                  </a:outerShdw>
                </a:effectLst>
              </a:rPr>
              <a:t>Audio Annotation</a:t>
            </a:r>
            <a:r>
              <a:rPr lang="en-US" sz="2400" dirty="0"/>
              <a:t>: Audio annotation involves labelling and transcribing audio data. It can include tasks such as speech recognition, speaker identification, or emotion detection. </a:t>
            </a:r>
          </a:p>
          <a:p>
            <a:pPr algn="just"/>
            <a:endParaRPr lang="en-US" sz="800" b="1" dirty="0"/>
          </a:p>
          <a:p>
            <a:pPr algn="just"/>
            <a:r>
              <a:rPr lang="en-US" sz="2400" b="1" dirty="0">
                <a:effectLst>
                  <a:outerShdw blurRad="38100" dist="38100" dir="2700000" algn="tl">
                    <a:srgbClr val="000000">
                      <a:alpha val="43137"/>
                    </a:srgbClr>
                  </a:outerShdw>
                </a:effectLst>
              </a:rPr>
              <a:t>Video Annotation</a:t>
            </a:r>
            <a:r>
              <a:rPr lang="en-US" sz="2400" dirty="0"/>
              <a:t>: Video annotation involves labelling objects, actions, or events within a video sequence. It can include tasks such as activity recognition, object tracking, or event detection. </a:t>
            </a:r>
          </a:p>
        </p:txBody>
      </p:sp>
    </p:spTree>
    <p:extLst>
      <p:ext uri="{BB962C8B-B14F-4D97-AF65-F5344CB8AC3E}">
        <p14:creationId xmlns:p14="http://schemas.microsoft.com/office/powerpoint/2010/main" val="3956591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4984" y="538121"/>
            <a:ext cx="10296144" cy="6093976"/>
          </a:xfrm>
          <a:prstGeom prst="rect">
            <a:avLst/>
          </a:prstGeom>
        </p:spPr>
        <p:txBody>
          <a:bodyPr wrap="square">
            <a:spAutoFit/>
          </a:bodyPr>
          <a:lstStyle/>
          <a:p>
            <a:pPr algn="ctr"/>
            <a:r>
              <a:rPr lang="en-US" sz="2600" b="1" dirty="0">
                <a:solidFill>
                  <a:schemeClr val="accent2">
                    <a:lumMod val="75000"/>
                  </a:schemeClr>
                </a:solidFill>
                <a:effectLst>
                  <a:outerShdw blurRad="38100" dist="38100" dir="2700000" algn="tl">
                    <a:srgbClr val="000000">
                      <a:alpha val="43137"/>
                    </a:srgbClr>
                  </a:outerShdw>
                </a:effectLst>
              </a:rPr>
              <a:t>Data Annotation Example: Image Classification for Autonomous Vehicles</a:t>
            </a:r>
          </a:p>
          <a:p>
            <a:pPr algn="just"/>
            <a:endParaRPr lang="en-US" sz="1000" dirty="0"/>
          </a:p>
          <a:p>
            <a:pPr algn="just"/>
            <a:r>
              <a:rPr lang="en-US" sz="2200" dirty="0"/>
              <a:t>One prominent example of data annotation is image classification for autonomous vehicles. Autonomous vehicles rely on advanced computer vision systems to detect and recognize objects in their surroundings, enabling them to navigate safely and make informed decisions. </a:t>
            </a:r>
          </a:p>
          <a:p>
            <a:pPr algn="just">
              <a:buFont typeface="+mj-lt"/>
              <a:buAutoNum type="arabicPeriod"/>
            </a:pPr>
            <a:r>
              <a:rPr lang="en-US" sz="2200" b="1" dirty="0"/>
              <a:t> Dataset Collection</a:t>
            </a:r>
            <a:endParaRPr lang="en-US" sz="2200" dirty="0"/>
          </a:p>
          <a:p>
            <a:pPr algn="just"/>
            <a:r>
              <a:rPr lang="en-US" sz="2200" dirty="0"/>
              <a:t>To begin the data annotation process, a vast dataset of images is collected, which typically includes various types of objects, such as pedestrians, vehicles, traffic signs, and road markings. </a:t>
            </a:r>
          </a:p>
          <a:p>
            <a:pPr algn="just"/>
            <a:endParaRPr lang="en-US" sz="600" dirty="0"/>
          </a:p>
          <a:p>
            <a:pPr algn="just">
              <a:buFont typeface="+mj-lt"/>
              <a:buAutoNum type="arabicPeriod" startAt="2"/>
            </a:pPr>
            <a:r>
              <a:rPr lang="en-US" sz="2200" b="1" dirty="0"/>
              <a:t> Annotation Guidelines</a:t>
            </a:r>
            <a:endParaRPr lang="en-US" sz="2200" dirty="0"/>
          </a:p>
          <a:p>
            <a:pPr algn="just"/>
            <a:r>
              <a:rPr lang="en-US" sz="2200" dirty="0"/>
              <a:t>Before the annotation process begins, annotation guidelines are established. These guidelines define the specific labels or tags to be assigned to different objects within the images. For instance, the guidelines might include labels such as “car,” “pedestrian,” “bicycle,” “stop sign,” and “traffic light.”</a:t>
            </a:r>
          </a:p>
          <a:p>
            <a:pPr algn="just"/>
            <a:endParaRPr lang="en-US" sz="600" dirty="0"/>
          </a:p>
          <a:p>
            <a:pPr algn="just">
              <a:buFont typeface="+mj-lt"/>
              <a:buAutoNum type="arabicPeriod" startAt="3"/>
            </a:pPr>
            <a:r>
              <a:rPr lang="en-US" sz="2200" b="1" dirty="0"/>
              <a:t> Annotators’ Role</a:t>
            </a:r>
            <a:endParaRPr lang="en-US" sz="2200" dirty="0"/>
          </a:p>
          <a:p>
            <a:pPr algn="just"/>
            <a:r>
              <a:rPr lang="en-US" sz="2200" dirty="0"/>
              <a:t>Highly skilled and trained annotators play a critical role in the data annotation process. </a:t>
            </a:r>
          </a:p>
        </p:txBody>
      </p:sp>
    </p:spTree>
    <p:extLst>
      <p:ext uri="{BB962C8B-B14F-4D97-AF65-F5344CB8AC3E}">
        <p14:creationId xmlns:p14="http://schemas.microsoft.com/office/powerpoint/2010/main" val="2765642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9576" y="610398"/>
            <a:ext cx="10158984" cy="5847755"/>
          </a:xfrm>
          <a:prstGeom prst="rect">
            <a:avLst/>
          </a:prstGeom>
        </p:spPr>
        <p:txBody>
          <a:bodyPr wrap="square">
            <a:spAutoFit/>
          </a:bodyPr>
          <a:lstStyle/>
          <a:p>
            <a:pPr algn="just"/>
            <a:r>
              <a:rPr lang="en-US" sz="2500" b="1" dirty="0">
                <a:solidFill>
                  <a:schemeClr val="accent1">
                    <a:lumMod val="75000"/>
                  </a:schemeClr>
                </a:solidFill>
                <a:effectLst>
                  <a:outerShdw blurRad="38100" dist="38100" dir="2700000" algn="tl">
                    <a:srgbClr val="000000">
                      <a:alpha val="43137"/>
                    </a:srgbClr>
                  </a:outerShdw>
                </a:effectLst>
              </a:rPr>
              <a:t>Annotation Challenges for the previous example.</a:t>
            </a:r>
          </a:p>
          <a:p>
            <a:pPr algn="just"/>
            <a:endParaRPr lang="en-US" sz="1200" dirty="0"/>
          </a:p>
          <a:p>
            <a:pPr algn="just"/>
            <a:r>
              <a:rPr lang="en-US" sz="2500" dirty="0"/>
              <a:t>Data annotation for autonomous vehicles presents unique challenges. </a:t>
            </a:r>
          </a:p>
          <a:p>
            <a:pPr algn="just"/>
            <a:r>
              <a:rPr lang="en-US" sz="2500" dirty="0"/>
              <a:t>For instance:</a:t>
            </a:r>
          </a:p>
          <a:p>
            <a:pPr algn="just"/>
            <a:r>
              <a:rPr lang="en-US" sz="2500" b="1" dirty="0">
                <a:solidFill>
                  <a:schemeClr val="accent2">
                    <a:lumMod val="75000"/>
                  </a:schemeClr>
                </a:solidFill>
              </a:rPr>
              <a:t>Object Variations</a:t>
            </a:r>
            <a:r>
              <a:rPr lang="en-US" sz="2500" dirty="0">
                <a:solidFill>
                  <a:schemeClr val="accent2">
                    <a:lumMod val="75000"/>
                  </a:schemeClr>
                </a:solidFill>
              </a:rPr>
              <a:t>: </a:t>
            </a:r>
            <a:r>
              <a:rPr lang="en-US" sz="2500" dirty="0"/>
              <a:t>Objects in real-world images can vary in terms of size, shape, orientation, and occlusion. Annotators must accurately identify and label these objects, even when partially visible or occluded by other objects.</a:t>
            </a:r>
          </a:p>
          <a:p>
            <a:pPr algn="just"/>
            <a:endParaRPr lang="en-US" sz="1200" b="1" dirty="0"/>
          </a:p>
          <a:p>
            <a:pPr algn="just"/>
            <a:r>
              <a:rPr lang="en-US" sz="2500" b="1" dirty="0">
                <a:solidFill>
                  <a:schemeClr val="accent2">
                    <a:lumMod val="75000"/>
                  </a:schemeClr>
                </a:solidFill>
              </a:rPr>
              <a:t>Ambiguity</a:t>
            </a:r>
            <a:r>
              <a:rPr lang="en-US" sz="2500" dirty="0">
                <a:solidFill>
                  <a:schemeClr val="accent2">
                    <a:lumMod val="75000"/>
                  </a:schemeClr>
                </a:solidFill>
              </a:rPr>
              <a:t>: </a:t>
            </a:r>
            <a:r>
              <a:rPr lang="en-US" sz="2500" dirty="0"/>
              <a:t>Some images may contain objects that are challenging to label definitively. Annotators must rely on their expertise and judgment to assign the most appropriate label based on the available information.</a:t>
            </a:r>
          </a:p>
          <a:p>
            <a:pPr algn="just"/>
            <a:endParaRPr lang="en-US" sz="1200" b="1" dirty="0"/>
          </a:p>
          <a:p>
            <a:pPr algn="just"/>
            <a:r>
              <a:rPr lang="en-US" sz="2500" b="1" dirty="0">
                <a:solidFill>
                  <a:schemeClr val="accent2">
                    <a:lumMod val="75000"/>
                  </a:schemeClr>
                </a:solidFill>
              </a:rPr>
              <a:t>Edge Cases</a:t>
            </a:r>
            <a:r>
              <a:rPr lang="en-US" sz="2500" dirty="0">
                <a:solidFill>
                  <a:schemeClr val="accent2">
                    <a:lumMod val="75000"/>
                  </a:schemeClr>
                </a:solidFill>
              </a:rPr>
              <a:t>:</a:t>
            </a:r>
            <a:r>
              <a:rPr lang="en-US" sz="2500" dirty="0"/>
              <a:t> Autonomous vehicles encounter rare and unusual scenarios on the road. Annotators must anticipate these edge cases and create annotations that cover a wide range of scenarios to ensure the models’ robustness and generalization.</a:t>
            </a:r>
          </a:p>
        </p:txBody>
      </p:sp>
    </p:spTree>
    <p:extLst>
      <p:ext uri="{BB962C8B-B14F-4D97-AF65-F5344CB8AC3E}">
        <p14:creationId xmlns:p14="http://schemas.microsoft.com/office/powerpoint/2010/main" val="2643547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19108" y="2668262"/>
            <a:ext cx="6731330" cy="1035155"/>
          </a:xfrm>
          <a:prstGeom prst="rect">
            <a:avLst/>
          </a:prstGeom>
        </p:spPr>
        <p:txBody>
          <a:bodyPr wrap="none">
            <a:spAutoFit/>
          </a:bodyPr>
          <a:lstStyle/>
          <a:p>
            <a:pPr algn="ctr">
              <a:lnSpc>
                <a:spcPct val="114000"/>
              </a:lnSpc>
            </a:pPr>
            <a:r>
              <a:rPr lang="en-US" sz="2800" b="1" dirty="0">
                <a:solidFill>
                  <a:schemeClr val="accent1">
                    <a:lumMod val="75000"/>
                  </a:schemeClr>
                </a:solidFill>
                <a:latin typeface="Georgia" panose="02040502050405020303" pitchFamily="18" charset="0"/>
              </a:rPr>
              <a:t>Why is it important to use separate </a:t>
            </a:r>
          </a:p>
          <a:p>
            <a:pPr algn="ctr">
              <a:lnSpc>
                <a:spcPct val="114000"/>
              </a:lnSpc>
            </a:pPr>
            <a:r>
              <a:rPr lang="en-US" sz="2800" b="1" dirty="0">
                <a:solidFill>
                  <a:schemeClr val="accent1">
                    <a:lumMod val="75000"/>
                  </a:schemeClr>
                </a:solidFill>
                <a:latin typeface="Georgia" panose="02040502050405020303" pitchFamily="18" charset="0"/>
              </a:rPr>
              <a:t>training and testing data?</a:t>
            </a:r>
          </a:p>
        </p:txBody>
      </p:sp>
    </p:spTree>
    <p:extLst>
      <p:ext uri="{BB962C8B-B14F-4D97-AF65-F5344CB8AC3E}">
        <p14:creationId xmlns:p14="http://schemas.microsoft.com/office/powerpoint/2010/main" val="1283792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93025" y="686943"/>
            <a:ext cx="11049000" cy="2651760"/>
          </a:xfrm>
          <a:prstGeom prst="rect">
            <a:avLst/>
          </a:prstGeom>
        </p:spPr>
      </p:pic>
      <p:sp>
        <p:nvSpPr>
          <p:cNvPr id="5" name="Rectangle 4"/>
          <p:cNvSpPr/>
          <p:nvPr/>
        </p:nvSpPr>
        <p:spPr>
          <a:xfrm>
            <a:off x="1207008" y="3338703"/>
            <a:ext cx="9747504" cy="2862322"/>
          </a:xfrm>
          <a:prstGeom prst="rect">
            <a:avLst/>
          </a:prstGeom>
        </p:spPr>
        <p:txBody>
          <a:bodyPr wrap="square">
            <a:spAutoFit/>
          </a:bodyPr>
          <a:lstStyle/>
          <a:p>
            <a:pPr algn="just"/>
            <a:r>
              <a:rPr lang="en-US" sz="2400" dirty="0"/>
              <a:t>Consider the above numerical dataset, which represents the task of heart attack prediction. As one can see, 13 attributes represent a patient’s details and level of health. </a:t>
            </a:r>
          </a:p>
          <a:p>
            <a:pPr algn="just"/>
            <a:endParaRPr lang="en-US" sz="600" dirty="0"/>
          </a:p>
          <a:p>
            <a:pPr algn="just"/>
            <a:r>
              <a:rPr lang="en-US" sz="2400" dirty="0"/>
              <a:t>The last attribute, the output, has a binary class(0 or 1) representing whether a heart attack is possible.</a:t>
            </a:r>
          </a:p>
          <a:p>
            <a:pPr algn="just"/>
            <a:endParaRPr lang="en-US" sz="600" dirty="0"/>
          </a:p>
          <a:p>
            <a:pPr algn="just"/>
            <a:r>
              <a:rPr lang="en-US" sz="2400" dirty="0"/>
              <a:t>ML models learn from these 13 attributes and develop a pattern that outputs the respective binary value.</a:t>
            </a:r>
          </a:p>
        </p:txBody>
      </p:sp>
    </p:spTree>
    <p:extLst>
      <p:ext uri="{BB962C8B-B14F-4D97-AF65-F5344CB8AC3E}">
        <p14:creationId xmlns:p14="http://schemas.microsoft.com/office/powerpoint/2010/main" val="1618191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774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3272" y="373993"/>
            <a:ext cx="10076688" cy="6247864"/>
          </a:xfrm>
          <a:prstGeom prst="rect">
            <a:avLst/>
          </a:prstGeom>
        </p:spPr>
        <p:txBody>
          <a:bodyPr wrap="square">
            <a:spAutoFit/>
          </a:bodyPr>
          <a:lstStyle/>
          <a:p>
            <a:pPr algn="just"/>
            <a:r>
              <a:rPr lang="en-US" sz="2800" b="1" dirty="0">
                <a:effectLst>
                  <a:outerShdw blurRad="38100" dist="38100" dir="2700000" algn="tl">
                    <a:srgbClr val="000000">
                      <a:alpha val="43137"/>
                    </a:srgbClr>
                  </a:outerShdw>
                </a:effectLst>
              </a:rPr>
              <a:t>What is Test Dataset?</a:t>
            </a:r>
          </a:p>
          <a:p>
            <a:pPr algn="just"/>
            <a:endParaRPr lang="en-US" sz="1200" dirty="0"/>
          </a:p>
          <a:p>
            <a:pPr algn="just"/>
            <a:r>
              <a:rPr lang="en-US" sz="2400" dirty="0"/>
              <a:t>Once we train the model with the training dataset, it's time to test the model with the test dataset. This dataset evaluates the performance of the model and ensures that the model can generalize well with the new or unseen dataset. </a:t>
            </a:r>
            <a:r>
              <a:rPr lang="en-US" sz="2400" b="1" i="1" dirty="0"/>
              <a:t>The test dataset is another subset of original data, which is independent of the training dataset</a:t>
            </a:r>
            <a:r>
              <a:rPr lang="en-US" sz="2400" dirty="0"/>
              <a:t>. </a:t>
            </a:r>
          </a:p>
          <a:p>
            <a:pPr algn="just"/>
            <a:endParaRPr lang="en-US" sz="1200" dirty="0"/>
          </a:p>
          <a:p>
            <a:pPr algn="just"/>
            <a:r>
              <a:rPr lang="en-US" sz="2400" dirty="0"/>
              <a:t>However, it has some similar types of features and class probability distribution and uses it as a benchmark for model evaluation once the model training is completed. </a:t>
            </a:r>
          </a:p>
          <a:p>
            <a:pPr algn="just"/>
            <a:endParaRPr lang="en-US" sz="1200" dirty="0"/>
          </a:p>
          <a:p>
            <a:pPr algn="just"/>
            <a:r>
              <a:rPr lang="en-US" sz="2400" b="1" dirty="0">
                <a:effectLst>
                  <a:outerShdw blurRad="38100" dist="38100" dir="2700000" algn="tl">
                    <a:srgbClr val="000000">
                      <a:alpha val="43137"/>
                    </a:srgbClr>
                  </a:outerShdw>
                </a:effectLst>
              </a:rPr>
              <a:t>Test data </a:t>
            </a:r>
            <a:r>
              <a:rPr lang="en-US" sz="2400" dirty="0"/>
              <a:t>is a well-organized dataset that contains data for each type of scenario for a given problem that the model would be facing when used in the real world. </a:t>
            </a:r>
          </a:p>
          <a:p>
            <a:pPr algn="just"/>
            <a:endParaRPr lang="en-US" sz="1200" dirty="0"/>
          </a:p>
          <a:p>
            <a:pPr algn="just"/>
            <a:r>
              <a:rPr lang="en-US" sz="2400" dirty="0"/>
              <a:t>Usually, </a:t>
            </a:r>
            <a:r>
              <a:rPr lang="en-US" sz="2400" b="1" u="sng" dirty="0">
                <a:effectLst>
                  <a:outerShdw blurRad="38100" dist="38100" dir="2700000" algn="tl">
                    <a:srgbClr val="000000">
                      <a:alpha val="43137"/>
                    </a:srgbClr>
                  </a:outerShdw>
                </a:effectLst>
              </a:rPr>
              <a:t>the test dataset is approximately 20-25% </a:t>
            </a:r>
            <a:r>
              <a:rPr lang="en-US" sz="2400" dirty="0"/>
              <a:t>of the total original data for an ML project.</a:t>
            </a:r>
          </a:p>
        </p:txBody>
      </p:sp>
    </p:spTree>
    <p:extLst>
      <p:ext uri="{BB962C8B-B14F-4D97-AF65-F5344CB8AC3E}">
        <p14:creationId xmlns:p14="http://schemas.microsoft.com/office/powerpoint/2010/main" val="296577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2960" y="2363831"/>
            <a:ext cx="10597896" cy="1938992"/>
          </a:xfrm>
          <a:prstGeom prst="rect">
            <a:avLst/>
          </a:prstGeom>
        </p:spPr>
        <p:txBody>
          <a:bodyPr wrap="square">
            <a:spAutoFit/>
          </a:bodyPr>
          <a:lstStyle/>
          <a:p>
            <a:pPr>
              <a:lnSpc>
                <a:spcPct val="125000"/>
              </a:lnSpc>
            </a:pPr>
            <a:r>
              <a:rPr lang="en-US" sz="3200" b="1" u="sng" dirty="0">
                <a:solidFill>
                  <a:srgbClr val="FF0000"/>
                </a:solidFill>
                <a:effectLst>
                  <a:outerShdw blurRad="38100" dist="38100" dir="2700000" algn="tl">
                    <a:srgbClr val="000000">
                      <a:alpha val="43137"/>
                    </a:srgbClr>
                  </a:outerShdw>
                </a:effectLst>
              </a:rPr>
              <a:t>The testing data should</a:t>
            </a:r>
            <a:r>
              <a:rPr lang="en-US" sz="3200" b="1" dirty="0">
                <a:effectLst>
                  <a:outerShdw blurRad="38100" dist="38100" dir="2700000" algn="tl">
                    <a:srgbClr val="000000">
                      <a:alpha val="43137"/>
                    </a:srgbClr>
                  </a:outerShdw>
                </a:effectLst>
              </a:rPr>
              <a:t>:</a:t>
            </a:r>
          </a:p>
          <a:p>
            <a:pPr>
              <a:lnSpc>
                <a:spcPct val="125000"/>
              </a:lnSpc>
            </a:pPr>
            <a:r>
              <a:rPr lang="en-US" sz="3200" dirty="0"/>
              <a:t>   </a:t>
            </a:r>
            <a:r>
              <a:rPr lang="en-US" sz="3200" dirty="0">
                <a:sym typeface="Wingdings" panose="05000000000000000000" pitchFamily="2" charset="2"/>
              </a:rPr>
              <a:t> </a:t>
            </a:r>
            <a:r>
              <a:rPr lang="en-US" sz="3200" dirty="0"/>
              <a:t>Represent or part of the original dataset.   </a:t>
            </a:r>
          </a:p>
          <a:p>
            <a:pPr>
              <a:lnSpc>
                <a:spcPct val="125000"/>
              </a:lnSpc>
            </a:pPr>
            <a:r>
              <a:rPr lang="en-US" sz="3200" dirty="0"/>
              <a:t>   </a:t>
            </a:r>
            <a:r>
              <a:rPr lang="en-US" sz="3200" dirty="0">
                <a:sym typeface="Wingdings" panose="05000000000000000000" pitchFamily="2" charset="2"/>
              </a:rPr>
              <a:t></a:t>
            </a:r>
            <a:r>
              <a:rPr lang="en-US" sz="3200" dirty="0"/>
              <a:t>It should be large enough to give meaningful predictions.</a:t>
            </a:r>
          </a:p>
        </p:txBody>
      </p:sp>
    </p:spTree>
    <p:extLst>
      <p:ext uri="{BB962C8B-B14F-4D97-AF65-F5344CB8AC3E}">
        <p14:creationId xmlns:p14="http://schemas.microsoft.com/office/powerpoint/2010/main" val="697797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1560" y="602593"/>
            <a:ext cx="10168128" cy="5570756"/>
          </a:xfrm>
          <a:prstGeom prst="rect">
            <a:avLst/>
          </a:prstGeom>
        </p:spPr>
        <p:txBody>
          <a:bodyPr wrap="square">
            <a:spAutoFit/>
          </a:bodyPr>
          <a:lstStyle/>
          <a:p>
            <a:pPr algn="ctr"/>
            <a:r>
              <a:rPr lang="en-US" sz="3200" b="1" dirty="0">
                <a:solidFill>
                  <a:srgbClr val="FF0000"/>
                </a:solidFill>
                <a:effectLst>
                  <a:outerShdw blurRad="38100" dist="38100" dir="2700000" algn="tl">
                    <a:srgbClr val="000000">
                      <a:alpha val="43137"/>
                    </a:srgbClr>
                  </a:outerShdw>
                </a:effectLst>
              </a:rPr>
              <a:t>Overfitting and </a:t>
            </a:r>
            <a:r>
              <a:rPr lang="en-US" sz="3200" b="1" dirty="0" err="1">
                <a:solidFill>
                  <a:srgbClr val="FF0000"/>
                </a:solidFill>
                <a:effectLst>
                  <a:outerShdw blurRad="38100" dist="38100" dir="2700000" algn="tl">
                    <a:srgbClr val="000000">
                      <a:alpha val="43137"/>
                    </a:srgbClr>
                  </a:outerShdw>
                </a:effectLst>
              </a:rPr>
              <a:t>Underfitting</a:t>
            </a:r>
            <a:r>
              <a:rPr lang="en-US" sz="3200" b="1" dirty="0">
                <a:solidFill>
                  <a:srgbClr val="FF0000"/>
                </a:solidFill>
                <a:effectLst>
                  <a:outerShdw blurRad="38100" dist="38100" dir="2700000" algn="tl">
                    <a:srgbClr val="000000">
                      <a:alpha val="43137"/>
                    </a:srgbClr>
                  </a:outerShdw>
                </a:effectLst>
              </a:rPr>
              <a:t> issues</a:t>
            </a:r>
          </a:p>
          <a:p>
            <a:endParaRPr lang="en-US" sz="1200" dirty="0"/>
          </a:p>
          <a:p>
            <a:pPr algn="just"/>
            <a:r>
              <a:rPr lang="en-US" sz="2400" b="1" dirty="0">
                <a:solidFill>
                  <a:schemeClr val="accent2">
                    <a:lumMod val="75000"/>
                  </a:schemeClr>
                </a:solidFill>
                <a:effectLst>
                  <a:outerShdw blurRad="38100" dist="38100" dir="2700000" algn="tl">
                    <a:srgbClr val="000000">
                      <a:alpha val="43137"/>
                    </a:srgbClr>
                  </a:outerShdw>
                </a:effectLst>
              </a:rPr>
              <a:t>Overfitting</a:t>
            </a:r>
            <a:r>
              <a:rPr lang="en-US" sz="2400" dirty="0"/>
              <a:t> and </a:t>
            </a:r>
            <a:r>
              <a:rPr lang="en-US" sz="2400" b="1" dirty="0" err="1">
                <a:solidFill>
                  <a:srgbClr val="0070C0"/>
                </a:solidFill>
                <a:effectLst>
                  <a:outerShdw blurRad="38100" dist="38100" dir="2700000" algn="tl">
                    <a:srgbClr val="000000">
                      <a:alpha val="43137"/>
                    </a:srgbClr>
                  </a:outerShdw>
                </a:effectLst>
              </a:rPr>
              <a:t>underfitting</a:t>
            </a:r>
            <a:r>
              <a:rPr lang="en-US" sz="2400" dirty="0"/>
              <a:t> are the most common problems that occur in the Machine Learning model.</a:t>
            </a:r>
          </a:p>
          <a:p>
            <a:pPr algn="just"/>
            <a:endParaRPr lang="en-US" sz="1200" i="1" dirty="0"/>
          </a:p>
          <a:p>
            <a:pPr algn="just"/>
            <a:r>
              <a:rPr lang="en-US" sz="2400" i="1" dirty="0"/>
              <a:t>A model can be said as </a:t>
            </a:r>
            <a:r>
              <a:rPr lang="en-US" sz="2400" b="1" i="1" dirty="0" err="1">
                <a:solidFill>
                  <a:schemeClr val="accent2">
                    <a:lumMod val="75000"/>
                  </a:schemeClr>
                </a:solidFill>
              </a:rPr>
              <a:t>overfitted</a:t>
            </a:r>
            <a:r>
              <a:rPr lang="en-US" sz="2400" i="1" dirty="0"/>
              <a:t> when it performs quite well with the training dataset </a:t>
            </a:r>
            <a:r>
              <a:rPr lang="en-US" sz="2400" b="1" i="1" u="sng" dirty="0"/>
              <a:t>but does not generalize well with the new or unseen dataset</a:t>
            </a:r>
            <a:r>
              <a:rPr lang="en-US" sz="2400" dirty="0"/>
              <a:t>. </a:t>
            </a:r>
          </a:p>
          <a:p>
            <a:pPr algn="just"/>
            <a:endParaRPr lang="en-US" sz="1200" dirty="0"/>
          </a:p>
          <a:p>
            <a:pPr algn="just"/>
            <a:r>
              <a:rPr lang="en-US" sz="2400" dirty="0"/>
              <a:t>The issue of overfitting occurs when the model tries to cover all the data points and hence starts caching noises present in the data. Due to this, it can't generalize well to the new dataset. Because of these issues, the accuracy and efficiency of the model degrade. </a:t>
            </a:r>
          </a:p>
          <a:p>
            <a:pPr algn="just"/>
            <a:endParaRPr lang="en-US" sz="1200" dirty="0"/>
          </a:p>
          <a:p>
            <a:pPr algn="just"/>
            <a:r>
              <a:rPr lang="en-US" sz="2400" dirty="0"/>
              <a:t>Generally, the complex model has a high chance of overfitting. There are various ways by which we can avoid overfitting in the model, such as Using the </a:t>
            </a:r>
            <a:r>
              <a:rPr lang="en-US" sz="2400" b="1" dirty="0"/>
              <a:t>Cross-Validation method, early stopping the training, or by regularization</a:t>
            </a:r>
            <a:r>
              <a:rPr lang="en-US" sz="2400" dirty="0"/>
              <a:t>, etc.</a:t>
            </a:r>
          </a:p>
        </p:txBody>
      </p:sp>
    </p:spTree>
    <p:extLst>
      <p:ext uri="{BB962C8B-B14F-4D97-AF65-F5344CB8AC3E}">
        <p14:creationId xmlns:p14="http://schemas.microsoft.com/office/powerpoint/2010/main" val="914729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1208" y="217207"/>
            <a:ext cx="11100816" cy="4031873"/>
          </a:xfrm>
          <a:prstGeom prst="rect">
            <a:avLst/>
          </a:prstGeom>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rPr>
              <a:t>Examples to identify overfitting &amp; </a:t>
            </a:r>
            <a:r>
              <a:rPr lang="en-US" sz="3200" b="1" dirty="0" err="1">
                <a:solidFill>
                  <a:srgbClr val="0070C0"/>
                </a:solidFill>
                <a:effectLst>
                  <a:outerShdw blurRad="38100" dist="38100" dir="2700000" algn="tl">
                    <a:srgbClr val="000000">
                      <a:alpha val="43137"/>
                    </a:srgbClr>
                  </a:outerShdw>
                </a:effectLst>
              </a:rPr>
              <a:t>underfitting</a:t>
            </a:r>
            <a:endParaRPr lang="en-US" sz="3200" b="1" dirty="0">
              <a:solidFill>
                <a:srgbClr val="0070C0"/>
              </a:solidFill>
              <a:effectLst>
                <a:outerShdw blurRad="38100" dist="38100" dir="2700000" algn="tl">
                  <a:srgbClr val="000000">
                    <a:alpha val="43137"/>
                  </a:srgbClr>
                </a:outerShdw>
              </a:effectLst>
            </a:endParaRPr>
          </a:p>
          <a:p>
            <a:endParaRPr lang="en-US" sz="600" b="1" dirty="0"/>
          </a:p>
          <a:p>
            <a:r>
              <a:rPr lang="en-US" sz="2400" b="1" dirty="0"/>
              <a:t>Example 1:</a:t>
            </a:r>
            <a:endParaRPr lang="en-US" sz="2400" dirty="0"/>
          </a:p>
          <a:p>
            <a:pPr algn="just"/>
            <a:r>
              <a:rPr lang="en-US" sz="2200" dirty="0"/>
              <a:t>Suppose we observe the model performance on the training and testing data</a:t>
            </a:r>
          </a:p>
          <a:p>
            <a:pPr algn="just"/>
            <a:r>
              <a:rPr lang="en-US" sz="2200" dirty="0"/>
              <a:t>   - Training Accuracy: </a:t>
            </a:r>
            <a:r>
              <a:rPr lang="en-US" sz="2200" b="1" dirty="0"/>
              <a:t>97%  </a:t>
            </a:r>
            <a:r>
              <a:rPr lang="en-US" sz="2200" dirty="0"/>
              <a:t>and Testing Accuracy: </a:t>
            </a:r>
            <a:r>
              <a:rPr lang="en-US" sz="2200" b="1" dirty="0"/>
              <a:t>68%</a:t>
            </a:r>
            <a:endParaRPr lang="en-US" sz="2200" dirty="0"/>
          </a:p>
          <a:p>
            <a:pPr algn="just"/>
            <a:r>
              <a:rPr lang="en-US" sz="2200" dirty="0"/>
              <a:t>As one can see, the training accuracy is very high, while the testing accuracy shows poor performance. In this scenario, the model most likely </a:t>
            </a:r>
            <a:r>
              <a:rPr lang="en-US" sz="2200" b="1" dirty="0" err="1">
                <a:solidFill>
                  <a:srgbClr val="0070C0"/>
                </a:solidFill>
                <a:effectLst>
                  <a:outerShdw blurRad="38100" dist="38100" dir="2700000" algn="tl">
                    <a:srgbClr val="000000">
                      <a:alpha val="43137"/>
                    </a:srgbClr>
                  </a:outerShdw>
                </a:effectLst>
              </a:rPr>
              <a:t>overfits</a:t>
            </a:r>
            <a:r>
              <a:rPr lang="en-US" sz="2200" b="1" dirty="0">
                <a:solidFill>
                  <a:srgbClr val="0070C0"/>
                </a:solidFill>
                <a:effectLst>
                  <a:outerShdw blurRad="38100" dist="38100" dir="2700000" algn="tl">
                    <a:srgbClr val="000000">
                      <a:alpha val="43137"/>
                    </a:srgbClr>
                  </a:outerShdw>
                </a:effectLst>
              </a:rPr>
              <a:t> the data</a:t>
            </a:r>
            <a:r>
              <a:rPr lang="en-US" sz="2200" dirty="0"/>
              <a:t>.</a:t>
            </a:r>
          </a:p>
          <a:p>
            <a:endParaRPr lang="en-US" sz="600" dirty="0"/>
          </a:p>
          <a:p>
            <a:r>
              <a:rPr lang="en-US" sz="2400" b="1" dirty="0"/>
              <a:t>Example 2:</a:t>
            </a:r>
            <a:endParaRPr lang="en-US" sz="2400" dirty="0"/>
          </a:p>
          <a:p>
            <a:r>
              <a:rPr lang="en-US" sz="2200" dirty="0"/>
              <a:t>   - Training Accuracy: </a:t>
            </a:r>
            <a:r>
              <a:rPr lang="en-US" sz="2200" b="1" dirty="0"/>
              <a:t>60%  </a:t>
            </a:r>
            <a:r>
              <a:rPr lang="en-US" sz="2200" dirty="0"/>
              <a:t>and</a:t>
            </a:r>
            <a:r>
              <a:rPr lang="en-US" sz="2200" b="1" dirty="0"/>
              <a:t>  </a:t>
            </a:r>
            <a:r>
              <a:rPr lang="en-US" sz="2200" dirty="0"/>
              <a:t>Testing Accuracy: </a:t>
            </a:r>
            <a:r>
              <a:rPr lang="en-US" sz="2200" b="1" dirty="0"/>
              <a:t>55%</a:t>
            </a:r>
            <a:endParaRPr lang="en-US" sz="2200" dirty="0"/>
          </a:p>
          <a:p>
            <a:pPr algn="just"/>
            <a:r>
              <a:rPr lang="en-US" sz="2200" dirty="0"/>
              <a:t>Here, one can see that the training accuracy is very low, and the testing accuracy also shows poor performance</a:t>
            </a:r>
            <a:r>
              <a:rPr lang="en-US" sz="2400" dirty="0"/>
              <a:t>. In this scenario, the model most likely </a:t>
            </a:r>
            <a:r>
              <a:rPr lang="en-US" sz="2400" b="1" dirty="0" err="1">
                <a:solidFill>
                  <a:srgbClr val="0070C0"/>
                </a:solidFill>
                <a:effectLst>
                  <a:outerShdw blurRad="38100" dist="38100" dir="2700000" algn="tl">
                    <a:srgbClr val="000000">
                      <a:alpha val="43137"/>
                    </a:srgbClr>
                  </a:outerShdw>
                </a:effectLst>
              </a:rPr>
              <a:t>underfits</a:t>
            </a:r>
            <a:r>
              <a:rPr lang="en-US" sz="2400" b="1" dirty="0">
                <a:solidFill>
                  <a:srgbClr val="0070C0"/>
                </a:solidFill>
                <a:effectLst>
                  <a:outerShdw blurRad="38100" dist="38100" dir="2700000" algn="tl">
                    <a:srgbClr val="000000">
                      <a:alpha val="43137"/>
                    </a:srgbClr>
                  </a:outerShdw>
                </a:effectLst>
              </a:rPr>
              <a:t> the data</a:t>
            </a:r>
            <a:r>
              <a:rPr lang="en-US" sz="2400" dirty="0"/>
              <a:t>.</a:t>
            </a:r>
          </a:p>
        </p:txBody>
      </p:sp>
      <p:pic>
        <p:nvPicPr>
          <p:cNvPr id="3" name="Picture 2"/>
          <p:cNvPicPr>
            <a:picLocks noChangeAspect="1"/>
          </p:cNvPicPr>
          <p:nvPr/>
        </p:nvPicPr>
        <p:blipFill>
          <a:blip r:embed="rId2"/>
          <a:stretch>
            <a:fillRect/>
          </a:stretch>
        </p:blipFill>
        <p:spPr>
          <a:xfrm>
            <a:off x="2404874" y="4129098"/>
            <a:ext cx="7231661" cy="2468880"/>
          </a:xfrm>
          <a:prstGeom prst="rect">
            <a:avLst/>
          </a:prstGeom>
        </p:spPr>
      </p:pic>
    </p:spTree>
    <p:extLst>
      <p:ext uri="{BB962C8B-B14F-4D97-AF65-F5344CB8AC3E}">
        <p14:creationId xmlns:p14="http://schemas.microsoft.com/office/powerpoint/2010/main" val="3325560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2995</TotalTime>
  <Words>2506</Words>
  <Application>Microsoft Office PowerPoint</Application>
  <PresentationFormat>Widescreen</PresentationFormat>
  <Paragraphs>176</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MN</dc:creator>
  <cp:lastModifiedBy>Shaon Khan</cp:lastModifiedBy>
  <cp:revision>103</cp:revision>
  <dcterms:created xsi:type="dcterms:W3CDTF">2024-09-10T14:03:28Z</dcterms:created>
  <dcterms:modified xsi:type="dcterms:W3CDTF">2026-07-08T06:19:19Z</dcterms:modified>
</cp:coreProperties>
</file>