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59" r:id="rId4"/>
    <p:sldId id="260" r:id="rId5"/>
    <p:sldId id="272" r:id="rId6"/>
    <p:sldId id="261" r:id="rId7"/>
    <p:sldId id="262" r:id="rId8"/>
    <p:sldId id="263" r:id="rId9"/>
    <p:sldId id="273" r:id="rId10"/>
    <p:sldId id="274" r:id="rId11"/>
    <p:sldId id="264" r:id="rId12"/>
    <p:sldId id="265" r:id="rId13"/>
    <p:sldId id="266" r:id="rId14"/>
    <p:sldId id="267" r:id="rId15"/>
    <p:sldId id="268" r:id="rId16"/>
    <p:sldId id="275" r:id="rId17"/>
    <p:sldId id="276" r:id="rId18"/>
    <p:sldId id="277" r:id="rId19"/>
    <p:sldId id="280" r:id="rId20"/>
    <p:sldId id="279" r:id="rId21"/>
    <p:sldId id="281" r:id="rId22"/>
    <p:sldId id="282" r:id="rId23"/>
    <p:sldId id="283" r:id="rId24"/>
    <p:sldId id="284" r:id="rId25"/>
    <p:sldId id="285" r:id="rId26"/>
    <p:sldId id="286" r:id="rId27"/>
    <p:sldId id="287" r:id="rId28"/>
    <p:sldId id="288" r:id="rId29"/>
    <p:sldId id="289"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792268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98721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134453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E482CB-BE0E-45A2-A8F9-AF0B7F554A3D}"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131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E482CB-BE0E-45A2-A8F9-AF0B7F554A3D}" type="datetimeFigureOut">
              <a:rPr lang="en-US" smtClean="0"/>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19004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E482CB-BE0E-45A2-A8F9-AF0B7F554A3D}"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2589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8766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62287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5753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64517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31566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10/21/2024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confusion-matrix-machine-learn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64208" y="2017699"/>
            <a:ext cx="9153144" cy="830997"/>
          </a:xfrm>
          <a:prstGeom prst="rect">
            <a:avLst/>
          </a:prstGeom>
        </p:spPr>
        <p:txBody>
          <a:bodyPr wrap="square">
            <a:spAutoFit/>
          </a:bodyPr>
          <a:lstStyle/>
          <a:p>
            <a:pPr algn="ctr"/>
            <a:r>
              <a:rPr lang="en-US" sz="4800" b="1" spc="150" dirty="0" smtClean="0">
                <a:solidFill>
                  <a:srgbClr val="002060"/>
                </a:solidFill>
                <a:effectLst>
                  <a:outerShdw blurRad="38100" dist="38100" dir="2700000" algn="tl">
                    <a:srgbClr val="000000">
                      <a:alpha val="43137"/>
                    </a:srgbClr>
                  </a:outerShdw>
                </a:effectLst>
              </a:rPr>
              <a:t>Chapter 4</a:t>
            </a:r>
            <a:endParaRPr lang="en-US" sz="4800" b="1" spc="15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95481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0432" y="878253"/>
            <a:ext cx="9893808" cy="5386090"/>
          </a:xfrm>
          <a:prstGeom prst="rect">
            <a:avLst/>
          </a:prstGeom>
        </p:spPr>
        <p:txBody>
          <a:bodyPr wrap="square">
            <a:spAutoFit/>
          </a:bodyPr>
          <a:lstStyle/>
          <a:p>
            <a:pPr algn="ctr"/>
            <a:r>
              <a:rPr lang="en-US" sz="3200" b="1" dirty="0">
                <a:solidFill>
                  <a:srgbClr val="FF0000"/>
                </a:solidFill>
                <a:effectLst>
                  <a:outerShdw blurRad="38100" dist="38100" dir="2700000" algn="tl">
                    <a:srgbClr val="000000">
                      <a:alpha val="43137"/>
                    </a:srgbClr>
                  </a:outerShdw>
                </a:effectLst>
              </a:rPr>
              <a:t>Definitions, Characteristics, and </a:t>
            </a:r>
            <a:r>
              <a:rPr lang="en-US" sz="3200" b="1" dirty="0" smtClean="0">
                <a:solidFill>
                  <a:srgbClr val="FF0000"/>
                </a:solidFill>
                <a:effectLst>
                  <a:outerShdw blurRad="38100" dist="38100" dir="2700000" algn="tl">
                    <a:srgbClr val="000000">
                      <a:alpha val="43137"/>
                    </a:srgbClr>
                  </a:outerShdw>
                </a:effectLst>
              </a:rPr>
              <a:t>Benefits </a:t>
            </a:r>
          </a:p>
          <a:p>
            <a:pPr algn="just"/>
            <a:endParaRPr lang="en-US" sz="1200" dirty="0" smtClean="0"/>
          </a:p>
          <a:p>
            <a:pPr algn="just"/>
            <a:r>
              <a:rPr lang="en-US" sz="2400" dirty="0" smtClean="0"/>
              <a:t>Simply </a:t>
            </a:r>
            <a:r>
              <a:rPr lang="en-US" sz="2400" dirty="0"/>
              <a:t>defined, </a:t>
            </a:r>
            <a:r>
              <a:rPr lang="en-US" sz="2400" b="1" dirty="0">
                <a:solidFill>
                  <a:srgbClr val="7030A0"/>
                </a:solidFill>
                <a:effectLst>
                  <a:outerShdw blurRad="38100" dist="38100" dir="2700000" algn="tl">
                    <a:srgbClr val="000000">
                      <a:alpha val="43137"/>
                    </a:srgbClr>
                  </a:outerShdw>
                </a:effectLst>
              </a:rPr>
              <a:t>data mining </a:t>
            </a:r>
            <a:r>
              <a:rPr lang="en-US" sz="2400" dirty="0"/>
              <a:t>is a term used to describe discovering or “mining” </a:t>
            </a:r>
            <a:r>
              <a:rPr lang="en-US" sz="2400" dirty="0" smtClean="0"/>
              <a:t>knowledge </a:t>
            </a:r>
            <a:r>
              <a:rPr lang="en-US" sz="2400" dirty="0"/>
              <a:t>from </a:t>
            </a:r>
            <a:r>
              <a:rPr lang="en-US" sz="2400" b="1" dirty="0">
                <a:solidFill>
                  <a:srgbClr val="FF0000"/>
                </a:solidFill>
                <a:effectLst>
                  <a:outerShdw blurRad="38100" dist="38100" dir="2700000" algn="tl">
                    <a:srgbClr val="000000">
                      <a:alpha val="43137"/>
                    </a:srgbClr>
                  </a:outerShdw>
                </a:effectLst>
              </a:rPr>
              <a:t>large amounts of data</a:t>
            </a:r>
            <a:r>
              <a:rPr lang="en-US" sz="2400" dirty="0"/>
              <a:t>. </a:t>
            </a:r>
            <a:endParaRPr lang="en-US" sz="2400" dirty="0" smtClean="0"/>
          </a:p>
          <a:p>
            <a:pPr algn="just"/>
            <a:endParaRPr lang="en-US" sz="1200" dirty="0"/>
          </a:p>
          <a:p>
            <a:pPr algn="just"/>
            <a:r>
              <a:rPr lang="en-US" sz="2400" dirty="0" smtClean="0"/>
              <a:t>When </a:t>
            </a:r>
            <a:r>
              <a:rPr lang="en-US" sz="2400" dirty="0"/>
              <a:t>considered by analogy, one can easily realize that the term </a:t>
            </a:r>
            <a:r>
              <a:rPr lang="en-US" sz="2400" b="1" dirty="0">
                <a:solidFill>
                  <a:srgbClr val="FF0000"/>
                </a:solidFill>
                <a:effectLst>
                  <a:outerShdw blurRad="38100" dist="38100" dir="2700000" algn="tl">
                    <a:srgbClr val="000000">
                      <a:alpha val="43137"/>
                    </a:srgbClr>
                  </a:outerShdw>
                </a:effectLst>
              </a:rPr>
              <a:t>data mining is a misnomer</a:t>
            </a:r>
            <a:r>
              <a:rPr lang="en-US" sz="2400" dirty="0"/>
              <a:t>; that is, mining of gold from within rocks or dirt is referred to as “gold” mining rather than “rock” or “dirt” mining. Therefore, data mining perhaps should have been named “</a:t>
            </a:r>
            <a:r>
              <a:rPr lang="en-US" sz="2400" b="1" u="sng" dirty="0"/>
              <a:t>knowledge mining</a:t>
            </a:r>
            <a:r>
              <a:rPr lang="en-US" sz="2400" dirty="0"/>
              <a:t>” or “</a:t>
            </a:r>
            <a:r>
              <a:rPr lang="en-US" sz="2400" b="1" i="1" dirty="0"/>
              <a:t>knowledge discovery</a:t>
            </a:r>
            <a:r>
              <a:rPr lang="en-US" sz="2400" dirty="0"/>
              <a:t>.” </a:t>
            </a:r>
            <a:endParaRPr lang="en-US" sz="2400" dirty="0" smtClean="0"/>
          </a:p>
          <a:p>
            <a:pPr algn="just"/>
            <a:endParaRPr lang="en-US" sz="1200" dirty="0"/>
          </a:p>
          <a:p>
            <a:pPr algn="just"/>
            <a:r>
              <a:rPr lang="en-US" sz="2400" dirty="0" smtClean="0"/>
              <a:t>Despite </a:t>
            </a:r>
            <a:r>
              <a:rPr lang="en-US" sz="2400" dirty="0"/>
              <a:t>the mismatch between the term and its meaning, data mining has become the choice of the community. Many other names that are associated with data mining include knowledge extraction, pattern analysis, data archaeology, information harvesting, pattern searching, and data dredging.</a:t>
            </a:r>
          </a:p>
        </p:txBody>
      </p:sp>
    </p:spTree>
    <p:extLst>
      <p:ext uri="{BB962C8B-B14F-4D97-AF65-F5344CB8AC3E}">
        <p14:creationId xmlns:p14="http://schemas.microsoft.com/office/powerpoint/2010/main" val="239436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7592" y="878485"/>
            <a:ext cx="4663440" cy="4832092"/>
          </a:xfrm>
          <a:prstGeom prst="rect">
            <a:avLst/>
          </a:prstGeom>
        </p:spPr>
        <p:txBody>
          <a:bodyPr wrap="square">
            <a:spAutoFit/>
          </a:bodyPr>
          <a:lstStyle/>
          <a:p>
            <a:pPr algn="just"/>
            <a:r>
              <a:rPr lang="en-US" sz="2800" b="1" dirty="0">
                <a:solidFill>
                  <a:schemeClr val="accent2">
                    <a:lumMod val="75000"/>
                  </a:schemeClr>
                </a:solidFill>
                <a:effectLst>
                  <a:outerShdw blurRad="38100" dist="38100" dir="2700000" algn="tl">
                    <a:srgbClr val="000000">
                      <a:alpha val="43137"/>
                    </a:srgbClr>
                  </a:outerShdw>
                </a:effectLst>
              </a:rPr>
              <a:t>Technically speaking, data mining </a:t>
            </a:r>
            <a:r>
              <a:rPr lang="en-US" sz="2400" dirty="0"/>
              <a:t>is a process that uses </a:t>
            </a:r>
            <a:r>
              <a:rPr lang="en-US" sz="2400" i="1" dirty="0">
                <a:solidFill>
                  <a:srgbClr val="FF0000"/>
                </a:solidFill>
              </a:rPr>
              <a:t>statistical</a:t>
            </a:r>
            <a:r>
              <a:rPr lang="en-US" sz="2400" dirty="0"/>
              <a:t>, </a:t>
            </a:r>
            <a:r>
              <a:rPr lang="en-US" sz="2400" i="1" dirty="0">
                <a:solidFill>
                  <a:schemeClr val="accent6">
                    <a:lumMod val="75000"/>
                  </a:schemeClr>
                </a:solidFill>
              </a:rPr>
              <a:t>mathematical</a:t>
            </a:r>
            <a:r>
              <a:rPr lang="en-US" sz="2400" dirty="0"/>
              <a:t>, and </a:t>
            </a:r>
            <a:r>
              <a:rPr lang="en-US" sz="2400" i="1" dirty="0">
                <a:solidFill>
                  <a:srgbClr val="7030A0"/>
                </a:solidFill>
              </a:rPr>
              <a:t>artificial intelligence</a:t>
            </a:r>
            <a:r>
              <a:rPr lang="en-US" sz="2400" dirty="0"/>
              <a:t> </a:t>
            </a:r>
            <a:r>
              <a:rPr lang="en-US" sz="2400" b="1" dirty="0"/>
              <a:t>techniques</a:t>
            </a:r>
            <a:r>
              <a:rPr lang="en-US" sz="2400" dirty="0"/>
              <a:t> to extract and identify useful information and </a:t>
            </a:r>
            <a:r>
              <a:rPr lang="en-US" sz="2400" dirty="0" smtClean="0"/>
              <a:t>subsequent </a:t>
            </a:r>
            <a:r>
              <a:rPr lang="en-US" sz="2400" dirty="0"/>
              <a:t>knowledge (or patterns) from large sets of data. </a:t>
            </a:r>
            <a:endParaRPr lang="en-US" sz="2400" dirty="0" smtClean="0"/>
          </a:p>
          <a:p>
            <a:pPr algn="just"/>
            <a:endParaRPr lang="en-US" sz="1200" dirty="0"/>
          </a:p>
          <a:p>
            <a:pPr algn="just"/>
            <a:r>
              <a:rPr lang="en-US" sz="2400" dirty="0" smtClean="0"/>
              <a:t>These </a:t>
            </a:r>
            <a:r>
              <a:rPr lang="en-US" sz="2400" dirty="0"/>
              <a:t>patterns can be in the form of business rules, affinities, correlations, trends, or prediction </a:t>
            </a:r>
            <a:r>
              <a:rPr lang="en-US" sz="2400" dirty="0" smtClean="0"/>
              <a:t>models.</a:t>
            </a:r>
            <a:endParaRPr lang="en-US" sz="2400" dirty="0"/>
          </a:p>
        </p:txBody>
      </p:sp>
      <p:pic>
        <p:nvPicPr>
          <p:cNvPr id="3" name="Picture 2"/>
          <p:cNvPicPr>
            <a:picLocks noChangeAspect="1"/>
          </p:cNvPicPr>
          <p:nvPr/>
        </p:nvPicPr>
        <p:blipFill>
          <a:blip r:embed="rId2"/>
          <a:stretch>
            <a:fillRect/>
          </a:stretch>
        </p:blipFill>
        <p:spPr>
          <a:xfrm>
            <a:off x="6709219" y="878485"/>
            <a:ext cx="4496791" cy="5029200"/>
          </a:xfrm>
          <a:prstGeom prst="rect">
            <a:avLst/>
          </a:prstGeom>
        </p:spPr>
      </p:pic>
    </p:spTree>
    <p:extLst>
      <p:ext uri="{BB962C8B-B14F-4D97-AF65-F5344CB8AC3E}">
        <p14:creationId xmlns:p14="http://schemas.microsoft.com/office/powerpoint/2010/main" val="18754379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7008" y="582091"/>
            <a:ext cx="9811512" cy="5755422"/>
          </a:xfrm>
          <a:prstGeom prst="rect">
            <a:avLst/>
          </a:prstGeom>
        </p:spPr>
        <p:txBody>
          <a:bodyPr wrap="square">
            <a:spAutoFit/>
          </a:bodyPr>
          <a:lstStyle/>
          <a:p>
            <a:r>
              <a:rPr lang="en-US" sz="2800" b="1" dirty="0">
                <a:solidFill>
                  <a:schemeClr val="accent2">
                    <a:lumMod val="75000"/>
                  </a:schemeClr>
                </a:solidFill>
                <a:effectLst>
                  <a:outerShdw blurRad="38100" dist="38100" dir="2700000" algn="tl">
                    <a:srgbClr val="000000">
                      <a:alpha val="43137"/>
                    </a:srgbClr>
                  </a:outerShdw>
                </a:effectLst>
              </a:rPr>
              <a:t>The following are the major characteristics and objectives of data </a:t>
            </a:r>
            <a:r>
              <a:rPr lang="en-US" sz="2800" b="1" dirty="0" smtClean="0">
                <a:solidFill>
                  <a:schemeClr val="accent2">
                    <a:lumMod val="75000"/>
                  </a:schemeClr>
                </a:solidFill>
                <a:effectLst>
                  <a:outerShdw blurRad="38100" dist="38100" dir="2700000" algn="tl">
                    <a:srgbClr val="000000">
                      <a:alpha val="43137"/>
                    </a:srgbClr>
                  </a:outerShdw>
                </a:effectLst>
              </a:rPr>
              <a:t>mining:</a:t>
            </a:r>
          </a:p>
          <a:p>
            <a:endParaRPr lang="en-US" sz="1200" b="1" dirty="0" smtClean="0">
              <a:effectLst>
                <a:outerShdw blurRad="38100" dist="38100" dir="2700000" algn="tl">
                  <a:srgbClr val="000000">
                    <a:alpha val="43137"/>
                  </a:srgbClr>
                </a:outerShdw>
              </a:effectLst>
            </a:endParaRPr>
          </a:p>
          <a:p>
            <a:pPr algn="just"/>
            <a:r>
              <a:rPr lang="en-US" sz="2400" dirty="0" smtClean="0"/>
              <a:t>- </a:t>
            </a:r>
            <a:r>
              <a:rPr lang="en-US" sz="2400" dirty="0" smtClean="0">
                <a:solidFill>
                  <a:schemeClr val="accent6">
                    <a:lumMod val="75000"/>
                  </a:schemeClr>
                </a:solidFill>
              </a:rPr>
              <a:t>Data </a:t>
            </a:r>
            <a:r>
              <a:rPr lang="en-US" sz="2400" dirty="0">
                <a:solidFill>
                  <a:schemeClr val="accent6">
                    <a:lumMod val="75000"/>
                  </a:schemeClr>
                </a:solidFill>
              </a:rPr>
              <a:t>are often </a:t>
            </a:r>
            <a:r>
              <a:rPr lang="en-US" sz="2400" dirty="0" smtClean="0">
                <a:solidFill>
                  <a:schemeClr val="accent6">
                    <a:lumMod val="75000"/>
                  </a:schemeClr>
                </a:solidFill>
              </a:rPr>
              <a:t>buried </a:t>
            </a:r>
            <a:r>
              <a:rPr lang="en-US" sz="2400" dirty="0" smtClean="0"/>
              <a:t>(conceal) </a:t>
            </a:r>
            <a:r>
              <a:rPr lang="en-US" sz="2400" dirty="0"/>
              <a:t>deep within very large databases, which sometimes contain data from several years. In many cases, the data are cleansed and consolidated into a data warehouse</a:t>
            </a:r>
            <a:r>
              <a:rPr lang="en-US" sz="2400" dirty="0" smtClean="0"/>
              <a:t>.</a:t>
            </a:r>
          </a:p>
          <a:p>
            <a:pPr algn="just"/>
            <a:endParaRPr lang="en-US" sz="1200" dirty="0" smtClean="0"/>
          </a:p>
          <a:p>
            <a:pPr algn="just"/>
            <a:r>
              <a:rPr lang="en-US" sz="2400" dirty="0" smtClean="0"/>
              <a:t>- The </a:t>
            </a:r>
            <a:r>
              <a:rPr lang="en-US" sz="2400" dirty="0"/>
              <a:t>data mining environment is usually a </a:t>
            </a:r>
            <a:r>
              <a:rPr lang="en-US" sz="2400" dirty="0">
                <a:solidFill>
                  <a:srgbClr val="7030A0"/>
                </a:solidFill>
              </a:rPr>
              <a:t>client/server architecture </a:t>
            </a:r>
            <a:r>
              <a:rPr lang="en-US" sz="2400" dirty="0"/>
              <a:t>or a Web-based IS </a:t>
            </a:r>
            <a:r>
              <a:rPr lang="en-US" sz="2400" dirty="0" smtClean="0"/>
              <a:t>architecture.</a:t>
            </a:r>
          </a:p>
          <a:p>
            <a:pPr algn="just"/>
            <a:endParaRPr lang="en-US" sz="1200" dirty="0" smtClean="0"/>
          </a:p>
          <a:p>
            <a:pPr algn="just"/>
            <a:r>
              <a:rPr lang="en-US" sz="2400" dirty="0" smtClean="0"/>
              <a:t>- Sophisticated </a:t>
            </a:r>
            <a:r>
              <a:rPr lang="en-US" sz="2400" dirty="0"/>
              <a:t>new tools, including advanced </a:t>
            </a:r>
            <a:r>
              <a:rPr lang="en-US" sz="2400" dirty="0">
                <a:solidFill>
                  <a:schemeClr val="accent2">
                    <a:lumMod val="75000"/>
                  </a:schemeClr>
                </a:solidFill>
              </a:rPr>
              <a:t>visualization tools</a:t>
            </a:r>
            <a:r>
              <a:rPr lang="en-US" sz="2400" dirty="0"/>
              <a:t>, help to remove the information ore buried in corporate files or archival public records</a:t>
            </a:r>
            <a:r>
              <a:rPr lang="en-US" sz="2400" dirty="0" smtClean="0"/>
              <a:t>.</a:t>
            </a:r>
          </a:p>
          <a:p>
            <a:pPr algn="just"/>
            <a:endParaRPr lang="en-US" sz="1200" dirty="0" smtClean="0"/>
          </a:p>
          <a:p>
            <a:pPr algn="just"/>
            <a:r>
              <a:rPr lang="en-US" sz="2400" dirty="0" smtClean="0"/>
              <a:t>- The </a:t>
            </a:r>
            <a:r>
              <a:rPr lang="en-US" sz="2400" dirty="0"/>
              <a:t>miner is often an end user, empowered by data drills and other powerful query tools to ask </a:t>
            </a:r>
            <a:r>
              <a:rPr lang="en-US" sz="2400" dirty="0">
                <a:solidFill>
                  <a:srgbClr val="0070C0"/>
                </a:solidFill>
              </a:rPr>
              <a:t>ad hoc questions </a:t>
            </a:r>
            <a:r>
              <a:rPr lang="en-US" sz="2400" dirty="0"/>
              <a:t>and obtain </a:t>
            </a:r>
            <a:r>
              <a:rPr lang="en-US" sz="2400" dirty="0">
                <a:solidFill>
                  <a:srgbClr val="0070C0"/>
                </a:solidFill>
              </a:rPr>
              <a:t>answers quickly, with little or no </a:t>
            </a:r>
            <a:r>
              <a:rPr lang="en-US" sz="2400" dirty="0" smtClean="0">
                <a:solidFill>
                  <a:srgbClr val="0070C0"/>
                </a:solidFill>
              </a:rPr>
              <a:t>programming skill</a:t>
            </a:r>
            <a:r>
              <a:rPr lang="en-US" sz="2400" dirty="0" smtClean="0"/>
              <a:t>.</a:t>
            </a:r>
          </a:p>
        </p:txBody>
      </p:sp>
    </p:spTree>
    <p:extLst>
      <p:ext uri="{BB962C8B-B14F-4D97-AF65-F5344CB8AC3E}">
        <p14:creationId xmlns:p14="http://schemas.microsoft.com/office/powerpoint/2010/main" val="25595142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3312" y="1862250"/>
            <a:ext cx="9509760" cy="3029790"/>
          </a:xfrm>
          <a:prstGeom prst="rect">
            <a:avLst/>
          </a:prstGeom>
        </p:spPr>
        <p:txBody>
          <a:bodyPr wrap="square">
            <a:spAutoFit/>
          </a:bodyPr>
          <a:lstStyle/>
          <a:p>
            <a:pPr algn="just"/>
            <a:r>
              <a:rPr lang="en-US" sz="2400" dirty="0" smtClean="0"/>
              <a:t>- Striking </a:t>
            </a:r>
            <a:r>
              <a:rPr lang="en-US" sz="2400" dirty="0"/>
              <a:t>it rich often involves finding an unexpected result and requires end users to think creatively throughout the process, including the interpretation of the </a:t>
            </a:r>
            <a:r>
              <a:rPr lang="en-US" sz="2400" dirty="0" smtClean="0"/>
              <a:t>findings</a:t>
            </a:r>
          </a:p>
          <a:p>
            <a:pPr algn="just"/>
            <a:endParaRPr lang="en-US" sz="1200" b="1" dirty="0">
              <a:effectLst>
                <a:outerShdw blurRad="38100" dist="38100" dir="2700000" algn="tl">
                  <a:srgbClr val="000000">
                    <a:alpha val="43137"/>
                  </a:srgbClr>
                </a:outerShdw>
              </a:effectLst>
            </a:endParaRPr>
          </a:p>
          <a:p>
            <a:pPr algn="just"/>
            <a:r>
              <a:rPr lang="en-US" sz="2400" dirty="0" smtClean="0"/>
              <a:t>- Data </a:t>
            </a:r>
            <a:r>
              <a:rPr lang="en-US" sz="2400" dirty="0"/>
              <a:t>mining tools are readily combined with </a:t>
            </a:r>
            <a:r>
              <a:rPr lang="en-US" sz="2400" dirty="0">
                <a:solidFill>
                  <a:schemeClr val="accent2"/>
                </a:solidFill>
              </a:rPr>
              <a:t>spreadsheets and other software </a:t>
            </a:r>
            <a:r>
              <a:rPr lang="en-US" sz="2400" dirty="0" smtClean="0">
                <a:solidFill>
                  <a:schemeClr val="accent2"/>
                </a:solidFill>
              </a:rPr>
              <a:t>development </a:t>
            </a:r>
            <a:r>
              <a:rPr lang="en-US" sz="2400" dirty="0">
                <a:solidFill>
                  <a:schemeClr val="accent2"/>
                </a:solidFill>
              </a:rPr>
              <a:t>tools</a:t>
            </a:r>
            <a:r>
              <a:rPr lang="en-US" sz="2400" dirty="0" smtClean="0">
                <a:solidFill>
                  <a:schemeClr val="accent2"/>
                </a:solidFill>
              </a:rPr>
              <a:t>.</a:t>
            </a:r>
          </a:p>
          <a:p>
            <a:pPr algn="just"/>
            <a:endParaRPr lang="en-US" sz="1200" b="1" dirty="0">
              <a:effectLst>
                <a:outerShdw blurRad="38100" dist="38100" dir="2700000" algn="tl">
                  <a:srgbClr val="000000">
                    <a:alpha val="43137"/>
                  </a:srgbClr>
                </a:outerShdw>
              </a:effectLst>
            </a:endParaRPr>
          </a:p>
          <a:p>
            <a:pPr algn="just"/>
            <a:r>
              <a:rPr lang="en-US" sz="2400" dirty="0" smtClean="0"/>
              <a:t>- Because </a:t>
            </a:r>
            <a:r>
              <a:rPr lang="en-US" sz="2400" dirty="0"/>
              <a:t>of the large amounts of data and </a:t>
            </a:r>
            <a:r>
              <a:rPr lang="en-US" sz="2400" b="1" dirty="0">
                <a:solidFill>
                  <a:srgbClr val="002060"/>
                </a:solidFill>
              </a:rPr>
              <a:t>massive search </a:t>
            </a:r>
            <a:r>
              <a:rPr lang="en-US" sz="2400" dirty="0">
                <a:solidFill>
                  <a:srgbClr val="002060"/>
                </a:solidFill>
              </a:rPr>
              <a:t>efforts</a:t>
            </a:r>
            <a:r>
              <a:rPr lang="en-US" sz="2400" dirty="0"/>
              <a:t>, it is sometimes necessary to use </a:t>
            </a:r>
            <a:r>
              <a:rPr lang="en-US" sz="2400" b="1" u="sng" dirty="0">
                <a:solidFill>
                  <a:srgbClr val="002060"/>
                </a:solidFill>
              </a:rPr>
              <a:t>parallel processing </a:t>
            </a:r>
            <a:r>
              <a:rPr lang="en-US" sz="2400" dirty="0"/>
              <a:t>for data mining.</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739770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4984" y="572947"/>
            <a:ext cx="10204704" cy="5755422"/>
          </a:xfrm>
          <a:prstGeom prst="rect">
            <a:avLst/>
          </a:prstGeom>
        </p:spPr>
        <p:txBody>
          <a:bodyPr wrap="square">
            <a:spAutoFit/>
          </a:bodyPr>
          <a:lstStyle/>
          <a:p>
            <a:pPr algn="just"/>
            <a:r>
              <a:rPr lang="en-US" sz="2800" b="1" u="sng" dirty="0">
                <a:solidFill>
                  <a:schemeClr val="accent2">
                    <a:lumMod val="75000"/>
                  </a:schemeClr>
                </a:solidFill>
                <a:effectLst>
                  <a:outerShdw blurRad="38100" dist="38100" dir="2700000" algn="tl">
                    <a:srgbClr val="000000">
                      <a:alpha val="43137"/>
                    </a:srgbClr>
                  </a:outerShdw>
                </a:effectLst>
              </a:rPr>
              <a:t>In general, data mining seeks to identify four major types of patterns</a:t>
            </a:r>
            <a:r>
              <a:rPr lang="en-US" sz="2800" b="1" dirty="0" smtClean="0">
                <a:solidFill>
                  <a:schemeClr val="accent2">
                    <a:lumMod val="75000"/>
                  </a:schemeClr>
                </a:solidFill>
                <a:effectLst>
                  <a:outerShdw blurRad="38100" dist="38100" dir="2700000" algn="tl">
                    <a:srgbClr val="000000">
                      <a:alpha val="43137"/>
                    </a:srgbClr>
                  </a:outerShdw>
                </a:effectLst>
              </a:rPr>
              <a:t>:</a:t>
            </a:r>
          </a:p>
          <a:p>
            <a:endParaRPr lang="en-US" sz="1200" b="1" dirty="0" smtClean="0">
              <a:solidFill>
                <a:schemeClr val="accent2">
                  <a:lumMod val="75000"/>
                </a:schemeClr>
              </a:solidFill>
              <a:effectLst>
                <a:outerShdw blurRad="38100" dist="38100" dir="2700000" algn="tl">
                  <a:srgbClr val="000000">
                    <a:alpha val="43137"/>
                  </a:srgbClr>
                </a:outerShdw>
              </a:effectLst>
            </a:endParaRPr>
          </a:p>
          <a:p>
            <a:pPr algn="just"/>
            <a:r>
              <a:rPr lang="en-US" sz="2400" b="1" dirty="0" smtClean="0">
                <a:solidFill>
                  <a:schemeClr val="accent2">
                    <a:lumMod val="75000"/>
                  </a:schemeClr>
                </a:solidFill>
                <a:effectLst>
                  <a:outerShdw blurRad="38100" dist="38100" dir="2700000" algn="tl">
                    <a:srgbClr val="000000">
                      <a:alpha val="43137"/>
                    </a:srgbClr>
                  </a:outerShdw>
                </a:effectLst>
              </a:rPr>
              <a:t>1.</a:t>
            </a:r>
            <a:r>
              <a:rPr lang="en-US" sz="1200" b="1" dirty="0" smtClean="0">
                <a:solidFill>
                  <a:schemeClr val="accent2">
                    <a:lumMod val="75000"/>
                  </a:schemeClr>
                </a:solidFill>
                <a:effectLst>
                  <a:outerShdw blurRad="38100" dist="38100" dir="2700000" algn="tl">
                    <a:srgbClr val="000000">
                      <a:alpha val="43137"/>
                    </a:srgbClr>
                  </a:outerShdw>
                </a:effectLst>
              </a:rPr>
              <a:t>          </a:t>
            </a:r>
            <a:r>
              <a:rPr lang="en-US" sz="2400" dirty="0" smtClean="0"/>
              <a:t>Associations </a:t>
            </a:r>
            <a:r>
              <a:rPr lang="en-US" sz="2400" dirty="0"/>
              <a:t>find the commonly </a:t>
            </a:r>
            <a:r>
              <a:rPr lang="en-US" sz="2400" b="1" dirty="0">
                <a:solidFill>
                  <a:schemeClr val="accent6">
                    <a:lumMod val="75000"/>
                  </a:schemeClr>
                </a:solidFill>
              </a:rPr>
              <a:t>co-occurring groupings</a:t>
            </a:r>
            <a:r>
              <a:rPr lang="en-US" sz="2400" dirty="0"/>
              <a:t> of things, such as beer and diapers going together in market-basket </a:t>
            </a:r>
            <a:r>
              <a:rPr lang="en-US" sz="2400" dirty="0" smtClean="0"/>
              <a:t>analysis.</a:t>
            </a:r>
          </a:p>
          <a:p>
            <a:pPr algn="just"/>
            <a:endParaRPr lang="en-US" sz="1200" dirty="0" smtClean="0"/>
          </a:p>
          <a:p>
            <a:pPr algn="just"/>
            <a:r>
              <a:rPr lang="en-US" sz="2400" b="1" dirty="0" smtClean="0">
                <a:solidFill>
                  <a:schemeClr val="accent2">
                    <a:lumMod val="75000"/>
                  </a:schemeClr>
                </a:solidFill>
                <a:effectLst>
                  <a:outerShdw blurRad="38100" dist="38100" dir="2700000" algn="tl">
                    <a:srgbClr val="000000">
                      <a:alpha val="43137"/>
                    </a:srgbClr>
                  </a:outerShdw>
                </a:effectLst>
              </a:rPr>
              <a:t>2.     </a:t>
            </a:r>
            <a:r>
              <a:rPr lang="en-US" sz="2400" b="1" dirty="0" smtClean="0">
                <a:solidFill>
                  <a:srgbClr val="7030A0"/>
                </a:solidFill>
              </a:rPr>
              <a:t>Predictions</a:t>
            </a:r>
            <a:r>
              <a:rPr lang="en-US" sz="2400" dirty="0" smtClean="0"/>
              <a:t> </a:t>
            </a:r>
            <a:r>
              <a:rPr lang="en-US" sz="2400" dirty="0"/>
              <a:t>tell the nature of future occurrences of certain events based on what has happened in the past, such as predicting the winner of the Super Bowl or </a:t>
            </a:r>
            <a:r>
              <a:rPr lang="en-US" sz="2400" dirty="0" smtClean="0"/>
              <a:t>forecasting </a:t>
            </a:r>
            <a:r>
              <a:rPr lang="en-US" sz="2400" dirty="0"/>
              <a:t>the absolute temperature of a particular day</a:t>
            </a:r>
            <a:r>
              <a:rPr lang="en-US" sz="2400" dirty="0" smtClean="0"/>
              <a:t>.</a:t>
            </a:r>
          </a:p>
          <a:p>
            <a:pPr algn="just"/>
            <a:endParaRPr lang="en-US" sz="1200" dirty="0" smtClean="0"/>
          </a:p>
          <a:p>
            <a:pPr algn="just"/>
            <a:r>
              <a:rPr lang="en-US" sz="2400" b="1" dirty="0" smtClean="0">
                <a:solidFill>
                  <a:schemeClr val="accent2">
                    <a:lumMod val="75000"/>
                  </a:schemeClr>
                </a:solidFill>
                <a:effectLst>
                  <a:outerShdw blurRad="38100" dist="38100" dir="2700000" algn="tl">
                    <a:srgbClr val="000000">
                      <a:alpha val="43137"/>
                    </a:srgbClr>
                  </a:outerShdw>
                </a:effectLst>
              </a:rPr>
              <a:t>3.  </a:t>
            </a:r>
            <a:r>
              <a:rPr lang="en-US" sz="2400" b="1" dirty="0" smtClean="0">
                <a:solidFill>
                  <a:srgbClr val="FF0000"/>
                </a:solidFill>
              </a:rPr>
              <a:t>Clusters</a:t>
            </a:r>
            <a:r>
              <a:rPr lang="en-US" sz="2400" dirty="0" smtClean="0"/>
              <a:t> </a:t>
            </a:r>
            <a:r>
              <a:rPr lang="en-US" sz="2400" dirty="0"/>
              <a:t>identify natural groupings of things based on their known characteristics, such as assigning customers in different segments based on their demographics and past purchase behaviors</a:t>
            </a:r>
            <a:r>
              <a:rPr lang="en-US" sz="2400" dirty="0" smtClean="0"/>
              <a:t>.</a:t>
            </a:r>
          </a:p>
          <a:p>
            <a:pPr algn="just"/>
            <a:endParaRPr lang="en-US" sz="1200" b="1" dirty="0" smtClean="0">
              <a:solidFill>
                <a:schemeClr val="accent2">
                  <a:lumMod val="75000"/>
                </a:schemeClr>
              </a:solidFill>
              <a:effectLst>
                <a:outerShdw blurRad="38100" dist="38100" dir="2700000" algn="tl">
                  <a:srgbClr val="000000">
                    <a:alpha val="43137"/>
                  </a:srgbClr>
                </a:outerShdw>
              </a:effectLst>
            </a:endParaRPr>
          </a:p>
          <a:p>
            <a:pPr algn="just"/>
            <a:r>
              <a:rPr lang="en-US" sz="2400" b="1" dirty="0" smtClean="0">
                <a:solidFill>
                  <a:schemeClr val="accent2">
                    <a:lumMod val="75000"/>
                  </a:schemeClr>
                </a:solidFill>
                <a:effectLst>
                  <a:outerShdw blurRad="38100" dist="38100" dir="2700000" algn="tl">
                    <a:srgbClr val="000000">
                      <a:alpha val="43137"/>
                    </a:srgbClr>
                  </a:outerShdw>
                </a:effectLst>
              </a:rPr>
              <a:t>4.   </a:t>
            </a:r>
            <a:r>
              <a:rPr lang="en-US" sz="2400" b="1" dirty="0" smtClean="0">
                <a:solidFill>
                  <a:schemeClr val="bg1">
                    <a:lumMod val="50000"/>
                  </a:schemeClr>
                </a:solidFill>
              </a:rPr>
              <a:t>Sequential </a:t>
            </a:r>
            <a:r>
              <a:rPr lang="en-US" sz="2400" b="1" dirty="0">
                <a:solidFill>
                  <a:schemeClr val="bg1">
                    <a:lumMod val="50000"/>
                  </a:schemeClr>
                </a:solidFill>
              </a:rPr>
              <a:t>relationships discover time-ordered </a:t>
            </a:r>
            <a:r>
              <a:rPr lang="en-US" sz="2400" dirty="0"/>
              <a:t>events, such as predicting that an existing banking customer who already has a checking account will open a savings account followed by an investment account within a year.</a:t>
            </a:r>
            <a:endParaRPr lang="en-US" sz="2400" b="1" dirty="0">
              <a:solidFill>
                <a:schemeClr val="accent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2485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2144" y="710107"/>
            <a:ext cx="9939528" cy="5509200"/>
          </a:xfrm>
          <a:prstGeom prst="rect">
            <a:avLst/>
          </a:prstGeom>
        </p:spPr>
        <p:txBody>
          <a:bodyPr wrap="square">
            <a:spAutoFit/>
          </a:bodyPr>
          <a:lstStyle/>
          <a:p>
            <a:pPr algn="just"/>
            <a:r>
              <a:rPr lang="en-US" sz="2800" b="1" u="sng" dirty="0">
                <a:solidFill>
                  <a:schemeClr val="bg1">
                    <a:lumMod val="50000"/>
                  </a:schemeClr>
                </a:solidFill>
                <a:effectLst>
                  <a:outerShdw blurRad="38100" dist="38100" dir="2700000" algn="tl">
                    <a:srgbClr val="000000">
                      <a:alpha val="43137"/>
                    </a:srgbClr>
                  </a:outerShdw>
                </a:effectLst>
              </a:rPr>
              <a:t>Generally speaking, data mining tasks can be classified into three main </a:t>
            </a:r>
            <a:r>
              <a:rPr lang="en-US" sz="2800" b="1" u="sng" dirty="0" smtClean="0">
                <a:solidFill>
                  <a:schemeClr val="bg1">
                    <a:lumMod val="50000"/>
                  </a:schemeClr>
                </a:solidFill>
                <a:effectLst>
                  <a:outerShdw blurRad="38100" dist="38100" dir="2700000" algn="tl">
                    <a:srgbClr val="000000">
                      <a:alpha val="43137"/>
                    </a:srgbClr>
                  </a:outerShdw>
                </a:effectLst>
              </a:rPr>
              <a:t>categories</a:t>
            </a:r>
            <a:r>
              <a:rPr lang="en-US" sz="2800" dirty="0"/>
              <a:t>: </a:t>
            </a:r>
            <a:endParaRPr lang="en-US" sz="2800" dirty="0" smtClean="0"/>
          </a:p>
          <a:p>
            <a:pPr algn="just"/>
            <a:r>
              <a:rPr lang="en-US" sz="2800" dirty="0"/>
              <a:t> </a:t>
            </a:r>
            <a:r>
              <a:rPr lang="en-US" sz="2800" dirty="0" smtClean="0"/>
              <a:t> - </a:t>
            </a:r>
            <a:r>
              <a:rPr lang="en-US" sz="2800" b="1" dirty="0" smtClean="0">
                <a:solidFill>
                  <a:srgbClr val="7030A0"/>
                </a:solidFill>
              </a:rPr>
              <a:t>prediction</a:t>
            </a:r>
            <a:r>
              <a:rPr lang="en-US" sz="2800" dirty="0"/>
              <a:t>, </a:t>
            </a:r>
            <a:r>
              <a:rPr lang="en-US" sz="2800" b="1" dirty="0" smtClean="0">
                <a:solidFill>
                  <a:srgbClr val="FF0000"/>
                </a:solidFill>
              </a:rPr>
              <a:t>association</a:t>
            </a:r>
            <a:r>
              <a:rPr lang="en-US" sz="2800" dirty="0" smtClean="0"/>
              <a:t>, </a:t>
            </a:r>
            <a:r>
              <a:rPr lang="en-US" sz="2800" dirty="0"/>
              <a:t>and </a:t>
            </a:r>
            <a:r>
              <a:rPr lang="en-US" sz="2800" b="1" dirty="0" smtClean="0">
                <a:solidFill>
                  <a:schemeClr val="accent6">
                    <a:lumMod val="75000"/>
                  </a:schemeClr>
                </a:solidFill>
              </a:rPr>
              <a:t>clustering</a:t>
            </a:r>
          </a:p>
          <a:p>
            <a:pPr algn="just"/>
            <a:endParaRPr lang="en-US" sz="1600" b="1" dirty="0" smtClean="0">
              <a:solidFill>
                <a:schemeClr val="accent6">
                  <a:lumMod val="75000"/>
                </a:schemeClr>
              </a:solidFill>
            </a:endParaRPr>
          </a:p>
          <a:p>
            <a:pPr algn="just"/>
            <a:r>
              <a:rPr lang="en-US" sz="2400" dirty="0" smtClean="0"/>
              <a:t>Based </a:t>
            </a:r>
            <a:r>
              <a:rPr lang="en-US" sz="2400" dirty="0"/>
              <a:t>on the way in which the patterns are extracted from the historical data, the learning algorithms of data mining </a:t>
            </a:r>
            <a:r>
              <a:rPr lang="en-US" sz="2400" b="1" i="1" u="sng" dirty="0">
                <a:solidFill>
                  <a:srgbClr val="C00000"/>
                </a:solidFill>
                <a:effectLst>
                  <a:outerShdw blurRad="38100" dist="38100" dir="2700000" algn="tl">
                    <a:srgbClr val="000000">
                      <a:alpha val="43137"/>
                    </a:srgbClr>
                  </a:outerShdw>
                </a:effectLst>
                <a:latin typeface="Georgia" panose="02040502050405020303" pitchFamily="18" charset="0"/>
              </a:rPr>
              <a:t>methods</a:t>
            </a:r>
            <a:r>
              <a:rPr lang="en-US" sz="2400" dirty="0"/>
              <a:t> can be classified as either </a:t>
            </a:r>
            <a:r>
              <a:rPr lang="en-US" sz="2400" b="1" u="sng" dirty="0">
                <a:solidFill>
                  <a:schemeClr val="accent6">
                    <a:lumMod val="75000"/>
                  </a:schemeClr>
                </a:solidFill>
              </a:rPr>
              <a:t>supervised</a:t>
            </a:r>
            <a:r>
              <a:rPr lang="en-US" sz="2400" dirty="0"/>
              <a:t> or </a:t>
            </a:r>
            <a:r>
              <a:rPr lang="en-US" sz="2400" b="1" u="sng" dirty="0">
                <a:solidFill>
                  <a:srgbClr val="7030A0"/>
                </a:solidFill>
              </a:rPr>
              <a:t>unsupervised</a:t>
            </a:r>
            <a:r>
              <a:rPr lang="en-US" sz="2400" dirty="0" smtClean="0"/>
              <a:t>.</a:t>
            </a:r>
          </a:p>
          <a:p>
            <a:pPr algn="just"/>
            <a:endParaRPr lang="en-US" sz="1200" dirty="0" smtClean="0"/>
          </a:p>
          <a:p>
            <a:pPr algn="just"/>
            <a:r>
              <a:rPr lang="en-US" sz="2400" dirty="0" smtClean="0">
                <a:solidFill>
                  <a:schemeClr val="accent6">
                    <a:lumMod val="75000"/>
                  </a:schemeClr>
                </a:solidFill>
                <a:sym typeface="Wingdings" panose="05000000000000000000" pitchFamily="2" charset="2"/>
              </a:rPr>
              <a:t></a:t>
            </a:r>
            <a:r>
              <a:rPr lang="en-US" sz="2400" dirty="0" smtClean="0">
                <a:sym typeface="Wingdings" panose="05000000000000000000" pitchFamily="2" charset="2"/>
              </a:rPr>
              <a:t> </a:t>
            </a:r>
            <a:r>
              <a:rPr lang="en-US" sz="2400" b="1" dirty="0" smtClean="0"/>
              <a:t>With</a:t>
            </a:r>
            <a:r>
              <a:rPr lang="en-US" sz="2400" dirty="0" smtClean="0"/>
              <a:t> </a:t>
            </a:r>
            <a:r>
              <a:rPr lang="en-US" sz="2400" b="1" dirty="0">
                <a:solidFill>
                  <a:schemeClr val="accent6">
                    <a:lumMod val="75000"/>
                  </a:schemeClr>
                </a:solidFill>
              </a:rPr>
              <a:t>supervised learning </a:t>
            </a:r>
            <a:r>
              <a:rPr lang="en-US" sz="2400" b="1" dirty="0" smtClean="0">
                <a:solidFill>
                  <a:schemeClr val="accent6">
                    <a:lumMod val="75000"/>
                  </a:schemeClr>
                </a:solidFill>
              </a:rPr>
              <a:t>algorithms:</a:t>
            </a:r>
          </a:p>
          <a:p>
            <a:pPr algn="just"/>
            <a:r>
              <a:rPr lang="en-US" sz="2400" i="1" u="sng" dirty="0" smtClean="0"/>
              <a:t>the </a:t>
            </a:r>
            <a:r>
              <a:rPr lang="en-US" sz="2400" i="1" u="sng" dirty="0"/>
              <a:t>training data</a:t>
            </a:r>
            <a:r>
              <a:rPr lang="en-US" sz="2400" dirty="0"/>
              <a:t> includes both the descriptive attributes (i.e., independent variables or decision variables) as well as the class attribute (i.e., output variable or result variable</a:t>
            </a:r>
            <a:r>
              <a:rPr lang="en-US" sz="2400" dirty="0" smtClean="0"/>
              <a:t>).</a:t>
            </a:r>
          </a:p>
          <a:p>
            <a:pPr algn="just"/>
            <a:endParaRPr lang="en-US" sz="1200" dirty="0"/>
          </a:p>
          <a:p>
            <a:pPr algn="just"/>
            <a:r>
              <a:rPr lang="en-US" sz="2400" b="1" dirty="0" smtClean="0">
                <a:solidFill>
                  <a:srgbClr val="7030A0"/>
                </a:solidFill>
                <a:sym typeface="Wingdings" panose="05000000000000000000" pitchFamily="2" charset="2"/>
              </a:rPr>
              <a:t> </a:t>
            </a:r>
            <a:r>
              <a:rPr lang="en-US" sz="2400" b="1" dirty="0" smtClean="0"/>
              <a:t>With</a:t>
            </a:r>
            <a:r>
              <a:rPr lang="en-US" sz="2400" b="1" dirty="0" smtClean="0">
                <a:solidFill>
                  <a:srgbClr val="7030A0"/>
                </a:solidFill>
              </a:rPr>
              <a:t> </a:t>
            </a:r>
            <a:r>
              <a:rPr lang="en-US" sz="2400" b="1" dirty="0">
                <a:solidFill>
                  <a:srgbClr val="7030A0"/>
                </a:solidFill>
              </a:rPr>
              <a:t>unsupervised </a:t>
            </a:r>
            <a:r>
              <a:rPr lang="en-US" sz="2400" b="1" dirty="0" smtClean="0">
                <a:solidFill>
                  <a:srgbClr val="7030A0"/>
                </a:solidFill>
              </a:rPr>
              <a:t>learning algorithms:</a:t>
            </a:r>
          </a:p>
          <a:p>
            <a:pPr algn="just"/>
            <a:r>
              <a:rPr lang="en-US" sz="2400" i="1" u="sng" dirty="0" smtClean="0"/>
              <a:t>the </a:t>
            </a:r>
            <a:r>
              <a:rPr lang="en-US" sz="2400" i="1" u="sng" dirty="0"/>
              <a:t>training data</a:t>
            </a:r>
            <a:r>
              <a:rPr lang="en-US" sz="2400" dirty="0"/>
              <a:t> includes only the descriptive </a:t>
            </a:r>
            <a:r>
              <a:rPr lang="en-US" sz="2400" dirty="0" smtClean="0"/>
              <a:t>attributes</a:t>
            </a:r>
            <a:r>
              <a:rPr lang="en-US" sz="2400" dirty="0"/>
              <a:t>.</a:t>
            </a:r>
          </a:p>
        </p:txBody>
      </p:sp>
    </p:spTree>
    <p:extLst>
      <p:ext uri="{BB962C8B-B14F-4D97-AF65-F5344CB8AC3E}">
        <p14:creationId xmlns:p14="http://schemas.microsoft.com/office/powerpoint/2010/main" val="3348950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2207" y="228600"/>
            <a:ext cx="6091913" cy="6492240"/>
          </a:xfrm>
          <a:prstGeom prst="rect">
            <a:avLst/>
          </a:prstGeom>
        </p:spPr>
      </p:pic>
      <p:sp>
        <p:nvSpPr>
          <p:cNvPr id="3" name="Rectangle 2"/>
          <p:cNvSpPr/>
          <p:nvPr/>
        </p:nvSpPr>
        <p:spPr>
          <a:xfrm>
            <a:off x="7729728" y="1705005"/>
            <a:ext cx="3444240" cy="4401205"/>
          </a:xfrm>
          <a:prstGeom prst="rect">
            <a:avLst/>
          </a:prstGeom>
        </p:spPr>
        <p:txBody>
          <a:bodyPr wrap="square">
            <a:spAutoFit/>
          </a:bodyPr>
          <a:lstStyle/>
          <a:p>
            <a:pPr algn="ctr"/>
            <a:r>
              <a:rPr lang="en-US" sz="2800" b="1" dirty="0">
                <a:solidFill>
                  <a:srgbClr val="7030A0"/>
                </a:solidFill>
              </a:rPr>
              <a:t>A Simple Taxonomy for Data Mining Tasks, Methods, and </a:t>
            </a:r>
            <a:r>
              <a:rPr lang="en-US" sz="2800" b="1" dirty="0" smtClean="0">
                <a:solidFill>
                  <a:srgbClr val="7030A0"/>
                </a:solidFill>
              </a:rPr>
              <a:t>Algorithms</a:t>
            </a:r>
          </a:p>
          <a:p>
            <a:pPr algn="ctr"/>
            <a:endParaRPr lang="en-US" sz="2800" b="1" dirty="0">
              <a:solidFill>
                <a:srgbClr val="7030A0"/>
              </a:solidFill>
            </a:endParaRPr>
          </a:p>
          <a:p>
            <a:pPr algn="ctr"/>
            <a:r>
              <a:rPr lang="en-US" sz="2800" b="1" dirty="0" smtClean="0">
                <a:solidFill>
                  <a:srgbClr val="FF0000"/>
                </a:solidFill>
              </a:rPr>
              <a:t>Read each part from book, (basic understanding</a:t>
            </a:r>
            <a:r>
              <a:rPr lang="en-US" sz="2800" b="1" dirty="0" smtClean="0">
                <a:solidFill>
                  <a:srgbClr val="FF0000"/>
                </a:solidFill>
              </a:rPr>
              <a:t>)</a:t>
            </a:r>
          </a:p>
          <a:p>
            <a:pPr algn="ctr"/>
            <a:endParaRPr lang="en-US" sz="2800" b="1" dirty="0">
              <a:solidFill>
                <a:srgbClr val="FF0000"/>
              </a:solidFill>
            </a:endParaRPr>
          </a:p>
          <a:p>
            <a:pPr algn="ctr"/>
            <a:r>
              <a:rPr lang="en-US" sz="2800" b="1" dirty="0" smtClean="0">
                <a:solidFill>
                  <a:srgbClr val="FF0000"/>
                </a:solidFill>
              </a:rPr>
              <a:t>** Need ML </a:t>
            </a:r>
            <a:r>
              <a:rPr lang="en-US" sz="2800" b="1" dirty="0" err="1" smtClean="0">
                <a:solidFill>
                  <a:srgbClr val="FF0000"/>
                </a:solidFill>
              </a:rPr>
              <a:t>BooK</a:t>
            </a:r>
            <a:endParaRPr lang="en-US" sz="2800" b="1" dirty="0">
              <a:solidFill>
                <a:srgbClr val="FF0000"/>
              </a:solidFill>
            </a:endParaRPr>
          </a:p>
        </p:txBody>
      </p:sp>
      <p:sp>
        <p:nvSpPr>
          <p:cNvPr id="4" name="Rectangle 3"/>
          <p:cNvSpPr/>
          <p:nvPr/>
        </p:nvSpPr>
        <p:spPr>
          <a:xfrm>
            <a:off x="1956816" y="1289304"/>
            <a:ext cx="1252728" cy="493776"/>
          </a:xfrm>
          <a:prstGeom prst="rect">
            <a:avLst/>
          </a:prstGeom>
          <a:noFill/>
          <a:ln w="571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441798" y="1289304"/>
            <a:ext cx="2254913" cy="484632"/>
          </a:xfrm>
          <a:prstGeom prst="rect">
            <a:avLst/>
          </a:prstGeom>
          <a:noFill/>
          <a:ln w="571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928965" y="1289304"/>
            <a:ext cx="901603" cy="484632"/>
          </a:xfrm>
          <a:prstGeom prst="rect">
            <a:avLst/>
          </a:prstGeom>
          <a:noFill/>
          <a:ln w="571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956816" y="1871472"/>
            <a:ext cx="1252728" cy="496824"/>
          </a:xfrm>
          <a:prstGeom prst="rect">
            <a:avLst/>
          </a:prstGeom>
          <a:noFill/>
          <a:ln w="57150">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32653" y="1847088"/>
            <a:ext cx="2264057" cy="496824"/>
          </a:xfrm>
          <a:prstGeom prst="rect">
            <a:avLst/>
          </a:prstGeom>
          <a:noFill/>
          <a:ln w="57150">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919819" y="1871472"/>
            <a:ext cx="910749" cy="472440"/>
          </a:xfrm>
          <a:prstGeom prst="rect">
            <a:avLst/>
          </a:prstGeom>
          <a:noFill/>
          <a:ln w="57150">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935480" y="5556504"/>
            <a:ext cx="4895088" cy="469392"/>
          </a:xfrm>
          <a:prstGeom prst="rect">
            <a:avLst/>
          </a:prstGeom>
          <a:noFill/>
          <a:ln w="57150">
            <a:solidFill>
              <a:schemeClr val="accent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5840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11505" y="501134"/>
            <a:ext cx="9317231" cy="5970865"/>
          </a:xfrm>
          <a:prstGeom prst="rect">
            <a:avLst/>
          </a:prstGeom>
        </p:spPr>
        <p:txBody>
          <a:bodyPr wrap="none">
            <a:spAutoFit/>
          </a:bodyPr>
          <a:lstStyle/>
          <a:p>
            <a:r>
              <a:rPr lang="en-US" sz="3200" b="1" dirty="0">
                <a:solidFill>
                  <a:srgbClr val="FF0000"/>
                </a:solidFill>
                <a:effectLst>
                  <a:outerShdw blurRad="38100" dist="38100" dir="2700000" algn="tl">
                    <a:srgbClr val="000000">
                      <a:alpha val="43137"/>
                    </a:srgbClr>
                  </a:outerShdw>
                </a:effectLst>
              </a:rPr>
              <a:t>4.3 Data Mining </a:t>
            </a:r>
            <a:r>
              <a:rPr lang="en-US" sz="3200" b="1" dirty="0" smtClean="0">
                <a:solidFill>
                  <a:srgbClr val="FF0000"/>
                </a:solidFill>
                <a:effectLst>
                  <a:outerShdw blurRad="38100" dist="38100" dir="2700000" algn="tl">
                    <a:srgbClr val="000000">
                      <a:alpha val="43137"/>
                    </a:srgbClr>
                  </a:outerShdw>
                </a:effectLst>
              </a:rPr>
              <a:t>Applications</a:t>
            </a:r>
          </a:p>
          <a:p>
            <a:endParaRPr lang="en-US" sz="1200" b="1" dirty="0">
              <a:solidFill>
                <a:srgbClr val="FF0000"/>
              </a:solidFill>
              <a:effectLst>
                <a:outerShdw blurRad="38100" dist="38100" dir="2700000" algn="tl">
                  <a:srgbClr val="000000">
                    <a:alpha val="43137"/>
                  </a:srgbClr>
                </a:outerShdw>
              </a:effectLst>
            </a:endParaRPr>
          </a:p>
          <a:p>
            <a:pPr marL="457200" indent="-457200">
              <a:buFont typeface="Wingdings" panose="05000000000000000000" pitchFamily="2" charset="2"/>
              <a:buChar char="à"/>
            </a:pPr>
            <a:r>
              <a:rPr lang="en-US" sz="2600" dirty="0" smtClean="0"/>
              <a:t>Customer </a:t>
            </a:r>
            <a:r>
              <a:rPr lang="en-US" sz="2600" dirty="0"/>
              <a:t>relationship </a:t>
            </a:r>
            <a:r>
              <a:rPr lang="en-US" sz="2600" dirty="0" smtClean="0"/>
              <a:t>management</a:t>
            </a:r>
          </a:p>
          <a:p>
            <a:pPr marL="457200" indent="-457200">
              <a:buFont typeface="Wingdings" panose="05000000000000000000" pitchFamily="2" charset="2"/>
              <a:buChar char="à"/>
            </a:pPr>
            <a:r>
              <a:rPr lang="en-US" sz="2600" dirty="0" smtClean="0"/>
              <a:t>Banking</a:t>
            </a:r>
          </a:p>
          <a:p>
            <a:pPr marL="457200" indent="-457200">
              <a:buFont typeface="Wingdings" panose="05000000000000000000" pitchFamily="2" charset="2"/>
              <a:buChar char="à"/>
            </a:pPr>
            <a:r>
              <a:rPr lang="en-US" sz="2600" dirty="0"/>
              <a:t>Retailing and </a:t>
            </a:r>
            <a:r>
              <a:rPr lang="en-US" sz="2600" dirty="0" smtClean="0"/>
              <a:t>logistics</a:t>
            </a:r>
          </a:p>
          <a:p>
            <a:pPr marL="457200" indent="-457200">
              <a:buFont typeface="Wingdings" panose="05000000000000000000" pitchFamily="2" charset="2"/>
              <a:buChar char="à"/>
            </a:pPr>
            <a:r>
              <a:rPr lang="en-US" sz="2600" dirty="0"/>
              <a:t>Manufacturing and </a:t>
            </a:r>
            <a:r>
              <a:rPr lang="en-US" sz="2600" dirty="0" smtClean="0"/>
              <a:t>production</a:t>
            </a:r>
          </a:p>
          <a:p>
            <a:pPr marL="457200" indent="-457200">
              <a:buFont typeface="Wingdings" panose="05000000000000000000" pitchFamily="2" charset="2"/>
              <a:buChar char="à"/>
            </a:pPr>
            <a:r>
              <a:rPr lang="en-US" sz="2600" dirty="0" smtClean="0"/>
              <a:t>Brokerage </a:t>
            </a:r>
            <a:r>
              <a:rPr lang="en-US" sz="2600" dirty="0"/>
              <a:t>and securities </a:t>
            </a:r>
            <a:r>
              <a:rPr lang="en-US" sz="2600" dirty="0" smtClean="0"/>
              <a:t>trading</a:t>
            </a:r>
          </a:p>
          <a:p>
            <a:pPr marL="457200" indent="-457200">
              <a:buFont typeface="Wingdings" panose="05000000000000000000" pitchFamily="2" charset="2"/>
              <a:buChar char="à"/>
            </a:pPr>
            <a:r>
              <a:rPr lang="en-US" sz="2600" dirty="0" smtClean="0"/>
              <a:t>Insurance</a:t>
            </a:r>
          </a:p>
          <a:p>
            <a:pPr marL="457200" indent="-457200">
              <a:buFont typeface="Wingdings" panose="05000000000000000000" pitchFamily="2" charset="2"/>
              <a:buChar char="à"/>
            </a:pPr>
            <a:r>
              <a:rPr lang="en-US" sz="2600" dirty="0"/>
              <a:t>Computer hardware and software</a:t>
            </a:r>
            <a:r>
              <a:rPr lang="en-US" sz="2600" dirty="0" smtClean="0"/>
              <a:t>.</a:t>
            </a:r>
          </a:p>
          <a:p>
            <a:pPr marL="457200" indent="-457200">
              <a:buFont typeface="Wingdings" panose="05000000000000000000" pitchFamily="2" charset="2"/>
              <a:buChar char="à"/>
            </a:pPr>
            <a:r>
              <a:rPr lang="en-US" sz="2600" dirty="0"/>
              <a:t>Government and defense</a:t>
            </a:r>
            <a:r>
              <a:rPr lang="en-US" sz="2600" dirty="0" smtClean="0"/>
              <a:t>.</a:t>
            </a:r>
          </a:p>
          <a:p>
            <a:pPr marL="457200" indent="-457200">
              <a:buFont typeface="Wingdings" panose="05000000000000000000" pitchFamily="2" charset="2"/>
              <a:buChar char="à"/>
            </a:pPr>
            <a:r>
              <a:rPr lang="en-US" sz="2600" dirty="0"/>
              <a:t>Travel industry (airlines, hotels/resorts, rental car companies). </a:t>
            </a:r>
            <a:endParaRPr lang="en-US" sz="2600" dirty="0" smtClean="0"/>
          </a:p>
          <a:p>
            <a:pPr marL="457200" indent="-457200">
              <a:buFont typeface="Wingdings" panose="05000000000000000000" pitchFamily="2" charset="2"/>
              <a:buChar char="à"/>
            </a:pPr>
            <a:r>
              <a:rPr lang="en-US" sz="2600" dirty="0" smtClean="0"/>
              <a:t>Healthcare</a:t>
            </a:r>
          </a:p>
          <a:p>
            <a:pPr marL="457200" indent="-457200">
              <a:buFont typeface="Wingdings" panose="05000000000000000000" pitchFamily="2" charset="2"/>
              <a:buChar char="à"/>
            </a:pPr>
            <a:r>
              <a:rPr lang="en-US" sz="2600" dirty="0" smtClean="0"/>
              <a:t>Medicine</a:t>
            </a:r>
          </a:p>
          <a:p>
            <a:pPr marL="457200" indent="-457200">
              <a:buFont typeface="Wingdings" panose="05000000000000000000" pitchFamily="2" charset="2"/>
              <a:buChar char="à"/>
            </a:pPr>
            <a:r>
              <a:rPr lang="en-US" sz="2600" dirty="0"/>
              <a:t>Entertainment industry</a:t>
            </a:r>
            <a:r>
              <a:rPr lang="en-US" sz="2600" dirty="0" smtClean="0"/>
              <a:t>.</a:t>
            </a:r>
          </a:p>
          <a:p>
            <a:pPr marL="457200" indent="-457200">
              <a:buFont typeface="Wingdings" panose="05000000000000000000" pitchFamily="2" charset="2"/>
              <a:buChar char="à"/>
            </a:pPr>
            <a:r>
              <a:rPr lang="en-US" sz="2600" dirty="0" smtClean="0"/>
              <a:t>Sports</a:t>
            </a:r>
            <a:endParaRPr lang="en-US" sz="2600" dirty="0"/>
          </a:p>
        </p:txBody>
      </p:sp>
    </p:spTree>
    <p:extLst>
      <p:ext uri="{BB962C8B-B14F-4D97-AF65-F5344CB8AC3E}">
        <p14:creationId xmlns:p14="http://schemas.microsoft.com/office/powerpoint/2010/main" val="28979697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5334" y="226814"/>
            <a:ext cx="4265911" cy="1138773"/>
          </a:xfrm>
          <a:prstGeom prst="rect">
            <a:avLst/>
          </a:prstGeom>
        </p:spPr>
        <p:txBody>
          <a:bodyPr wrap="none">
            <a:spAutoFit/>
          </a:bodyPr>
          <a:lstStyle/>
          <a:p>
            <a:r>
              <a:rPr lang="en-US" sz="3200" b="1" dirty="0">
                <a:solidFill>
                  <a:srgbClr val="FF0000"/>
                </a:solidFill>
                <a:effectLst>
                  <a:outerShdw blurRad="38100" dist="38100" dir="2700000" algn="tl">
                    <a:srgbClr val="000000">
                      <a:alpha val="43137"/>
                    </a:srgbClr>
                  </a:outerShdw>
                </a:effectLst>
              </a:rPr>
              <a:t>4.4 Data Mining </a:t>
            </a:r>
            <a:r>
              <a:rPr lang="en-US" sz="3200" b="1" dirty="0" smtClean="0">
                <a:solidFill>
                  <a:srgbClr val="FF0000"/>
                </a:solidFill>
                <a:effectLst>
                  <a:outerShdw blurRad="38100" dist="38100" dir="2700000" algn="tl">
                    <a:srgbClr val="000000">
                      <a:alpha val="43137"/>
                    </a:srgbClr>
                  </a:outerShdw>
                </a:effectLst>
              </a:rPr>
              <a:t>Process</a:t>
            </a:r>
          </a:p>
          <a:p>
            <a:endParaRPr lang="en-US" sz="1200" dirty="0">
              <a:solidFill>
                <a:srgbClr val="FF0000"/>
              </a:solidFill>
              <a:effectLst>
                <a:outerShdw blurRad="38100" dist="38100" dir="2700000" algn="tl">
                  <a:srgbClr val="000000">
                    <a:alpha val="43137"/>
                  </a:srgbClr>
                </a:outerShdw>
              </a:effectLst>
            </a:endParaRPr>
          </a:p>
          <a:p>
            <a:r>
              <a:rPr lang="en-US" sz="2400" dirty="0" smtClean="0">
                <a:solidFill>
                  <a:srgbClr val="FF0000"/>
                </a:solidFill>
                <a:effectLst>
                  <a:outerShdw blurRad="38100" dist="38100" dir="2700000" algn="tl">
                    <a:srgbClr val="000000">
                      <a:alpha val="43137"/>
                    </a:srgbClr>
                  </a:outerShdw>
                </a:effectLst>
              </a:rPr>
              <a:t>There are six steps:</a:t>
            </a:r>
            <a:endParaRPr lang="en-US" sz="2400" dirty="0"/>
          </a:p>
        </p:txBody>
      </p:sp>
      <p:pic>
        <p:nvPicPr>
          <p:cNvPr id="5" name="Picture 4"/>
          <p:cNvPicPr>
            <a:picLocks noChangeAspect="1"/>
          </p:cNvPicPr>
          <p:nvPr/>
        </p:nvPicPr>
        <p:blipFill>
          <a:blip r:embed="rId2"/>
          <a:stretch>
            <a:fillRect/>
          </a:stretch>
        </p:blipFill>
        <p:spPr>
          <a:xfrm>
            <a:off x="508252" y="1440525"/>
            <a:ext cx="5422873" cy="5120640"/>
          </a:xfrm>
          <a:prstGeom prst="rect">
            <a:avLst/>
          </a:prstGeom>
        </p:spPr>
      </p:pic>
      <p:sp>
        <p:nvSpPr>
          <p:cNvPr id="6" name="Rectangle 5"/>
          <p:cNvSpPr/>
          <p:nvPr/>
        </p:nvSpPr>
        <p:spPr>
          <a:xfrm>
            <a:off x="6339840" y="479935"/>
            <a:ext cx="5291328" cy="6001643"/>
          </a:xfrm>
          <a:prstGeom prst="rect">
            <a:avLst/>
          </a:prstGeom>
        </p:spPr>
        <p:txBody>
          <a:bodyPr wrap="square">
            <a:spAutoFit/>
          </a:bodyPr>
          <a:lstStyle/>
          <a:p>
            <a:pPr algn="just"/>
            <a:r>
              <a:rPr lang="en-US" sz="2400" b="1" dirty="0" smtClean="0">
                <a:solidFill>
                  <a:srgbClr val="7030A0"/>
                </a:solidFill>
              </a:rPr>
              <a:t>Step </a:t>
            </a:r>
            <a:r>
              <a:rPr lang="en-US" sz="2400" b="1" dirty="0">
                <a:solidFill>
                  <a:srgbClr val="7030A0"/>
                </a:solidFill>
              </a:rPr>
              <a:t>1: Business </a:t>
            </a:r>
            <a:r>
              <a:rPr lang="en-US" sz="2400" b="1" dirty="0" smtClean="0">
                <a:solidFill>
                  <a:srgbClr val="7030A0"/>
                </a:solidFill>
              </a:rPr>
              <a:t>Understanding.</a:t>
            </a:r>
          </a:p>
          <a:p>
            <a:pPr algn="just"/>
            <a:r>
              <a:rPr lang="en-US" sz="2400" dirty="0" smtClean="0"/>
              <a:t>The </a:t>
            </a:r>
            <a:r>
              <a:rPr lang="en-US" sz="2400" dirty="0"/>
              <a:t>key element of any data mining study is to know what the study is for. Answering such a question begins with a thorough understanding of the managerial need for new knowledge and an explicit specification of the business objective regarding the study to be conducted. </a:t>
            </a:r>
            <a:endParaRPr lang="en-US" sz="2400" dirty="0" smtClean="0"/>
          </a:p>
          <a:p>
            <a:pPr algn="just"/>
            <a:r>
              <a:rPr lang="en-US" sz="2400" b="1" u="sng" dirty="0" smtClean="0">
                <a:solidFill>
                  <a:srgbClr val="7030A0"/>
                </a:solidFill>
              </a:rPr>
              <a:t>Specific </a:t>
            </a:r>
            <a:r>
              <a:rPr lang="en-US" sz="2400" b="1" u="sng" dirty="0">
                <a:solidFill>
                  <a:srgbClr val="7030A0"/>
                </a:solidFill>
              </a:rPr>
              <a:t>goals such </a:t>
            </a:r>
            <a:r>
              <a:rPr lang="en-US" sz="2400" b="1" u="sng" dirty="0" smtClean="0">
                <a:solidFill>
                  <a:srgbClr val="7030A0"/>
                </a:solidFill>
              </a:rPr>
              <a:t>as:</a:t>
            </a:r>
          </a:p>
          <a:p>
            <a:pPr algn="just"/>
            <a:r>
              <a:rPr lang="en-US" sz="2400" dirty="0" smtClean="0"/>
              <a:t>“</a:t>
            </a:r>
            <a:r>
              <a:rPr lang="en-US" sz="2400" i="1" dirty="0"/>
              <a:t>What are the common characteristics of the </a:t>
            </a:r>
            <a:r>
              <a:rPr lang="en-US" sz="2400" i="1" dirty="0" smtClean="0"/>
              <a:t>customers </a:t>
            </a:r>
            <a:r>
              <a:rPr lang="en-US" sz="2400" i="1" dirty="0"/>
              <a:t>we have lost to our competitors recently</a:t>
            </a:r>
            <a:r>
              <a:rPr lang="en-US" sz="2400" dirty="0"/>
              <a:t>?” or </a:t>
            </a:r>
            <a:endParaRPr lang="en-US" sz="2400" dirty="0" smtClean="0"/>
          </a:p>
          <a:p>
            <a:pPr algn="just"/>
            <a:r>
              <a:rPr lang="en-US" sz="2400" dirty="0" smtClean="0"/>
              <a:t>“</a:t>
            </a:r>
            <a:r>
              <a:rPr lang="en-US" sz="2400" i="1" dirty="0"/>
              <a:t>What are typical profiles of our </a:t>
            </a:r>
            <a:r>
              <a:rPr lang="en-US" sz="2400" i="1" dirty="0" smtClean="0"/>
              <a:t>customers</a:t>
            </a:r>
            <a:r>
              <a:rPr lang="en-US" sz="2400" i="1" dirty="0"/>
              <a:t>, and how much value does each of them provide to us</a:t>
            </a:r>
            <a:r>
              <a:rPr lang="en-US" sz="2400" dirty="0" smtClean="0"/>
              <a:t>?”</a:t>
            </a:r>
            <a:endParaRPr lang="en-US" sz="2400" dirty="0"/>
          </a:p>
        </p:txBody>
      </p:sp>
    </p:spTree>
    <p:extLst>
      <p:ext uri="{BB962C8B-B14F-4D97-AF65-F5344CB8AC3E}">
        <p14:creationId xmlns:p14="http://schemas.microsoft.com/office/powerpoint/2010/main" val="35428245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7528" y="1553802"/>
            <a:ext cx="8884920" cy="3416320"/>
          </a:xfrm>
          <a:prstGeom prst="rect">
            <a:avLst/>
          </a:prstGeom>
        </p:spPr>
        <p:txBody>
          <a:bodyPr wrap="square">
            <a:spAutoFit/>
          </a:bodyPr>
          <a:lstStyle/>
          <a:p>
            <a:pPr algn="just"/>
            <a:r>
              <a:rPr lang="en-US" sz="2400" b="1" dirty="0">
                <a:solidFill>
                  <a:schemeClr val="accent6">
                    <a:lumMod val="75000"/>
                  </a:schemeClr>
                </a:solidFill>
              </a:rPr>
              <a:t>Step 2: Data </a:t>
            </a:r>
            <a:r>
              <a:rPr lang="en-US" sz="2400" b="1" dirty="0" smtClean="0">
                <a:solidFill>
                  <a:schemeClr val="accent6">
                    <a:lumMod val="75000"/>
                  </a:schemeClr>
                </a:solidFill>
              </a:rPr>
              <a:t>Understanding. </a:t>
            </a:r>
          </a:p>
          <a:p>
            <a:pPr algn="just"/>
            <a:endParaRPr lang="en-US" sz="1200" b="1" dirty="0" smtClean="0">
              <a:solidFill>
                <a:schemeClr val="accent6">
                  <a:lumMod val="75000"/>
                </a:schemeClr>
              </a:solidFill>
            </a:endParaRPr>
          </a:p>
          <a:p>
            <a:pPr algn="just">
              <a:lnSpc>
                <a:spcPct val="125000"/>
              </a:lnSpc>
            </a:pPr>
            <a:r>
              <a:rPr lang="en-US" sz="2400" dirty="0" smtClean="0"/>
              <a:t>A </a:t>
            </a:r>
            <a:r>
              <a:rPr lang="en-US" sz="2400" dirty="0"/>
              <a:t>data mining study is specific to addressing a well-defined business task, and different business tasks require different sets of data. Following the business understanding, the main activity of </a:t>
            </a:r>
            <a:r>
              <a:rPr lang="en-US" sz="2400" b="1" u="sng" dirty="0"/>
              <a:t>the data mining process is to identify the relevant data from many available databases. Some key points must be considered in the data identification and selection phase</a:t>
            </a:r>
            <a:r>
              <a:rPr lang="en-US" sz="2400" dirty="0"/>
              <a:t>.</a:t>
            </a:r>
          </a:p>
        </p:txBody>
      </p:sp>
    </p:spTree>
    <p:extLst>
      <p:ext uri="{BB962C8B-B14F-4D97-AF65-F5344CB8AC3E}">
        <p14:creationId xmlns:p14="http://schemas.microsoft.com/office/powerpoint/2010/main" val="28569250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0976" y="827853"/>
            <a:ext cx="10314432" cy="5262979"/>
          </a:xfrm>
          <a:prstGeom prst="rect">
            <a:avLst/>
          </a:prstGeom>
          <a:ln w="38100">
            <a:solidFill>
              <a:schemeClr val="accent6">
                <a:lumMod val="75000"/>
              </a:schemeClr>
            </a:solidFill>
          </a:ln>
        </p:spPr>
        <p:txBody>
          <a:bodyPr wrap="square">
            <a:spAutoFit/>
          </a:bodyPr>
          <a:lstStyle/>
          <a:p>
            <a:pPr algn="just"/>
            <a:r>
              <a:rPr lang="en-US" sz="2400" b="1" u="sng" dirty="0">
                <a:solidFill>
                  <a:schemeClr val="accent6">
                    <a:lumMod val="75000"/>
                  </a:schemeClr>
                </a:solidFill>
              </a:rPr>
              <a:t>For example, a retail data mining project</a:t>
            </a:r>
            <a:r>
              <a:rPr lang="en-US" sz="2400" b="1" dirty="0">
                <a:solidFill>
                  <a:schemeClr val="accent6">
                    <a:lumMod val="75000"/>
                  </a:schemeClr>
                </a:solidFill>
              </a:rPr>
              <a:t> </a:t>
            </a:r>
            <a:r>
              <a:rPr lang="en-US" sz="2400" dirty="0"/>
              <a:t>may seek to identify spending behaviors of female shoppers who purchase seasonal clothes based on their demographics, credit card transactions, and socioeconomic attributes. </a:t>
            </a:r>
            <a:endParaRPr lang="en-US" sz="2400" dirty="0" smtClean="0"/>
          </a:p>
          <a:p>
            <a:pPr algn="just"/>
            <a:endParaRPr lang="en-US" sz="1200" dirty="0"/>
          </a:p>
          <a:p>
            <a:pPr algn="just"/>
            <a:r>
              <a:rPr lang="en-US" sz="2400" dirty="0" smtClean="0"/>
              <a:t>Furthermore</a:t>
            </a:r>
            <a:r>
              <a:rPr lang="en-US" sz="2400" dirty="0"/>
              <a:t>, the analyst should build an intimate </a:t>
            </a:r>
            <a:r>
              <a:rPr lang="en-US" sz="2400" dirty="0" smtClean="0"/>
              <a:t>understanding </a:t>
            </a:r>
            <a:r>
              <a:rPr lang="en-US" sz="2400" dirty="0"/>
              <a:t>of the data </a:t>
            </a:r>
            <a:r>
              <a:rPr lang="en-US" sz="2400" dirty="0" smtClean="0"/>
              <a:t>sources.</a:t>
            </a:r>
          </a:p>
          <a:p>
            <a:pPr algn="just"/>
            <a:endParaRPr lang="en-US" sz="1200" i="1" dirty="0" smtClean="0"/>
          </a:p>
          <a:p>
            <a:pPr algn="just"/>
            <a:r>
              <a:rPr lang="en-US" sz="2400" i="1" dirty="0" smtClean="0"/>
              <a:t>-    Where </a:t>
            </a:r>
            <a:r>
              <a:rPr lang="en-US" sz="2400" i="1" dirty="0"/>
              <a:t>the relevant</a:t>
            </a:r>
            <a:r>
              <a:rPr lang="en-US" sz="2400" dirty="0"/>
              <a:t> data are stored and in what form; </a:t>
            </a:r>
            <a:endParaRPr lang="en-US" sz="2400" dirty="0" smtClean="0"/>
          </a:p>
          <a:p>
            <a:pPr algn="just"/>
            <a:r>
              <a:rPr lang="en-US" sz="2400" i="1" dirty="0" smtClean="0"/>
              <a:t>-    What </a:t>
            </a:r>
            <a:r>
              <a:rPr lang="en-US" sz="2400" i="1" dirty="0"/>
              <a:t>the process </a:t>
            </a:r>
            <a:r>
              <a:rPr lang="en-US" sz="2400" dirty="0"/>
              <a:t>of collecting the data is—automated versus manual; </a:t>
            </a:r>
            <a:endParaRPr lang="en-US" sz="2400" dirty="0" smtClean="0"/>
          </a:p>
          <a:p>
            <a:pPr marL="342900" indent="-342900" algn="just">
              <a:buFontTx/>
              <a:buChar char="-"/>
            </a:pPr>
            <a:r>
              <a:rPr lang="en-US" sz="2400" i="1" dirty="0" smtClean="0"/>
              <a:t>Who </a:t>
            </a:r>
            <a:r>
              <a:rPr lang="en-US" sz="2400" i="1" dirty="0"/>
              <a:t>the collectors of the data </a:t>
            </a:r>
            <a:r>
              <a:rPr lang="en-US" sz="2400" dirty="0"/>
              <a:t>are and how often the data are updated) and </a:t>
            </a:r>
            <a:r>
              <a:rPr lang="en-US" sz="2400" dirty="0" smtClean="0"/>
              <a:t>the </a:t>
            </a:r>
            <a:r>
              <a:rPr lang="en-US" sz="2400" dirty="0"/>
              <a:t>variables (e.g., What are the most relevant variables? </a:t>
            </a:r>
            <a:endParaRPr lang="en-US" sz="2400" dirty="0" smtClean="0"/>
          </a:p>
          <a:p>
            <a:pPr algn="just"/>
            <a:endParaRPr lang="en-US" sz="1200" dirty="0"/>
          </a:p>
          <a:p>
            <a:pPr algn="just"/>
            <a:r>
              <a:rPr lang="en-US" sz="2400" dirty="0" smtClean="0"/>
              <a:t>Are </a:t>
            </a:r>
            <a:r>
              <a:rPr lang="en-US" sz="2400" dirty="0"/>
              <a:t>there any </a:t>
            </a:r>
            <a:r>
              <a:rPr lang="en-US" sz="2400" dirty="0" smtClean="0"/>
              <a:t>synonymous (</a:t>
            </a:r>
            <a:r>
              <a:rPr lang="en-US" sz="2400" i="1" dirty="0" smtClean="0"/>
              <a:t>identical</a:t>
            </a:r>
            <a:r>
              <a:rPr lang="en-US" sz="2400" dirty="0" smtClean="0"/>
              <a:t>) </a:t>
            </a:r>
            <a:r>
              <a:rPr lang="en-US" sz="2400" dirty="0"/>
              <a:t>and/or homonymous variables? </a:t>
            </a:r>
            <a:endParaRPr lang="en-US" sz="2400" dirty="0" smtClean="0"/>
          </a:p>
          <a:p>
            <a:pPr algn="just"/>
            <a:endParaRPr lang="en-US" sz="1200" dirty="0"/>
          </a:p>
          <a:p>
            <a:pPr algn="just"/>
            <a:r>
              <a:rPr lang="en-US" sz="2400" dirty="0" smtClean="0"/>
              <a:t>Are </a:t>
            </a:r>
            <a:r>
              <a:rPr lang="en-US" sz="2400" dirty="0"/>
              <a:t>the variables independent of each other—do they stand as a complete information source without overlapping or conflicting information?).</a:t>
            </a:r>
          </a:p>
        </p:txBody>
      </p:sp>
    </p:spTree>
    <p:extLst>
      <p:ext uri="{BB962C8B-B14F-4D97-AF65-F5344CB8AC3E}">
        <p14:creationId xmlns:p14="http://schemas.microsoft.com/office/powerpoint/2010/main" val="22438747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2456" y="900559"/>
            <a:ext cx="9372600" cy="4955203"/>
          </a:xfrm>
          <a:prstGeom prst="rect">
            <a:avLst/>
          </a:prstGeom>
        </p:spPr>
        <p:txBody>
          <a:bodyPr wrap="square">
            <a:spAutoFit/>
          </a:bodyPr>
          <a:lstStyle/>
          <a:p>
            <a:r>
              <a:rPr lang="en-US" sz="2800" b="1" dirty="0">
                <a:solidFill>
                  <a:srgbClr val="0070C0"/>
                </a:solidFill>
                <a:effectLst>
                  <a:outerShdw blurRad="38100" dist="38100" dir="2700000" algn="tl">
                    <a:srgbClr val="000000">
                      <a:alpha val="43137"/>
                    </a:srgbClr>
                  </a:outerShdw>
                </a:effectLst>
              </a:rPr>
              <a:t>Step 3: Data Preparation </a:t>
            </a:r>
            <a:endParaRPr lang="en-US" sz="2800" b="1" dirty="0" smtClean="0">
              <a:solidFill>
                <a:srgbClr val="0070C0"/>
              </a:solidFill>
              <a:effectLst>
                <a:outerShdw blurRad="38100" dist="38100" dir="2700000" algn="tl">
                  <a:srgbClr val="000000">
                    <a:alpha val="43137"/>
                  </a:srgbClr>
                </a:outerShdw>
              </a:effectLst>
            </a:endParaRPr>
          </a:p>
          <a:p>
            <a:endParaRPr lang="en-US" sz="1200" b="1" dirty="0" smtClean="0">
              <a:solidFill>
                <a:srgbClr val="0070C0"/>
              </a:solidFill>
              <a:effectLst>
                <a:outerShdw blurRad="38100" dist="38100" dir="2700000" algn="tl">
                  <a:srgbClr val="000000">
                    <a:alpha val="43137"/>
                  </a:srgbClr>
                </a:outerShdw>
              </a:effectLst>
            </a:endParaRPr>
          </a:p>
          <a:p>
            <a:pPr algn="just"/>
            <a:r>
              <a:rPr lang="en-US" sz="2400" dirty="0" smtClean="0"/>
              <a:t>The </a:t>
            </a:r>
            <a:r>
              <a:rPr lang="en-US" sz="2400" dirty="0"/>
              <a:t>purpose of data preparation (more commonly called data preprocessing) is to take the data identified in the previous step and prepare it for analysis by data mining methods. Compared to the other steps in CRISP-DM, data preprocessing consumes the most time and effort; most believe that this step accounts for </a:t>
            </a:r>
            <a:r>
              <a:rPr lang="en-US" sz="2400" b="1" u="sng" dirty="0">
                <a:solidFill>
                  <a:srgbClr val="0070C0"/>
                </a:solidFill>
                <a:effectLst>
                  <a:outerShdw blurRad="38100" dist="38100" dir="2700000" algn="tl">
                    <a:srgbClr val="000000">
                      <a:alpha val="43137"/>
                    </a:srgbClr>
                  </a:outerShdw>
                </a:effectLst>
              </a:rPr>
              <a:t>roughly 80% of the total time spent on a data mining project</a:t>
            </a:r>
            <a:r>
              <a:rPr lang="en-US" sz="2400" dirty="0"/>
              <a:t>. </a:t>
            </a:r>
            <a:endParaRPr lang="en-US" sz="2400" dirty="0" smtClean="0"/>
          </a:p>
          <a:p>
            <a:pPr algn="just"/>
            <a:endParaRPr lang="en-US" sz="1200" dirty="0"/>
          </a:p>
          <a:p>
            <a:pPr algn="just"/>
            <a:r>
              <a:rPr lang="en-US" sz="2400" dirty="0" smtClean="0"/>
              <a:t>The </a:t>
            </a:r>
            <a:r>
              <a:rPr lang="en-US" sz="2400" dirty="0"/>
              <a:t>reason for such an enormous effort spent on this step is the fact that real-world data is generally incomplete (lacking attribute values, lacking certain attributes of interest, or containing only aggregate data), noisy (containing errors or </a:t>
            </a:r>
            <a:r>
              <a:rPr lang="en-US" sz="2400" dirty="0" smtClean="0"/>
              <a:t>outliers</a:t>
            </a:r>
            <a:r>
              <a:rPr lang="en-US" sz="2400" dirty="0"/>
              <a:t>), and inconsistent (containing discrepancies in codes or names</a:t>
            </a:r>
            <a:r>
              <a:rPr lang="en-US" sz="2400" dirty="0" smtClean="0"/>
              <a:t>).</a:t>
            </a:r>
            <a:endParaRPr lang="en-US" sz="2400" dirty="0"/>
          </a:p>
        </p:txBody>
      </p:sp>
    </p:spTree>
    <p:extLst>
      <p:ext uri="{BB962C8B-B14F-4D97-AF65-F5344CB8AC3E}">
        <p14:creationId xmlns:p14="http://schemas.microsoft.com/office/powerpoint/2010/main" val="16403288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3896" y="1377387"/>
            <a:ext cx="9198864" cy="3816429"/>
          </a:xfrm>
          <a:prstGeom prst="rect">
            <a:avLst/>
          </a:prstGeom>
        </p:spPr>
        <p:txBody>
          <a:bodyPr wrap="square">
            <a:spAutoFit/>
          </a:bodyPr>
          <a:lstStyle/>
          <a:p>
            <a:r>
              <a:rPr lang="en-US" sz="2600" b="1" dirty="0">
                <a:solidFill>
                  <a:schemeClr val="accent2">
                    <a:lumMod val="75000"/>
                  </a:schemeClr>
                </a:solidFill>
                <a:effectLst>
                  <a:outerShdw blurRad="38100" dist="38100" dir="2700000" algn="tl">
                    <a:srgbClr val="000000">
                      <a:alpha val="43137"/>
                    </a:srgbClr>
                  </a:outerShdw>
                </a:effectLst>
              </a:rPr>
              <a:t>Step 4: Model Building </a:t>
            </a:r>
            <a:endParaRPr lang="en-US" sz="2600" b="1" dirty="0" smtClean="0">
              <a:solidFill>
                <a:schemeClr val="accent2">
                  <a:lumMod val="75000"/>
                </a:schemeClr>
              </a:solidFill>
              <a:effectLst>
                <a:outerShdw blurRad="38100" dist="38100" dir="2700000" algn="tl">
                  <a:srgbClr val="000000">
                    <a:alpha val="43137"/>
                  </a:srgbClr>
                </a:outerShdw>
              </a:effectLst>
            </a:endParaRPr>
          </a:p>
          <a:p>
            <a:endParaRPr lang="en-US" sz="1200" b="1" dirty="0" smtClean="0">
              <a:solidFill>
                <a:schemeClr val="accent2">
                  <a:lumMod val="75000"/>
                </a:schemeClr>
              </a:solidFill>
              <a:effectLst>
                <a:outerShdw blurRad="38100" dist="38100" dir="2700000" algn="tl">
                  <a:srgbClr val="000000">
                    <a:alpha val="43137"/>
                  </a:srgbClr>
                </a:outerShdw>
              </a:effectLst>
            </a:endParaRPr>
          </a:p>
          <a:p>
            <a:pPr algn="just"/>
            <a:r>
              <a:rPr lang="en-US" sz="2400" dirty="0" smtClean="0"/>
              <a:t>In </a:t>
            </a:r>
            <a:r>
              <a:rPr lang="en-US" sz="2400" dirty="0"/>
              <a:t>this step, various modeling techniques are selected and applied to an already prepared data set to address the specific business need. The model-building step also encompasses the assessment and comparative analysis of the various models built. </a:t>
            </a:r>
            <a:endParaRPr lang="en-US" sz="2400" dirty="0" smtClean="0"/>
          </a:p>
          <a:p>
            <a:pPr algn="just"/>
            <a:endParaRPr lang="en-US" sz="1200" dirty="0"/>
          </a:p>
          <a:p>
            <a:pPr algn="just"/>
            <a:r>
              <a:rPr lang="en-US" sz="2400" dirty="0" smtClean="0"/>
              <a:t>Because </a:t>
            </a:r>
            <a:r>
              <a:rPr lang="en-US" sz="2400" dirty="0"/>
              <a:t>there is not a universally known best method or algorithm for a data mining task, one should use a variety of viable model types along with a well-defined experimentation and assessment strategy to identify the “best” method for a given </a:t>
            </a:r>
            <a:r>
              <a:rPr lang="en-US" sz="2400" dirty="0" smtClean="0"/>
              <a:t>purpose.</a:t>
            </a:r>
            <a:endParaRPr lang="en-US" sz="2400" dirty="0"/>
          </a:p>
        </p:txBody>
      </p:sp>
    </p:spTree>
    <p:extLst>
      <p:ext uri="{BB962C8B-B14F-4D97-AF65-F5344CB8AC3E}">
        <p14:creationId xmlns:p14="http://schemas.microsoft.com/office/powerpoint/2010/main" val="34492584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4021" y="411484"/>
            <a:ext cx="4663440" cy="5998147"/>
          </a:xfrm>
          <a:prstGeom prst="rect">
            <a:avLst/>
          </a:prstGeom>
        </p:spPr>
      </p:pic>
      <p:sp>
        <p:nvSpPr>
          <p:cNvPr id="3" name="Rectangle 2"/>
          <p:cNvSpPr/>
          <p:nvPr/>
        </p:nvSpPr>
        <p:spPr>
          <a:xfrm>
            <a:off x="5690616" y="2721787"/>
            <a:ext cx="6096000" cy="1569660"/>
          </a:xfrm>
          <a:prstGeom prst="rect">
            <a:avLst/>
          </a:prstGeom>
        </p:spPr>
        <p:txBody>
          <a:bodyPr>
            <a:spAutoFit/>
          </a:bodyPr>
          <a:lstStyle/>
          <a:p>
            <a:pPr algn="ctr"/>
            <a:r>
              <a:rPr lang="en-US" sz="3200" b="1" dirty="0">
                <a:solidFill>
                  <a:schemeClr val="accent2">
                    <a:lumMod val="75000"/>
                  </a:schemeClr>
                </a:solidFill>
                <a:effectLst>
                  <a:outerShdw blurRad="38100" dist="38100" dir="2700000" algn="tl">
                    <a:srgbClr val="000000">
                      <a:alpha val="43137"/>
                    </a:srgbClr>
                  </a:outerShdw>
                </a:effectLst>
              </a:rPr>
              <a:t>A Data Mining Methodology for Investigation of Comorbidity in Cancer Survivability</a:t>
            </a:r>
          </a:p>
        </p:txBody>
      </p:sp>
    </p:spTree>
    <p:extLst>
      <p:ext uri="{BB962C8B-B14F-4D97-AF65-F5344CB8AC3E}">
        <p14:creationId xmlns:p14="http://schemas.microsoft.com/office/powerpoint/2010/main" val="7979513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77332" y="1223510"/>
            <a:ext cx="5333704" cy="584775"/>
          </a:xfrm>
          <a:prstGeom prst="rect">
            <a:avLst/>
          </a:prstGeom>
        </p:spPr>
        <p:txBody>
          <a:bodyPr wrap="none">
            <a:spAutoFit/>
          </a:bodyPr>
          <a:lstStyle/>
          <a:p>
            <a:r>
              <a:rPr lang="en-US" sz="3200" b="1" dirty="0">
                <a:solidFill>
                  <a:srgbClr val="7030A0"/>
                </a:solidFill>
                <a:effectLst>
                  <a:outerShdw blurRad="38100" dist="38100" dir="2700000" algn="tl">
                    <a:srgbClr val="000000">
                      <a:alpha val="43137"/>
                    </a:srgbClr>
                  </a:outerShdw>
                </a:effectLst>
              </a:rPr>
              <a:t>Step 5:  Testing and Evaluation</a:t>
            </a:r>
          </a:p>
        </p:txBody>
      </p:sp>
      <p:sp>
        <p:nvSpPr>
          <p:cNvPr id="3" name="Rectangle 2"/>
          <p:cNvSpPr/>
          <p:nvPr/>
        </p:nvSpPr>
        <p:spPr>
          <a:xfrm>
            <a:off x="1783080" y="2257890"/>
            <a:ext cx="8522208" cy="2862322"/>
          </a:xfrm>
          <a:prstGeom prst="rect">
            <a:avLst/>
          </a:prstGeom>
        </p:spPr>
        <p:txBody>
          <a:bodyPr wrap="square">
            <a:spAutoFit/>
          </a:bodyPr>
          <a:lstStyle/>
          <a:p>
            <a:pPr algn="just"/>
            <a:r>
              <a:rPr lang="en-US" sz="2400" dirty="0"/>
              <a:t>In step 5, the developed models are assessed and evaluated for their accuracy and </a:t>
            </a:r>
            <a:r>
              <a:rPr lang="en-US" sz="2400" dirty="0" smtClean="0"/>
              <a:t>generality</a:t>
            </a:r>
            <a:r>
              <a:rPr lang="en-US" sz="2400" dirty="0"/>
              <a:t>. This step assesses the degree to which the selected model (or models) meets the business objectives and, if so, to what extent (i.e., Do more models need to be developed and assessed?). </a:t>
            </a:r>
            <a:endParaRPr lang="en-US" sz="2400" dirty="0" smtClean="0"/>
          </a:p>
          <a:p>
            <a:pPr algn="just"/>
            <a:endParaRPr lang="en-US" sz="1200" dirty="0"/>
          </a:p>
          <a:p>
            <a:pPr algn="just"/>
            <a:r>
              <a:rPr lang="en-US" sz="2400" dirty="0" smtClean="0"/>
              <a:t>Another </a:t>
            </a:r>
            <a:r>
              <a:rPr lang="en-US" sz="2400" dirty="0"/>
              <a:t>option is to test the developed model(s) in a real-world scenario if time and budget constraints permit</a:t>
            </a:r>
          </a:p>
        </p:txBody>
      </p:sp>
    </p:spTree>
    <p:extLst>
      <p:ext uri="{BB962C8B-B14F-4D97-AF65-F5344CB8AC3E}">
        <p14:creationId xmlns:p14="http://schemas.microsoft.com/office/powerpoint/2010/main" val="25498498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97999" y="1104638"/>
            <a:ext cx="3547766" cy="584775"/>
          </a:xfrm>
          <a:prstGeom prst="rect">
            <a:avLst/>
          </a:prstGeom>
        </p:spPr>
        <p:txBody>
          <a:bodyPr wrap="none">
            <a:spAutoFit/>
          </a:bodyPr>
          <a:lstStyle/>
          <a:p>
            <a:r>
              <a:rPr lang="en-US" sz="3200" b="1" dirty="0">
                <a:solidFill>
                  <a:srgbClr val="7030A0"/>
                </a:solidFill>
                <a:effectLst>
                  <a:outerShdw blurRad="38100" dist="38100" dir="2700000" algn="tl">
                    <a:srgbClr val="000000">
                      <a:alpha val="43137"/>
                    </a:srgbClr>
                  </a:outerShdw>
                </a:effectLst>
              </a:rPr>
              <a:t>Step 6: Deployment</a:t>
            </a:r>
          </a:p>
        </p:txBody>
      </p:sp>
      <p:sp>
        <p:nvSpPr>
          <p:cNvPr id="5" name="Rectangle 4"/>
          <p:cNvSpPr/>
          <p:nvPr/>
        </p:nvSpPr>
        <p:spPr>
          <a:xfrm>
            <a:off x="1326146" y="1940528"/>
            <a:ext cx="9491472" cy="3231654"/>
          </a:xfrm>
          <a:prstGeom prst="rect">
            <a:avLst/>
          </a:prstGeom>
        </p:spPr>
        <p:txBody>
          <a:bodyPr wrap="square">
            <a:spAutoFit/>
          </a:bodyPr>
          <a:lstStyle/>
          <a:p>
            <a:pPr algn="just"/>
            <a:r>
              <a:rPr lang="en-US" sz="2400" dirty="0"/>
              <a:t>Development and assessment of the models is not the end of the data mining project. Even if the purpose of the model is to have a simple exploration of the data, the </a:t>
            </a:r>
            <a:r>
              <a:rPr lang="en-US" sz="2400" dirty="0" smtClean="0"/>
              <a:t>knowledge </a:t>
            </a:r>
            <a:r>
              <a:rPr lang="en-US" sz="2400" dirty="0"/>
              <a:t>gained from such exploration will need to be organized and presented in a way that the end user can understand and benefit from</a:t>
            </a:r>
            <a:r>
              <a:rPr lang="en-US" sz="2400" dirty="0" smtClean="0"/>
              <a:t>.</a:t>
            </a:r>
          </a:p>
          <a:p>
            <a:pPr algn="just"/>
            <a:endParaRPr lang="en-US" sz="1200" dirty="0"/>
          </a:p>
          <a:p>
            <a:pPr algn="just"/>
            <a:r>
              <a:rPr lang="en-US" sz="2400" dirty="0"/>
              <a:t>The deployment step may also include maintenance activities for the deployed </a:t>
            </a:r>
            <a:r>
              <a:rPr lang="en-US" sz="2400" dirty="0" smtClean="0"/>
              <a:t>models</a:t>
            </a:r>
            <a:r>
              <a:rPr lang="en-US" sz="2400" dirty="0"/>
              <a:t>. Because everything about the business is constantly changing, the data that reflect the business activities also are changing. </a:t>
            </a:r>
          </a:p>
        </p:txBody>
      </p:sp>
    </p:spTree>
    <p:extLst>
      <p:ext uri="{BB962C8B-B14F-4D97-AF65-F5344CB8AC3E}">
        <p14:creationId xmlns:p14="http://schemas.microsoft.com/office/powerpoint/2010/main" val="1297428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6088" y="1870262"/>
            <a:ext cx="3008088" cy="3046988"/>
          </a:xfrm>
          <a:prstGeom prst="rect">
            <a:avLst/>
          </a:prstGeom>
        </p:spPr>
        <p:txBody>
          <a:bodyPr wrap="square">
            <a:spAutoFit/>
          </a:bodyPr>
          <a:lstStyle/>
          <a:p>
            <a:pPr algn="ctr"/>
            <a:r>
              <a:rPr lang="en-US" sz="3200" b="1" dirty="0">
                <a:solidFill>
                  <a:srgbClr val="7030A0"/>
                </a:solidFill>
                <a:effectLst>
                  <a:outerShdw blurRad="38100" dist="38100" dir="2700000" algn="tl">
                    <a:srgbClr val="000000">
                      <a:alpha val="43137"/>
                    </a:srgbClr>
                  </a:outerShdw>
                </a:effectLst>
              </a:rPr>
              <a:t>Other Data Mining Standardized Processes </a:t>
            </a:r>
            <a:endParaRPr lang="en-US" sz="3200" b="1" dirty="0" smtClean="0">
              <a:solidFill>
                <a:srgbClr val="7030A0"/>
              </a:solidFill>
              <a:effectLst>
                <a:outerShdw blurRad="38100" dist="38100" dir="2700000" algn="tl">
                  <a:srgbClr val="000000">
                    <a:alpha val="43137"/>
                  </a:srgbClr>
                </a:outerShdw>
              </a:effectLst>
            </a:endParaRPr>
          </a:p>
          <a:p>
            <a:pPr algn="ctr"/>
            <a:r>
              <a:rPr lang="en-US" sz="3200" b="1" dirty="0" smtClean="0">
                <a:solidFill>
                  <a:srgbClr val="7030A0"/>
                </a:solidFill>
                <a:effectLst>
                  <a:outerShdw blurRad="38100" dist="38100" dir="2700000" algn="tl">
                    <a:srgbClr val="000000">
                      <a:alpha val="43137"/>
                    </a:srgbClr>
                  </a:outerShdw>
                </a:effectLst>
              </a:rPr>
              <a:t>and </a:t>
            </a:r>
            <a:r>
              <a:rPr lang="en-US" sz="3200" b="1" dirty="0">
                <a:solidFill>
                  <a:srgbClr val="7030A0"/>
                </a:solidFill>
                <a:effectLst>
                  <a:outerShdw blurRad="38100" dist="38100" dir="2700000" algn="tl">
                    <a:srgbClr val="000000">
                      <a:alpha val="43137"/>
                    </a:srgbClr>
                  </a:outerShdw>
                </a:effectLst>
              </a:rPr>
              <a:t>Methodologies</a:t>
            </a:r>
          </a:p>
        </p:txBody>
      </p:sp>
      <p:pic>
        <p:nvPicPr>
          <p:cNvPr id="5" name="Picture 4"/>
          <p:cNvPicPr>
            <a:picLocks noChangeAspect="1"/>
          </p:cNvPicPr>
          <p:nvPr/>
        </p:nvPicPr>
        <p:blipFill>
          <a:blip r:embed="rId2"/>
          <a:stretch>
            <a:fillRect/>
          </a:stretch>
        </p:blipFill>
        <p:spPr>
          <a:xfrm>
            <a:off x="3959347" y="333183"/>
            <a:ext cx="7488413" cy="5577840"/>
          </a:xfrm>
          <a:prstGeom prst="rect">
            <a:avLst/>
          </a:prstGeom>
        </p:spPr>
      </p:pic>
      <p:sp>
        <p:nvSpPr>
          <p:cNvPr id="6" name="Rectangle 5"/>
          <p:cNvSpPr/>
          <p:nvPr/>
        </p:nvSpPr>
        <p:spPr>
          <a:xfrm>
            <a:off x="6306117" y="5978390"/>
            <a:ext cx="3873112" cy="461665"/>
          </a:xfrm>
          <a:prstGeom prst="rect">
            <a:avLst/>
          </a:prstGeom>
        </p:spPr>
        <p:txBody>
          <a:bodyPr wrap="none">
            <a:spAutoFit/>
          </a:bodyPr>
          <a:lstStyle/>
          <a:p>
            <a:r>
              <a:rPr lang="en-US" sz="2400" b="1" dirty="0">
                <a:solidFill>
                  <a:schemeClr val="bg1">
                    <a:lumMod val="50000"/>
                  </a:schemeClr>
                </a:solidFill>
                <a:effectLst>
                  <a:outerShdw blurRad="38100" dist="38100" dir="2700000" algn="tl">
                    <a:srgbClr val="000000">
                      <a:alpha val="43137"/>
                    </a:srgbClr>
                  </a:outerShdw>
                </a:effectLst>
              </a:rPr>
              <a:t>SEMMA Data Mining Process</a:t>
            </a:r>
          </a:p>
        </p:txBody>
      </p:sp>
    </p:spTree>
    <p:extLst>
      <p:ext uri="{BB962C8B-B14F-4D97-AF65-F5344CB8AC3E}">
        <p14:creationId xmlns:p14="http://schemas.microsoft.com/office/powerpoint/2010/main" val="33520623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555534"/>
            <a:ext cx="10076688" cy="5878532"/>
          </a:xfrm>
          <a:prstGeom prst="rect">
            <a:avLst/>
          </a:prstGeom>
        </p:spPr>
        <p:txBody>
          <a:bodyPr wrap="square">
            <a:spAutoFit/>
          </a:bodyPr>
          <a:lstStyle/>
          <a:p>
            <a:pPr algn="ctr"/>
            <a:r>
              <a:rPr lang="en-US" sz="2800" b="1" dirty="0" smtClean="0">
                <a:solidFill>
                  <a:schemeClr val="bg1">
                    <a:lumMod val="50000"/>
                  </a:schemeClr>
                </a:solidFill>
                <a:effectLst>
                  <a:outerShdw blurRad="38100" dist="38100" dir="2700000" algn="tl">
                    <a:srgbClr val="000000">
                      <a:alpha val="43137"/>
                    </a:srgbClr>
                  </a:outerShdw>
                </a:effectLst>
              </a:rPr>
              <a:t>Short Notes on KDD</a:t>
            </a:r>
          </a:p>
          <a:p>
            <a:endParaRPr lang="en-US" sz="1200" b="1" dirty="0">
              <a:solidFill>
                <a:schemeClr val="bg1">
                  <a:lumMod val="50000"/>
                </a:schemeClr>
              </a:solidFill>
              <a:effectLst>
                <a:outerShdw blurRad="38100" dist="38100" dir="2700000" algn="tl">
                  <a:srgbClr val="000000">
                    <a:alpha val="43137"/>
                  </a:srgbClr>
                </a:outerShdw>
              </a:effectLst>
            </a:endParaRPr>
          </a:p>
          <a:p>
            <a:pPr algn="just"/>
            <a:r>
              <a:rPr lang="en-US" sz="2400" dirty="0" smtClean="0"/>
              <a:t>Some </a:t>
            </a:r>
            <a:r>
              <a:rPr lang="en-US" sz="2400" dirty="0"/>
              <a:t>practitioners commonly use the term knowledge discovery in databases (KDD) as a synonym for data mining. Fayyad et al. (1996) defined </a:t>
            </a:r>
            <a:r>
              <a:rPr lang="en-US" sz="2400" b="1" dirty="0">
                <a:solidFill>
                  <a:srgbClr val="FF0000"/>
                </a:solidFill>
              </a:rPr>
              <a:t>knowledge </a:t>
            </a:r>
            <a:r>
              <a:rPr lang="en-US" sz="2400" b="1" dirty="0" smtClean="0">
                <a:solidFill>
                  <a:srgbClr val="FF0000"/>
                </a:solidFill>
              </a:rPr>
              <a:t>discovery </a:t>
            </a:r>
            <a:r>
              <a:rPr lang="en-US" sz="2400" b="1" dirty="0">
                <a:solidFill>
                  <a:srgbClr val="FF0000"/>
                </a:solidFill>
              </a:rPr>
              <a:t>in databases</a:t>
            </a:r>
            <a:r>
              <a:rPr lang="en-US" sz="2400" dirty="0"/>
              <a:t> as a process of using data mining methods to find useful information and patterns in the data, as opposed to data mining, which involves using algorithms to identify patterns in data derived through the KDD </a:t>
            </a:r>
            <a:r>
              <a:rPr lang="en-US" sz="2400" dirty="0" smtClean="0"/>
              <a:t>process.</a:t>
            </a:r>
          </a:p>
          <a:p>
            <a:pPr algn="just"/>
            <a:endParaRPr lang="en-US" sz="1200" dirty="0"/>
          </a:p>
          <a:p>
            <a:pPr algn="just"/>
            <a:r>
              <a:rPr lang="en-US" sz="2400" dirty="0" smtClean="0"/>
              <a:t>KDD </a:t>
            </a:r>
            <a:r>
              <a:rPr lang="en-US" sz="2400" dirty="0"/>
              <a:t>is a comprehensive process that encompasses data mining. The input to the KDD </a:t>
            </a:r>
            <a:r>
              <a:rPr lang="en-US" sz="2400" dirty="0" smtClean="0"/>
              <a:t>process </a:t>
            </a:r>
            <a:r>
              <a:rPr lang="en-US" sz="2400" dirty="0"/>
              <a:t>consists of organizational data. </a:t>
            </a:r>
            <a:endParaRPr lang="en-US" sz="2400" dirty="0" smtClean="0"/>
          </a:p>
          <a:p>
            <a:pPr algn="just"/>
            <a:endParaRPr lang="en-US" sz="1200" dirty="0"/>
          </a:p>
          <a:p>
            <a:pPr algn="just"/>
            <a:r>
              <a:rPr lang="en-US" sz="2400" dirty="0" smtClean="0"/>
              <a:t>The </a:t>
            </a:r>
            <a:r>
              <a:rPr lang="en-US" sz="2400" dirty="0"/>
              <a:t>enterprise data warehouse enables KDD to be implemented efficiently because it provides a single source for data to be mined. </a:t>
            </a:r>
            <a:endParaRPr lang="en-US" sz="2400" dirty="0" smtClean="0"/>
          </a:p>
          <a:p>
            <a:pPr algn="just"/>
            <a:endParaRPr lang="en-US" sz="1200" dirty="0"/>
          </a:p>
          <a:p>
            <a:pPr algn="just"/>
            <a:r>
              <a:rPr lang="en-US" sz="2400" b="1" dirty="0" smtClean="0">
                <a:solidFill>
                  <a:srgbClr val="FF0000"/>
                </a:solidFill>
              </a:rPr>
              <a:t>Dunham </a:t>
            </a:r>
            <a:r>
              <a:rPr lang="en-US" sz="2400" b="1" dirty="0">
                <a:solidFill>
                  <a:srgbClr val="FF0000"/>
                </a:solidFill>
              </a:rPr>
              <a:t>(2003) </a:t>
            </a:r>
            <a:r>
              <a:rPr lang="en-US" sz="2400" dirty="0"/>
              <a:t>summarized the KDD process as consisting of the following steps: </a:t>
            </a:r>
            <a:r>
              <a:rPr lang="en-US" sz="2400" b="1" dirty="0"/>
              <a:t>data selection</a:t>
            </a:r>
            <a:r>
              <a:rPr lang="en-US" sz="2400" dirty="0"/>
              <a:t>, </a:t>
            </a:r>
            <a:r>
              <a:rPr lang="en-US" sz="2400" b="1" dirty="0"/>
              <a:t>data preprocessing</a:t>
            </a:r>
            <a:r>
              <a:rPr lang="en-US" sz="2400" dirty="0"/>
              <a:t>, </a:t>
            </a:r>
            <a:r>
              <a:rPr lang="en-US" sz="2400" b="1" dirty="0"/>
              <a:t>data transformation</a:t>
            </a:r>
            <a:r>
              <a:rPr lang="en-US" sz="2400" dirty="0"/>
              <a:t>, </a:t>
            </a:r>
            <a:r>
              <a:rPr lang="en-US" sz="2400" b="1" dirty="0"/>
              <a:t>data mining</a:t>
            </a:r>
            <a:r>
              <a:rPr lang="en-US" sz="2400" dirty="0"/>
              <a:t>, and </a:t>
            </a:r>
            <a:r>
              <a:rPr lang="en-US" sz="2400" b="1" dirty="0"/>
              <a:t>interpretation/ evaluation</a:t>
            </a:r>
            <a:r>
              <a:rPr lang="en-US" sz="2400" dirty="0"/>
              <a:t>.</a:t>
            </a:r>
          </a:p>
        </p:txBody>
      </p:sp>
    </p:spTree>
    <p:extLst>
      <p:ext uri="{BB962C8B-B14F-4D97-AF65-F5344CB8AC3E}">
        <p14:creationId xmlns:p14="http://schemas.microsoft.com/office/powerpoint/2010/main" val="10788480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1746" y="164973"/>
            <a:ext cx="8694591" cy="6492240"/>
          </a:xfrm>
          <a:prstGeom prst="rect">
            <a:avLst/>
          </a:prstGeom>
        </p:spPr>
      </p:pic>
      <p:sp>
        <p:nvSpPr>
          <p:cNvPr id="5" name="Rectangle 4"/>
          <p:cNvSpPr/>
          <p:nvPr/>
        </p:nvSpPr>
        <p:spPr>
          <a:xfrm>
            <a:off x="8989530" y="2768846"/>
            <a:ext cx="3129318" cy="2062103"/>
          </a:xfrm>
          <a:prstGeom prst="rect">
            <a:avLst/>
          </a:prstGeom>
        </p:spPr>
        <p:txBody>
          <a:bodyPr wrap="none">
            <a:spAutoFit/>
          </a:bodyPr>
          <a:lstStyle/>
          <a:p>
            <a:pPr algn="ctr"/>
            <a:r>
              <a:rPr lang="en-US" sz="3200" b="1" dirty="0">
                <a:solidFill>
                  <a:srgbClr val="FF0000"/>
                </a:solidFill>
                <a:effectLst>
                  <a:outerShdw blurRad="38100" dist="38100" dir="2700000" algn="tl">
                    <a:srgbClr val="000000">
                      <a:alpha val="43137"/>
                    </a:srgbClr>
                  </a:outerShdw>
                </a:effectLst>
              </a:rPr>
              <a:t>KDD (Knowledge </a:t>
            </a:r>
            <a:endParaRPr lang="en-US" sz="3200" b="1" dirty="0" smtClean="0">
              <a:solidFill>
                <a:srgbClr val="FF0000"/>
              </a:solidFill>
              <a:effectLst>
                <a:outerShdw blurRad="38100" dist="38100" dir="2700000" algn="tl">
                  <a:srgbClr val="000000">
                    <a:alpha val="43137"/>
                  </a:srgbClr>
                </a:outerShdw>
              </a:effectLst>
            </a:endParaRPr>
          </a:p>
          <a:p>
            <a:pPr algn="ctr"/>
            <a:r>
              <a:rPr lang="en-US" sz="3200" b="1" dirty="0" smtClean="0">
                <a:solidFill>
                  <a:srgbClr val="FF0000"/>
                </a:solidFill>
                <a:effectLst>
                  <a:outerShdw blurRad="38100" dist="38100" dir="2700000" algn="tl">
                    <a:srgbClr val="000000">
                      <a:alpha val="43137"/>
                    </a:srgbClr>
                  </a:outerShdw>
                </a:effectLst>
              </a:rPr>
              <a:t>Discovery </a:t>
            </a:r>
          </a:p>
          <a:p>
            <a:pPr algn="ctr"/>
            <a:r>
              <a:rPr lang="en-US" sz="3200" b="1" dirty="0" smtClean="0">
                <a:solidFill>
                  <a:srgbClr val="FF0000"/>
                </a:solidFill>
                <a:effectLst>
                  <a:outerShdw blurRad="38100" dist="38100" dir="2700000" algn="tl">
                    <a:srgbClr val="000000">
                      <a:alpha val="43137"/>
                    </a:srgbClr>
                  </a:outerShdw>
                </a:effectLst>
              </a:rPr>
              <a:t>in </a:t>
            </a:r>
            <a:r>
              <a:rPr lang="en-US" sz="3200" b="1" dirty="0">
                <a:solidFill>
                  <a:srgbClr val="FF0000"/>
                </a:solidFill>
                <a:effectLst>
                  <a:outerShdw blurRad="38100" dist="38100" dir="2700000" algn="tl">
                    <a:srgbClr val="000000">
                      <a:alpha val="43137"/>
                    </a:srgbClr>
                  </a:outerShdw>
                </a:effectLst>
              </a:rPr>
              <a:t>Databases) </a:t>
            </a:r>
            <a:endParaRPr lang="en-US" sz="3200" b="1" dirty="0" smtClean="0">
              <a:solidFill>
                <a:srgbClr val="FF0000"/>
              </a:solidFill>
              <a:effectLst>
                <a:outerShdw blurRad="38100" dist="38100" dir="2700000" algn="tl">
                  <a:srgbClr val="000000">
                    <a:alpha val="43137"/>
                  </a:srgbClr>
                </a:outerShdw>
              </a:effectLst>
            </a:endParaRPr>
          </a:p>
          <a:p>
            <a:pPr algn="ctr"/>
            <a:r>
              <a:rPr lang="en-US" sz="3200" b="1" dirty="0" smtClean="0">
                <a:solidFill>
                  <a:srgbClr val="FF0000"/>
                </a:solidFill>
                <a:effectLst>
                  <a:outerShdw blurRad="38100" dist="38100" dir="2700000" algn="tl">
                    <a:srgbClr val="000000">
                      <a:alpha val="43137"/>
                    </a:srgbClr>
                  </a:outerShdw>
                </a:effectLst>
              </a:rPr>
              <a:t>Process</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767539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78215" y="1452110"/>
            <a:ext cx="4510145"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4.5 Data Mining Methods</a:t>
            </a:r>
          </a:p>
        </p:txBody>
      </p:sp>
      <p:sp>
        <p:nvSpPr>
          <p:cNvPr id="3" name="Rectangle 2"/>
          <p:cNvSpPr/>
          <p:nvPr/>
        </p:nvSpPr>
        <p:spPr>
          <a:xfrm>
            <a:off x="1314400" y="2453932"/>
            <a:ext cx="9637776" cy="1986891"/>
          </a:xfrm>
          <a:prstGeom prst="rect">
            <a:avLst/>
          </a:prstGeom>
        </p:spPr>
        <p:txBody>
          <a:bodyPr wrap="square">
            <a:spAutoFit/>
          </a:bodyPr>
          <a:lstStyle/>
          <a:p>
            <a:pPr algn="just">
              <a:lnSpc>
                <a:spcPct val="114000"/>
              </a:lnSpc>
            </a:pPr>
            <a:r>
              <a:rPr lang="en-US" sz="2400" dirty="0"/>
              <a:t>A variety of methods are available for performing data mining studies, including </a:t>
            </a:r>
            <a:r>
              <a:rPr lang="en-US" sz="2400" b="1" dirty="0" smtClean="0">
                <a:solidFill>
                  <a:srgbClr val="FF0000"/>
                </a:solidFill>
              </a:rPr>
              <a:t>classification</a:t>
            </a:r>
            <a:r>
              <a:rPr lang="en-US" sz="2400" dirty="0"/>
              <a:t>, </a:t>
            </a:r>
            <a:r>
              <a:rPr lang="en-US" sz="2400" b="1" dirty="0">
                <a:solidFill>
                  <a:srgbClr val="7030A0"/>
                </a:solidFill>
              </a:rPr>
              <a:t>regression</a:t>
            </a:r>
            <a:r>
              <a:rPr lang="en-US" sz="2400" dirty="0"/>
              <a:t>, </a:t>
            </a:r>
            <a:r>
              <a:rPr lang="en-US" sz="2400" b="1" dirty="0">
                <a:solidFill>
                  <a:schemeClr val="accent6">
                    <a:lumMod val="75000"/>
                  </a:schemeClr>
                </a:solidFill>
              </a:rPr>
              <a:t>clustering</a:t>
            </a:r>
            <a:r>
              <a:rPr lang="en-US" sz="2400" dirty="0"/>
              <a:t>, and </a:t>
            </a:r>
            <a:r>
              <a:rPr lang="en-US" sz="2400" b="1" dirty="0">
                <a:solidFill>
                  <a:schemeClr val="accent2">
                    <a:lumMod val="75000"/>
                  </a:schemeClr>
                </a:solidFill>
              </a:rPr>
              <a:t>association</a:t>
            </a:r>
            <a:r>
              <a:rPr lang="en-US" sz="2400" dirty="0"/>
              <a:t>. </a:t>
            </a:r>
            <a:endParaRPr lang="en-US" sz="2400" dirty="0" smtClean="0"/>
          </a:p>
          <a:p>
            <a:pPr algn="just">
              <a:lnSpc>
                <a:spcPct val="114000"/>
              </a:lnSpc>
            </a:pPr>
            <a:endParaRPr lang="en-US" sz="1200" dirty="0"/>
          </a:p>
          <a:p>
            <a:pPr algn="just">
              <a:lnSpc>
                <a:spcPct val="114000"/>
              </a:lnSpc>
            </a:pPr>
            <a:r>
              <a:rPr lang="en-US" sz="2400" dirty="0" smtClean="0"/>
              <a:t>Most </a:t>
            </a:r>
            <a:r>
              <a:rPr lang="en-US" sz="2400" dirty="0"/>
              <a:t>data mining software tools employ more than one technique (or algorithm) for each of these methods.</a:t>
            </a:r>
          </a:p>
        </p:txBody>
      </p:sp>
    </p:spTree>
    <p:extLst>
      <p:ext uri="{BB962C8B-B14F-4D97-AF65-F5344CB8AC3E}">
        <p14:creationId xmlns:p14="http://schemas.microsoft.com/office/powerpoint/2010/main" val="14380179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71016" y="1400568"/>
            <a:ext cx="9683496" cy="3724096"/>
          </a:xfrm>
          <a:prstGeom prst="rect">
            <a:avLst/>
          </a:prstGeom>
        </p:spPr>
        <p:txBody>
          <a:bodyPr wrap="square">
            <a:spAutoFit/>
          </a:bodyPr>
          <a:lstStyle/>
          <a:p>
            <a:pPr algn="just"/>
            <a:r>
              <a:rPr lang="en-US" sz="3200" b="1" dirty="0">
                <a:solidFill>
                  <a:srgbClr val="FF0000"/>
                </a:solidFill>
                <a:effectLst>
                  <a:outerShdw blurRad="38100" dist="38100" dir="2700000" algn="tl">
                    <a:srgbClr val="000000">
                      <a:alpha val="43137"/>
                    </a:srgbClr>
                  </a:outerShdw>
                </a:effectLst>
              </a:rPr>
              <a:t>Classification</a:t>
            </a:r>
            <a:r>
              <a:rPr lang="en-US" sz="3200" dirty="0"/>
              <a:t> </a:t>
            </a:r>
            <a:endParaRPr lang="en-US" sz="3200" dirty="0" smtClean="0"/>
          </a:p>
          <a:p>
            <a:pPr algn="just"/>
            <a:endParaRPr lang="en-US" sz="1200" dirty="0" smtClean="0"/>
          </a:p>
          <a:p>
            <a:pPr algn="just">
              <a:lnSpc>
                <a:spcPct val="125000"/>
              </a:lnSpc>
            </a:pPr>
            <a:r>
              <a:rPr lang="en-US" sz="2400" b="1" u="sng" dirty="0" smtClean="0"/>
              <a:t>Classification</a:t>
            </a:r>
            <a:r>
              <a:rPr lang="en-US" sz="2400" dirty="0" smtClean="0"/>
              <a:t> is </a:t>
            </a:r>
            <a:r>
              <a:rPr lang="en-US" sz="2400" dirty="0"/>
              <a:t>perhaps the most frequently used data mining method for </a:t>
            </a:r>
            <a:r>
              <a:rPr lang="en-US" sz="2400" i="1" dirty="0"/>
              <a:t>real-world problems</a:t>
            </a:r>
            <a:r>
              <a:rPr lang="en-US" sz="2400" dirty="0"/>
              <a:t>. As a popular member of the machine-learning family of techniques, </a:t>
            </a:r>
            <a:r>
              <a:rPr lang="en-US" sz="2400" dirty="0" smtClean="0"/>
              <a:t>classification </a:t>
            </a:r>
            <a:r>
              <a:rPr lang="en-US" sz="2400" b="1" u="sng" dirty="0">
                <a:solidFill>
                  <a:srgbClr val="7030A0"/>
                </a:solidFill>
              </a:rPr>
              <a:t>learns patterns from past data</a:t>
            </a:r>
            <a:r>
              <a:rPr lang="en-US" sz="2400" dirty="0"/>
              <a:t> (</a:t>
            </a:r>
            <a:r>
              <a:rPr lang="en-US" sz="2400" dirty="0">
                <a:solidFill>
                  <a:srgbClr val="FF0000"/>
                </a:solidFill>
              </a:rPr>
              <a:t>a set of information—traits, variables, features</a:t>
            </a:r>
            <a:r>
              <a:rPr lang="en-US" sz="2400" dirty="0"/>
              <a:t>—on characteristics of the </a:t>
            </a:r>
            <a:r>
              <a:rPr lang="en-US" sz="2400" b="1" dirty="0">
                <a:solidFill>
                  <a:schemeClr val="accent2">
                    <a:lumMod val="75000"/>
                  </a:schemeClr>
                </a:solidFill>
              </a:rPr>
              <a:t>previously labeled items, objects, or events</a:t>
            </a:r>
            <a:r>
              <a:rPr lang="en-US" sz="2400" dirty="0"/>
              <a:t>) to place new instances (with unknown labels) into their respective groups or classes. </a:t>
            </a:r>
            <a:endParaRPr lang="en-US" sz="2400" dirty="0" smtClean="0"/>
          </a:p>
          <a:p>
            <a:pPr algn="just"/>
            <a:endParaRPr lang="en-US" sz="1200" dirty="0"/>
          </a:p>
        </p:txBody>
      </p:sp>
    </p:spTree>
    <p:extLst>
      <p:ext uri="{BB962C8B-B14F-4D97-AF65-F5344CB8AC3E}">
        <p14:creationId xmlns:p14="http://schemas.microsoft.com/office/powerpoint/2010/main" val="40893866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544" y="707428"/>
            <a:ext cx="10433304" cy="5448799"/>
          </a:xfrm>
          <a:prstGeom prst="rect">
            <a:avLst/>
          </a:prstGeom>
        </p:spPr>
        <p:txBody>
          <a:bodyPr wrap="square">
            <a:spAutoFit/>
          </a:bodyPr>
          <a:lstStyle/>
          <a:p>
            <a:pPr algn="just"/>
            <a:r>
              <a:rPr lang="en-US" sz="2700" b="1" dirty="0"/>
              <a:t>For example</a:t>
            </a:r>
            <a:r>
              <a:rPr lang="en-US" sz="2700" dirty="0" smtClean="0"/>
              <a:t>,</a:t>
            </a:r>
          </a:p>
          <a:p>
            <a:pPr algn="just"/>
            <a:endParaRPr lang="en-US" sz="800" dirty="0"/>
          </a:p>
          <a:p>
            <a:pPr algn="just">
              <a:lnSpc>
                <a:spcPct val="125000"/>
              </a:lnSpc>
            </a:pPr>
            <a:r>
              <a:rPr lang="en-US" sz="2400" dirty="0"/>
              <a:t>O</a:t>
            </a:r>
            <a:r>
              <a:rPr lang="en-US" sz="2400" dirty="0" smtClean="0"/>
              <a:t>ne </a:t>
            </a:r>
            <a:r>
              <a:rPr lang="en-US" sz="2400" dirty="0"/>
              <a:t>could use </a:t>
            </a:r>
            <a:r>
              <a:rPr lang="en-US" sz="2400" b="1" dirty="0">
                <a:solidFill>
                  <a:srgbClr val="FF0000"/>
                </a:solidFill>
              </a:rPr>
              <a:t>classification</a:t>
            </a:r>
            <a:r>
              <a:rPr lang="en-US" sz="2400" dirty="0"/>
              <a:t> to predict whether the </a:t>
            </a:r>
            <a:r>
              <a:rPr lang="en-US" sz="2400" b="1" dirty="0"/>
              <a:t>weather</a:t>
            </a:r>
            <a:r>
              <a:rPr lang="en-US" sz="2400" dirty="0"/>
              <a:t> on a particular day will be “</a:t>
            </a:r>
            <a:r>
              <a:rPr lang="en-US" sz="2400" u="sng" dirty="0"/>
              <a:t>sunny</a:t>
            </a:r>
            <a:r>
              <a:rPr lang="en-US" sz="2400" dirty="0"/>
              <a:t>,” “</a:t>
            </a:r>
            <a:r>
              <a:rPr lang="en-US" sz="2400" u="sng" dirty="0"/>
              <a:t>rainy</a:t>
            </a:r>
            <a:r>
              <a:rPr lang="en-US" sz="2400" dirty="0"/>
              <a:t>,” or “</a:t>
            </a:r>
            <a:r>
              <a:rPr lang="en-US" sz="2400" u="sng" dirty="0"/>
              <a:t>cloudy</a:t>
            </a:r>
            <a:r>
              <a:rPr lang="en-US" sz="2400" dirty="0"/>
              <a:t>.” </a:t>
            </a:r>
            <a:endParaRPr lang="en-US" sz="2400" dirty="0" smtClean="0"/>
          </a:p>
          <a:p>
            <a:pPr algn="just">
              <a:lnSpc>
                <a:spcPct val="125000"/>
              </a:lnSpc>
            </a:pPr>
            <a:endParaRPr lang="en-US" sz="800" dirty="0" smtClean="0"/>
          </a:p>
          <a:p>
            <a:pPr algn="just">
              <a:lnSpc>
                <a:spcPct val="125000"/>
              </a:lnSpc>
            </a:pPr>
            <a:r>
              <a:rPr lang="en-US" sz="2400" b="1" dirty="0" smtClean="0"/>
              <a:t>Popular </a:t>
            </a:r>
            <a:r>
              <a:rPr lang="en-US" sz="2400" b="1" dirty="0"/>
              <a:t>classification tasks</a:t>
            </a:r>
            <a:r>
              <a:rPr lang="en-US" sz="2400" dirty="0"/>
              <a:t> include credit approval (i.e., good or bad credit risk), store location (e.g., good, moderate, bad), target marketing (e.g., likely customer, no hope), fraud detection (i.e., yes/no), and telecommunication (e.g., likely to turn to another phone company, yes/no). </a:t>
            </a:r>
          </a:p>
          <a:p>
            <a:pPr algn="just"/>
            <a:endParaRPr lang="en-US" sz="1200" dirty="0" smtClean="0"/>
          </a:p>
          <a:p>
            <a:pPr algn="just"/>
            <a:r>
              <a:rPr lang="en-US" sz="2400" b="1" dirty="0" smtClean="0">
                <a:solidFill>
                  <a:schemeClr val="accent5"/>
                </a:solidFill>
              </a:rPr>
              <a:t>** Imp. Note.</a:t>
            </a:r>
          </a:p>
          <a:p>
            <a:pPr algn="just">
              <a:lnSpc>
                <a:spcPct val="114000"/>
              </a:lnSpc>
            </a:pPr>
            <a:r>
              <a:rPr lang="en-US" sz="2400" b="1" dirty="0" smtClean="0"/>
              <a:t>If </a:t>
            </a:r>
            <a:r>
              <a:rPr lang="en-US" sz="2400" b="1" dirty="0"/>
              <a:t>what is being predicted is a class label (e.g., “sunny,” “rainy,” or “cloudy”), the prediction problem is </a:t>
            </a:r>
            <a:r>
              <a:rPr lang="en-US" sz="2400" b="1" dirty="0">
                <a:solidFill>
                  <a:srgbClr val="FF0000"/>
                </a:solidFill>
              </a:rPr>
              <a:t>called a classification</a:t>
            </a:r>
            <a:r>
              <a:rPr lang="en-US" sz="2400" b="1" dirty="0"/>
              <a:t>, whereas if it is a </a:t>
            </a:r>
            <a:r>
              <a:rPr lang="en-US" sz="2400" b="1" dirty="0">
                <a:solidFill>
                  <a:srgbClr val="0070C0"/>
                </a:solidFill>
              </a:rPr>
              <a:t>numeric value </a:t>
            </a:r>
            <a:r>
              <a:rPr lang="en-US" sz="2400" b="1" dirty="0"/>
              <a:t>(e.g., temperature, such as 68°F), the prediction </a:t>
            </a:r>
            <a:r>
              <a:rPr lang="en-US" sz="2400" b="1" dirty="0">
                <a:solidFill>
                  <a:srgbClr val="0070C0"/>
                </a:solidFill>
              </a:rPr>
              <a:t>problem is called a regression</a:t>
            </a:r>
            <a:r>
              <a:rPr lang="en-US" sz="2400" b="1" dirty="0"/>
              <a:t>.</a:t>
            </a:r>
          </a:p>
        </p:txBody>
      </p:sp>
    </p:spTree>
    <p:extLst>
      <p:ext uri="{BB962C8B-B14F-4D97-AF65-F5344CB8AC3E}">
        <p14:creationId xmlns:p14="http://schemas.microsoft.com/office/powerpoint/2010/main" val="35150562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544" y="369100"/>
            <a:ext cx="10433304" cy="523220"/>
          </a:xfrm>
          <a:prstGeom prst="rect">
            <a:avLst/>
          </a:prstGeom>
        </p:spPr>
        <p:txBody>
          <a:bodyPr wrap="square">
            <a:spAutoFit/>
          </a:bodyPr>
          <a:lstStyle/>
          <a:p>
            <a:pPr algn="ctr"/>
            <a:r>
              <a:rPr lang="en-US" sz="2800" b="1" dirty="0" smtClean="0">
                <a:solidFill>
                  <a:srgbClr val="C00000"/>
                </a:solidFill>
              </a:rPr>
              <a:t>What is key difference between clustering and classification?</a:t>
            </a:r>
            <a:endParaRPr lang="en-US" sz="2800" b="1" dirty="0">
              <a:solidFill>
                <a:srgbClr val="C00000"/>
              </a:solidFill>
            </a:endParaRPr>
          </a:p>
        </p:txBody>
      </p:sp>
      <p:sp>
        <p:nvSpPr>
          <p:cNvPr id="3" name="Rectangle 2"/>
          <p:cNvSpPr/>
          <p:nvPr/>
        </p:nvSpPr>
        <p:spPr>
          <a:xfrm>
            <a:off x="850392" y="957870"/>
            <a:ext cx="10579608" cy="5632311"/>
          </a:xfrm>
          <a:prstGeom prst="rect">
            <a:avLst/>
          </a:prstGeom>
        </p:spPr>
        <p:txBody>
          <a:bodyPr wrap="square">
            <a:spAutoFit/>
          </a:bodyPr>
          <a:lstStyle/>
          <a:p>
            <a:pPr algn="just"/>
            <a:r>
              <a:rPr lang="en-US" sz="2400" b="1" dirty="0" smtClean="0">
                <a:solidFill>
                  <a:schemeClr val="accent6">
                    <a:lumMod val="75000"/>
                  </a:schemeClr>
                </a:solidFill>
              </a:rPr>
              <a:t>Clustering</a:t>
            </a:r>
            <a:r>
              <a:rPr lang="en-US" sz="2400" dirty="0" smtClean="0"/>
              <a:t> (data </a:t>
            </a:r>
            <a:r>
              <a:rPr lang="en-US" sz="2400" dirty="0"/>
              <a:t>mining method) can also be used to determine groups (or class memberships) of things, there is a significant difference between the </a:t>
            </a:r>
            <a:r>
              <a:rPr lang="en-US" sz="2400" b="1" dirty="0" smtClean="0">
                <a:solidFill>
                  <a:srgbClr val="FF0000"/>
                </a:solidFill>
                <a:effectLst>
                  <a:outerShdw blurRad="38100" dist="38100" dir="2700000" algn="tl">
                    <a:srgbClr val="000000">
                      <a:alpha val="43137"/>
                    </a:srgbClr>
                  </a:outerShdw>
                </a:effectLst>
              </a:rPr>
              <a:t>classification </a:t>
            </a:r>
            <a:r>
              <a:rPr lang="en-US" sz="2400" dirty="0" smtClean="0"/>
              <a:t>and </a:t>
            </a:r>
            <a:r>
              <a:rPr lang="en-US" sz="2400" b="1" dirty="0" smtClean="0">
                <a:solidFill>
                  <a:schemeClr val="accent6">
                    <a:lumMod val="75000"/>
                  </a:schemeClr>
                </a:solidFill>
                <a:effectLst>
                  <a:outerShdw blurRad="38100" dist="38100" dir="2700000" algn="tl">
                    <a:srgbClr val="000000">
                      <a:alpha val="43137"/>
                    </a:srgbClr>
                  </a:outerShdw>
                </a:effectLst>
              </a:rPr>
              <a:t>clustering</a:t>
            </a:r>
            <a:r>
              <a:rPr lang="en-US" sz="2400" dirty="0" smtClean="0"/>
              <a:t>. </a:t>
            </a:r>
          </a:p>
          <a:p>
            <a:pPr algn="just"/>
            <a:endParaRPr lang="en-US" sz="1200" dirty="0"/>
          </a:p>
          <a:p>
            <a:pPr algn="just"/>
            <a:r>
              <a:rPr lang="en-US" sz="2400" b="1" dirty="0" smtClean="0">
                <a:solidFill>
                  <a:srgbClr val="FF0000"/>
                </a:solidFill>
              </a:rPr>
              <a:t>Classification</a:t>
            </a:r>
            <a:r>
              <a:rPr lang="en-US" sz="2400" dirty="0" smtClean="0"/>
              <a:t> </a:t>
            </a:r>
            <a:r>
              <a:rPr lang="en-US" sz="2400" dirty="0"/>
              <a:t>learns the function between the characteristics of things (i.e., </a:t>
            </a:r>
            <a:r>
              <a:rPr lang="en-US" sz="2400" b="1" u="sng" dirty="0"/>
              <a:t>independent variables) and their membership (i.e., output variable</a:t>
            </a:r>
            <a:r>
              <a:rPr lang="en-US" sz="2400" dirty="0"/>
              <a:t>) through a </a:t>
            </a:r>
            <a:r>
              <a:rPr lang="en-US" sz="2400" b="1" dirty="0" smtClean="0">
                <a:solidFill>
                  <a:srgbClr val="FF0000"/>
                </a:solidFill>
              </a:rPr>
              <a:t>supervised </a:t>
            </a:r>
            <a:r>
              <a:rPr lang="en-US" sz="2400" b="1" dirty="0">
                <a:solidFill>
                  <a:srgbClr val="FF0000"/>
                </a:solidFill>
              </a:rPr>
              <a:t>learning process </a:t>
            </a:r>
            <a:r>
              <a:rPr lang="en-US" sz="2400" dirty="0"/>
              <a:t>where both types (input and output) of variables are presented to the </a:t>
            </a:r>
            <a:r>
              <a:rPr lang="en-US" sz="2400" dirty="0" smtClean="0"/>
              <a:t>algorithm.</a:t>
            </a:r>
          </a:p>
          <a:p>
            <a:pPr algn="just"/>
            <a:endParaRPr lang="en-US" sz="1200" dirty="0"/>
          </a:p>
          <a:p>
            <a:pPr algn="just"/>
            <a:r>
              <a:rPr lang="en-US" sz="2400" dirty="0" smtClean="0"/>
              <a:t>In clustering</a:t>
            </a:r>
            <a:r>
              <a:rPr lang="en-US" sz="2400" dirty="0"/>
              <a:t>, the membership of the objects is learned through an </a:t>
            </a:r>
            <a:r>
              <a:rPr lang="en-US" sz="2400" b="1" dirty="0" smtClean="0">
                <a:solidFill>
                  <a:schemeClr val="accent6">
                    <a:lumMod val="75000"/>
                  </a:schemeClr>
                </a:solidFill>
              </a:rPr>
              <a:t>unsupervised </a:t>
            </a:r>
            <a:r>
              <a:rPr lang="en-US" sz="2400" b="1" dirty="0">
                <a:solidFill>
                  <a:schemeClr val="accent6">
                    <a:lumMod val="75000"/>
                  </a:schemeClr>
                </a:solidFill>
              </a:rPr>
              <a:t>learning process</a:t>
            </a:r>
            <a:r>
              <a:rPr lang="en-US" sz="2400" dirty="0"/>
              <a:t> where only the </a:t>
            </a:r>
            <a:r>
              <a:rPr lang="en-US" sz="2400" b="1" dirty="0">
                <a:solidFill>
                  <a:schemeClr val="accent6">
                    <a:lumMod val="75000"/>
                  </a:schemeClr>
                </a:solidFill>
              </a:rPr>
              <a:t>input variables are presented to the algorithm</a:t>
            </a:r>
            <a:r>
              <a:rPr lang="en-US" sz="2400" dirty="0"/>
              <a:t>. </a:t>
            </a:r>
            <a:endParaRPr lang="en-US" sz="2400" dirty="0" smtClean="0"/>
          </a:p>
          <a:p>
            <a:pPr algn="just"/>
            <a:endParaRPr lang="en-US" sz="1200" dirty="0"/>
          </a:p>
          <a:p>
            <a:pPr algn="just"/>
            <a:r>
              <a:rPr lang="en-US" sz="2400" b="1" dirty="0" smtClean="0">
                <a:solidFill>
                  <a:srgbClr val="FF0000"/>
                </a:solidFill>
              </a:rPr>
              <a:t>Unlike </a:t>
            </a:r>
            <a:r>
              <a:rPr lang="en-US" sz="2400" b="1" dirty="0">
                <a:solidFill>
                  <a:srgbClr val="FF0000"/>
                </a:solidFill>
              </a:rPr>
              <a:t>classification</a:t>
            </a:r>
            <a:r>
              <a:rPr lang="en-US" sz="2400" dirty="0"/>
              <a:t>, </a:t>
            </a:r>
            <a:r>
              <a:rPr lang="en-US" sz="2400" b="1" dirty="0">
                <a:solidFill>
                  <a:schemeClr val="accent6">
                    <a:lumMod val="75000"/>
                  </a:schemeClr>
                </a:solidFill>
              </a:rPr>
              <a:t>clustering</a:t>
            </a:r>
            <a:r>
              <a:rPr lang="en-US" sz="2400" dirty="0"/>
              <a:t> does not have a </a:t>
            </a:r>
            <a:r>
              <a:rPr lang="en-US" sz="2400" b="1" dirty="0">
                <a:solidFill>
                  <a:schemeClr val="accent6">
                    <a:lumMod val="75000"/>
                  </a:schemeClr>
                </a:solidFill>
              </a:rPr>
              <a:t>supervising (or controlling</a:t>
            </a:r>
            <a:r>
              <a:rPr lang="en-US" sz="2400" dirty="0"/>
              <a:t>) mechanism that enforces the learning process; </a:t>
            </a:r>
            <a:endParaRPr lang="en-US" sz="2400" dirty="0" smtClean="0"/>
          </a:p>
          <a:p>
            <a:pPr algn="just"/>
            <a:r>
              <a:rPr lang="en-US" sz="2400" b="1" dirty="0" smtClean="0">
                <a:solidFill>
                  <a:schemeClr val="accent6">
                    <a:lumMod val="75000"/>
                  </a:schemeClr>
                </a:solidFill>
              </a:rPr>
              <a:t>Instead</a:t>
            </a:r>
            <a:r>
              <a:rPr lang="en-US" sz="2400" b="1" dirty="0">
                <a:solidFill>
                  <a:schemeClr val="accent6">
                    <a:lumMod val="75000"/>
                  </a:schemeClr>
                </a:solidFill>
              </a:rPr>
              <a:t>, clustering algorithms use one or more </a:t>
            </a:r>
            <a:r>
              <a:rPr lang="en-US" sz="2400" b="1" dirty="0" smtClean="0">
                <a:solidFill>
                  <a:schemeClr val="accent6">
                    <a:lumMod val="75000"/>
                  </a:schemeClr>
                </a:solidFill>
              </a:rPr>
              <a:t>heuristics</a:t>
            </a:r>
            <a:r>
              <a:rPr lang="en-US" sz="2400" dirty="0" smtClean="0"/>
              <a:t> </a:t>
            </a:r>
            <a:r>
              <a:rPr lang="en-US" sz="2400" dirty="0"/>
              <a:t>(e.g., multidimensional distance measure) to discover natural groupings of </a:t>
            </a:r>
            <a:r>
              <a:rPr lang="en-US" sz="2400" dirty="0" smtClean="0"/>
              <a:t>objects.</a:t>
            </a:r>
            <a:endParaRPr lang="en-US" sz="2400" dirty="0"/>
          </a:p>
        </p:txBody>
      </p:sp>
    </p:spTree>
    <p:extLst>
      <p:ext uri="{BB962C8B-B14F-4D97-AF65-F5344CB8AC3E}">
        <p14:creationId xmlns:p14="http://schemas.microsoft.com/office/powerpoint/2010/main" val="19996356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2775079"/>
            <a:ext cx="10131552" cy="1077218"/>
          </a:xfrm>
          <a:prstGeom prst="rect">
            <a:avLst/>
          </a:prstGeom>
        </p:spPr>
        <p:txBody>
          <a:bodyPr wrap="square">
            <a:spAutoFit/>
          </a:bodyPr>
          <a:lstStyle/>
          <a:p>
            <a:pPr algn="ctr"/>
            <a:r>
              <a:rPr lang="en-US" sz="3200" b="1" u="sng" dirty="0"/>
              <a:t>s</a:t>
            </a:r>
            <a:r>
              <a:rPr lang="en-US" sz="3200" b="1" u="sng" dirty="0" smtClean="0"/>
              <a:t>upervised versus unsupervised </a:t>
            </a:r>
            <a:r>
              <a:rPr lang="en-US" sz="3200" b="1" u="sng" dirty="0" smtClean="0"/>
              <a:t>learning</a:t>
            </a:r>
          </a:p>
          <a:p>
            <a:pPr algn="ctr"/>
            <a:r>
              <a:rPr lang="en-US" sz="3200" b="1" u="sng" dirty="0" smtClean="0"/>
              <a:t>(</a:t>
            </a:r>
            <a:r>
              <a:rPr lang="en-US" sz="3200" b="1" u="sng" dirty="0" smtClean="0">
                <a:solidFill>
                  <a:srgbClr val="FF0000"/>
                </a:solidFill>
              </a:rPr>
              <a:t>Study at HOME</a:t>
            </a:r>
            <a:r>
              <a:rPr lang="en-US" sz="3200" b="1" u="sng" dirty="0" smtClean="0"/>
              <a:t>)</a:t>
            </a:r>
            <a:endParaRPr lang="en-US" sz="3200" b="1" u="sng" dirty="0"/>
          </a:p>
        </p:txBody>
      </p:sp>
    </p:spTree>
    <p:extLst>
      <p:ext uri="{BB962C8B-B14F-4D97-AF65-F5344CB8AC3E}">
        <p14:creationId xmlns:p14="http://schemas.microsoft.com/office/powerpoint/2010/main" val="28842004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6424" y="479935"/>
            <a:ext cx="10131552" cy="6032421"/>
          </a:xfrm>
          <a:prstGeom prst="rect">
            <a:avLst/>
          </a:prstGeom>
        </p:spPr>
        <p:txBody>
          <a:bodyPr wrap="square">
            <a:spAutoFit/>
          </a:bodyPr>
          <a:lstStyle/>
          <a:p>
            <a:pPr algn="just"/>
            <a:r>
              <a:rPr lang="en-US" sz="2600" dirty="0"/>
              <a:t>The most </a:t>
            </a:r>
            <a:r>
              <a:rPr lang="en-US" sz="2600" b="1" dirty="0">
                <a:solidFill>
                  <a:srgbClr val="FF0000"/>
                </a:solidFill>
              </a:rPr>
              <a:t>common two-step methodology of </a:t>
            </a:r>
            <a:r>
              <a:rPr lang="en-US" sz="2600" b="1" dirty="0" smtClean="0">
                <a:solidFill>
                  <a:srgbClr val="FF0000"/>
                </a:solidFill>
              </a:rPr>
              <a:t>classification-type:</a:t>
            </a:r>
          </a:p>
          <a:p>
            <a:pPr algn="just"/>
            <a:endParaRPr lang="en-US" sz="800" b="1" dirty="0" smtClean="0">
              <a:solidFill>
                <a:srgbClr val="FF0000"/>
              </a:solidFill>
            </a:endParaRPr>
          </a:p>
          <a:p>
            <a:pPr algn="just"/>
            <a:r>
              <a:rPr lang="en-US" sz="2400" dirty="0" smtClean="0"/>
              <a:t>Prediction </a:t>
            </a:r>
            <a:r>
              <a:rPr lang="en-US" sz="2400" dirty="0"/>
              <a:t>involves </a:t>
            </a:r>
            <a:r>
              <a:rPr lang="en-US" sz="2400" b="1" dirty="0"/>
              <a:t>model development/training</a:t>
            </a:r>
            <a:r>
              <a:rPr lang="en-US" sz="2400" dirty="0"/>
              <a:t> </a:t>
            </a:r>
            <a:endParaRPr lang="en-US" sz="2400" dirty="0" smtClean="0"/>
          </a:p>
          <a:p>
            <a:pPr algn="just"/>
            <a:r>
              <a:rPr lang="en-US" sz="2400" dirty="0"/>
              <a:t> </a:t>
            </a:r>
            <a:r>
              <a:rPr lang="en-US" sz="2400" dirty="0" smtClean="0"/>
              <a:t>                                  and </a:t>
            </a:r>
            <a:r>
              <a:rPr lang="en-US" sz="2400" b="1" dirty="0"/>
              <a:t>model </a:t>
            </a:r>
            <a:r>
              <a:rPr lang="en-US" sz="2400" b="1" dirty="0" smtClean="0"/>
              <a:t>testing/deployment</a:t>
            </a:r>
            <a:endParaRPr lang="en-US" sz="2400" dirty="0" smtClean="0"/>
          </a:p>
          <a:p>
            <a:pPr algn="just"/>
            <a:endParaRPr lang="en-US" sz="800" dirty="0"/>
          </a:p>
          <a:p>
            <a:pPr algn="just"/>
            <a:r>
              <a:rPr lang="en-US" sz="2400" dirty="0" smtClean="0"/>
              <a:t>In </a:t>
            </a:r>
            <a:r>
              <a:rPr lang="en-US" sz="2400" dirty="0"/>
              <a:t>the </a:t>
            </a:r>
            <a:r>
              <a:rPr lang="en-US" sz="2400" i="1" dirty="0"/>
              <a:t>model development phase</a:t>
            </a:r>
            <a:r>
              <a:rPr lang="en-US" sz="2400" dirty="0"/>
              <a:t>, a collection of input data, including the actual class labels, is </a:t>
            </a:r>
            <a:r>
              <a:rPr lang="en-US" sz="2400" dirty="0" smtClean="0"/>
              <a:t>used (</a:t>
            </a:r>
            <a:r>
              <a:rPr lang="en-US" sz="2400" b="1" dirty="0" smtClean="0">
                <a:solidFill>
                  <a:srgbClr val="FF0000"/>
                </a:solidFill>
              </a:rPr>
              <a:t>training model</a:t>
            </a:r>
            <a:r>
              <a:rPr lang="en-US" sz="2400" dirty="0" smtClean="0"/>
              <a:t>). </a:t>
            </a:r>
          </a:p>
          <a:p>
            <a:pPr algn="just"/>
            <a:endParaRPr lang="en-US" sz="1200" dirty="0" smtClean="0"/>
          </a:p>
          <a:p>
            <a:pPr algn="just"/>
            <a:r>
              <a:rPr lang="en-US" sz="2400" b="1" u="sng" dirty="0" smtClean="0"/>
              <a:t>After </a:t>
            </a:r>
            <a:r>
              <a:rPr lang="en-US" sz="2400" b="1" u="sng" dirty="0"/>
              <a:t>a model has been trained</a:t>
            </a:r>
            <a:r>
              <a:rPr lang="en-US" sz="2400" dirty="0"/>
              <a:t>, the model is </a:t>
            </a:r>
            <a:r>
              <a:rPr lang="en-US" sz="2400" b="1" dirty="0">
                <a:solidFill>
                  <a:srgbClr val="0070C0"/>
                </a:solidFill>
              </a:rPr>
              <a:t>tested against the holdout sample for accuracy assessment</a:t>
            </a:r>
            <a:r>
              <a:rPr lang="en-US" sz="2400" dirty="0"/>
              <a:t> and eventually deployed for actual use where it is to predict classes of new data instances (where the class label is unknown). </a:t>
            </a:r>
            <a:endParaRPr lang="en-US" sz="2400" dirty="0" smtClean="0"/>
          </a:p>
          <a:p>
            <a:pPr algn="just"/>
            <a:endParaRPr lang="en-US" sz="1200" dirty="0"/>
          </a:p>
          <a:p>
            <a:pPr algn="just"/>
            <a:r>
              <a:rPr lang="en-US" sz="2400" i="1" dirty="0" smtClean="0">
                <a:solidFill>
                  <a:schemeClr val="accent2">
                    <a:lumMod val="75000"/>
                  </a:schemeClr>
                </a:solidFill>
              </a:rPr>
              <a:t>Several </a:t>
            </a:r>
            <a:r>
              <a:rPr lang="en-US" sz="2400" i="1" dirty="0">
                <a:solidFill>
                  <a:schemeClr val="accent2">
                    <a:lumMod val="75000"/>
                  </a:schemeClr>
                </a:solidFill>
              </a:rPr>
              <a:t>factors are considered in assessing the model, including the </a:t>
            </a:r>
            <a:r>
              <a:rPr lang="en-US" sz="2400" i="1" dirty="0" smtClean="0">
                <a:solidFill>
                  <a:schemeClr val="accent2">
                    <a:lumMod val="75000"/>
                  </a:schemeClr>
                </a:solidFill>
              </a:rPr>
              <a:t>following</a:t>
            </a:r>
            <a:r>
              <a:rPr lang="en-US" sz="2400" dirty="0" smtClean="0"/>
              <a:t>:</a:t>
            </a:r>
          </a:p>
          <a:p>
            <a:pPr algn="just"/>
            <a:endParaRPr lang="en-US" sz="800" dirty="0"/>
          </a:p>
          <a:p>
            <a:pPr algn="just"/>
            <a:r>
              <a:rPr lang="en-US" sz="2400" dirty="0" smtClean="0"/>
              <a:t>    -  Predictive accuracy</a:t>
            </a:r>
          </a:p>
          <a:p>
            <a:pPr algn="just"/>
            <a:r>
              <a:rPr lang="en-US" sz="2400" dirty="0" smtClean="0"/>
              <a:t>    -  Speed</a:t>
            </a:r>
          </a:p>
          <a:p>
            <a:pPr algn="just"/>
            <a:r>
              <a:rPr lang="en-US" sz="2400" dirty="0" smtClean="0"/>
              <a:t>    -  Robustness</a:t>
            </a:r>
          </a:p>
          <a:p>
            <a:pPr algn="just"/>
            <a:r>
              <a:rPr lang="en-US" sz="2400" dirty="0" smtClean="0"/>
              <a:t>    -  Scalability</a:t>
            </a:r>
          </a:p>
          <a:p>
            <a:pPr algn="just"/>
            <a:r>
              <a:rPr lang="en-US" sz="2400" dirty="0" smtClean="0"/>
              <a:t>    -  Interpretability</a:t>
            </a:r>
            <a:endParaRPr lang="en-US" sz="2400" dirty="0"/>
          </a:p>
        </p:txBody>
      </p:sp>
    </p:spTree>
    <p:extLst>
      <p:ext uri="{BB962C8B-B14F-4D97-AF65-F5344CB8AC3E}">
        <p14:creationId xmlns:p14="http://schemas.microsoft.com/office/powerpoint/2010/main" val="5243293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0784" y="1223510"/>
            <a:ext cx="3756349" cy="584775"/>
          </a:xfrm>
          <a:prstGeom prst="rect">
            <a:avLst/>
          </a:prstGeom>
        </p:spPr>
        <p:txBody>
          <a:bodyPr wrap="none">
            <a:spAutoFit/>
          </a:bodyPr>
          <a:lstStyle/>
          <a:p>
            <a:pPr algn="just"/>
            <a:r>
              <a:rPr lang="en-US" sz="3200" b="1" dirty="0"/>
              <a:t>-  Predictive accuracy</a:t>
            </a:r>
          </a:p>
        </p:txBody>
      </p:sp>
      <p:sp>
        <p:nvSpPr>
          <p:cNvPr id="3" name="Rectangle 2"/>
          <p:cNvSpPr/>
          <p:nvPr/>
        </p:nvSpPr>
        <p:spPr>
          <a:xfrm>
            <a:off x="1700784" y="1954588"/>
            <a:ext cx="8961120" cy="3508653"/>
          </a:xfrm>
          <a:prstGeom prst="rect">
            <a:avLst/>
          </a:prstGeom>
        </p:spPr>
        <p:txBody>
          <a:bodyPr wrap="square">
            <a:spAutoFit/>
          </a:bodyPr>
          <a:lstStyle/>
          <a:p>
            <a:pPr algn="just"/>
            <a:r>
              <a:rPr lang="en-US" sz="2400" dirty="0"/>
              <a:t>The model’s ability to correctly predict the class label of new or previously unseen data. </a:t>
            </a:r>
            <a:endParaRPr lang="en-US" sz="2400" dirty="0" smtClean="0"/>
          </a:p>
          <a:p>
            <a:pPr algn="just"/>
            <a:endParaRPr lang="en-US" sz="600" b="1" u="sng" dirty="0">
              <a:solidFill>
                <a:srgbClr val="FF0000"/>
              </a:solidFill>
            </a:endParaRPr>
          </a:p>
          <a:p>
            <a:pPr algn="just"/>
            <a:r>
              <a:rPr lang="en-US" sz="2400" b="1" u="sng" dirty="0" smtClean="0">
                <a:solidFill>
                  <a:srgbClr val="FF0000"/>
                </a:solidFill>
              </a:rPr>
              <a:t>Prediction </a:t>
            </a:r>
            <a:r>
              <a:rPr lang="en-US" sz="2400" b="1" u="sng" dirty="0">
                <a:solidFill>
                  <a:srgbClr val="FF0000"/>
                </a:solidFill>
              </a:rPr>
              <a:t>accuracy</a:t>
            </a:r>
            <a:r>
              <a:rPr lang="en-US" sz="2400" dirty="0"/>
              <a:t> is the most commonly used </a:t>
            </a:r>
            <a:r>
              <a:rPr lang="en-US" sz="2400" dirty="0" smtClean="0"/>
              <a:t>assessment </a:t>
            </a:r>
            <a:r>
              <a:rPr lang="en-US" sz="2400" dirty="0"/>
              <a:t>factor for classification models. </a:t>
            </a:r>
            <a:endParaRPr lang="en-US" sz="2400" dirty="0" smtClean="0"/>
          </a:p>
          <a:p>
            <a:pPr algn="just"/>
            <a:endParaRPr lang="en-US" sz="1200" dirty="0"/>
          </a:p>
          <a:p>
            <a:pPr algn="just"/>
            <a:r>
              <a:rPr lang="en-US" sz="2400" dirty="0" smtClean="0"/>
              <a:t>To </a:t>
            </a:r>
            <a:r>
              <a:rPr lang="en-US" sz="2400" dirty="0"/>
              <a:t>compute this measure, </a:t>
            </a:r>
            <a:r>
              <a:rPr lang="en-US" sz="2400" b="1" u="sng" dirty="0">
                <a:solidFill>
                  <a:srgbClr val="FF0000"/>
                </a:solidFill>
                <a:effectLst>
                  <a:outerShdw blurRad="38100" dist="38100" dir="2700000" algn="tl">
                    <a:srgbClr val="000000">
                      <a:alpha val="43137"/>
                    </a:srgbClr>
                  </a:outerShdw>
                </a:effectLst>
              </a:rPr>
              <a:t>actual class labels of a test data set are matched against the class labels predicted by the model</a:t>
            </a:r>
            <a:r>
              <a:rPr lang="en-US" sz="2400" dirty="0"/>
              <a:t>. </a:t>
            </a:r>
            <a:endParaRPr lang="en-US" sz="2400" dirty="0" smtClean="0"/>
          </a:p>
          <a:p>
            <a:pPr algn="just"/>
            <a:endParaRPr lang="en-US" sz="1200" dirty="0"/>
          </a:p>
          <a:p>
            <a:pPr algn="just"/>
            <a:r>
              <a:rPr lang="en-US" sz="2400" dirty="0" smtClean="0"/>
              <a:t>The </a:t>
            </a:r>
            <a:r>
              <a:rPr lang="en-US" sz="2400" dirty="0"/>
              <a:t>accuracy can then be computed as the accuracy rate, which is the percentage of test data set samples correctly classified by the </a:t>
            </a:r>
            <a:r>
              <a:rPr lang="en-US" sz="2400" dirty="0" smtClean="0"/>
              <a:t>model. </a:t>
            </a:r>
            <a:endParaRPr lang="en-US" sz="2400" dirty="0"/>
          </a:p>
        </p:txBody>
      </p:sp>
    </p:spTree>
    <p:extLst>
      <p:ext uri="{BB962C8B-B14F-4D97-AF65-F5344CB8AC3E}">
        <p14:creationId xmlns:p14="http://schemas.microsoft.com/office/powerpoint/2010/main" val="30720041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3312" y="353259"/>
            <a:ext cx="9592056" cy="6324808"/>
          </a:xfrm>
          <a:prstGeom prst="rect">
            <a:avLst/>
          </a:prstGeom>
        </p:spPr>
        <p:txBody>
          <a:bodyPr wrap="square">
            <a:spAutoFit/>
          </a:bodyPr>
          <a:lstStyle/>
          <a:p>
            <a:pPr algn="just">
              <a:lnSpc>
                <a:spcPct val="125000"/>
              </a:lnSpc>
            </a:pPr>
            <a:r>
              <a:rPr lang="en-US" sz="2400" dirty="0"/>
              <a:t>• </a:t>
            </a:r>
            <a:r>
              <a:rPr lang="en-US" sz="2400" b="1" dirty="0">
                <a:solidFill>
                  <a:srgbClr val="FF0000"/>
                </a:solidFill>
              </a:rPr>
              <a:t>Speed. </a:t>
            </a:r>
            <a:endParaRPr lang="en-US" sz="2400" b="1" dirty="0" smtClean="0">
              <a:solidFill>
                <a:srgbClr val="FF0000"/>
              </a:solidFill>
            </a:endParaRPr>
          </a:p>
          <a:p>
            <a:pPr algn="just">
              <a:lnSpc>
                <a:spcPct val="125000"/>
              </a:lnSpc>
            </a:pPr>
            <a:r>
              <a:rPr lang="en-US" sz="2400" dirty="0"/>
              <a:t>  </a:t>
            </a:r>
            <a:r>
              <a:rPr lang="en-US" sz="2400" dirty="0" smtClean="0"/>
              <a:t> The </a:t>
            </a:r>
            <a:r>
              <a:rPr lang="en-US" sz="2400" dirty="0"/>
              <a:t>computational costs involved in generating and using the model, where faster is deemed to be better. </a:t>
            </a:r>
            <a:endParaRPr lang="en-US" sz="2400" dirty="0" smtClean="0"/>
          </a:p>
          <a:p>
            <a:pPr algn="just">
              <a:lnSpc>
                <a:spcPct val="125000"/>
              </a:lnSpc>
            </a:pPr>
            <a:endParaRPr lang="en-US" sz="1000" dirty="0" smtClean="0"/>
          </a:p>
          <a:p>
            <a:pPr algn="just">
              <a:lnSpc>
                <a:spcPct val="125000"/>
              </a:lnSpc>
            </a:pPr>
            <a:r>
              <a:rPr lang="en-US" sz="2400" dirty="0" smtClean="0"/>
              <a:t>• </a:t>
            </a:r>
            <a:r>
              <a:rPr lang="en-US" sz="2400" b="1" dirty="0">
                <a:solidFill>
                  <a:srgbClr val="FF0000"/>
                </a:solidFill>
              </a:rPr>
              <a:t>Robustness. </a:t>
            </a:r>
            <a:endParaRPr lang="en-US" sz="2400" b="1" dirty="0" smtClean="0">
              <a:solidFill>
                <a:srgbClr val="FF0000"/>
              </a:solidFill>
            </a:endParaRPr>
          </a:p>
          <a:p>
            <a:pPr algn="just">
              <a:lnSpc>
                <a:spcPct val="125000"/>
              </a:lnSpc>
            </a:pPr>
            <a:r>
              <a:rPr lang="en-US" sz="2400" dirty="0"/>
              <a:t> </a:t>
            </a:r>
            <a:r>
              <a:rPr lang="en-US" sz="2400" dirty="0" smtClean="0"/>
              <a:t>  The </a:t>
            </a:r>
            <a:r>
              <a:rPr lang="en-US" sz="2400" dirty="0"/>
              <a:t>model’s ability to make reasonably accurate predictions, given noisy data or data with missing and erroneous values. </a:t>
            </a:r>
            <a:endParaRPr lang="en-US" sz="2400" dirty="0" smtClean="0"/>
          </a:p>
          <a:p>
            <a:pPr algn="just">
              <a:lnSpc>
                <a:spcPct val="125000"/>
              </a:lnSpc>
            </a:pPr>
            <a:endParaRPr lang="en-US" sz="1000" dirty="0" smtClean="0"/>
          </a:p>
          <a:p>
            <a:pPr algn="just">
              <a:lnSpc>
                <a:spcPct val="125000"/>
              </a:lnSpc>
            </a:pPr>
            <a:r>
              <a:rPr lang="en-US" sz="2400" dirty="0" smtClean="0"/>
              <a:t>• </a:t>
            </a:r>
            <a:r>
              <a:rPr lang="en-US" sz="2400" b="1" dirty="0">
                <a:solidFill>
                  <a:srgbClr val="FF0000"/>
                </a:solidFill>
              </a:rPr>
              <a:t>Scalability. </a:t>
            </a:r>
            <a:endParaRPr lang="en-US" sz="2400" b="1" dirty="0" smtClean="0">
              <a:solidFill>
                <a:srgbClr val="FF0000"/>
              </a:solidFill>
            </a:endParaRPr>
          </a:p>
          <a:p>
            <a:pPr algn="just">
              <a:lnSpc>
                <a:spcPct val="125000"/>
              </a:lnSpc>
            </a:pPr>
            <a:r>
              <a:rPr lang="en-US" sz="2400" dirty="0"/>
              <a:t> </a:t>
            </a:r>
            <a:r>
              <a:rPr lang="en-US" sz="2400" dirty="0" smtClean="0"/>
              <a:t>  The </a:t>
            </a:r>
            <a:r>
              <a:rPr lang="en-US" sz="2400" dirty="0"/>
              <a:t>ability to construct a prediction model efficiently given a rather large amount of data. </a:t>
            </a:r>
            <a:endParaRPr lang="en-US" sz="2400" dirty="0" smtClean="0"/>
          </a:p>
          <a:p>
            <a:pPr algn="just">
              <a:lnSpc>
                <a:spcPct val="125000"/>
              </a:lnSpc>
            </a:pPr>
            <a:endParaRPr lang="en-US" sz="1000" dirty="0" smtClean="0"/>
          </a:p>
          <a:p>
            <a:pPr algn="just">
              <a:lnSpc>
                <a:spcPct val="125000"/>
              </a:lnSpc>
            </a:pPr>
            <a:r>
              <a:rPr lang="en-US" sz="2400" dirty="0" smtClean="0"/>
              <a:t>• </a:t>
            </a:r>
            <a:r>
              <a:rPr lang="en-US" sz="2400" b="1" dirty="0">
                <a:solidFill>
                  <a:srgbClr val="FF0000"/>
                </a:solidFill>
              </a:rPr>
              <a:t>Interpretability. </a:t>
            </a:r>
            <a:endParaRPr lang="en-US" sz="2400" b="1" dirty="0" smtClean="0">
              <a:solidFill>
                <a:srgbClr val="FF0000"/>
              </a:solidFill>
            </a:endParaRPr>
          </a:p>
          <a:p>
            <a:pPr algn="just">
              <a:lnSpc>
                <a:spcPct val="125000"/>
              </a:lnSpc>
            </a:pPr>
            <a:r>
              <a:rPr lang="en-US" sz="2400" dirty="0"/>
              <a:t> </a:t>
            </a:r>
            <a:r>
              <a:rPr lang="en-US" sz="2400" dirty="0" smtClean="0"/>
              <a:t>  The </a:t>
            </a:r>
            <a:r>
              <a:rPr lang="en-US" sz="2400" dirty="0"/>
              <a:t>level of understanding and insight provided by the model (e.g., how and/or what the model concludes on certain predictions).</a:t>
            </a:r>
          </a:p>
        </p:txBody>
      </p:sp>
    </p:spTree>
    <p:extLst>
      <p:ext uri="{BB962C8B-B14F-4D97-AF65-F5344CB8AC3E}">
        <p14:creationId xmlns:p14="http://schemas.microsoft.com/office/powerpoint/2010/main" val="41911220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22680" y="3576672"/>
            <a:ext cx="2995123" cy="2969954"/>
          </a:xfrm>
          <a:prstGeom prst="rect">
            <a:avLst/>
          </a:prstGeom>
        </p:spPr>
      </p:pic>
      <p:sp>
        <p:nvSpPr>
          <p:cNvPr id="3" name="Rectangle 2"/>
          <p:cNvSpPr/>
          <p:nvPr/>
        </p:nvSpPr>
        <p:spPr>
          <a:xfrm>
            <a:off x="6959224" y="4092153"/>
            <a:ext cx="2665787" cy="1938992"/>
          </a:xfrm>
          <a:prstGeom prst="rect">
            <a:avLst/>
          </a:prstGeom>
        </p:spPr>
        <p:txBody>
          <a:bodyPr wrap="square">
            <a:spAutoFit/>
          </a:bodyPr>
          <a:lstStyle/>
          <a:p>
            <a:r>
              <a:rPr lang="en-US" sz="2400" b="1" dirty="0">
                <a:solidFill>
                  <a:schemeClr val="accent2">
                    <a:lumMod val="75000"/>
                  </a:schemeClr>
                </a:solidFill>
              </a:rPr>
              <a:t>A Simple Confusion Matrix for Tabulation of Two-Class Classification Results</a:t>
            </a:r>
          </a:p>
        </p:txBody>
      </p:sp>
      <p:sp>
        <p:nvSpPr>
          <p:cNvPr id="4" name="Rectangle 3"/>
          <p:cNvSpPr/>
          <p:nvPr/>
        </p:nvSpPr>
        <p:spPr>
          <a:xfrm>
            <a:off x="886968" y="254014"/>
            <a:ext cx="10488168" cy="3200876"/>
          </a:xfrm>
          <a:prstGeom prst="rect">
            <a:avLst/>
          </a:prstGeom>
        </p:spPr>
        <p:txBody>
          <a:bodyPr wrap="square">
            <a:spAutoFit/>
          </a:bodyPr>
          <a:lstStyle/>
          <a:p>
            <a:pPr algn="just"/>
            <a:r>
              <a:rPr lang="en-US" sz="2800" b="1" dirty="0" smtClean="0">
                <a:solidFill>
                  <a:schemeClr val="bg1">
                    <a:lumMod val="50000"/>
                  </a:schemeClr>
                </a:solidFill>
                <a:effectLst>
                  <a:outerShdw blurRad="38100" dist="38100" dir="2700000" algn="tl">
                    <a:srgbClr val="000000">
                      <a:alpha val="43137"/>
                    </a:srgbClr>
                  </a:outerShdw>
                </a:effectLst>
              </a:rPr>
              <a:t>Estimating:</a:t>
            </a:r>
          </a:p>
          <a:p>
            <a:pPr algn="just"/>
            <a:endParaRPr lang="en-US" sz="600" b="1" dirty="0" smtClean="0">
              <a:solidFill>
                <a:schemeClr val="bg1">
                  <a:lumMod val="50000"/>
                </a:schemeClr>
              </a:solidFill>
              <a:effectLst>
                <a:outerShdw blurRad="38100" dist="38100" dir="2700000" algn="tl">
                  <a:srgbClr val="000000">
                    <a:alpha val="43137"/>
                  </a:srgbClr>
                </a:outerShdw>
              </a:effectLst>
            </a:endParaRPr>
          </a:p>
          <a:p>
            <a:pPr algn="just"/>
            <a:r>
              <a:rPr lang="en-US" sz="2400" b="1" dirty="0" smtClean="0">
                <a:effectLst>
                  <a:outerShdw blurRad="38100" dist="38100" dir="2700000" algn="tl">
                    <a:srgbClr val="000000">
                      <a:alpha val="43137"/>
                    </a:srgbClr>
                  </a:outerShdw>
                </a:effectLst>
                <a:latin typeface="Georgia" panose="02040502050405020303" pitchFamily="18" charset="0"/>
              </a:rPr>
              <a:t>The </a:t>
            </a:r>
            <a:r>
              <a:rPr lang="en-US" sz="2400" b="1" dirty="0">
                <a:effectLst>
                  <a:outerShdw blurRad="38100" dist="38100" dir="2700000" algn="tl">
                    <a:srgbClr val="000000">
                      <a:alpha val="43137"/>
                    </a:srgbClr>
                  </a:outerShdw>
                </a:effectLst>
                <a:latin typeface="Georgia" panose="02040502050405020303" pitchFamily="18" charset="0"/>
              </a:rPr>
              <a:t>True Accuracy of Classification Models </a:t>
            </a:r>
            <a:endParaRPr lang="en-US" sz="2400" b="1" dirty="0" smtClean="0">
              <a:effectLst>
                <a:outerShdw blurRad="38100" dist="38100" dir="2700000" algn="tl">
                  <a:srgbClr val="000000">
                    <a:alpha val="43137"/>
                  </a:srgbClr>
                </a:outerShdw>
              </a:effectLst>
              <a:latin typeface="Georgia" panose="02040502050405020303" pitchFamily="18" charset="0"/>
            </a:endParaRPr>
          </a:p>
          <a:p>
            <a:pPr algn="just"/>
            <a:r>
              <a:rPr lang="en-US" sz="2400" dirty="0" smtClean="0"/>
              <a:t>In </a:t>
            </a:r>
            <a:r>
              <a:rPr lang="en-US" sz="2400" dirty="0"/>
              <a:t>classification problems, the primary source for accuracy estimation is the confusion matrix (also called a classification matrix or a contingency table). </a:t>
            </a:r>
            <a:endParaRPr lang="en-US" sz="2400" dirty="0" smtClean="0"/>
          </a:p>
          <a:p>
            <a:pPr algn="just"/>
            <a:endParaRPr lang="en-US" sz="2400" dirty="0"/>
          </a:p>
          <a:p>
            <a:pPr algn="just"/>
            <a:r>
              <a:rPr lang="en-US" sz="2400" dirty="0" smtClean="0"/>
              <a:t>The given figure </a:t>
            </a:r>
            <a:r>
              <a:rPr lang="en-US" sz="2400" b="1" dirty="0" smtClean="0">
                <a:solidFill>
                  <a:schemeClr val="bg1">
                    <a:lumMod val="50000"/>
                  </a:schemeClr>
                </a:solidFill>
              </a:rPr>
              <a:t>shows </a:t>
            </a:r>
            <a:r>
              <a:rPr lang="en-US" sz="2400" b="1" dirty="0">
                <a:solidFill>
                  <a:schemeClr val="bg1">
                    <a:lumMod val="50000"/>
                  </a:schemeClr>
                </a:solidFill>
              </a:rPr>
              <a:t>a confusion matrix for a two-class classification problem</a:t>
            </a:r>
            <a:r>
              <a:rPr lang="en-US" sz="2400" dirty="0"/>
              <a:t>. The numbers along the diagonal from the </a:t>
            </a:r>
            <a:r>
              <a:rPr lang="en-US" sz="2400" b="1" dirty="0">
                <a:solidFill>
                  <a:srgbClr val="0070C0"/>
                </a:solidFill>
              </a:rPr>
              <a:t>upper left to the lower right represent correct decisions</a:t>
            </a:r>
            <a:r>
              <a:rPr lang="en-US" sz="2400" dirty="0"/>
              <a:t>, and </a:t>
            </a:r>
            <a:r>
              <a:rPr lang="en-US" sz="2400" b="1" dirty="0">
                <a:solidFill>
                  <a:schemeClr val="accent2">
                    <a:lumMod val="75000"/>
                  </a:schemeClr>
                </a:solidFill>
              </a:rPr>
              <a:t>the numbers outside this diagonal represent the errors</a:t>
            </a:r>
            <a:r>
              <a:rPr lang="en-US" sz="2400" dirty="0"/>
              <a:t>.</a:t>
            </a:r>
          </a:p>
        </p:txBody>
      </p:sp>
    </p:spTree>
    <p:extLst>
      <p:ext uri="{BB962C8B-B14F-4D97-AF65-F5344CB8AC3E}">
        <p14:creationId xmlns:p14="http://schemas.microsoft.com/office/powerpoint/2010/main" val="32057961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3105835"/>
            <a:ext cx="6096000" cy="646331"/>
          </a:xfrm>
          <a:prstGeom prst="rect">
            <a:avLst/>
          </a:prstGeom>
        </p:spPr>
        <p:txBody>
          <a:bodyPr>
            <a:spAutoFit/>
          </a:bodyPr>
          <a:lstStyle/>
          <a:p>
            <a:r>
              <a:rPr lang="en-US" dirty="0">
                <a:hlinkClick r:id="rId2"/>
              </a:rPr>
              <a:t>Understanding the Confusion Matrix in Machine Learning - </a:t>
            </a:r>
            <a:r>
              <a:rPr lang="en-US" dirty="0" err="1">
                <a:hlinkClick r:id="rId2"/>
              </a:rPr>
              <a:t>GeeksforGeeks</a:t>
            </a:r>
            <a:endParaRPr lang="en-US" dirty="0"/>
          </a:p>
        </p:txBody>
      </p:sp>
    </p:spTree>
    <p:extLst>
      <p:ext uri="{BB962C8B-B14F-4D97-AF65-F5344CB8AC3E}">
        <p14:creationId xmlns:p14="http://schemas.microsoft.com/office/powerpoint/2010/main" val="37229429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2604</TotalTime>
  <Words>2398</Words>
  <Application>Microsoft Office PowerPoint</Application>
  <PresentationFormat>Widescreen</PresentationFormat>
  <Paragraphs>190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MN</cp:lastModifiedBy>
  <cp:revision>76</cp:revision>
  <dcterms:created xsi:type="dcterms:W3CDTF">2024-09-10T14:03:28Z</dcterms:created>
  <dcterms:modified xsi:type="dcterms:W3CDTF">2024-10-21T02:22:34Z</dcterms:modified>
</cp:coreProperties>
</file>