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47"/>
  </p:notesMasterIdLst>
  <p:handoutMasterIdLst>
    <p:handoutMasterId r:id="rId48"/>
  </p:handoutMasterIdLst>
  <p:sldIdLst>
    <p:sldId id="256" r:id="rId2"/>
    <p:sldId id="257" r:id="rId3"/>
    <p:sldId id="259" r:id="rId4"/>
    <p:sldId id="262" r:id="rId5"/>
    <p:sldId id="260" r:id="rId6"/>
    <p:sldId id="261" r:id="rId7"/>
    <p:sldId id="25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4" r:id="rId28"/>
    <p:sldId id="289" r:id="rId29"/>
    <p:sldId id="286" r:id="rId30"/>
    <p:sldId id="287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304" r:id="rId39"/>
    <p:sldId id="297" r:id="rId40"/>
    <p:sldId id="298" r:id="rId41"/>
    <p:sldId id="299" r:id="rId42"/>
    <p:sldId id="300" r:id="rId43"/>
    <p:sldId id="301" r:id="rId44"/>
    <p:sldId id="302" r:id="rId45"/>
    <p:sldId id="303" r:id="rId46"/>
  </p:sldIdLst>
  <p:sldSz cx="9144000" cy="6858000" type="screen4x3"/>
  <p:notesSz cx="6469063" cy="94503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03261" cy="4725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664305" y="0"/>
            <a:ext cx="2803261" cy="4725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056B96-E9BD-4A17-913D-6EE142F7FC69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76229"/>
            <a:ext cx="2803261" cy="4725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664305" y="8976229"/>
            <a:ext cx="2803261" cy="4725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AC2C58-375D-4D7E-A11D-DBD6356C6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03261" cy="4725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664305" y="0"/>
            <a:ext cx="2803261" cy="4725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C525E4-EE66-4868-9362-0C1B9AE3416C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71538" y="708025"/>
            <a:ext cx="4725987" cy="3544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46907" y="4488934"/>
            <a:ext cx="5175250" cy="425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76229"/>
            <a:ext cx="2803261" cy="4725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664305" y="8976229"/>
            <a:ext cx="2803261" cy="4725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FA10E-484C-4530-92E8-14A04B7215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AD3AA7-F4F2-41B6-A231-BFAA0306A098}" type="slidenum">
              <a:rPr lang="en-US"/>
              <a:pPr/>
              <a:t>3</a:t>
            </a:fld>
            <a:endParaRPr lang="en-US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7913" y="946150"/>
            <a:ext cx="4314825" cy="3236913"/>
          </a:xfrm>
          <a:solidFill>
            <a:srgbClr val="FFFFFF"/>
          </a:solidFill>
          <a:ln/>
        </p:spPr>
      </p:sp>
      <p:sp>
        <p:nvSpPr>
          <p:cNvPr id="2560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86832" y="4498779"/>
            <a:ext cx="4499892" cy="3593116"/>
          </a:xfrm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8C59E5-0806-4BA6-A668-5F5EDB1BB257}" type="slidenum">
              <a:rPr lang="en-US"/>
              <a:pPr/>
              <a:t>4</a:t>
            </a:fld>
            <a:endParaRPr lang="en-US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7913" y="946150"/>
            <a:ext cx="4314825" cy="3236913"/>
          </a:xfrm>
          <a:solidFill>
            <a:srgbClr val="FFFFFF"/>
          </a:solidFill>
          <a:ln/>
        </p:spPr>
      </p:sp>
      <p:sp>
        <p:nvSpPr>
          <p:cNvPr id="2765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86832" y="4498779"/>
            <a:ext cx="4499892" cy="3593116"/>
          </a:xfrm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7EFCB3-7AD5-41E0-8AFB-2C792DBAD1A6}" type="slidenum">
              <a:rPr lang="en-US"/>
              <a:pPr/>
              <a:t>5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7913" y="946150"/>
            <a:ext cx="4314825" cy="3236913"/>
          </a:xfrm>
          <a:solidFill>
            <a:srgbClr val="FFFFFF"/>
          </a:solidFill>
          <a:ln/>
        </p:spPr>
      </p:sp>
      <p:sp>
        <p:nvSpPr>
          <p:cNvPr id="2969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86832" y="4498779"/>
            <a:ext cx="4499892" cy="3593116"/>
          </a:xfrm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09EC7D-0F58-44E7-A804-29043E3DBD24}" type="slidenum">
              <a:rPr lang="en-US"/>
              <a:pPr/>
              <a:t>6</a:t>
            </a:fld>
            <a:endParaRPr lang="en-US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7913" y="946150"/>
            <a:ext cx="4314825" cy="3236913"/>
          </a:xfrm>
          <a:solidFill>
            <a:srgbClr val="FFFFFF"/>
          </a:solidFill>
          <a:ln/>
        </p:spPr>
      </p:sp>
      <p:sp>
        <p:nvSpPr>
          <p:cNvPr id="3174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86832" y="4498779"/>
            <a:ext cx="4499892" cy="3593116"/>
          </a:xfrm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E39BCA-5E9E-4F23-AC14-1D43E1BE0060}" type="slidenum">
              <a:rPr lang="en-US"/>
              <a:pPr/>
              <a:t>39</a:t>
            </a:fld>
            <a:endParaRPr lang="en-US"/>
          </a:p>
        </p:txBody>
      </p:sp>
      <p:sp>
        <p:nvSpPr>
          <p:cNvPr id="263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AE062D-CAAB-4B62-AB96-A1DBB71387E3}" type="slidenum">
              <a:rPr lang="en-US"/>
              <a:pPr/>
              <a:t>40</a:t>
            </a:fld>
            <a:endParaRPr lang="en-US"/>
          </a:p>
        </p:txBody>
      </p:sp>
      <p:sp>
        <p:nvSpPr>
          <p:cNvPr id="26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AE062D-CAAB-4B62-AB96-A1DBB71387E3}" type="slidenum">
              <a:rPr lang="en-US"/>
              <a:pPr/>
              <a:t>41</a:t>
            </a:fld>
            <a:endParaRPr lang="en-US"/>
          </a:p>
        </p:txBody>
      </p:sp>
      <p:sp>
        <p:nvSpPr>
          <p:cNvPr id="26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58ABCE-F835-4281-9754-526D7A339624}" type="slidenum">
              <a:rPr lang="en-US"/>
              <a:pPr/>
              <a:t>42</a:t>
            </a:fld>
            <a:endParaRPr lang="en-US"/>
          </a:p>
        </p:txBody>
      </p:sp>
      <p:sp>
        <p:nvSpPr>
          <p:cNvPr id="266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0CC07A-4D17-499B-AA3D-DD8EA70F10D7}" type="slidenum">
              <a:rPr lang="en-US"/>
              <a:pPr/>
              <a:t>43</a:t>
            </a:fld>
            <a:endParaRPr lang="en-US"/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B99CD6-657F-45C3-8AC8-A99CB90FE58F}" type="slidenum">
              <a:rPr lang="en-US"/>
              <a:pPr/>
              <a:t>44</a:t>
            </a:fld>
            <a:endParaRPr lang="en-US"/>
          </a:p>
        </p:txBody>
      </p:sp>
      <p:sp>
        <p:nvSpPr>
          <p:cNvPr id="26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6FFE81-107B-41E1-95E2-FED2C877329C}" type="slidenum">
              <a:rPr lang="en-US"/>
              <a:pPr/>
              <a:t>45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08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7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77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42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90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0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02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28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79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3847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633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5468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01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83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15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BFED442-EC9F-4AC8-9385-A8D9F99473A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969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496B3F-1476-4325-B04D-910F28C185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4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A51F0-1478-4FB8-8A76-079D616669F8}" type="datetimeFigureOut">
              <a:rPr lang="en-US" smtClean="0"/>
              <a:pPr/>
              <a:t>27-Jan-2023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9905DB4-6CE6-451F-AB5C-4AB2D1CE97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5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Week-4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4.3.7  Fast Ethernet</a:t>
            </a:r>
          </a:p>
          <a:p>
            <a:r>
              <a:rPr lang="en-US" dirty="0"/>
              <a:t>5.2			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leads to fast Ethernet?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pump up the speed, various industry groups proposed two new ring based optical LANs.</a:t>
            </a:r>
          </a:p>
          <a:p>
            <a:r>
              <a:rPr lang="en-US" dirty="0"/>
              <a:t>One was called </a:t>
            </a:r>
            <a:r>
              <a:rPr lang="en-US" dirty="0" err="1"/>
              <a:t>FDDI</a:t>
            </a:r>
            <a:r>
              <a:rPr lang="en-US" dirty="0"/>
              <a:t> and the other was called fiber channel. </a:t>
            </a:r>
          </a:p>
          <a:p>
            <a:r>
              <a:rPr lang="en-US" dirty="0"/>
              <a:t>Both of them failed for desktop, management was complicated, complex chips and very expensive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6800"/>
          </a:xfrm>
          <a:noFill/>
          <a:ln/>
        </p:spPr>
        <p:txBody>
          <a:bodyPr lIns="0" tIns="0" rIns="0" bIns="0"/>
          <a:lstStyle/>
          <a:p>
            <a:pPr defTabSz="4572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4000" b="1" dirty="0"/>
              <a:t>Ethernet</a:t>
            </a:r>
            <a:endParaRPr lang="en-GB" sz="4000" b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763000" cy="5257800"/>
          </a:xfrm>
        </p:spPr>
        <p:txBody>
          <a:bodyPr>
            <a:normAutofit fontScale="92500" lnSpcReduction="10000"/>
          </a:bodyPr>
          <a:lstStyle/>
          <a:p>
            <a:pPr marL="392113" indent="-293688" defTabSz="414338"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400" b="1" dirty="0"/>
              <a:t>Physical Media  :-</a:t>
            </a:r>
          </a:p>
          <a:p>
            <a:pPr marL="782638" lvl="1" indent="-260350" defTabSz="414338">
              <a:buFontTx/>
              <a:buBlip>
                <a:blip r:embed="rId3"/>
              </a:buBlip>
            </a:pPr>
            <a:r>
              <a:rPr lang="en-US" sz="2000" dirty="0"/>
              <a:t>	10 </a:t>
            </a:r>
            <a:r>
              <a:rPr lang="en-US" sz="2000" dirty="0" err="1"/>
              <a:t>Base5</a:t>
            </a:r>
            <a:r>
              <a:rPr lang="en-US" sz="2000" dirty="0"/>
              <a:t>      -   Thick Co-axial Cable with Bus Topology</a:t>
            </a:r>
          </a:p>
          <a:p>
            <a:pPr marL="782638" lvl="1" indent="-260350" defTabSz="414338">
              <a:buFontTx/>
              <a:buBlip>
                <a:blip r:embed="rId3"/>
              </a:buBlip>
            </a:pPr>
            <a:r>
              <a:rPr lang="en-US" sz="2000" dirty="0"/>
              <a:t>	 10 </a:t>
            </a:r>
            <a:r>
              <a:rPr lang="en-US" sz="2000" dirty="0" err="1"/>
              <a:t>Base2</a:t>
            </a:r>
            <a:r>
              <a:rPr lang="en-US" sz="2000" dirty="0"/>
              <a:t>     -   Thin Co-axial Cable with Bus Topology</a:t>
            </a:r>
          </a:p>
          <a:p>
            <a:pPr marL="782638" lvl="1" indent="-260350" defTabSz="414338">
              <a:buFontTx/>
              <a:buBlip>
                <a:blip r:embed="rId3"/>
              </a:buBlip>
            </a:pPr>
            <a:r>
              <a:rPr lang="en-US" sz="2000" dirty="0"/>
              <a:t>	 10 </a:t>
            </a:r>
            <a:r>
              <a:rPr lang="en-US" sz="2000" dirty="0" err="1"/>
              <a:t>BaseT</a:t>
            </a:r>
            <a:r>
              <a:rPr lang="en-US" sz="2000" dirty="0"/>
              <a:t>     -   </a:t>
            </a:r>
            <a:r>
              <a:rPr lang="en-US" sz="2000" dirty="0" err="1"/>
              <a:t>UTP</a:t>
            </a:r>
            <a:r>
              <a:rPr lang="en-US" sz="2000" dirty="0"/>
              <a:t> Cat 3/5 with Tree Topology</a:t>
            </a:r>
          </a:p>
          <a:p>
            <a:pPr marL="782638" lvl="1" indent="-260350" defTabSz="414338">
              <a:buFontTx/>
              <a:buBlip>
                <a:blip r:embed="rId3"/>
              </a:buBlip>
            </a:pPr>
            <a:r>
              <a:rPr lang="en-US" sz="2000" dirty="0"/>
              <a:t>	 10 </a:t>
            </a:r>
            <a:r>
              <a:rPr lang="en-US" sz="2000" dirty="0" err="1"/>
              <a:t>BaseFL</a:t>
            </a:r>
            <a:r>
              <a:rPr lang="en-US" sz="2000" dirty="0"/>
              <a:t>   -   Multimode/</a:t>
            </a:r>
            <a:r>
              <a:rPr lang="en-US" sz="2000" dirty="0" err="1"/>
              <a:t>Singlemode</a:t>
            </a:r>
            <a:r>
              <a:rPr lang="en-US" sz="2000" dirty="0"/>
              <a:t> Fiber with Tree</a:t>
            </a:r>
          </a:p>
          <a:p>
            <a:pPr marL="782638" lvl="1" indent="-260350" defTabSz="414338">
              <a:buFontTx/>
              <a:buNone/>
            </a:pPr>
            <a:r>
              <a:rPr lang="en-US" sz="2000" dirty="0"/>
              <a:t>                             Topology</a:t>
            </a:r>
          </a:p>
          <a:p>
            <a:pPr marL="1174750" lvl="2" indent="-195263" defTabSz="414338">
              <a:buFontTx/>
              <a:buBlip>
                <a:blip r:embed="rId3"/>
              </a:buBlip>
            </a:pPr>
            <a:endParaRPr lang="en-US" sz="1800" dirty="0"/>
          </a:p>
          <a:p>
            <a:pPr marL="392113" indent="-293688" defTabSz="414338"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400" b="1" dirty="0"/>
              <a:t>Maximum Segment Length</a:t>
            </a:r>
          </a:p>
          <a:p>
            <a:pPr marL="782638" lvl="1" indent="-260350" defTabSz="414338">
              <a:buFontTx/>
              <a:buBlip>
                <a:blip r:embed="rId3"/>
              </a:buBlip>
            </a:pPr>
            <a:r>
              <a:rPr lang="en-US" sz="2000" dirty="0"/>
              <a:t> 10 </a:t>
            </a:r>
            <a:r>
              <a:rPr lang="en-US" sz="2000" dirty="0" err="1"/>
              <a:t>Base5</a:t>
            </a:r>
            <a:r>
              <a:rPr lang="en-US" sz="2000" dirty="0"/>
              <a:t>    -   500 m with at most 4 repeaters (Use Bridge to extend</a:t>
            </a:r>
            <a:br>
              <a:rPr lang="en-US" sz="2000" dirty="0"/>
            </a:br>
            <a:r>
              <a:rPr lang="en-US" sz="2000" dirty="0"/>
              <a:t>                         the network)</a:t>
            </a:r>
          </a:p>
          <a:p>
            <a:pPr marL="782638" lvl="1" indent="-260350" defTabSz="414338">
              <a:buFontTx/>
              <a:buBlip>
                <a:blip r:embed="rId3"/>
              </a:buBlip>
            </a:pPr>
            <a:r>
              <a:rPr lang="en-US" sz="2000" dirty="0"/>
              <a:t> 10 </a:t>
            </a:r>
            <a:r>
              <a:rPr lang="en-US" sz="2000" dirty="0" err="1"/>
              <a:t>Base2</a:t>
            </a:r>
            <a:r>
              <a:rPr lang="en-US" sz="2000" dirty="0"/>
              <a:t>    -   185 m with at most 4 repeaters (Use Bridge to extend</a:t>
            </a:r>
            <a:br>
              <a:rPr lang="en-US" sz="2000" dirty="0"/>
            </a:br>
            <a:r>
              <a:rPr lang="en-US" sz="2000" dirty="0"/>
              <a:t>                         the network)</a:t>
            </a:r>
          </a:p>
          <a:p>
            <a:pPr marL="782638" lvl="1" indent="-260350" defTabSz="414338">
              <a:buFontTx/>
              <a:buBlip>
                <a:blip r:embed="rId3"/>
              </a:buBlip>
            </a:pPr>
            <a:r>
              <a:rPr lang="en-US" sz="2000" dirty="0"/>
              <a:t> 10 </a:t>
            </a:r>
            <a:r>
              <a:rPr lang="en-US" sz="2000" dirty="0" err="1"/>
              <a:t>BaseT</a:t>
            </a:r>
            <a:r>
              <a:rPr lang="en-US" sz="2000" dirty="0"/>
              <a:t>    -   100 m with at most 4 hubs (Use Switch to extend the</a:t>
            </a:r>
            <a:br>
              <a:rPr lang="en-US" sz="2000" dirty="0"/>
            </a:br>
            <a:r>
              <a:rPr lang="en-US" sz="2000" dirty="0"/>
              <a:t>                         network)</a:t>
            </a:r>
            <a:endParaRPr lang="en-US" sz="1800" b="1" dirty="0"/>
          </a:p>
        </p:txBody>
      </p:sp>
      <p:sp>
        <p:nvSpPr>
          <p:cNvPr id="24581" name="AutoShape 5"/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AutoShape 6"/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3" name="AutoShape 7"/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229600" cy="1066800"/>
          </a:xfrm>
          <a:noFill/>
          <a:ln/>
        </p:spPr>
        <p:txBody>
          <a:bodyPr lIns="0" tIns="0" rIns="0" bIns="0"/>
          <a:lstStyle/>
          <a:p>
            <a:pPr defTabSz="4572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b="1" dirty="0"/>
              <a:t>Fast Ethernet</a:t>
            </a:r>
            <a:endParaRPr lang="en-GB" b="1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pPr marL="392113" indent="-293688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800" b="1" dirty="0"/>
              <a:t>100 Mbps bandwidth</a:t>
            </a:r>
          </a:p>
          <a:p>
            <a:pPr marL="392113" indent="-293688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800" b="1" dirty="0"/>
              <a:t>Uses same </a:t>
            </a:r>
            <a:r>
              <a:rPr lang="en-US" sz="2800" b="1" dirty="0" err="1"/>
              <a:t>CSMA</a:t>
            </a:r>
            <a:r>
              <a:rPr lang="en-US" sz="2800" b="1" dirty="0"/>
              <a:t>/CD media access protocol and packet format as in Ethernet.</a:t>
            </a:r>
          </a:p>
          <a:p>
            <a:pPr marL="392113" indent="-293688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800" b="1" dirty="0" err="1"/>
              <a:t>100BaseTX</a:t>
            </a:r>
            <a:r>
              <a:rPr lang="en-US" sz="2800" b="1" dirty="0"/>
              <a:t> (</a:t>
            </a:r>
            <a:r>
              <a:rPr lang="en-US" sz="2800" b="1" dirty="0" err="1"/>
              <a:t>UTP</a:t>
            </a:r>
            <a:r>
              <a:rPr lang="en-US" sz="2800" b="1" dirty="0"/>
              <a:t>) and </a:t>
            </a:r>
            <a:r>
              <a:rPr lang="en-US" sz="2800" b="1" dirty="0" err="1"/>
              <a:t>100BaseFX</a:t>
            </a:r>
            <a:r>
              <a:rPr lang="en-US" sz="2800" b="1" dirty="0"/>
              <a:t> (Fiber) standards </a:t>
            </a:r>
          </a:p>
          <a:p>
            <a:pPr marL="392113" indent="-293688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800" b="1" dirty="0"/>
              <a:t>Physical media  :-</a:t>
            </a:r>
          </a:p>
          <a:p>
            <a:pPr marL="1174750" lvl="2" indent="-195263" algn="just" defTabSz="414338">
              <a:lnSpc>
                <a:spcPct val="80000"/>
              </a:lnSpc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800" dirty="0"/>
              <a:t>100 </a:t>
            </a:r>
            <a:r>
              <a:rPr lang="en-US" sz="2800" dirty="0" err="1"/>
              <a:t>BaseTX</a:t>
            </a:r>
            <a:r>
              <a:rPr lang="en-US" sz="2800" dirty="0"/>
              <a:t>      - </a:t>
            </a:r>
            <a:r>
              <a:rPr lang="en-US" sz="2800" dirty="0" err="1"/>
              <a:t>UTP</a:t>
            </a:r>
            <a:r>
              <a:rPr lang="en-US" sz="2800" dirty="0"/>
              <a:t> Cat </a:t>
            </a:r>
            <a:r>
              <a:rPr lang="en-US" sz="2800" dirty="0" err="1"/>
              <a:t>5e</a:t>
            </a:r>
            <a:endParaRPr lang="en-US" sz="2800" dirty="0"/>
          </a:p>
          <a:p>
            <a:pPr marL="1174750" lvl="2" indent="-195263" algn="just" defTabSz="414338">
              <a:lnSpc>
                <a:spcPct val="80000"/>
              </a:lnSpc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800" dirty="0"/>
              <a:t>100 </a:t>
            </a:r>
            <a:r>
              <a:rPr lang="en-US" sz="2800" dirty="0" err="1"/>
              <a:t>BaseFX</a:t>
            </a:r>
            <a:r>
              <a:rPr lang="en-US" sz="2800" dirty="0"/>
              <a:t>    - Multimode / </a:t>
            </a:r>
            <a:r>
              <a:rPr lang="en-US" sz="2800" dirty="0" err="1"/>
              <a:t>Singlemode</a:t>
            </a:r>
            <a:r>
              <a:rPr lang="en-US" sz="2800" dirty="0"/>
              <a:t> Fiber</a:t>
            </a:r>
          </a:p>
          <a:p>
            <a:pPr marL="392113" indent="-293688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800" b="1" dirty="0"/>
              <a:t>  Full Duplex/Half Duplex operations.</a:t>
            </a:r>
          </a:p>
          <a:p>
            <a:pPr marL="392113" indent="-293688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endParaRPr lang="en-US" sz="2800" b="1" dirty="0"/>
          </a:p>
        </p:txBody>
      </p:sp>
      <p:sp>
        <p:nvSpPr>
          <p:cNvPr id="26629" name="AutoShape 5"/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6630" name="AutoShape 6"/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6631" name="AutoShape 7"/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229600" cy="1066800"/>
          </a:xfrm>
          <a:noFill/>
          <a:ln/>
        </p:spPr>
        <p:txBody>
          <a:bodyPr lIns="0" tIns="0" rIns="0" bIns="0"/>
          <a:lstStyle/>
          <a:p>
            <a:pPr defTabSz="4572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b="1" dirty="0"/>
              <a:t>Fast Ethernet</a:t>
            </a:r>
            <a:endParaRPr lang="en-GB" b="1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392113" indent="-293688" algn="just" defTabSz="414338">
              <a:lnSpc>
                <a:spcPct val="80000"/>
              </a:lnSpc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800" b="1"/>
              <a:t>Provision for Auto-Negotiation of media speed: </a:t>
            </a:r>
            <a:br>
              <a:rPr lang="en-US" sz="2800" b="1"/>
            </a:br>
            <a:r>
              <a:rPr lang="en-US" sz="2800" b="1"/>
              <a:t>10 Mbps or 100Mbps (popularly available for copper media only).</a:t>
            </a:r>
          </a:p>
          <a:p>
            <a:pPr marL="392113" indent="-293688" algn="just" defTabSz="414338">
              <a:lnSpc>
                <a:spcPct val="80000"/>
              </a:lnSpc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endParaRPr lang="en-US" sz="2800" b="1"/>
          </a:p>
          <a:p>
            <a:pPr marL="392113" indent="-293688" algn="just" defTabSz="414338">
              <a:lnSpc>
                <a:spcPct val="80000"/>
              </a:lnSpc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800" b="1"/>
              <a:t>Maximum Segment Length</a:t>
            </a:r>
          </a:p>
          <a:p>
            <a:pPr marL="1174750" lvl="2" indent="-195263" algn="just" defTabSz="414338">
              <a:lnSpc>
                <a:spcPct val="80000"/>
              </a:lnSpc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800" b="1"/>
              <a:t>100 Base TX   -   100 m</a:t>
            </a:r>
          </a:p>
          <a:p>
            <a:pPr marL="1174750" lvl="2" indent="-195263" algn="just" defTabSz="414338">
              <a:lnSpc>
                <a:spcPct val="80000"/>
              </a:lnSpc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800" b="1"/>
              <a:t>100 Base FX   -   2 Km (Multimode Fiber)</a:t>
            </a:r>
          </a:p>
          <a:p>
            <a:pPr marL="1174750" lvl="2" indent="-195263" algn="just" defTabSz="414338">
              <a:lnSpc>
                <a:spcPct val="80000"/>
              </a:lnSpc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800" b="1"/>
              <a:t>100 Base FX   -   20 km   (Singlemode Fiber)</a:t>
            </a:r>
            <a:endParaRPr lang="en-US" sz="2800"/>
          </a:p>
          <a:p>
            <a:pPr marL="392113" indent="-293688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endParaRPr lang="en-US" sz="2800" b="1"/>
          </a:p>
        </p:txBody>
      </p:sp>
      <p:sp>
        <p:nvSpPr>
          <p:cNvPr id="28677" name="AutoShape 5"/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8678" name="AutoShape 6"/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28679" name="AutoShape 7"/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066800"/>
          </a:xfrm>
          <a:noFill/>
          <a:ln/>
        </p:spPr>
        <p:txBody>
          <a:bodyPr lIns="0" tIns="0" rIns="0" bIns="0"/>
          <a:lstStyle/>
          <a:p>
            <a:pPr defTabSz="4572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4000" b="1" dirty="0"/>
              <a:t>Gigabit Ethernet</a:t>
            </a:r>
            <a:endParaRPr lang="en-GB" sz="4000" b="1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392113" indent="-293688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400" b="1" dirty="0"/>
              <a:t>1 </a:t>
            </a:r>
            <a:r>
              <a:rPr lang="en-US" sz="2400" b="1" dirty="0" err="1"/>
              <a:t>Gbps</a:t>
            </a:r>
            <a:r>
              <a:rPr lang="en-US" sz="2400" b="1" dirty="0"/>
              <a:t> bandwidth.</a:t>
            </a:r>
          </a:p>
          <a:p>
            <a:pPr marL="392113" indent="-293688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400" b="1" dirty="0"/>
              <a:t>Uses same </a:t>
            </a:r>
            <a:r>
              <a:rPr lang="en-US" sz="2400" b="1" dirty="0" err="1"/>
              <a:t>CSMA</a:t>
            </a:r>
            <a:r>
              <a:rPr lang="en-US" sz="2400" b="1" dirty="0"/>
              <a:t>/CD media access protocol as in Ethernet and is backward compatible (10/100/100 modules are available).</a:t>
            </a:r>
          </a:p>
          <a:p>
            <a:pPr marL="392113" indent="-293688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400" b="1" dirty="0" err="1"/>
              <a:t>1000BaseT</a:t>
            </a:r>
            <a:r>
              <a:rPr lang="en-US" sz="2400" b="1" dirty="0"/>
              <a:t> (</a:t>
            </a:r>
            <a:r>
              <a:rPr lang="en-US" sz="2400" b="1" dirty="0" err="1"/>
              <a:t>UTP</a:t>
            </a:r>
            <a:r>
              <a:rPr lang="en-US" sz="2400" b="1" dirty="0"/>
              <a:t>), </a:t>
            </a:r>
            <a:r>
              <a:rPr lang="en-US" sz="2400" b="1" dirty="0" err="1"/>
              <a:t>1000BaseSX</a:t>
            </a:r>
            <a:r>
              <a:rPr lang="en-US" sz="2400" b="1" dirty="0"/>
              <a:t> (Multimode Fiber) and </a:t>
            </a:r>
            <a:r>
              <a:rPr lang="en-US" sz="2400" b="1" dirty="0" err="1"/>
              <a:t>1000BaseLX</a:t>
            </a:r>
            <a:r>
              <a:rPr lang="en-US" sz="2400" b="1" dirty="0"/>
              <a:t> (Multimode/</a:t>
            </a:r>
            <a:r>
              <a:rPr lang="en-US" sz="2400" b="1" dirty="0" err="1"/>
              <a:t>Singlemode</a:t>
            </a:r>
            <a:r>
              <a:rPr lang="en-US" sz="2400" b="1" dirty="0"/>
              <a:t> Fiber) standards.</a:t>
            </a:r>
          </a:p>
          <a:p>
            <a:pPr marL="392113" indent="-293688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sz="2400" b="1" dirty="0"/>
              <a:t>Maximum Segment Length</a:t>
            </a:r>
          </a:p>
          <a:p>
            <a:pPr marL="1174750" lvl="2" indent="-195263" algn="just" defTabSz="414338">
              <a:lnSpc>
                <a:spcPct val="80000"/>
              </a:lnSpc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dirty="0"/>
              <a:t>1000 Base T        -   </a:t>
            </a:r>
            <a:r>
              <a:rPr lang="en-US" dirty="0" err="1"/>
              <a:t>100m</a:t>
            </a:r>
            <a:r>
              <a:rPr lang="en-US" dirty="0"/>
              <a:t> (Cat </a:t>
            </a:r>
            <a:r>
              <a:rPr lang="en-US" dirty="0" err="1"/>
              <a:t>5e</a:t>
            </a:r>
            <a:r>
              <a:rPr lang="en-US" dirty="0"/>
              <a:t>/6)</a:t>
            </a:r>
          </a:p>
          <a:p>
            <a:pPr marL="1174750" lvl="2" indent="-195263" algn="just" defTabSz="414338">
              <a:lnSpc>
                <a:spcPct val="80000"/>
              </a:lnSpc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dirty="0"/>
              <a:t>1000 Base </a:t>
            </a:r>
            <a:r>
              <a:rPr lang="en-US" dirty="0" err="1"/>
              <a:t>SX</a:t>
            </a:r>
            <a:r>
              <a:rPr lang="en-US" dirty="0"/>
              <a:t>     -   275 m (Multimode Fiber)</a:t>
            </a:r>
          </a:p>
          <a:p>
            <a:pPr marL="1174750" lvl="2" indent="-195263" algn="just" defTabSz="414338">
              <a:lnSpc>
                <a:spcPct val="80000"/>
              </a:lnSpc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dirty="0"/>
              <a:t>1000 Base LX     -   512 m (Multimode Fiber) </a:t>
            </a:r>
          </a:p>
          <a:p>
            <a:pPr marL="1174750" lvl="2" indent="-195263" algn="just" defTabSz="414338">
              <a:lnSpc>
                <a:spcPct val="80000"/>
              </a:lnSpc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dirty="0"/>
              <a:t>1000 Base LX     -   20 Km (</a:t>
            </a:r>
            <a:r>
              <a:rPr lang="en-US" dirty="0" err="1"/>
              <a:t>Singlemode</a:t>
            </a:r>
            <a:r>
              <a:rPr lang="en-US" dirty="0"/>
              <a:t> Fiber)</a:t>
            </a:r>
          </a:p>
          <a:p>
            <a:pPr marL="1174750" lvl="2" indent="-195263" algn="just" defTabSz="414338">
              <a:lnSpc>
                <a:spcPct val="80000"/>
              </a:lnSpc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r>
              <a:rPr lang="en-US" dirty="0"/>
              <a:t>1000 Base </a:t>
            </a:r>
            <a:r>
              <a:rPr lang="en-US" dirty="0" err="1"/>
              <a:t>LH</a:t>
            </a:r>
            <a:r>
              <a:rPr lang="en-US" dirty="0"/>
              <a:t>     -   80 Km (</a:t>
            </a:r>
            <a:r>
              <a:rPr lang="en-US" dirty="0" err="1"/>
              <a:t>Singlemode</a:t>
            </a:r>
            <a:r>
              <a:rPr lang="en-US" dirty="0"/>
              <a:t> Fiber)</a:t>
            </a:r>
          </a:p>
          <a:p>
            <a:pPr marL="392113" indent="-293688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Wingdings" pitchFamily="2" charset="2"/>
              <a:buBlip>
                <a:blip r:embed="rId3"/>
              </a:buBlip>
            </a:pPr>
            <a:endParaRPr lang="en-US" sz="2400" b="1" dirty="0"/>
          </a:p>
        </p:txBody>
      </p:sp>
      <p:sp>
        <p:nvSpPr>
          <p:cNvPr id="30725" name="AutoShape 5"/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6" name="AutoShape 6"/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7" name="AutoShape 7"/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Routing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 of N/L</a:t>
            </a:r>
          </a:p>
          <a:p>
            <a:r>
              <a:rPr lang="en-US" dirty="0"/>
              <a:t>Decides 2 things:   </a:t>
            </a:r>
          </a:p>
          <a:p>
            <a:pPr lvl="1"/>
            <a:r>
              <a:rPr lang="en-US" dirty="0"/>
              <a:t>Which i/p </a:t>
            </a:r>
            <a:r>
              <a:rPr lang="en-US" dirty="0" err="1"/>
              <a:t>pkt</a:t>
            </a:r>
            <a:r>
              <a:rPr lang="en-US" dirty="0"/>
              <a:t> to transmit?</a:t>
            </a:r>
          </a:p>
          <a:p>
            <a:pPr lvl="1"/>
            <a:r>
              <a:rPr lang="en-US" dirty="0"/>
              <a:t>Where/Which o/p line to select?</a:t>
            </a:r>
          </a:p>
          <a:p>
            <a:r>
              <a:rPr lang="en-US" dirty="0"/>
              <a:t>Session routing: for the whole session no need to change the output line selected by 1</a:t>
            </a:r>
            <a:r>
              <a:rPr lang="en-US" baseline="30000" dirty="0"/>
              <a:t>st</a:t>
            </a:r>
            <a:r>
              <a:rPr lang="en-US" dirty="0"/>
              <a:t> packet</a:t>
            </a:r>
          </a:p>
          <a:p>
            <a:r>
              <a:rPr lang="en-US" dirty="0"/>
              <a:t>In general routers have 2 phase:</a:t>
            </a:r>
          </a:p>
          <a:p>
            <a:pPr lvl="1"/>
            <a:r>
              <a:rPr lang="en-US" dirty="0"/>
              <a:t>Forwarding</a:t>
            </a:r>
          </a:p>
          <a:p>
            <a:pPr lvl="1"/>
            <a:r>
              <a:rPr lang="en-US" dirty="0"/>
              <a:t>Table updating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dirty="0"/>
              <a:t>Non-adaptive &amp; adaptive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Routing algorithm can be grouped into:</a:t>
            </a:r>
          </a:p>
          <a:p>
            <a:pPr lvl="1"/>
            <a:r>
              <a:rPr lang="en-US" sz="3500" b="1" dirty="0"/>
              <a:t>Non-adaptive algorithms </a:t>
            </a:r>
            <a:r>
              <a:rPr lang="en-US" sz="3200" dirty="0"/>
              <a:t>(fixed traffic light)</a:t>
            </a:r>
          </a:p>
          <a:p>
            <a:pPr lvl="2"/>
            <a:r>
              <a:rPr lang="en-US" sz="2800" dirty="0"/>
              <a:t>do not base their routing decisions on measurements or estimates of the current traffic and topology. </a:t>
            </a:r>
          </a:p>
          <a:p>
            <a:pPr lvl="2"/>
            <a:r>
              <a:rPr lang="en-US" sz="2800" dirty="0"/>
              <a:t>Instead, the choice of the route to use to get from I to J (for all I and J)is computed in advance, off-line, and downloaded to the routers when the network is booted.</a:t>
            </a:r>
          </a:p>
          <a:p>
            <a:pPr lvl="2"/>
            <a:r>
              <a:rPr lang="en-US" sz="2800" dirty="0"/>
              <a:t>This procedure is sometimes called static routing.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92500" lnSpcReduction="20000"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3500" b="1" dirty="0"/>
              <a:t>Adaptive algorithms</a:t>
            </a:r>
          </a:p>
          <a:p>
            <a:pPr lvl="1"/>
            <a:r>
              <a:rPr lang="en-US" sz="3200" dirty="0"/>
              <a:t>change their routing decisions to reflect changes in the topology, and usually the traffic as well. </a:t>
            </a:r>
          </a:p>
          <a:p>
            <a:pPr lvl="1"/>
            <a:r>
              <a:rPr lang="en-US" sz="3200" dirty="0"/>
              <a:t>Adaptive algorithms differ in where they get their </a:t>
            </a:r>
          </a:p>
          <a:p>
            <a:pPr lvl="2"/>
            <a:r>
              <a:rPr lang="en-US" sz="2800" dirty="0"/>
              <a:t>information (e.g., locally, from adjacent routers, or from all routers),</a:t>
            </a:r>
          </a:p>
          <a:p>
            <a:pPr lvl="2"/>
            <a:r>
              <a:rPr lang="en-US" sz="2800" dirty="0"/>
              <a:t>when they change the routes (e.g., every ∆T sec, when the load changes or when the topology changes), and </a:t>
            </a:r>
          </a:p>
          <a:p>
            <a:pPr lvl="2"/>
            <a:r>
              <a:rPr lang="en-US" sz="2800" dirty="0"/>
              <a:t>What metric is used for optimization (e.g., distance, number of hops, or estimated transit time).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Optimality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optimality principle </a:t>
            </a:r>
            <a:r>
              <a:rPr lang="en-US" dirty="0"/>
              <a:t>and the sink tree provide a benchmark against which other routing algorithms can be measured.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general</a:t>
            </a:r>
            <a:r>
              <a:rPr lang="en-US" dirty="0"/>
              <a:t> statement about optimal routes without regard to network topology or traffic</a:t>
            </a:r>
          </a:p>
          <a:p>
            <a:pPr lvl="1"/>
            <a:r>
              <a:rPr lang="en-US" b="1" dirty="0"/>
              <a:t>It states </a:t>
            </a:r>
            <a:r>
              <a:rPr lang="en-US" dirty="0"/>
              <a:t>that if router J is on the optimal path from router I to router K, then the optimal path from J to K also falls along the same route.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29000"/>
            <a:ext cx="8229600" cy="2895600"/>
          </a:xfrm>
        </p:spPr>
        <p:txBody>
          <a:bodyPr>
            <a:normAutofit/>
          </a:bodyPr>
          <a:lstStyle/>
          <a:p>
            <a:r>
              <a:rPr lang="en-US" dirty="0"/>
              <a:t>Where the </a:t>
            </a:r>
            <a:r>
              <a:rPr lang="en-US" b="1" dirty="0"/>
              <a:t>distance metric </a:t>
            </a:r>
            <a:r>
              <a:rPr lang="en-US" dirty="0"/>
              <a:t>is the number of hops. </a:t>
            </a:r>
          </a:p>
          <a:p>
            <a:r>
              <a:rPr lang="en-US" dirty="0"/>
              <a:t>Sink tree is not necessarily unique; other trees with the same path lengths may exist. </a:t>
            </a:r>
          </a:p>
          <a:p>
            <a:r>
              <a:rPr lang="en-US" dirty="0"/>
              <a:t>The goal of all routing algorithms is to discover and use the sink trees for all routers.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0276" y="0"/>
            <a:ext cx="6794659" cy="313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Goals of Routing Algorithms</a:t>
            </a:r>
          </a:p>
          <a:p>
            <a:pPr lvl="1"/>
            <a:r>
              <a:rPr lang="en-US" dirty="0"/>
              <a:t>Algorithm Types</a:t>
            </a:r>
          </a:p>
          <a:p>
            <a:pPr lvl="1"/>
            <a:r>
              <a:rPr lang="en-US" dirty="0"/>
              <a:t>Routing Metrics</a:t>
            </a:r>
          </a:p>
          <a:p>
            <a:pPr lvl="1"/>
            <a:r>
              <a:rPr lang="en-US" dirty="0"/>
              <a:t>Dynamic Routing Algorithms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8013"/>
          </a:xfrm>
        </p:spPr>
        <p:txBody>
          <a:bodyPr>
            <a:normAutofit fontScale="90000"/>
          </a:bodyPr>
          <a:lstStyle/>
          <a:p>
            <a:r>
              <a:rPr lang="en-US"/>
              <a:t>Algorithm types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>
                <a:latin typeface="Comic Sans MS" pitchFamily="66" charset="0"/>
              </a:rPr>
              <a:t>Static Vs Dynamic</a:t>
            </a:r>
          </a:p>
          <a:p>
            <a:pPr>
              <a:buFont typeface="Wingdings" pitchFamily="2" charset="2"/>
              <a:buChar char="Ø"/>
            </a:pPr>
            <a:r>
              <a:rPr lang="en-US">
                <a:latin typeface="Comic Sans MS" pitchFamily="66" charset="0"/>
              </a:rPr>
              <a:t>Single Path Vs Multiple Path</a:t>
            </a:r>
          </a:p>
          <a:p>
            <a:pPr>
              <a:buFont typeface="Wingdings" pitchFamily="2" charset="2"/>
              <a:buChar char="Ø"/>
            </a:pPr>
            <a:r>
              <a:rPr lang="en-US">
                <a:latin typeface="Comic Sans MS" pitchFamily="66" charset="0"/>
              </a:rPr>
              <a:t>Host Intelligent Vs Router Intelligent</a:t>
            </a:r>
          </a:p>
          <a:p>
            <a:pPr>
              <a:buFont typeface="Wingdings" pitchFamily="2" charset="2"/>
              <a:buChar char="Ø"/>
            </a:pPr>
            <a:r>
              <a:rPr lang="en-US">
                <a:latin typeface="Comic Sans MS" pitchFamily="66" charset="0"/>
              </a:rPr>
              <a:t>Intradomain Vs Interdomain</a:t>
            </a:r>
          </a:p>
          <a:p>
            <a:pPr>
              <a:buFont typeface="Wingdings" pitchFamily="2" charset="2"/>
              <a:buChar char="Ø"/>
            </a:pPr>
            <a:endParaRPr lang="en-US">
              <a:latin typeface="Comic Sans MS" pitchFamily="66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85800"/>
            <a:ext cx="7772400" cy="608013"/>
          </a:xfrm>
        </p:spPr>
        <p:txBody>
          <a:bodyPr>
            <a:normAutofit fontScale="90000"/>
          </a:bodyPr>
          <a:lstStyle/>
          <a:p>
            <a:r>
              <a:rPr lang="en-US"/>
              <a:t>Routing Metrics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>
                <a:latin typeface="Comic Sans MS" pitchFamily="66" charset="0"/>
              </a:rPr>
              <a:t>Path Length</a:t>
            </a:r>
          </a:p>
          <a:p>
            <a:pPr>
              <a:buFont typeface="Wingdings" pitchFamily="2" charset="2"/>
              <a:buChar char="Ø"/>
            </a:pPr>
            <a:r>
              <a:rPr lang="en-US">
                <a:latin typeface="Comic Sans MS" pitchFamily="66" charset="0"/>
              </a:rPr>
              <a:t>Reliability</a:t>
            </a:r>
          </a:p>
          <a:p>
            <a:pPr>
              <a:buFont typeface="Wingdings" pitchFamily="2" charset="2"/>
              <a:buChar char="Ø"/>
            </a:pPr>
            <a:r>
              <a:rPr lang="en-US">
                <a:latin typeface="Comic Sans MS" pitchFamily="66" charset="0"/>
              </a:rPr>
              <a:t>Delay</a:t>
            </a:r>
          </a:p>
          <a:p>
            <a:pPr>
              <a:buFont typeface="Wingdings" pitchFamily="2" charset="2"/>
              <a:buChar char="Ø"/>
            </a:pPr>
            <a:r>
              <a:rPr lang="en-US">
                <a:latin typeface="Comic Sans MS" pitchFamily="66" charset="0"/>
              </a:rPr>
              <a:t>Bandwidth</a:t>
            </a:r>
          </a:p>
          <a:p>
            <a:pPr>
              <a:buFont typeface="Wingdings" pitchFamily="2" charset="2"/>
              <a:buChar char="Ø"/>
            </a:pPr>
            <a:r>
              <a:rPr lang="en-US">
                <a:latin typeface="Comic Sans MS" pitchFamily="66" charset="0"/>
              </a:rPr>
              <a:t>Load</a:t>
            </a:r>
          </a:p>
          <a:p>
            <a:pPr>
              <a:buFont typeface="Wingdings" pitchFamily="2" charset="2"/>
              <a:buChar char="Ø"/>
            </a:pPr>
            <a:r>
              <a:rPr lang="en-US">
                <a:latin typeface="Comic Sans MS" pitchFamily="66" charset="0"/>
              </a:rPr>
              <a:t>Communication cost</a:t>
            </a:r>
          </a:p>
          <a:p>
            <a:pPr>
              <a:buFont typeface="Wingdings" pitchFamily="2" charset="2"/>
              <a:buChar char="Ø"/>
            </a:pPr>
            <a:endParaRPr lang="en-US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58838"/>
            <a:ext cx="7772400" cy="5127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tx1"/>
                </a:solidFill>
              </a:rPr>
              <a:t>Static Algorithms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71600"/>
            <a:ext cx="7924800" cy="4648200"/>
          </a:xfrm>
        </p:spPr>
        <p:txBody>
          <a:bodyPr/>
          <a:lstStyle/>
          <a:p>
            <a:pPr lvl="1">
              <a:buFont typeface="Wingdings" pitchFamily="2" charset="2"/>
              <a:buChar char="Ø"/>
            </a:pPr>
            <a:r>
              <a:rPr lang="en-US" dirty="0">
                <a:latin typeface="+mj-lt"/>
              </a:rPr>
              <a:t>Shortest Path Algorithm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+mj-lt"/>
              </a:rPr>
              <a:t>Flooding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+mj-lt"/>
              </a:rPr>
              <a:t>Flow based Routing</a:t>
            </a:r>
          </a:p>
          <a:p>
            <a:pPr>
              <a:buFont typeface="Wingdings" pitchFamily="2" charset="2"/>
              <a:buChar char="Ø"/>
            </a:pPr>
            <a:endParaRPr lang="en-US" sz="3600" dirty="0">
              <a:latin typeface="+mj-lt"/>
            </a:endParaRPr>
          </a:p>
          <a:p>
            <a:pPr>
              <a:buFontTx/>
              <a:buNone/>
            </a:pPr>
            <a:r>
              <a:rPr lang="en-US" sz="3600" dirty="0">
                <a:latin typeface="+mj-lt"/>
              </a:rPr>
              <a:t>Dynamic Algorithms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+mj-lt"/>
              </a:rPr>
              <a:t>Distance Vector Routing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+mj-lt"/>
              </a:rPr>
              <a:t>Link State Routing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+mj-lt"/>
              </a:rPr>
              <a:t>Hierarchical Routing</a:t>
            </a:r>
          </a:p>
          <a:p>
            <a:pPr>
              <a:buFont typeface="Wingdings" pitchFamily="2" charset="2"/>
              <a:buChar char="Ø"/>
            </a:pPr>
            <a:endParaRPr lang="en-US" b="1" dirty="0">
              <a:latin typeface="+mj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r>
              <a:rPr lang="en-US" b="1" dirty="0"/>
              <a:t>Given</a:t>
            </a:r>
            <a:r>
              <a:rPr lang="en-US" dirty="0"/>
              <a:t> a network topology and a </a:t>
            </a:r>
            <a:r>
              <a:rPr lang="en-US" b="1" dirty="0"/>
              <a:t>set of weights</a:t>
            </a:r>
            <a:r>
              <a:rPr lang="en-US" dirty="0"/>
              <a:t> describing the cost to send data across each link in the network</a:t>
            </a:r>
          </a:p>
          <a:p>
            <a:r>
              <a:rPr lang="en-US" dirty="0"/>
              <a:t>Find the shortest path from a specified source to all other destinations in the network.</a:t>
            </a:r>
          </a:p>
          <a:p>
            <a:r>
              <a:rPr lang="en-US" dirty="0"/>
              <a:t>Shortest path algorithm first developed by E. W. </a:t>
            </a:r>
            <a:r>
              <a:rPr lang="en-US" dirty="0" err="1"/>
              <a:t>Dijkstra</a:t>
            </a:r>
            <a:endParaRPr lang="en-US" dirty="0"/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685800" y="76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600" dirty="0"/>
              <a:t>Shortest Path Routing </a:t>
            </a:r>
            <a:br>
              <a:rPr lang="en-US" sz="3600" dirty="0"/>
            </a:br>
            <a:r>
              <a:rPr lang="en-US" sz="3600" dirty="0"/>
              <a:t>(a non-adaptive routing algorithm)</a:t>
            </a:r>
            <a:endParaRPr lang="en-US" sz="5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04800"/>
            <a:ext cx="8077200" cy="6172200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US" sz="2800" dirty="0"/>
              <a:t>Mark the source node as </a:t>
            </a:r>
            <a:r>
              <a:rPr lang="en-US" sz="2800" b="1" dirty="0"/>
              <a:t>permanent.</a:t>
            </a:r>
          </a:p>
          <a:p>
            <a:pPr>
              <a:buFontTx/>
              <a:buNone/>
            </a:pPr>
            <a:r>
              <a:rPr lang="en-US" sz="2800" dirty="0"/>
              <a:t>Designate the source node as the </a:t>
            </a:r>
            <a:r>
              <a:rPr lang="en-US" sz="2800" b="1" dirty="0"/>
              <a:t>working node.</a:t>
            </a:r>
          </a:p>
          <a:p>
            <a:pPr>
              <a:buFontTx/>
              <a:buNone/>
            </a:pPr>
            <a:r>
              <a:rPr lang="en-US" sz="2800" dirty="0"/>
              <a:t>Set the </a:t>
            </a:r>
            <a:r>
              <a:rPr lang="en-US" sz="2800" b="1" dirty="0"/>
              <a:t>tentative </a:t>
            </a:r>
            <a:r>
              <a:rPr lang="en-US" sz="2800" dirty="0"/>
              <a:t>distance to all other nodes to </a:t>
            </a:r>
            <a:r>
              <a:rPr lang="en-US" sz="2800" b="1" dirty="0"/>
              <a:t>infinity.</a:t>
            </a:r>
            <a:r>
              <a:rPr lang="en-US" sz="2800" dirty="0"/>
              <a:t>  </a:t>
            </a:r>
          </a:p>
          <a:p>
            <a:pPr>
              <a:buFontTx/>
              <a:buNone/>
            </a:pPr>
            <a:r>
              <a:rPr lang="en-US" sz="2800" dirty="0"/>
              <a:t>While some nodes are not marked permanent</a:t>
            </a:r>
          </a:p>
          <a:p>
            <a:pPr>
              <a:buFontTx/>
              <a:buNone/>
            </a:pPr>
            <a:r>
              <a:rPr lang="en-US" sz="2800" dirty="0"/>
              <a:t>	</a:t>
            </a:r>
            <a:r>
              <a:rPr lang="en-US" sz="2800" b="1" dirty="0"/>
              <a:t>Compute</a:t>
            </a:r>
            <a:r>
              <a:rPr lang="en-US" sz="2800" dirty="0"/>
              <a:t> the tentative distance from the source to all nodes </a:t>
            </a:r>
            <a:r>
              <a:rPr lang="en-US" sz="2800" b="1" dirty="0"/>
              <a:t>adjacent</a:t>
            </a:r>
            <a:r>
              <a:rPr lang="en-US" sz="2800" dirty="0"/>
              <a:t> to the working node.  If this is shorter than the current tentative distance replace the tentative distance of the destination and record the </a:t>
            </a:r>
            <a:r>
              <a:rPr lang="en-US" sz="2800" b="1" dirty="0"/>
              <a:t>label of the working node there</a:t>
            </a:r>
            <a:r>
              <a:rPr lang="en-US" sz="2800" dirty="0"/>
              <a:t>.</a:t>
            </a:r>
          </a:p>
          <a:p>
            <a:pPr>
              <a:buFontTx/>
              <a:buNone/>
            </a:pPr>
            <a:r>
              <a:rPr lang="en-US" sz="2800" dirty="0"/>
              <a:t>		</a:t>
            </a:r>
            <a:r>
              <a:rPr lang="en-US" sz="2800" b="1" dirty="0"/>
              <a:t>Examine</a:t>
            </a:r>
            <a:r>
              <a:rPr lang="en-US" sz="2800" dirty="0"/>
              <a:t> ALL tentatively labeled nodes in the graph.  </a:t>
            </a:r>
            <a:r>
              <a:rPr lang="en-US" sz="2800" b="1" dirty="0"/>
              <a:t>Select the node with the smallest value </a:t>
            </a:r>
            <a:r>
              <a:rPr lang="en-US" sz="2800" dirty="0"/>
              <a:t>and make it the new working node.  Designate the node permanent.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685800"/>
          </a:xfrm>
        </p:spPr>
        <p:txBody>
          <a:bodyPr/>
          <a:lstStyle/>
          <a:p>
            <a:r>
              <a:rPr lang="en-US" sz="3200"/>
              <a:t>Example of Shortest Path Routing</a:t>
            </a:r>
            <a:endParaRPr lang="en-US"/>
          </a:p>
        </p:txBody>
      </p:sp>
      <p:pic>
        <p:nvPicPr>
          <p:cNvPr id="10243" name="Picture 3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914400" y="990600"/>
            <a:ext cx="7162800" cy="5715000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  <a:noFill/>
        </p:spPr>
        <p:txBody>
          <a:bodyPr/>
          <a:lstStyle/>
          <a:p>
            <a:r>
              <a:rPr lang="en-US" sz="2800"/>
              <a:t>Flooding </a:t>
            </a:r>
            <a:br>
              <a:rPr lang="en-US" sz="2800"/>
            </a:br>
            <a:r>
              <a:rPr lang="en-US" sz="2800"/>
              <a:t>(a nonadaptive routing algorithm)</a:t>
            </a:r>
            <a:endParaRPr lang="en-US"/>
          </a:p>
        </p:txBody>
      </p:sp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4724400"/>
          </a:xfrm>
        </p:spPr>
        <p:txBody>
          <a:bodyPr>
            <a:normAutofit fontScale="92500" lnSpcReduction="20000"/>
          </a:bodyPr>
          <a:lstStyle/>
          <a:p>
            <a:r>
              <a:rPr lang="en-US" sz="2800"/>
              <a:t>Brute force routing</a:t>
            </a:r>
          </a:p>
          <a:p>
            <a:pPr lvl="1"/>
            <a:r>
              <a:rPr lang="en-US" sz="2400"/>
              <a:t>Every incoming packet is sent on every outgoing line</a:t>
            </a:r>
          </a:p>
          <a:p>
            <a:pPr lvl="1"/>
            <a:r>
              <a:rPr lang="en-US" sz="2400"/>
              <a:t>Always finds the shortest path quickly</a:t>
            </a:r>
          </a:p>
          <a:p>
            <a:pPr lvl="1"/>
            <a:r>
              <a:rPr lang="en-US" sz="2400"/>
              <a:t>Also finds many long paths</a:t>
            </a:r>
          </a:p>
          <a:p>
            <a:pPr lvl="1"/>
            <a:r>
              <a:rPr lang="en-US" sz="2400"/>
              <a:t>Time to live is set to size of subnet</a:t>
            </a:r>
          </a:p>
          <a:p>
            <a:r>
              <a:rPr lang="en-US" sz="2800"/>
              <a:t>Selective Flooding</a:t>
            </a:r>
          </a:p>
          <a:p>
            <a:pPr lvl="1"/>
            <a:r>
              <a:rPr lang="en-US" sz="2400"/>
              <a:t>Flood only in the direction of the destination</a:t>
            </a:r>
          </a:p>
          <a:p>
            <a:r>
              <a:rPr lang="en-US" sz="2800"/>
              <a:t>Practical in a few settings</a:t>
            </a:r>
          </a:p>
          <a:p>
            <a:pPr lvl="1"/>
            <a:r>
              <a:rPr lang="en-US" sz="2400"/>
              <a:t>Military Applications</a:t>
            </a:r>
          </a:p>
          <a:p>
            <a:pPr lvl="1"/>
            <a:r>
              <a:rPr lang="en-US" sz="2400"/>
              <a:t>Distributed Databases</a:t>
            </a:r>
          </a:p>
          <a:p>
            <a:pPr lvl="1"/>
            <a:r>
              <a:rPr lang="en-US" sz="2400"/>
              <a:t>Metric for comparison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Distance Vector Routing </a:t>
            </a:r>
            <a:br>
              <a:rPr lang="en-US" b="1" dirty="0"/>
            </a:br>
            <a:r>
              <a:rPr lang="en-US" sz="2800" dirty="0"/>
              <a:t>(an adaptive routing algorithm)</a:t>
            </a:r>
            <a:endParaRPr 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r>
              <a:rPr lang="en-US"/>
              <a:t>Bellman-Ford Routing</a:t>
            </a:r>
          </a:p>
          <a:p>
            <a:r>
              <a:rPr lang="en-US"/>
              <a:t>Ford Fulkerson Algorithm</a:t>
            </a:r>
          </a:p>
          <a:p>
            <a:r>
              <a:rPr lang="en-US"/>
              <a:t>Original ARPANET routing algorithm</a:t>
            </a:r>
          </a:p>
          <a:p>
            <a:r>
              <a:rPr lang="en-US"/>
              <a:t>Previously used on Internet (RIP)</a:t>
            </a:r>
          </a:p>
          <a:p>
            <a:r>
              <a:rPr lang="en-US"/>
              <a:t>Early version of DecNet and Novell’s IPX</a:t>
            </a:r>
          </a:p>
          <a:p>
            <a:r>
              <a:rPr lang="en-US"/>
              <a:t>AppleTalk and Cisco routers use improved versions of this algorithm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  <a:noFill/>
        </p:spPr>
        <p:txBody>
          <a:bodyPr/>
          <a:lstStyle/>
          <a:p>
            <a:r>
              <a:rPr lang="en-US" sz="2800"/>
              <a:t>Distance Vector Routing </a:t>
            </a:r>
            <a:br>
              <a:rPr lang="en-US" sz="2800"/>
            </a:br>
            <a:r>
              <a:rPr lang="en-US" sz="2800"/>
              <a:t>(an adaptive routing algorithm)</a:t>
            </a:r>
            <a:endParaRPr lang="en-US"/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4572000"/>
          </a:xfrm>
        </p:spPr>
        <p:txBody>
          <a:bodyPr>
            <a:normAutofit/>
          </a:bodyPr>
          <a:lstStyle/>
          <a:p>
            <a:r>
              <a:rPr lang="en-US"/>
              <a:t>Neighboring routers periodically exchange information from their routing tables.</a:t>
            </a:r>
          </a:p>
          <a:p>
            <a:r>
              <a:rPr lang="en-US"/>
              <a:t>Routers replace routes in their own routing tables anytime that neighbors have found better routes.</a:t>
            </a:r>
          </a:p>
          <a:p>
            <a:r>
              <a:rPr lang="en-US"/>
              <a:t>Information provided from neighbors</a:t>
            </a:r>
          </a:p>
          <a:p>
            <a:pPr lvl="1"/>
            <a:r>
              <a:rPr lang="en-US"/>
              <a:t>Outgoing line used for destination</a:t>
            </a:r>
          </a:p>
          <a:p>
            <a:pPr lvl="1"/>
            <a:r>
              <a:rPr lang="en-US"/>
              <a:t>Estimate of time or distance</a:t>
            </a:r>
          </a:p>
          <a:p>
            <a:pPr lvl="2"/>
            <a:r>
              <a:rPr lang="en-US"/>
              <a:t>can be number of hops, time delay, packet queue length, etc.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Distance Vector Routing </a:t>
            </a:r>
            <a:br>
              <a:rPr lang="en-US" sz="2800" dirty="0"/>
            </a:br>
            <a:r>
              <a:rPr lang="en-US" sz="2800" dirty="0"/>
              <a:t>(an adaptive routing algorithm)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95400"/>
            <a:ext cx="8153400" cy="5647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Distance Vector Routing </a:t>
            </a:r>
            <a:br>
              <a:rPr lang="en-US" b="1" dirty="0"/>
            </a:br>
            <a:r>
              <a:rPr lang="en-US" sz="2800" dirty="0"/>
              <a:t>(an adaptive routing algorithm)</a:t>
            </a:r>
            <a:endParaRPr lang="en-US" dirty="0"/>
          </a:p>
        </p:txBody>
      </p:sp>
      <p:pic>
        <p:nvPicPr>
          <p:cNvPr id="17410" name="Picture 3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5800" y="914401"/>
            <a:ext cx="8458200" cy="6001326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>
            <a:normAutofit/>
          </a:bodyPr>
          <a:lstStyle/>
          <a:p>
            <a:r>
              <a:rPr lang="en-US" dirty="0"/>
              <a:t>The Count to Infinity Problem</a:t>
            </a:r>
            <a:endParaRPr lang="en-US" sz="6000" dirty="0"/>
          </a:p>
        </p:txBody>
      </p:sp>
      <p:pic>
        <p:nvPicPr>
          <p:cNvPr id="18435" name="Picture 3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42900" y="1179871"/>
            <a:ext cx="8801100" cy="5678129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  <a:noFill/>
        </p:spPr>
        <p:txBody>
          <a:bodyPr/>
          <a:lstStyle/>
          <a:p>
            <a:r>
              <a:rPr lang="en-US" sz="4000" b="1" dirty="0"/>
              <a:t>Link State Routing </a:t>
            </a:r>
            <a:br>
              <a:rPr lang="en-US" sz="2800" dirty="0"/>
            </a:br>
            <a:r>
              <a:rPr lang="en-US" sz="2800" dirty="0"/>
              <a:t>(an adaptive routing algorithm)</a:t>
            </a:r>
            <a:endParaRPr lang="en-US" dirty="0"/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772400" cy="4800600"/>
          </a:xfrm>
        </p:spPr>
        <p:txBody>
          <a:bodyPr>
            <a:normAutofit/>
          </a:bodyPr>
          <a:lstStyle/>
          <a:p>
            <a:r>
              <a:rPr lang="en-US" sz="3800" b="1" dirty="0"/>
              <a:t>Five Steps</a:t>
            </a:r>
          </a:p>
          <a:p>
            <a:pPr>
              <a:buFontTx/>
              <a:buNone/>
            </a:pPr>
            <a:r>
              <a:rPr lang="en-US" dirty="0"/>
              <a:t>1.)  Discover your neighbors and learn their addresses.</a:t>
            </a:r>
          </a:p>
          <a:p>
            <a:pPr>
              <a:buFontTx/>
              <a:buNone/>
            </a:pPr>
            <a:r>
              <a:rPr lang="en-US" dirty="0"/>
              <a:t>2.) Measure the cost (delay) to each neighbor.</a:t>
            </a:r>
          </a:p>
          <a:p>
            <a:pPr>
              <a:buFontTx/>
              <a:buNone/>
            </a:pPr>
            <a:r>
              <a:rPr lang="en-US" dirty="0"/>
              <a:t>3.) Construct a packet containing all this information</a:t>
            </a:r>
          </a:p>
          <a:p>
            <a:pPr>
              <a:buFontTx/>
              <a:buNone/>
            </a:pPr>
            <a:r>
              <a:rPr lang="en-US" dirty="0"/>
              <a:t>4.) Send this packet to all other routers.</a:t>
            </a:r>
          </a:p>
          <a:p>
            <a:pPr>
              <a:buFontTx/>
              <a:buNone/>
            </a:pPr>
            <a:r>
              <a:rPr lang="en-US" dirty="0"/>
              <a:t>5.) Compute the shortest path to every other router.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5486400"/>
            <a:ext cx="8458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Send “Hello” packet on each point-to-point line.  Destination node replies with its address.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04800" y="4495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1.) Discovering Your Neighbors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2.) Measuring Line Cost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772400" cy="4876800"/>
          </a:xfrm>
        </p:spPr>
        <p:txBody>
          <a:bodyPr/>
          <a:lstStyle/>
          <a:p>
            <a:r>
              <a:rPr lang="en-US"/>
              <a:t>Send an “ECHO” packet over the line.</a:t>
            </a:r>
          </a:p>
          <a:p>
            <a:r>
              <a:rPr lang="en-US"/>
              <a:t>Destination is required to respond to “ECHO” packet immediately.</a:t>
            </a:r>
          </a:p>
          <a:p>
            <a:r>
              <a:rPr lang="en-US"/>
              <a:t>Measure the time required for this operation.</a:t>
            </a:r>
          </a:p>
          <a:p>
            <a:r>
              <a:rPr lang="en-US"/>
              <a:t>Question: Should we measure just the time it takes to transmit the packet, or should we include  the time that the packet waits in the queue?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Argument 2: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should include the time that the packet spends in the queue, as this provides a more accurate picture of the real delays.</a:t>
            </a:r>
          </a:p>
          <a:p>
            <a:r>
              <a:rPr lang="en-US"/>
              <a:t>We should only include the transmission times, otherwise the network is likely to oscillate between preferred paths.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4775" y="1698625"/>
            <a:ext cx="6394450" cy="345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 Link State Packets</a:t>
            </a:r>
          </a:p>
        </p:txBody>
      </p:sp>
      <p:pic>
        <p:nvPicPr>
          <p:cNvPr id="266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5800" y="1066800"/>
            <a:ext cx="7772400" cy="4419600"/>
          </a:xfrm>
        </p:spPr>
      </p:pic>
      <p:sp>
        <p:nvSpPr>
          <p:cNvPr id="4" name="Rectangle 3"/>
          <p:cNvSpPr/>
          <p:nvPr/>
        </p:nvSpPr>
        <p:spPr>
          <a:xfrm>
            <a:off x="228600" y="5334000"/>
            <a:ext cx="89154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Building the link state packets is easy. </a:t>
            </a:r>
          </a:p>
          <a:p>
            <a:r>
              <a:rPr lang="en-US" sz="2800" dirty="0"/>
              <a:t>when to build? 1) periodically,</a:t>
            </a:r>
            <a:r>
              <a:rPr lang="bn-BD" sz="2800" dirty="0"/>
              <a:t> </a:t>
            </a:r>
            <a:r>
              <a:rPr lang="en-US" sz="2800" dirty="0"/>
              <a:t>and </a:t>
            </a:r>
          </a:p>
          <a:p>
            <a:r>
              <a:rPr lang="en-US" sz="2800" dirty="0"/>
              <a:t>2) when some significant event occurs,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Distributing the Link State Packets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selective flooding</a:t>
            </a:r>
          </a:p>
          <a:p>
            <a:r>
              <a:rPr lang="en-US" b="1" dirty="0"/>
              <a:t>Sequence numbers </a:t>
            </a:r>
            <a:r>
              <a:rPr lang="en-US" dirty="0"/>
              <a:t>prevent duplicate packets from being propagated</a:t>
            </a:r>
          </a:p>
          <a:p>
            <a:r>
              <a:rPr lang="en-US" dirty="0"/>
              <a:t>Lower sequence numbers are rejected as obsolete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5486400"/>
            <a:ext cx="8458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/>
              <a:t>Dijkstra’s</a:t>
            </a:r>
            <a:r>
              <a:rPr lang="en-US" sz="3200" dirty="0"/>
              <a:t> Shortest Path algorithm is used to determine the shortest path to each destination.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81000" y="4267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Computing the New Routes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networks are connected to form internet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590800"/>
            <a:ext cx="7734300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purpose</a:t>
            </a:r>
            <a:r>
              <a:rPr lang="en-US" dirty="0"/>
              <a:t> of interconnecting all these networks is to allow users on any of them </a:t>
            </a:r>
            <a:r>
              <a:rPr lang="en-US" b="1" dirty="0"/>
              <a:t>to Communicate</a:t>
            </a:r>
            <a:r>
              <a:rPr lang="en-US" dirty="0"/>
              <a:t> with users on all the other ones and also to allow users on any of them to access data on any of them.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Networks Differ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524000"/>
            <a:ext cx="8529854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Networks Can Be Connected?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Repeaters or Hubs (which layer?)</a:t>
            </a:r>
          </a:p>
          <a:p>
            <a:r>
              <a:rPr lang="en-US" dirty="0"/>
              <a:t>Bridges and Switches. (?)</a:t>
            </a:r>
          </a:p>
          <a:p>
            <a:pPr lvl="1"/>
            <a:r>
              <a:rPr lang="en-US" dirty="0"/>
              <a:t>Can translate protocol from Ethernet to </a:t>
            </a:r>
            <a:r>
              <a:rPr lang="en-US" dirty="0" err="1"/>
              <a:t>FDDI</a:t>
            </a:r>
            <a:r>
              <a:rPr lang="en-US" dirty="0"/>
              <a:t> or to 802.11. (minor protocol translation)</a:t>
            </a:r>
          </a:p>
          <a:p>
            <a:r>
              <a:rPr lang="en-US" dirty="0"/>
              <a:t>Routers (?)</a:t>
            </a:r>
          </a:p>
          <a:p>
            <a:pPr lvl="1"/>
            <a:r>
              <a:rPr lang="en-US" dirty="0"/>
              <a:t>A router that can handle multiple protocols is called a multiprotocol router.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</a:t>
            </a:r>
            <a:r>
              <a:rPr lang="en-US" dirty="0" err="1"/>
              <a:t>vs</a:t>
            </a:r>
            <a:r>
              <a:rPr lang="en-US" dirty="0"/>
              <a:t> Router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 only checks MAC address, but</a:t>
            </a:r>
          </a:p>
          <a:p>
            <a:r>
              <a:rPr lang="en-US" dirty="0"/>
              <a:t>Router checks the IP address.</a:t>
            </a: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" y="3705225"/>
            <a:ext cx="9115425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7086600" cy="3078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429000"/>
            <a:ext cx="7848600" cy="2983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6524625"/>
            <a:ext cx="65627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" y="3160141"/>
            <a:ext cx="8686800" cy="256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dirty="0"/>
              <a:t>Tunneling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685800"/>
            <a:ext cx="6800850" cy="2826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581400"/>
            <a:ext cx="9144000" cy="30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9200" y="4114800"/>
            <a:ext cx="6790714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0500" y="6096000"/>
            <a:ext cx="89535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Fragmentation.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1.  Hardware (e.g., the size of an Ethernet frame). </a:t>
            </a:r>
          </a:p>
          <a:p>
            <a:pPr>
              <a:buNone/>
            </a:pPr>
            <a:r>
              <a:rPr lang="en-US" dirty="0"/>
              <a:t>2.  Operating system (e.g., all buffers are 512 bytes). </a:t>
            </a:r>
          </a:p>
          <a:p>
            <a:pPr>
              <a:buNone/>
            </a:pPr>
            <a:r>
              <a:rPr lang="en-US" dirty="0"/>
              <a:t>3.  Protocols (e.g., the number of </a:t>
            </a:r>
            <a:r>
              <a:rPr lang="en-US" dirty="0" err="1"/>
              <a:t>bitsin</a:t>
            </a:r>
            <a:r>
              <a:rPr lang="en-US" dirty="0"/>
              <a:t> the packet length field). </a:t>
            </a:r>
          </a:p>
          <a:p>
            <a:pPr>
              <a:buNone/>
            </a:pPr>
            <a:r>
              <a:rPr lang="en-US" dirty="0"/>
              <a:t>4.  Compliance with some (inter)national standard. </a:t>
            </a:r>
          </a:p>
          <a:p>
            <a:pPr>
              <a:buNone/>
            </a:pPr>
            <a:r>
              <a:rPr lang="en-US" dirty="0"/>
              <a:t>5.  Desire to reduce error-induced retransmissions to some level. </a:t>
            </a:r>
          </a:p>
          <a:p>
            <a:pPr>
              <a:buNone/>
            </a:pPr>
            <a:r>
              <a:rPr lang="en-US" dirty="0"/>
              <a:t>6.  Desire to prevent one packet </a:t>
            </a:r>
            <a:r>
              <a:rPr lang="en-US" dirty="0" err="1"/>
              <a:t>fromoccupying</a:t>
            </a:r>
            <a:r>
              <a:rPr lang="en-US" dirty="0"/>
              <a:t> the channel too long.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IP Fragmentation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271838"/>
            <a:ext cx="8475663" cy="3278187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Every Network has Own Maximum Transmission Unit (</a:t>
            </a:r>
            <a:r>
              <a:rPr lang="en-US" sz="2400" dirty="0" err="1"/>
              <a:t>MTU</a:t>
            </a:r>
            <a:r>
              <a:rPr lang="en-US" sz="24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Largest IP datagram it can carry within its own packet frame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E.g., Ethernet is 1500 bytes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Don’t know </a:t>
            </a:r>
            <a:r>
              <a:rPr lang="en-US" sz="2000" dirty="0" err="1"/>
              <a:t>MTUs</a:t>
            </a:r>
            <a:r>
              <a:rPr lang="en-US" sz="2000" dirty="0"/>
              <a:t> of all intermediate networks in advance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/>
              <a:t>IP Solution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When hit network with small </a:t>
            </a:r>
            <a:r>
              <a:rPr lang="en-US" sz="2000" dirty="0" err="1"/>
              <a:t>MTU</a:t>
            </a:r>
            <a:r>
              <a:rPr lang="en-US" sz="2000" dirty="0"/>
              <a:t>, fragment packets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Might get further fragmentation as proceed farther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CBCAA-3B1C-4E20-97D0-3EC16254FEBF}" type="slidenum">
              <a:rPr lang="en-US"/>
              <a:pPr/>
              <a:t>39</a:t>
            </a:fld>
            <a:endParaRPr lang="en-US"/>
          </a:p>
        </p:txBody>
      </p:sp>
      <p:sp>
        <p:nvSpPr>
          <p:cNvPr id="188432" name="Oval 16"/>
          <p:cNvSpPr>
            <a:spLocks noChangeArrowheads="1"/>
          </p:cNvSpPr>
          <p:nvPr/>
        </p:nvSpPr>
        <p:spPr bwMode="auto">
          <a:xfrm>
            <a:off x="609600" y="1949450"/>
            <a:ext cx="3429000" cy="1219200"/>
          </a:xfrm>
          <a:prstGeom prst="ellipse">
            <a:avLst/>
          </a:prstGeom>
          <a:solidFill>
            <a:srgbClr val="FFFF99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8420" name="Oval 4"/>
          <p:cNvSpPr>
            <a:spLocks noChangeArrowheads="1"/>
          </p:cNvSpPr>
          <p:nvPr/>
        </p:nvSpPr>
        <p:spPr bwMode="auto">
          <a:xfrm>
            <a:off x="4419600" y="1568450"/>
            <a:ext cx="3581400" cy="1219200"/>
          </a:xfrm>
          <a:prstGeom prst="ellipse">
            <a:avLst/>
          </a:prstGeom>
          <a:solidFill>
            <a:srgbClr val="CCFF99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8422" name="Oval 6"/>
          <p:cNvSpPr>
            <a:spLocks noChangeArrowheads="1"/>
          </p:cNvSpPr>
          <p:nvPr/>
        </p:nvSpPr>
        <p:spPr bwMode="auto">
          <a:xfrm>
            <a:off x="2971800" y="1720850"/>
            <a:ext cx="2438400" cy="1219200"/>
          </a:xfrm>
          <a:prstGeom prst="ellipse">
            <a:avLst/>
          </a:prstGeom>
          <a:solidFill>
            <a:srgbClr val="66FFFF">
              <a:alpha val="50000"/>
            </a:srgbClr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8423" name="Rectangle 7"/>
          <p:cNvSpPr>
            <a:spLocks noChangeArrowheads="1"/>
          </p:cNvSpPr>
          <p:nvPr/>
        </p:nvSpPr>
        <p:spPr bwMode="auto">
          <a:xfrm>
            <a:off x="1071563" y="2482850"/>
            <a:ext cx="614362" cy="34925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1"/>
              <a:t>host</a:t>
            </a:r>
          </a:p>
        </p:txBody>
      </p:sp>
      <p:sp>
        <p:nvSpPr>
          <p:cNvPr id="188424" name="Rectangle 8"/>
          <p:cNvSpPr>
            <a:spLocks noChangeArrowheads="1"/>
          </p:cNvSpPr>
          <p:nvPr/>
        </p:nvSpPr>
        <p:spPr bwMode="auto">
          <a:xfrm>
            <a:off x="7167563" y="1949450"/>
            <a:ext cx="614362" cy="34925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1"/>
              <a:t>host</a:t>
            </a:r>
          </a:p>
        </p:txBody>
      </p:sp>
      <p:sp>
        <p:nvSpPr>
          <p:cNvPr id="188425" name="Freeform 9"/>
          <p:cNvSpPr>
            <a:spLocks/>
          </p:cNvSpPr>
          <p:nvPr/>
        </p:nvSpPr>
        <p:spPr bwMode="auto">
          <a:xfrm>
            <a:off x="1709738" y="1870075"/>
            <a:ext cx="5440362" cy="777875"/>
          </a:xfrm>
          <a:custGeom>
            <a:avLst/>
            <a:gdLst/>
            <a:ahLst/>
            <a:cxnLst>
              <a:cxn ang="0">
                <a:pos x="0" y="490"/>
              </a:cxn>
              <a:cxn ang="0">
                <a:pos x="709" y="398"/>
              </a:cxn>
              <a:cxn ang="0">
                <a:pos x="922" y="426"/>
              </a:cxn>
              <a:cxn ang="0">
                <a:pos x="1210" y="398"/>
              </a:cxn>
              <a:cxn ang="0">
                <a:pos x="1394" y="374"/>
              </a:cxn>
              <a:cxn ang="0">
                <a:pos x="1509" y="340"/>
              </a:cxn>
              <a:cxn ang="0">
                <a:pos x="1561" y="317"/>
              </a:cxn>
              <a:cxn ang="0">
                <a:pos x="1636" y="311"/>
              </a:cxn>
              <a:cxn ang="0">
                <a:pos x="1757" y="294"/>
              </a:cxn>
              <a:cxn ang="0">
                <a:pos x="1901" y="271"/>
              </a:cxn>
              <a:cxn ang="0">
                <a:pos x="1982" y="277"/>
              </a:cxn>
              <a:cxn ang="0">
                <a:pos x="2005" y="282"/>
              </a:cxn>
              <a:cxn ang="0">
                <a:pos x="1982" y="294"/>
              </a:cxn>
              <a:cxn ang="0">
                <a:pos x="2010" y="288"/>
              </a:cxn>
              <a:cxn ang="0">
                <a:pos x="2045" y="277"/>
              </a:cxn>
              <a:cxn ang="0">
                <a:pos x="2200" y="236"/>
              </a:cxn>
              <a:cxn ang="0">
                <a:pos x="2425" y="156"/>
              </a:cxn>
              <a:cxn ang="0">
                <a:pos x="2546" y="81"/>
              </a:cxn>
              <a:cxn ang="0">
                <a:pos x="2742" y="0"/>
              </a:cxn>
              <a:cxn ang="0">
                <a:pos x="2915" y="17"/>
              </a:cxn>
              <a:cxn ang="0">
                <a:pos x="3007" y="35"/>
              </a:cxn>
              <a:cxn ang="0">
                <a:pos x="3139" y="92"/>
              </a:cxn>
              <a:cxn ang="0">
                <a:pos x="3301" y="115"/>
              </a:cxn>
              <a:cxn ang="0">
                <a:pos x="3427" y="138"/>
              </a:cxn>
            </a:cxnLst>
            <a:rect l="0" t="0" r="r" b="b"/>
            <a:pathLst>
              <a:path w="3427" h="490">
                <a:moveTo>
                  <a:pt x="0" y="490"/>
                </a:moveTo>
                <a:cubicBezTo>
                  <a:pt x="240" y="470"/>
                  <a:pt x="472" y="437"/>
                  <a:pt x="709" y="398"/>
                </a:cubicBezTo>
                <a:cubicBezTo>
                  <a:pt x="949" y="405"/>
                  <a:pt x="808" y="394"/>
                  <a:pt x="922" y="426"/>
                </a:cubicBezTo>
                <a:cubicBezTo>
                  <a:pt x="1019" y="420"/>
                  <a:pt x="1112" y="404"/>
                  <a:pt x="1210" y="398"/>
                </a:cubicBezTo>
                <a:cubicBezTo>
                  <a:pt x="1272" y="391"/>
                  <a:pt x="1332" y="382"/>
                  <a:pt x="1394" y="374"/>
                </a:cubicBezTo>
                <a:cubicBezTo>
                  <a:pt x="1431" y="362"/>
                  <a:pt x="1472" y="354"/>
                  <a:pt x="1509" y="340"/>
                </a:cubicBezTo>
                <a:cubicBezTo>
                  <a:pt x="1530" y="332"/>
                  <a:pt x="1537" y="321"/>
                  <a:pt x="1561" y="317"/>
                </a:cubicBezTo>
                <a:cubicBezTo>
                  <a:pt x="1586" y="313"/>
                  <a:pt x="1611" y="313"/>
                  <a:pt x="1636" y="311"/>
                </a:cubicBezTo>
                <a:cubicBezTo>
                  <a:pt x="1676" y="303"/>
                  <a:pt x="1717" y="299"/>
                  <a:pt x="1757" y="294"/>
                </a:cubicBezTo>
                <a:cubicBezTo>
                  <a:pt x="1804" y="278"/>
                  <a:pt x="1852" y="277"/>
                  <a:pt x="1901" y="271"/>
                </a:cubicBezTo>
                <a:cubicBezTo>
                  <a:pt x="1928" y="273"/>
                  <a:pt x="1955" y="274"/>
                  <a:pt x="1982" y="277"/>
                </a:cubicBezTo>
                <a:cubicBezTo>
                  <a:pt x="1990" y="278"/>
                  <a:pt x="2005" y="274"/>
                  <a:pt x="2005" y="282"/>
                </a:cubicBezTo>
                <a:cubicBezTo>
                  <a:pt x="2005" y="291"/>
                  <a:pt x="1976" y="287"/>
                  <a:pt x="1982" y="294"/>
                </a:cubicBezTo>
                <a:cubicBezTo>
                  <a:pt x="1988" y="301"/>
                  <a:pt x="2001" y="290"/>
                  <a:pt x="2010" y="288"/>
                </a:cubicBezTo>
                <a:cubicBezTo>
                  <a:pt x="2022" y="285"/>
                  <a:pt x="2033" y="280"/>
                  <a:pt x="2045" y="277"/>
                </a:cubicBezTo>
                <a:cubicBezTo>
                  <a:pt x="2099" y="261"/>
                  <a:pt x="2141" y="247"/>
                  <a:pt x="2200" y="236"/>
                </a:cubicBezTo>
                <a:cubicBezTo>
                  <a:pt x="2271" y="194"/>
                  <a:pt x="2349" y="186"/>
                  <a:pt x="2425" y="156"/>
                </a:cubicBezTo>
                <a:cubicBezTo>
                  <a:pt x="2470" y="138"/>
                  <a:pt x="2504" y="103"/>
                  <a:pt x="2546" y="81"/>
                </a:cubicBezTo>
                <a:cubicBezTo>
                  <a:pt x="2607" y="50"/>
                  <a:pt x="2674" y="10"/>
                  <a:pt x="2742" y="0"/>
                </a:cubicBezTo>
                <a:cubicBezTo>
                  <a:pt x="2809" y="4"/>
                  <a:pt x="2853" y="9"/>
                  <a:pt x="2915" y="17"/>
                </a:cubicBezTo>
                <a:cubicBezTo>
                  <a:pt x="2945" y="25"/>
                  <a:pt x="2976" y="29"/>
                  <a:pt x="3007" y="35"/>
                </a:cubicBezTo>
                <a:cubicBezTo>
                  <a:pt x="3050" y="56"/>
                  <a:pt x="3092" y="80"/>
                  <a:pt x="3139" y="92"/>
                </a:cubicBezTo>
                <a:cubicBezTo>
                  <a:pt x="3192" y="105"/>
                  <a:pt x="3248" y="103"/>
                  <a:pt x="3301" y="115"/>
                </a:cubicBezTo>
                <a:cubicBezTo>
                  <a:pt x="3344" y="125"/>
                  <a:pt x="3383" y="138"/>
                  <a:pt x="3427" y="13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88426" name="AutoShape 10"/>
          <p:cNvSpPr>
            <a:spLocks noChangeArrowheads="1"/>
          </p:cNvSpPr>
          <p:nvPr/>
        </p:nvSpPr>
        <p:spPr bwMode="auto">
          <a:xfrm>
            <a:off x="3200400" y="2330450"/>
            <a:ext cx="609600" cy="381000"/>
          </a:xfrm>
          <a:prstGeom prst="roundRect">
            <a:avLst>
              <a:gd name="adj" fmla="val 16667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400" b="1"/>
              <a:t>router</a:t>
            </a:r>
          </a:p>
        </p:txBody>
      </p:sp>
      <p:sp>
        <p:nvSpPr>
          <p:cNvPr id="188427" name="AutoShape 11"/>
          <p:cNvSpPr>
            <a:spLocks noChangeArrowheads="1"/>
          </p:cNvSpPr>
          <p:nvPr/>
        </p:nvSpPr>
        <p:spPr bwMode="auto">
          <a:xfrm>
            <a:off x="4648200" y="2101850"/>
            <a:ext cx="609600" cy="381000"/>
          </a:xfrm>
          <a:prstGeom prst="roundRect">
            <a:avLst>
              <a:gd name="adj" fmla="val 16667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400" b="1"/>
              <a:t>router</a:t>
            </a:r>
          </a:p>
        </p:txBody>
      </p:sp>
      <p:sp>
        <p:nvSpPr>
          <p:cNvPr id="188428" name="Text Box 12"/>
          <p:cNvSpPr txBox="1">
            <a:spLocks noChangeArrowheads="1"/>
          </p:cNvSpPr>
          <p:nvPr/>
        </p:nvSpPr>
        <p:spPr bwMode="auto">
          <a:xfrm>
            <a:off x="1828800" y="2790825"/>
            <a:ext cx="145097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600" b="1">
                <a:solidFill>
                  <a:srgbClr val="CC0000"/>
                </a:solidFill>
              </a:rPr>
              <a:t>MTU = 4000</a:t>
            </a:r>
          </a:p>
        </p:txBody>
      </p:sp>
      <p:sp>
        <p:nvSpPr>
          <p:cNvPr id="188429" name="Text Box 13"/>
          <p:cNvSpPr txBox="1">
            <a:spLocks noChangeArrowheads="1"/>
          </p:cNvSpPr>
          <p:nvPr/>
        </p:nvSpPr>
        <p:spPr bwMode="auto">
          <a:xfrm>
            <a:off x="5715000" y="2333625"/>
            <a:ext cx="145097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600" b="1">
                <a:solidFill>
                  <a:srgbClr val="CC0000"/>
                </a:solidFill>
              </a:rPr>
              <a:t>MTU = 1500</a:t>
            </a:r>
          </a:p>
        </p:txBody>
      </p:sp>
      <p:sp>
        <p:nvSpPr>
          <p:cNvPr id="188430" name="Text Box 14"/>
          <p:cNvSpPr txBox="1">
            <a:spLocks noChangeArrowheads="1"/>
          </p:cNvSpPr>
          <p:nvPr/>
        </p:nvSpPr>
        <p:spPr bwMode="auto">
          <a:xfrm>
            <a:off x="3459163" y="1720850"/>
            <a:ext cx="1195387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1400" b="1">
                <a:solidFill>
                  <a:srgbClr val="CC0000"/>
                </a:solidFill>
              </a:rPr>
              <a:t>MTU = 2000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Fragmentation Related Fields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</a:pPr>
            <a:r>
              <a:rPr lang="en-US" sz="2800"/>
              <a:t>Length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Length of IP fragment</a:t>
            </a:r>
          </a:p>
          <a:p>
            <a:pPr lvl="3">
              <a:lnSpc>
                <a:spcPct val="80000"/>
              </a:lnSpc>
            </a:pPr>
            <a:endParaRPr lang="en-US" sz="1800"/>
          </a:p>
          <a:p>
            <a:pPr>
              <a:lnSpc>
                <a:spcPct val="80000"/>
              </a:lnSpc>
            </a:pPr>
            <a:r>
              <a:rPr lang="en-US" sz="2800"/>
              <a:t>Identification 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To match up with other fragments</a:t>
            </a:r>
          </a:p>
          <a:p>
            <a:pPr lvl="4">
              <a:lnSpc>
                <a:spcPct val="80000"/>
              </a:lnSpc>
            </a:pPr>
            <a:endParaRPr lang="en-US" sz="1800"/>
          </a:p>
          <a:p>
            <a:pPr>
              <a:lnSpc>
                <a:spcPct val="80000"/>
              </a:lnSpc>
            </a:pPr>
            <a:r>
              <a:rPr lang="en-US" sz="2800"/>
              <a:t>Fragment offset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Where this fragment lies in entire IP datagram</a:t>
            </a:r>
          </a:p>
          <a:p>
            <a:pPr lvl="2">
              <a:lnSpc>
                <a:spcPct val="80000"/>
              </a:lnSpc>
            </a:pPr>
            <a:endParaRPr lang="en-US" sz="2000"/>
          </a:p>
          <a:p>
            <a:pPr>
              <a:lnSpc>
                <a:spcPct val="80000"/>
              </a:lnSpc>
            </a:pPr>
            <a:r>
              <a:rPr lang="en-US" sz="2800"/>
              <a:t>Flags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“More fragments” flag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“Don’t fragment” flag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582E8-9EFF-4855-817B-791B3BCBA635}" type="slidenum">
              <a:rPr lang="en-US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Fragmentation Related Fields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</a:pPr>
            <a:r>
              <a:rPr lang="en-US" sz="2800"/>
              <a:t>Length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Length of IP fragment</a:t>
            </a:r>
          </a:p>
          <a:p>
            <a:pPr lvl="3">
              <a:lnSpc>
                <a:spcPct val="80000"/>
              </a:lnSpc>
            </a:pPr>
            <a:endParaRPr lang="en-US" sz="1800"/>
          </a:p>
          <a:p>
            <a:pPr>
              <a:lnSpc>
                <a:spcPct val="80000"/>
              </a:lnSpc>
            </a:pPr>
            <a:r>
              <a:rPr lang="en-US" sz="2800"/>
              <a:t>Identification 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To match up with other fragments</a:t>
            </a:r>
          </a:p>
          <a:p>
            <a:pPr lvl="4">
              <a:lnSpc>
                <a:spcPct val="80000"/>
              </a:lnSpc>
            </a:pPr>
            <a:endParaRPr lang="en-US" sz="1800"/>
          </a:p>
          <a:p>
            <a:pPr>
              <a:lnSpc>
                <a:spcPct val="80000"/>
              </a:lnSpc>
            </a:pPr>
            <a:r>
              <a:rPr lang="en-US" sz="2800"/>
              <a:t>Fragment offset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Where this fragment lies in entire IP datagram</a:t>
            </a:r>
          </a:p>
          <a:p>
            <a:pPr lvl="2">
              <a:lnSpc>
                <a:spcPct val="80000"/>
              </a:lnSpc>
            </a:pPr>
            <a:endParaRPr lang="en-US" sz="2000"/>
          </a:p>
          <a:p>
            <a:pPr>
              <a:lnSpc>
                <a:spcPct val="80000"/>
              </a:lnSpc>
            </a:pPr>
            <a:r>
              <a:rPr lang="en-US" sz="2800"/>
              <a:t>Flags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“More fragments” flag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“Don’t fragment” flag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582E8-9EFF-4855-817B-791B3BCBA635}" type="slidenum">
              <a:rPr lang="en-US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IP Fragmentation Example #1</a:t>
            </a:r>
          </a:p>
        </p:txBody>
      </p:sp>
      <p:sp>
        <p:nvSpPr>
          <p:cNvPr id="1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F302-2913-4611-AFFA-46FFE6301025}" type="slidenum">
              <a:rPr lang="en-US"/>
              <a:pPr/>
              <a:t>42</a:t>
            </a:fld>
            <a:endParaRPr lang="en-US"/>
          </a:p>
        </p:txBody>
      </p:sp>
      <p:sp>
        <p:nvSpPr>
          <p:cNvPr id="189443" name="Oval 3"/>
          <p:cNvSpPr>
            <a:spLocks noChangeArrowheads="1"/>
          </p:cNvSpPr>
          <p:nvPr/>
        </p:nvSpPr>
        <p:spPr bwMode="auto">
          <a:xfrm>
            <a:off x="838200" y="1555750"/>
            <a:ext cx="3124200" cy="1295400"/>
          </a:xfrm>
          <a:prstGeom prst="ellipse">
            <a:avLst/>
          </a:prstGeom>
          <a:solidFill>
            <a:srgbClr val="FFFF99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/>
          </a:p>
        </p:txBody>
      </p:sp>
      <p:sp>
        <p:nvSpPr>
          <p:cNvPr id="189444" name="Rectangle 4"/>
          <p:cNvSpPr>
            <a:spLocks noChangeArrowheads="1"/>
          </p:cNvSpPr>
          <p:nvPr/>
        </p:nvSpPr>
        <p:spPr bwMode="auto">
          <a:xfrm>
            <a:off x="1071563" y="2057400"/>
            <a:ext cx="614362" cy="34925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1"/>
              <a:t>host</a:t>
            </a:r>
          </a:p>
        </p:txBody>
      </p:sp>
      <p:sp>
        <p:nvSpPr>
          <p:cNvPr id="189445" name="AutoShape 5"/>
          <p:cNvSpPr>
            <a:spLocks noChangeArrowheads="1"/>
          </p:cNvSpPr>
          <p:nvPr/>
        </p:nvSpPr>
        <p:spPr bwMode="auto">
          <a:xfrm>
            <a:off x="3200400" y="1905000"/>
            <a:ext cx="609600" cy="381000"/>
          </a:xfrm>
          <a:prstGeom prst="roundRect">
            <a:avLst>
              <a:gd name="adj" fmla="val 16667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400" b="1"/>
              <a:t>router</a:t>
            </a:r>
          </a:p>
        </p:txBody>
      </p:sp>
      <p:sp>
        <p:nvSpPr>
          <p:cNvPr id="189446" name="Text Box 6"/>
          <p:cNvSpPr txBox="1">
            <a:spLocks noChangeArrowheads="1"/>
          </p:cNvSpPr>
          <p:nvPr/>
        </p:nvSpPr>
        <p:spPr bwMode="auto">
          <a:xfrm>
            <a:off x="1828800" y="2365375"/>
            <a:ext cx="145097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600" b="1">
                <a:solidFill>
                  <a:srgbClr val="CC0000"/>
                </a:solidFill>
              </a:rPr>
              <a:t>MTU = 4000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828800" y="3432175"/>
            <a:ext cx="3581400" cy="1063625"/>
            <a:chOff x="3312" y="2498"/>
            <a:chExt cx="2256" cy="670"/>
          </a:xfrm>
        </p:grpSpPr>
        <p:sp>
          <p:nvSpPr>
            <p:cNvPr id="189448" name="Rectangle 8"/>
            <p:cNvSpPr>
              <a:spLocks noChangeArrowheads="1"/>
            </p:cNvSpPr>
            <p:nvPr/>
          </p:nvSpPr>
          <p:spPr bwMode="auto">
            <a:xfrm>
              <a:off x="3312" y="2688"/>
              <a:ext cx="528" cy="48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/>
                <a:t>IP</a:t>
              </a:r>
            </a:p>
            <a:p>
              <a:pPr algn="ctr" eaLnBrk="0" hangingPunct="0"/>
              <a:r>
                <a:rPr lang="en-US" sz="1400"/>
                <a:t>Header</a:t>
              </a:r>
            </a:p>
          </p:txBody>
        </p:sp>
        <p:sp>
          <p:nvSpPr>
            <p:cNvPr id="189449" name="Rectangle 9"/>
            <p:cNvSpPr>
              <a:spLocks noChangeArrowheads="1"/>
            </p:cNvSpPr>
            <p:nvPr/>
          </p:nvSpPr>
          <p:spPr bwMode="auto">
            <a:xfrm flipH="1">
              <a:off x="3840" y="2688"/>
              <a:ext cx="1728" cy="48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 b="1">
                  <a:solidFill>
                    <a:srgbClr val="CCFFCC"/>
                  </a:solidFill>
                </a:rPr>
                <a:t>IP</a:t>
              </a:r>
            </a:p>
            <a:p>
              <a:pPr algn="ctr" eaLnBrk="0" hangingPunct="0"/>
              <a:r>
                <a:rPr lang="en-US" sz="1400" b="1">
                  <a:solidFill>
                    <a:srgbClr val="CCFFCC"/>
                  </a:solidFill>
                </a:rPr>
                <a:t>Data</a:t>
              </a:r>
            </a:p>
          </p:txBody>
        </p:sp>
        <p:sp>
          <p:nvSpPr>
            <p:cNvPr id="189450" name="Text Box 10"/>
            <p:cNvSpPr txBox="1">
              <a:spLocks noChangeArrowheads="1"/>
            </p:cNvSpPr>
            <p:nvPr/>
          </p:nvSpPr>
          <p:spPr bwMode="auto">
            <a:xfrm>
              <a:off x="3312" y="2498"/>
              <a:ext cx="124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 b="1"/>
                <a:t>Length = 3820, M=0</a:t>
              </a:r>
            </a:p>
          </p:txBody>
        </p:sp>
      </p:grpSp>
      <p:sp>
        <p:nvSpPr>
          <p:cNvPr id="189451" name="Line 11"/>
          <p:cNvSpPr>
            <a:spLocks noChangeShapeType="1"/>
          </p:cNvSpPr>
          <p:nvPr/>
        </p:nvSpPr>
        <p:spPr bwMode="auto">
          <a:xfrm flipV="1">
            <a:off x="1676400" y="2057400"/>
            <a:ext cx="15240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Fragmentation Example #2</a:t>
            </a:r>
          </a:p>
        </p:txBody>
      </p:sp>
      <p:sp>
        <p:nvSpPr>
          <p:cNvPr id="3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1C9B6-58BA-4A79-8D34-6129E42717E8}" type="slidenum">
              <a:rPr lang="en-US"/>
              <a:pPr/>
              <a:t>43</a:t>
            </a:fld>
            <a:endParaRPr lang="en-US"/>
          </a:p>
        </p:txBody>
      </p:sp>
      <p:sp>
        <p:nvSpPr>
          <p:cNvPr id="190467" name="Oval 3"/>
          <p:cNvSpPr>
            <a:spLocks noChangeArrowheads="1"/>
          </p:cNvSpPr>
          <p:nvPr/>
        </p:nvSpPr>
        <p:spPr bwMode="auto">
          <a:xfrm>
            <a:off x="3276600" y="1600200"/>
            <a:ext cx="2438400" cy="1219200"/>
          </a:xfrm>
          <a:prstGeom prst="ellipse">
            <a:avLst/>
          </a:prstGeom>
          <a:solidFill>
            <a:srgbClr val="66FFFF">
              <a:alpha val="50000"/>
            </a:srgbClr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0468" name="AutoShape 4"/>
          <p:cNvSpPr>
            <a:spLocks noChangeArrowheads="1"/>
          </p:cNvSpPr>
          <p:nvPr/>
        </p:nvSpPr>
        <p:spPr bwMode="auto">
          <a:xfrm>
            <a:off x="3505200" y="2209800"/>
            <a:ext cx="609600" cy="381000"/>
          </a:xfrm>
          <a:prstGeom prst="roundRect">
            <a:avLst>
              <a:gd name="adj" fmla="val 16667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400" b="1"/>
              <a:t>router</a:t>
            </a:r>
          </a:p>
        </p:txBody>
      </p:sp>
      <p:sp>
        <p:nvSpPr>
          <p:cNvPr id="190469" name="AutoShape 5"/>
          <p:cNvSpPr>
            <a:spLocks noChangeArrowheads="1"/>
          </p:cNvSpPr>
          <p:nvPr/>
        </p:nvSpPr>
        <p:spPr bwMode="auto">
          <a:xfrm>
            <a:off x="4953000" y="1981200"/>
            <a:ext cx="609600" cy="381000"/>
          </a:xfrm>
          <a:prstGeom prst="roundRect">
            <a:avLst>
              <a:gd name="adj" fmla="val 16667"/>
            </a:avLst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400" b="1"/>
              <a:t>router</a:t>
            </a:r>
          </a:p>
        </p:txBody>
      </p:sp>
      <p:sp>
        <p:nvSpPr>
          <p:cNvPr id="190470" name="Text Box 6"/>
          <p:cNvSpPr txBox="1">
            <a:spLocks noChangeArrowheads="1"/>
          </p:cNvSpPr>
          <p:nvPr/>
        </p:nvSpPr>
        <p:spPr bwMode="auto">
          <a:xfrm>
            <a:off x="3776663" y="1628775"/>
            <a:ext cx="1081087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1400" b="1">
                <a:solidFill>
                  <a:srgbClr val="CC0000"/>
                </a:solidFill>
              </a:rPr>
              <a:t>MTU = 2000</a:t>
            </a:r>
          </a:p>
        </p:txBody>
      </p:sp>
      <p:sp>
        <p:nvSpPr>
          <p:cNvPr id="190471" name="Line 7"/>
          <p:cNvSpPr>
            <a:spLocks noChangeShapeType="1"/>
          </p:cNvSpPr>
          <p:nvPr/>
        </p:nvSpPr>
        <p:spPr bwMode="auto">
          <a:xfrm flipV="1">
            <a:off x="4114800" y="2133600"/>
            <a:ext cx="838200" cy="228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85800" y="2822575"/>
            <a:ext cx="3581400" cy="1676400"/>
            <a:chOff x="432" y="1538"/>
            <a:chExt cx="2256" cy="1056"/>
          </a:xfrm>
        </p:grpSpPr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432" y="1538"/>
              <a:ext cx="2256" cy="670"/>
              <a:chOff x="3312" y="2498"/>
              <a:chExt cx="2256" cy="670"/>
            </a:xfrm>
          </p:grpSpPr>
          <p:sp>
            <p:nvSpPr>
              <p:cNvPr id="190474" name="Rectangle 10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528" cy="480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/>
                <a:r>
                  <a:rPr lang="en-US" sz="1400"/>
                  <a:t>IP</a:t>
                </a:r>
              </a:p>
              <a:p>
                <a:pPr algn="ctr" eaLnBrk="0" hangingPunct="0"/>
                <a:r>
                  <a:rPr lang="en-US" sz="1400"/>
                  <a:t>Header</a:t>
                </a:r>
              </a:p>
            </p:txBody>
          </p:sp>
          <p:sp>
            <p:nvSpPr>
              <p:cNvPr id="190475" name="Rectangle 11"/>
              <p:cNvSpPr>
                <a:spLocks noChangeArrowheads="1"/>
              </p:cNvSpPr>
              <p:nvPr/>
            </p:nvSpPr>
            <p:spPr bwMode="auto">
              <a:xfrm flipH="1">
                <a:off x="3840" y="2688"/>
                <a:ext cx="1728" cy="480"/>
              </a:xfrm>
              <a:prstGeom prst="rect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/>
                <a:r>
                  <a:rPr lang="en-US" sz="1400">
                    <a:solidFill>
                      <a:srgbClr val="CCFFCC"/>
                    </a:solidFill>
                  </a:rPr>
                  <a:t>IP</a:t>
                </a:r>
              </a:p>
              <a:p>
                <a:pPr algn="ctr" eaLnBrk="0" hangingPunct="0"/>
                <a:r>
                  <a:rPr lang="en-US" sz="1400">
                    <a:solidFill>
                      <a:srgbClr val="CCFFCC"/>
                    </a:solidFill>
                  </a:rPr>
                  <a:t>Data</a:t>
                </a:r>
              </a:p>
            </p:txBody>
          </p:sp>
          <p:sp>
            <p:nvSpPr>
              <p:cNvPr id="190476" name="Text Box 12"/>
              <p:cNvSpPr txBox="1">
                <a:spLocks noChangeArrowheads="1"/>
              </p:cNvSpPr>
              <p:nvPr/>
            </p:nvSpPr>
            <p:spPr bwMode="auto">
              <a:xfrm>
                <a:off x="3312" y="2498"/>
                <a:ext cx="1248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 b="1"/>
                  <a:t>Length = 3820, M=0</a:t>
                </a:r>
              </a:p>
            </p:txBody>
          </p:sp>
        </p:grpSp>
        <p:sp>
          <p:nvSpPr>
            <p:cNvPr id="190477" name="AutoShape 13"/>
            <p:cNvSpPr>
              <a:spLocks/>
            </p:cNvSpPr>
            <p:nvPr/>
          </p:nvSpPr>
          <p:spPr bwMode="auto">
            <a:xfrm rot="-5400000">
              <a:off x="1728" y="1488"/>
              <a:ext cx="144" cy="1680"/>
            </a:xfrm>
            <a:prstGeom prst="leftBrace">
              <a:avLst>
                <a:gd name="adj1" fmla="val 97222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0478" name="Text Box 14"/>
            <p:cNvSpPr txBox="1">
              <a:spLocks noChangeArrowheads="1"/>
            </p:cNvSpPr>
            <p:nvPr/>
          </p:nvSpPr>
          <p:spPr bwMode="auto">
            <a:xfrm>
              <a:off x="1440" y="2402"/>
              <a:ext cx="7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 b="1"/>
                <a:t>3800 bytes</a:t>
              </a: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4267200" y="2593975"/>
            <a:ext cx="4625975" cy="1676400"/>
            <a:chOff x="2496" y="1442"/>
            <a:chExt cx="2914" cy="1056"/>
          </a:xfrm>
        </p:grpSpPr>
        <p:sp>
          <p:nvSpPr>
            <p:cNvPr id="190480" name="Line 16"/>
            <p:cNvSpPr>
              <a:spLocks noChangeShapeType="1"/>
            </p:cNvSpPr>
            <p:nvPr/>
          </p:nvSpPr>
          <p:spPr bwMode="auto">
            <a:xfrm flipV="1">
              <a:off x="2496" y="1920"/>
              <a:ext cx="912" cy="96"/>
            </a:xfrm>
            <a:prstGeom prst="line">
              <a:avLst/>
            </a:prstGeom>
            <a:noFill/>
            <a:ln w="28575" cap="rnd">
              <a:solidFill>
                <a:srgbClr val="008000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3456" y="1442"/>
              <a:ext cx="1954" cy="1056"/>
              <a:chOff x="2016" y="2498"/>
              <a:chExt cx="1954" cy="1056"/>
            </a:xfrm>
          </p:grpSpPr>
          <p:sp>
            <p:nvSpPr>
              <p:cNvPr id="190482" name="Rectangle 18"/>
              <p:cNvSpPr>
                <a:spLocks noChangeArrowheads="1"/>
              </p:cNvSpPr>
              <p:nvPr/>
            </p:nvSpPr>
            <p:spPr bwMode="auto">
              <a:xfrm>
                <a:off x="2016" y="2688"/>
                <a:ext cx="528" cy="480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/>
                <a:r>
                  <a:rPr lang="en-US" sz="1400"/>
                  <a:t>IP</a:t>
                </a:r>
              </a:p>
              <a:p>
                <a:pPr algn="ctr" eaLnBrk="0" hangingPunct="0"/>
                <a:r>
                  <a:rPr lang="en-US" sz="1400"/>
                  <a:t>Header</a:t>
                </a:r>
              </a:p>
            </p:txBody>
          </p:sp>
          <p:sp>
            <p:nvSpPr>
              <p:cNvPr id="190483" name="Rectangle 19"/>
              <p:cNvSpPr>
                <a:spLocks noChangeArrowheads="1"/>
              </p:cNvSpPr>
              <p:nvPr/>
            </p:nvSpPr>
            <p:spPr bwMode="auto">
              <a:xfrm flipH="1">
                <a:off x="2544" y="2688"/>
                <a:ext cx="1008" cy="480"/>
              </a:xfrm>
              <a:prstGeom prst="rect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/>
                <a:r>
                  <a:rPr lang="en-US" sz="1400">
                    <a:solidFill>
                      <a:srgbClr val="CCFFCC"/>
                    </a:solidFill>
                  </a:rPr>
                  <a:t>IP</a:t>
                </a:r>
              </a:p>
              <a:p>
                <a:pPr algn="ctr" eaLnBrk="0" hangingPunct="0"/>
                <a:r>
                  <a:rPr lang="en-US" sz="1400">
                    <a:solidFill>
                      <a:srgbClr val="CCFFCC"/>
                    </a:solidFill>
                  </a:rPr>
                  <a:t>Data</a:t>
                </a:r>
              </a:p>
            </p:txBody>
          </p:sp>
          <p:sp>
            <p:nvSpPr>
              <p:cNvPr id="190484" name="Text Box 20"/>
              <p:cNvSpPr txBox="1">
                <a:spLocks noChangeArrowheads="1"/>
              </p:cNvSpPr>
              <p:nvPr/>
            </p:nvSpPr>
            <p:spPr bwMode="auto">
              <a:xfrm>
                <a:off x="2016" y="2498"/>
                <a:ext cx="1954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 b="1"/>
                  <a:t>Length = 2000, M=1, Offset = 0</a:t>
                </a:r>
              </a:p>
            </p:txBody>
          </p:sp>
          <p:sp>
            <p:nvSpPr>
              <p:cNvPr id="190485" name="AutoShape 21"/>
              <p:cNvSpPr>
                <a:spLocks/>
              </p:cNvSpPr>
              <p:nvPr/>
            </p:nvSpPr>
            <p:spPr bwMode="auto">
              <a:xfrm rot="-5400000">
                <a:off x="2976" y="2784"/>
                <a:ext cx="144" cy="1008"/>
              </a:xfrm>
              <a:prstGeom prst="leftBrace">
                <a:avLst>
                  <a:gd name="adj1" fmla="val 58333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0486" name="Text Box 22"/>
              <p:cNvSpPr txBox="1">
                <a:spLocks noChangeArrowheads="1"/>
              </p:cNvSpPr>
              <p:nvPr/>
            </p:nvSpPr>
            <p:spPr bwMode="auto">
              <a:xfrm>
                <a:off x="2723" y="3362"/>
                <a:ext cx="736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 b="1"/>
                  <a:t>1980 bytes</a:t>
                </a:r>
              </a:p>
            </p:txBody>
          </p:sp>
        </p:grp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4343400" y="3733800"/>
            <a:ext cx="4721225" cy="2517775"/>
            <a:chOff x="2544" y="2160"/>
            <a:chExt cx="2974" cy="1586"/>
          </a:xfrm>
        </p:grpSpPr>
        <p:grpSp>
          <p:nvGrpSpPr>
            <p:cNvPr id="7" name="Group 24"/>
            <p:cNvGrpSpPr>
              <a:grpSpLocks/>
            </p:cNvGrpSpPr>
            <p:nvPr/>
          </p:nvGrpSpPr>
          <p:grpSpPr bwMode="auto">
            <a:xfrm>
              <a:off x="3360" y="2642"/>
              <a:ext cx="2158" cy="1104"/>
              <a:chOff x="4224" y="2834"/>
              <a:chExt cx="2158" cy="1104"/>
            </a:xfrm>
          </p:grpSpPr>
          <p:grpSp>
            <p:nvGrpSpPr>
              <p:cNvPr id="8" name="Group 25"/>
              <p:cNvGrpSpPr>
                <a:grpSpLocks/>
              </p:cNvGrpSpPr>
              <p:nvPr/>
            </p:nvGrpSpPr>
            <p:grpSpPr bwMode="auto">
              <a:xfrm>
                <a:off x="4224" y="3072"/>
                <a:ext cx="1440" cy="480"/>
                <a:chOff x="4224" y="3072"/>
                <a:chExt cx="1440" cy="480"/>
              </a:xfrm>
            </p:grpSpPr>
            <p:sp>
              <p:nvSpPr>
                <p:cNvPr id="190490" name="Rectangle 26"/>
                <p:cNvSpPr>
                  <a:spLocks noChangeArrowheads="1"/>
                </p:cNvSpPr>
                <p:nvPr/>
              </p:nvSpPr>
              <p:spPr bwMode="auto">
                <a:xfrm flipH="1">
                  <a:off x="4752" y="3072"/>
                  <a:ext cx="912" cy="480"/>
                </a:xfrm>
                <a:prstGeom prst="rect">
                  <a:avLst/>
                </a:prstGeom>
                <a:solidFill>
                  <a:schemeClr val="folHlink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/>
                  <a:r>
                    <a:rPr lang="en-US" sz="1400">
                      <a:solidFill>
                        <a:srgbClr val="CCFFCC"/>
                      </a:solidFill>
                    </a:rPr>
                    <a:t>IP</a:t>
                  </a:r>
                </a:p>
                <a:p>
                  <a:pPr algn="ctr" eaLnBrk="0" hangingPunct="0"/>
                  <a:r>
                    <a:rPr lang="en-US" sz="1400">
                      <a:solidFill>
                        <a:srgbClr val="CCFFCC"/>
                      </a:solidFill>
                    </a:rPr>
                    <a:t>Data</a:t>
                  </a:r>
                </a:p>
              </p:txBody>
            </p:sp>
            <p:sp>
              <p:nvSpPr>
                <p:cNvPr id="190491" name="Rectangle 27"/>
                <p:cNvSpPr>
                  <a:spLocks noChangeArrowheads="1"/>
                </p:cNvSpPr>
                <p:nvPr/>
              </p:nvSpPr>
              <p:spPr bwMode="auto">
                <a:xfrm>
                  <a:off x="4224" y="3072"/>
                  <a:ext cx="528" cy="480"/>
                </a:xfrm>
                <a:prstGeom prst="rect">
                  <a:avLst/>
                </a:prstGeom>
                <a:solidFill>
                  <a:srgbClr val="FFFF99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/>
                  <a:r>
                    <a:rPr lang="en-US" sz="1400"/>
                    <a:t>IP</a:t>
                  </a:r>
                </a:p>
                <a:p>
                  <a:pPr algn="ctr" eaLnBrk="0" hangingPunct="0"/>
                  <a:r>
                    <a:rPr lang="en-US" sz="1400"/>
                    <a:t>Header</a:t>
                  </a:r>
                </a:p>
              </p:txBody>
            </p:sp>
          </p:grpSp>
          <p:sp>
            <p:nvSpPr>
              <p:cNvPr id="190492" name="Text Box 28"/>
              <p:cNvSpPr txBox="1">
                <a:spLocks noChangeArrowheads="1"/>
              </p:cNvSpPr>
              <p:nvPr/>
            </p:nvSpPr>
            <p:spPr bwMode="auto">
              <a:xfrm>
                <a:off x="4224" y="2834"/>
                <a:ext cx="2158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 b="1"/>
                  <a:t>Length = 1840, M=0, Offset = 1980</a:t>
                </a:r>
              </a:p>
            </p:txBody>
          </p:sp>
          <p:sp>
            <p:nvSpPr>
              <p:cNvPr id="190493" name="AutoShape 29"/>
              <p:cNvSpPr>
                <a:spLocks/>
              </p:cNvSpPr>
              <p:nvPr/>
            </p:nvSpPr>
            <p:spPr bwMode="auto">
              <a:xfrm rot="-5400000">
                <a:off x="5136" y="3216"/>
                <a:ext cx="144" cy="912"/>
              </a:xfrm>
              <a:prstGeom prst="leftBrace">
                <a:avLst>
                  <a:gd name="adj1" fmla="val 52778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0494" name="Text Box 30"/>
              <p:cNvSpPr txBox="1">
                <a:spLocks noChangeArrowheads="1"/>
              </p:cNvSpPr>
              <p:nvPr/>
            </p:nvSpPr>
            <p:spPr bwMode="auto">
              <a:xfrm>
                <a:off x="4848" y="3746"/>
                <a:ext cx="736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 b="1"/>
                  <a:t>1820 bytes</a:t>
                </a:r>
              </a:p>
            </p:txBody>
          </p:sp>
        </p:grpSp>
        <p:sp>
          <p:nvSpPr>
            <p:cNvPr id="190495" name="Line 31"/>
            <p:cNvSpPr>
              <a:spLocks noChangeShapeType="1"/>
            </p:cNvSpPr>
            <p:nvPr/>
          </p:nvSpPr>
          <p:spPr bwMode="auto">
            <a:xfrm>
              <a:off x="2544" y="2160"/>
              <a:ext cx="768" cy="912"/>
            </a:xfrm>
            <a:prstGeom prst="line">
              <a:avLst/>
            </a:prstGeom>
            <a:noFill/>
            <a:ln w="28575" cap="rnd">
              <a:solidFill>
                <a:srgbClr val="008000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653143" y="5561045"/>
            <a:ext cx="24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Header= 20 bytes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IP Fragmentation Example #3</a:t>
            </a:r>
          </a:p>
        </p:txBody>
      </p:sp>
      <p:sp>
        <p:nvSpPr>
          <p:cNvPr id="5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2517D-99DC-4CA3-A34F-97691B3C3C61}" type="slidenum">
              <a:rPr lang="en-US"/>
              <a:pPr/>
              <a:t>44</a:t>
            </a:fld>
            <a:endParaRPr 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03238" y="2922588"/>
            <a:ext cx="2693987" cy="1652587"/>
            <a:chOff x="2016" y="2513"/>
            <a:chExt cx="1697" cy="1041"/>
          </a:xfrm>
        </p:grpSpPr>
        <p:sp>
          <p:nvSpPr>
            <p:cNvPr id="191492" name="Rectangle 4"/>
            <p:cNvSpPr>
              <a:spLocks noChangeArrowheads="1"/>
            </p:cNvSpPr>
            <p:nvPr/>
          </p:nvSpPr>
          <p:spPr bwMode="auto">
            <a:xfrm>
              <a:off x="2016" y="2688"/>
              <a:ext cx="528" cy="48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/>
                <a:t>IP</a:t>
              </a:r>
            </a:p>
            <a:p>
              <a:pPr algn="ctr" eaLnBrk="0" hangingPunct="0"/>
              <a:r>
                <a:rPr lang="en-US" sz="1400"/>
                <a:t>Header</a:t>
              </a:r>
            </a:p>
          </p:txBody>
        </p:sp>
        <p:sp>
          <p:nvSpPr>
            <p:cNvPr id="191493" name="Rectangle 5"/>
            <p:cNvSpPr>
              <a:spLocks noChangeArrowheads="1"/>
            </p:cNvSpPr>
            <p:nvPr/>
          </p:nvSpPr>
          <p:spPr bwMode="auto">
            <a:xfrm flipH="1">
              <a:off x="2544" y="2688"/>
              <a:ext cx="1008" cy="48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>
                  <a:solidFill>
                    <a:srgbClr val="CCFFCC"/>
                  </a:solidFill>
                </a:rPr>
                <a:t>IP</a:t>
              </a:r>
            </a:p>
            <a:p>
              <a:pPr algn="ctr" eaLnBrk="0" hangingPunct="0"/>
              <a:r>
                <a:rPr lang="en-US" sz="1400">
                  <a:solidFill>
                    <a:srgbClr val="CCFFCC"/>
                  </a:solidFill>
                </a:rPr>
                <a:t>Data</a:t>
              </a:r>
            </a:p>
          </p:txBody>
        </p:sp>
        <p:sp>
          <p:nvSpPr>
            <p:cNvPr id="191494" name="Text Box 6"/>
            <p:cNvSpPr txBox="1">
              <a:spLocks noChangeArrowheads="1"/>
            </p:cNvSpPr>
            <p:nvPr/>
          </p:nvSpPr>
          <p:spPr bwMode="auto">
            <a:xfrm>
              <a:off x="2016" y="2513"/>
              <a:ext cx="1697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200" b="1"/>
                <a:t>Length = 2000, M=1, Offset = 0</a:t>
              </a:r>
            </a:p>
          </p:txBody>
        </p:sp>
        <p:sp>
          <p:nvSpPr>
            <p:cNvPr id="191495" name="AutoShape 7"/>
            <p:cNvSpPr>
              <a:spLocks/>
            </p:cNvSpPr>
            <p:nvPr/>
          </p:nvSpPr>
          <p:spPr bwMode="auto">
            <a:xfrm rot="-5400000">
              <a:off x="2976" y="2784"/>
              <a:ext cx="144" cy="1008"/>
            </a:xfrm>
            <a:prstGeom prst="leftBrace">
              <a:avLst>
                <a:gd name="adj1" fmla="val 58333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1496" name="Text Box 8"/>
            <p:cNvSpPr txBox="1">
              <a:spLocks noChangeArrowheads="1"/>
            </p:cNvSpPr>
            <p:nvPr/>
          </p:nvSpPr>
          <p:spPr bwMode="auto">
            <a:xfrm>
              <a:off x="2723" y="3362"/>
              <a:ext cx="7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 b="1"/>
                <a:t>1980 bytes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65113" y="4827588"/>
            <a:ext cx="2974975" cy="1728787"/>
            <a:chOff x="4224" y="2849"/>
            <a:chExt cx="1874" cy="1089"/>
          </a:xfrm>
        </p:grpSpPr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4224" y="3072"/>
              <a:ext cx="1440" cy="480"/>
              <a:chOff x="4224" y="3072"/>
              <a:chExt cx="1440" cy="480"/>
            </a:xfrm>
          </p:grpSpPr>
          <p:sp>
            <p:nvSpPr>
              <p:cNvPr id="191499" name="Rectangle 11"/>
              <p:cNvSpPr>
                <a:spLocks noChangeArrowheads="1"/>
              </p:cNvSpPr>
              <p:nvPr/>
            </p:nvSpPr>
            <p:spPr bwMode="auto">
              <a:xfrm flipH="1">
                <a:off x="4752" y="3072"/>
                <a:ext cx="912" cy="480"/>
              </a:xfrm>
              <a:prstGeom prst="rect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/>
                <a:r>
                  <a:rPr lang="en-US" sz="1400">
                    <a:solidFill>
                      <a:srgbClr val="CCFFCC"/>
                    </a:solidFill>
                  </a:rPr>
                  <a:t>IP</a:t>
                </a:r>
              </a:p>
              <a:p>
                <a:pPr algn="ctr" eaLnBrk="0" hangingPunct="0"/>
                <a:r>
                  <a:rPr lang="en-US" sz="1400">
                    <a:solidFill>
                      <a:srgbClr val="CCFFCC"/>
                    </a:solidFill>
                  </a:rPr>
                  <a:t>Data</a:t>
                </a:r>
              </a:p>
            </p:txBody>
          </p:sp>
          <p:sp>
            <p:nvSpPr>
              <p:cNvPr id="191500" name="Rectangle 12"/>
              <p:cNvSpPr>
                <a:spLocks noChangeArrowheads="1"/>
              </p:cNvSpPr>
              <p:nvPr/>
            </p:nvSpPr>
            <p:spPr bwMode="auto">
              <a:xfrm>
                <a:off x="4224" y="3072"/>
                <a:ext cx="528" cy="480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/>
                <a:r>
                  <a:rPr lang="en-US" sz="1400"/>
                  <a:t>IP</a:t>
                </a:r>
              </a:p>
              <a:p>
                <a:pPr algn="ctr" eaLnBrk="0" hangingPunct="0"/>
                <a:r>
                  <a:rPr lang="en-US" sz="1400"/>
                  <a:t>Header</a:t>
                </a:r>
              </a:p>
            </p:txBody>
          </p:sp>
        </p:grpSp>
        <p:sp>
          <p:nvSpPr>
            <p:cNvPr id="191501" name="Text Box 13"/>
            <p:cNvSpPr txBox="1">
              <a:spLocks noChangeArrowheads="1"/>
            </p:cNvSpPr>
            <p:nvPr/>
          </p:nvSpPr>
          <p:spPr bwMode="auto">
            <a:xfrm>
              <a:off x="4224" y="2849"/>
              <a:ext cx="1874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200" b="1"/>
                <a:t>Length = 1840, M=0, Offset = 1980</a:t>
              </a:r>
            </a:p>
          </p:txBody>
        </p:sp>
        <p:sp>
          <p:nvSpPr>
            <p:cNvPr id="191502" name="AutoShape 14"/>
            <p:cNvSpPr>
              <a:spLocks/>
            </p:cNvSpPr>
            <p:nvPr/>
          </p:nvSpPr>
          <p:spPr bwMode="auto">
            <a:xfrm rot="-5400000">
              <a:off x="5136" y="3216"/>
              <a:ext cx="144" cy="912"/>
            </a:xfrm>
            <a:prstGeom prst="leftBrace">
              <a:avLst>
                <a:gd name="adj1" fmla="val 52778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1503" name="Text Box 15"/>
            <p:cNvSpPr txBox="1">
              <a:spLocks noChangeArrowheads="1"/>
            </p:cNvSpPr>
            <p:nvPr/>
          </p:nvSpPr>
          <p:spPr bwMode="auto">
            <a:xfrm>
              <a:off x="4848" y="3746"/>
              <a:ext cx="736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 b="1"/>
                <a:t>1820 bytes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1036638" y="1524000"/>
            <a:ext cx="3581400" cy="1219200"/>
            <a:chOff x="2784" y="672"/>
            <a:chExt cx="2256" cy="768"/>
          </a:xfrm>
        </p:grpSpPr>
        <p:sp>
          <p:nvSpPr>
            <p:cNvPr id="191505" name="Oval 17"/>
            <p:cNvSpPr>
              <a:spLocks noChangeArrowheads="1"/>
            </p:cNvSpPr>
            <p:nvPr/>
          </p:nvSpPr>
          <p:spPr bwMode="auto">
            <a:xfrm>
              <a:off x="2784" y="672"/>
              <a:ext cx="2256" cy="768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1506" name="Rectangle 18"/>
            <p:cNvSpPr>
              <a:spLocks noChangeArrowheads="1"/>
            </p:cNvSpPr>
            <p:nvPr/>
          </p:nvSpPr>
          <p:spPr bwMode="auto">
            <a:xfrm>
              <a:off x="4515" y="912"/>
              <a:ext cx="387" cy="22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1"/>
                <a:t>host</a:t>
              </a:r>
            </a:p>
          </p:txBody>
        </p:sp>
        <p:sp>
          <p:nvSpPr>
            <p:cNvPr id="191507" name="AutoShape 19"/>
            <p:cNvSpPr>
              <a:spLocks noChangeArrowheads="1"/>
            </p:cNvSpPr>
            <p:nvPr/>
          </p:nvSpPr>
          <p:spPr bwMode="auto">
            <a:xfrm>
              <a:off x="2928" y="1008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FF99CC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400" b="1"/>
                <a:t>router</a:t>
              </a:r>
            </a:p>
          </p:txBody>
        </p:sp>
        <p:sp>
          <p:nvSpPr>
            <p:cNvPr id="191508" name="Text Box 20"/>
            <p:cNvSpPr txBox="1">
              <a:spLocks noChangeArrowheads="1"/>
            </p:cNvSpPr>
            <p:nvPr/>
          </p:nvSpPr>
          <p:spPr bwMode="auto">
            <a:xfrm>
              <a:off x="3600" y="1154"/>
              <a:ext cx="914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600" b="1">
                  <a:solidFill>
                    <a:srgbClr val="CC0000"/>
                  </a:solidFill>
                </a:rPr>
                <a:t>MTU = 1500</a:t>
              </a:r>
            </a:p>
          </p:txBody>
        </p:sp>
        <p:sp>
          <p:nvSpPr>
            <p:cNvPr id="191509" name="Line 21"/>
            <p:cNvSpPr>
              <a:spLocks noChangeShapeType="1"/>
            </p:cNvSpPr>
            <p:nvPr/>
          </p:nvSpPr>
          <p:spPr bwMode="auto">
            <a:xfrm flipV="1">
              <a:off x="3312" y="1056"/>
              <a:ext cx="1200" cy="4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2986088" y="1627188"/>
            <a:ext cx="4598987" cy="2030412"/>
            <a:chOff x="1824" y="641"/>
            <a:chExt cx="2897" cy="1279"/>
          </a:xfrm>
        </p:grpSpPr>
        <p:sp>
          <p:nvSpPr>
            <p:cNvPr id="191511" name="Line 23"/>
            <p:cNvSpPr>
              <a:spLocks noChangeShapeType="1"/>
            </p:cNvSpPr>
            <p:nvPr/>
          </p:nvSpPr>
          <p:spPr bwMode="auto">
            <a:xfrm flipV="1">
              <a:off x="1824" y="1152"/>
              <a:ext cx="1200" cy="768"/>
            </a:xfrm>
            <a:prstGeom prst="line">
              <a:avLst/>
            </a:prstGeom>
            <a:noFill/>
            <a:ln w="28575" cap="rnd">
              <a:solidFill>
                <a:srgbClr val="008000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7" name="Group 24"/>
            <p:cNvGrpSpPr>
              <a:grpSpLocks/>
            </p:cNvGrpSpPr>
            <p:nvPr/>
          </p:nvGrpSpPr>
          <p:grpSpPr bwMode="auto">
            <a:xfrm>
              <a:off x="3024" y="641"/>
              <a:ext cx="1697" cy="1041"/>
              <a:chOff x="3216" y="1121"/>
              <a:chExt cx="1697" cy="1041"/>
            </a:xfrm>
          </p:grpSpPr>
          <p:sp>
            <p:nvSpPr>
              <p:cNvPr id="191513" name="Rectangle 25"/>
              <p:cNvSpPr>
                <a:spLocks noChangeArrowheads="1"/>
              </p:cNvSpPr>
              <p:nvPr/>
            </p:nvSpPr>
            <p:spPr bwMode="auto">
              <a:xfrm>
                <a:off x="3216" y="1296"/>
                <a:ext cx="528" cy="480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/>
                <a:r>
                  <a:rPr lang="en-US" sz="1400"/>
                  <a:t>IP</a:t>
                </a:r>
              </a:p>
              <a:p>
                <a:pPr algn="ctr" eaLnBrk="0" hangingPunct="0"/>
                <a:r>
                  <a:rPr lang="en-US" sz="1400"/>
                  <a:t>Header</a:t>
                </a:r>
              </a:p>
            </p:txBody>
          </p:sp>
          <p:sp>
            <p:nvSpPr>
              <p:cNvPr id="191514" name="Rectangle 26"/>
              <p:cNvSpPr>
                <a:spLocks noChangeArrowheads="1"/>
              </p:cNvSpPr>
              <p:nvPr/>
            </p:nvSpPr>
            <p:spPr bwMode="auto">
              <a:xfrm flipH="1">
                <a:off x="3744" y="1296"/>
                <a:ext cx="528" cy="480"/>
              </a:xfrm>
              <a:prstGeom prst="rect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/>
                <a:r>
                  <a:rPr lang="en-US" sz="1400">
                    <a:solidFill>
                      <a:srgbClr val="CCFFCC"/>
                    </a:solidFill>
                  </a:rPr>
                  <a:t>IP</a:t>
                </a:r>
              </a:p>
              <a:p>
                <a:pPr algn="ctr" eaLnBrk="0" hangingPunct="0"/>
                <a:r>
                  <a:rPr lang="en-US" sz="1400">
                    <a:solidFill>
                      <a:srgbClr val="CCFFCC"/>
                    </a:solidFill>
                  </a:rPr>
                  <a:t>Data</a:t>
                </a:r>
              </a:p>
            </p:txBody>
          </p:sp>
          <p:sp>
            <p:nvSpPr>
              <p:cNvPr id="191515" name="Text Box 27"/>
              <p:cNvSpPr txBox="1">
                <a:spLocks noChangeArrowheads="1"/>
              </p:cNvSpPr>
              <p:nvPr/>
            </p:nvSpPr>
            <p:spPr bwMode="auto">
              <a:xfrm>
                <a:off x="3216" y="1121"/>
                <a:ext cx="1697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200" b="1"/>
                  <a:t>Length = 1500, M=1, Offset = 0</a:t>
                </a:r>
              </a:p>
            </p:txBody>
          </p:sp>
          <p:sp>
            <p:nvSpPr>
              <p:cNvPr id="191516" name="AutoShape 28"/>
              <p:cNvSpPr>
                <a:spLocks/>
              </p:cNvSpPr>
              <p:nvPr/>
            </p:nvSpPr>
            <p:spPr bwMode="auto">
              <a:xfrm rot="-5400000">
                <a:off x="3936" y="1632"/>
                <a:ext cx="144" cy="528"/>
              </a:xfrm>
              <a:prstGeom prst="leftBrace">
                <a:avLst>
                  <a:gd name="adj1" fmla="val 3055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1517" name="Text Box 29"/>
              <p:cNvSpPr txBox="1">
                <a:spLocks noChangeArrowheads="1"/>
              </p:cNvSpPr>
              <p:nvPr/>
            </p:nvSpPr>
            <p:spPr bwMode="auto">
              <a:xfrm>
                <a:off x="3683" y="1970"/>
                <a:ext cx="736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 b="1"/>
                  <a:t>1480 bytes</a:t>
                </a:r>
              </a:p>
            </p:txBody>
          </p:sp>
        </p:grpSp>
      </p:grpSp>
      <p:sp>
        <p:nvSpPr>
          <p:cNvPr id="191519" name="Line 31"/>
          <p:cNvSpPr>
            <a:spLocks noChangeShapeType="1"/>
          </p:cNvSpPr>
          <p:nvPr/>
        </p:nvSpPr>
        <p:spPr bwMode="auto">
          <a:xfrm>
            <a:off x="2786063" y="3886200"/>
            <a:ext cx="3276600" cy="76200"/>
          </a:xfrm>
          <a:prstGeom prst="line">
            <a:avLst/>
          </a:prstGeom>
          <a:noFill/>
          <a:ln w="28575" cap="rnd">
            <a:solidFill>
              <a:srgbClr val="008000"/>
            </a:solidFill>
            <a:prstDash val="sysDot"/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6062663" y="3303588"/>
            <a:ext cx="2881312" cy="1652587"/>
            <a:chOff x="3888" y="1697"/>
            <a:chExt cx="1815" cy="1041"/>
          </a:xfrm>
        </p:grpSpPr>
        <p:sp>
          <p:nvSpPr>
            <p:cNvPr id="191521" name="Rectangle 33"/>
            <p:cNvSpPr>
              <a:spLocks noChangeArrowheads="1"/>
            </p:cNvSpPr>
            <p:nvPr/>
          </p:nvSpPr>
          <p:spPr bwMode="auto">
            <a:xfrm>
              <a:off x="3888" y="1872"/>
              <a:ext cx="528" cy="48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/>
                <a:t>IP</a:t>
              </a:r>
            </a:p>
            <a:p>
              <a:pPr algn="ctr" eaLnBrk="0" hangingPunct="0"/>
              <a:r>
                <a:rPr lang="en-US" sz="1400"/>
                <a:t>Header</a:t>
              </a:r>
            </a:p>
          </p:txBody>
        </p:sp>
        <p:sp>
          <p:nvSpPr>
            <p:cNvPr id="191522" name="Rectangle 34"/>
            <p:cNvSpPr>
              <a:spLocks noChangeArrowheads="1"/>
            </p:cNvSpPr>
            <p:nvPr/>
          </p:nvSpPr>
          <p:spPr bwMode="auto">
            <a:xfrm flipH="1">
              <a:off x="4416" y="1872"/>
              <a:ext cx="384" cy="48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>
                  <a:solidFill>
                    <a:srgbClr val="CCFFCC"/>
                  </a:solidFill>
                </a:rPr>
                <a:t>IP</a:t>
              </a:r>
            </a:p>
            <a:p>
              <a:pPr algn="ctr" eaLnBrk="0" hangingPunct="0"/>
              <a:r>
                <a:rPr lang="en-US" sz="1400">
                  <a:solidFill>
                    <a:srgbClr val="CCFFCC"/>
                  </a:solidFill>
                </a:rPr>
                <a:t>Data</a:t>
              </a:r>
            </a:p>
          </p:txBody>
        </p:sp>
        <p:sp>
          <p:nvSpPr>
            <p:cNvPr id="191523" name="Text Box 35"/>
            <p:cNvSpPr txBox="1">
              <a:spLocks noChangeArrowheads="1"/>
            </p:cNvSpPr>
            <p:nvPr/>
          </p:nvSpPr>
          <p:spPr bwMode="auto">
            <a:xfrm>
              <a:off x="3888" y="1697"/>
              <a:ext cx="1815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200" b="1"/>
                <a:t>Length = 520, M=1, Offset = 1480</a:t>
              </a:r>
            </a:p>
          </p:txBody>
        </p:sp>
        <p:sp>
          <p:nvSpPr>
            <p:cNvPr id="191524" name="AutoShape 36"/>
            <p:cNvSpPr>
              <a:spLocks/>
            </p:cNvSpPr>
            <p:nvPr/>
          </p:nvSpPr>
          <p:spPr bwMode="auto">
            <a:xfrm rot="-5400000">
              <a:off x="4536" y="2280"/>
              <a:ext cx="144" cy="384"/>
            </a:xfrm>
            <a:prstGeom prst="leftBrace">
              <a:avLst>
                <a:gd name="adj1" fmla="val 22222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1525" name="Text Box 37"/>
            <p:cNvSpPr txBox="1">
              <a:spLocks noChangeArrowheads="1"/>
            </p:cNvSpPr>
            <p:nvPr/>
          </p:nvSpPr>
          <p:spPr bwMode="auto">
            <a:xfrm>
              <a:off x="4355" y="2546"/>
              <a:ext cx="66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 b="1"/>
                <a:t>500 bytes</a:t>
              </a:r>
            </a:p>
          </p:txBody>
        </p:sp>
      </p:grpSp>
      <p:grpSp>
        <p:nvGrpSpPr>
          <p:cNvPr id="9" name="Group 38"/>
          <p:cNvGrpSpPr>
            <a:grpSpLocks/>
          </p:cNvGrpSpPr>
          <p:nvPr/>
        </p:nvGrpSpPr>
        <p:grpSpPr bwMode="auto">
          <a:xfrm>
            <a:off x="2613025" y="4384675"/>
            <a:ext cx="3736975" cy="1652588"/>
            <a:chOff x="1680" y="2513"/>
            <a:chExt cx="2354" cy="1041"/>
          </a:xfrm>
        </p:grpSpPr>
        <p:grpSp>
          <p:nvGrpSpPr>
            <p:cNvPr id="10" name="Group 39"/>
            <p:cNvGrpSpPr>
              <a:grpSpLocks/>
            </p:cNvGrpSpPr>
            <p:nvPr/>
          </p:nvGrpSpPr>
          <p:grpSpPr bwMode="auto">
            <a:xfrm>
              <a:off x="2160" y="2513"/>
              <a:ext cx="1874" cy="1041"/>
              <a:chOff x="3216" y="1121"/>
              <a:chExt cx="1874" cy="1041"/>
            </a:xfrm>
          </p:grpSpPr>
          <p:sp>
            <p:nvSpPr>
              <p:cNvPr id="191528" name="Rectangle 40"/>
              <p:cNvSpPr>
                <a:spLocks noChangeArrowheads="1"/>
              </p:cNvSpPr>
              <p:nvPr/>
            </p:nvSpPr>
            <p:spPr bwMode="auto">
              <a:xfrm>
                <a:off x="3216" y="1296"/>
                <a:ext cx="528" cy="480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/>
                <a:r>
                  <a:rPr lang="en-US" sz="1400"/>
                  <a:t>IP</a:t>
                </a:r>
              </a:p>
              <a:p>
                <a:pPr algn="ctr" eaLnBrk="0" hangingPunct="0"/>
                <a:r>
                  <a:rPr lang="en-US" sz="1400"/>
                  <a:t>Header</a:t>
                </a:r>
              </a:p>
            </p:txBody>
          </p:sp>
          <p:sp>
            <p:nvSpPr>
              <p:cNvPr id="191529" name="Rectangle 41"/>
              <p:cNvSpPr>
                <a:spLocks noChangeArrowheads="1"/>
              </p:cNvSpPr>
              <p:nvPr/>
            </p:nvSpPr>
            <p:spPr bwMode="auto">
              <a:xfrm flipH="1">
                <a:off x="3744" y="1296"/>
                <a:ext cx="528" cy="480"/>
              </a:xfrm>
              <a:prstGeom prst="rect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/>
                <a:r>
                  <a:rPr lang="en-US" sz="1400">
                    <a:solidFill>
                      <a:srgbClr val="CCFFCC"/>
                    </a:solidFill>
                  </a:rPr>
                  <a:t>IP</a:t>
                </a:r>
              </a:p>
              <a:p>
                <a:pPr algn="ctr" eaLnBrk="0" hangingPunct="0"/>
                <a:r>
                  <a:rPr lang="en-US" sz="1400">
                    <a:solidFill>
                      <a:srgbClr val="CCFFCC"/>
                    </a:solidFill>
                  </a:rPr>
                  <a:t>Data</a:t>
                </a:r>
              </a:p>
            </p:txBody>
          </p:sp>
          <p:sp>
            <p:nvSpPr>
              <p:cNvPr id="191530" name="Text Box 42"/>
              <p:cNvSpPr txBox="1">
                <a:spLocks noChangeArrowheads="1"/>
              </p:cNvSpPr>
              <p:nvPr/>
            </p:nvSpPr>
            <p:spPr bwMode="auto">
              <a:xfrm>
                <a:off x="3216" y="1121"/>
                <a:ext cx="1874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200" b="1"/>
                  <a:t>Length = 1500, M=1, Offset = 1980</a:t>
                </a:r>
              </a:p>
            </p:txBody>
          </p:sp>
          <p:sp>
            <p:nvSpPr>
              <p:cNvPr id="191531" name="AutoShape 43"/>
              <p:cNvSpPr>
                <a:spLocks/>
              </p:cNvSpPr>
              <p:nvPr/>
            </p:nvSpPr>
            <p:spPr bwMode="auto">
              <a:xfrm rot="-5400000">
                <a:off x="3936" y="1632"/>
                <a:ext cx="144" cy="528"/>
              </a:xfrm>
              <a:prstGeom prst="leftBrace">
                <a:avLst>
                  <a:gd name="adj1" fmla="val 3055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1532" name="Text Box 44"/>
              <p:cNvSpPr txBox="1">
                <a:spLocks noChangeArrowheads="1"/>
              </p:cNvSpPr>
              <p:nvPr/>
            </p:nvSpPr>
            <p:spPr bwMode="auto">
              <a:xfrm>
                <a:off x="3683" y="1970"/>
                <a:ext cx="736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 b="1"/>
                  <a:t>1480 bytes</a:t>
                </a:r>
              </a:p>
            </p:txBody>
          </p:sp>
        </p:grpSp>
        <p:sp>
          <p:nvSpPr>
            <p:cNvPr id="191533" name="Line 45"/>
            <p:cNvSpPr>
              <a:spLocks noChangeShapeType="1"/>
            </p:cNvSpPr>
            <p:nvPr/>
          </p:nvSpPr>
          <p:spPr bwMode="auto">
            <a:xfrm flipV="1">
              <a:off x="1680" y="2928"/>
              <a:ext cx="480" cy="240"/>
            </a:xfrm>
            <a:prstGeom prst="line">
              <a:avLst/>
            </a:prstGeom>
            <a:noFill/>
            <a:ln w="28575" cap="rnd">
              <a:solidFill>
                <a:srgbClr val="008000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11" name="Group 46"/>
          <p:cNvGrpSpPr>
            <a:grpSpLocks/>
          </p:cNvGrpSpPr>
          <p:nvPr/>
        </p:nvGrpSpPr>
        <p:grpSpPr bwMode="auto">
          <a:xfrm>
            <a:off x="2614613" y="5170488"/>
            <a:ext cx="6213475" cy="1676400"/>
            <a:chOff x="1680" y="3074"/>
            <a:chExt cx="3914" cy="1056"/>
          </a:xfrm>
        </p:grpSpPr>
        <p:grpSp>
          <p:nvGrpSpPr>
            <p:cNvPr id="12" name="Group 47"/>
            <p:cNvGrpSpPr>
              <a:grpSpLocks/>
            </p:cNvGrpSpPr>
            <p:nvPr/>
          </p:nvGrpSpPr>
          <p:grpSpPr bwMode="auto">
            <a:xfrm>
              <a:off x="3504" y="3074"/>
              <a:ext cx="2090" cy="1056"/>
              <a:chOff x="3888" y="1682"/>
              <a:chExt cx="2090" cy="1056"/>
            </a:xfrm>
          </p:grpSpPr>
          <p:sp>
            <p:nvSpPr>
              <p:cNvPr id="191536" name="Rectangle 48"/>
              <p:cNvSpPr>
                <a:spLocks noChangeArrowheads="1"/>
              </p:cNvSpPr>
              <p:nvPr/>
            </p:nvSpPr>
            <p:spPr bwMode="auto">
              <a:xfrm>
                <a:off x="3888" y="1872"/>
                <a:ext cx="528" cy="480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/>
                <a:r>
                  <a:rPr lang="en-US" sz="1400"/>
                  <a:t>IP</a:t>
                </a:r>
              </a:p>
              <a:p>
                <a:pPr algn="ctr" eaLnBrk="0" hangingPunct="0"/>
                <a:r>
                  <a:rPr lang="en-US" sz="1400"/>
                  <a:t>Header</a:t>
                </a:r>
              </a:p>
            </p:txBody>
          </p:sp>
          <p:sp>
            <p:nvSpPr>
              <p:cNvPr id="191537" name="Rectangle 49"/>
              <p:cNvSpPr>
                <a:spLocks noChangeArrowheads="1"/>
              </p:cNvSpPr>
              <p:nvPr/>
            </p:nvSpPr>
            <p:spPr bwMode="auto">
              <a:xfrm flipH="1">
                <a:off x="4416" y="1872"/>
                <a:ext cx="384" cy="480"/>
              </a:xfrm>
              <a:prstGeom prst="rect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/>
                <a:r>
                  <a:rPr lang="en-US" sz="1400">
                    <a:solidFill>
                      <a:srgbClr val="CCFFCC"/>
                    </a:solidFill>
                  </a:rPr>
                  <a:t>IP</a:t>
                </a:r>
              </a:p>
              <a:p>
                <a:pPr algn="ctr" eaLnBrk="0" hangingPunct="0"/>
                <a:r>
                  <a:rPr lang="en-US" sz="1400">
                    <a:solidFill>
                      <a:srgbClr val="CCFFCC"/>
                    </a:solidFill>
                  </a:rPr>
                  <a:t>Data</a:t>
                </a:r>
              </a:p>
            </p:txBody>
          </p:sp>
          <p:sp>
            <p:nvSpPr>
              <p:cNvPr id="191538" name="Text Box 50"/>
              <p:cNvSpPr txBox="1">
                <a:spLocks noChangeArrowheads="1"/>
              </p:cNvSpPr>
              <p:nvPr/>
            </p:nvSpPr>
            <p:spPr bwMode="auto">
              <a:xfrm>
                <a:off x="3888" y="1682"/>
                <a:ext cx="2090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 b="1"/>
                  <a:t>Length = 360, M=0, Offset = 3460</a:t>
                </a:r>
              </a:p>
            </p:txBody>
          </p:sp>
          <p:sp>
            <p:nvSpPr>
              <p:cNvPr id="191539" name="AutoShape 51"/>
              <p:cNvSpPr>
                <a:spLocks/>
              </p:cNvSpPr>
              <p:nvPr/>
            </p:nvSpPr>
            <p:spPr bwMode="auto">
              <a:xfrm rot="-5400000">
                <a:off x="4536" y="2280"/>
                <a:ext cx="144" cy="384"/>
              </a:xfrm>
              <a:prstGeom prst="leftBrace">
                <a:avLst>
                  <a:gd name="adj1" fmla="val 22222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91540" name="Text Box 52"/>
              <p:cNvSpPr txBox="1">
                <a:spLocks noChangeArrowheads="1"/>
              </p:cNvSpPr>
              <p:nvPr/>
            </p:nvSpPr>
            <p:spPr bwMode="auto">
              <a:xfrm>
                <a:off x="4355" y="2546"/>
                <a:ext cx="668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 b="1"/>
                  <a:t>340 bytes</a:t>
                </a:r>
              </a:p>
            </p:txBody>
          </p:sp>
        </p:grpSp>
        <p:sp>
          <p:nvSpPr>
            <p:cNvPr id="191541" name="Line 53"/>
            <p:cNvSpPr>
              <a:spLocks noChangeShapeType="1"/>
            </p:cNvSpPr>
            <p:nvPr/>
          </p:nvSpPr>
          <p:spPr bwMode="auto">
            <a:xfrm>
              <a:off x="1680" y="3408"/>
              <a:ext cx="1776" cy="240"/>
            </a:xfrm>
            <a:prstGeom prst="line">
              <a:avLst/>
            </a:prstGeom>
            <a:noFill/>
            <a:ln w="28575" cap="rnd">
              <a:solidFill>
                <a:srgbClr val="008000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IP Reassembly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idx="1"/>
          </p:nvPr>
        </p:nvSpPr>
        <p:spPr>
          <a:xfrm>
            <a:off x="3616325" y="1370013"/>
            <a:ext cx="5053013" cy="4570412"/>
          </a:xfrm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/>
              <a:t>Fragments might arrive out-of-order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Don’t know how much memory required until receive final fragment</a:t>
            </a:r>
          </a:p>
          <a:p>
            <a:pPr lvl="1">
              <a:lnSpc>
                <a:spcPct val="80000"/>
              </a:lnSpc>
            </a:pPr>
            <a:endParaRPr lang="en-US" sz="1800"/>
          </a:p>
          <a:p>
            <a:pPr lvl="1">
              <a:lnSpc>
                <a:spcPct val="80000"/>
              </a:lnSpc>
            </a:pPr>
            <a:endParaRPr lang="en-US" sz="1800"/>
          </a:p>
          <a:p>
            <a:pPr>
              <a:lnSpc>
                <a:spcPct val="80000"/>
              </a:lnSpc>
            </a:pPr>
            <a:r>
              <a:rPr lang="en-US" sz="2000"/>
              <a:t>Some fragments may never arrive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After a while, give up entire process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D4800-B98F-4C34-A212-5D02FF5AD8A8}" type="slidenum">
              <a:rPr lang="en-US"/>
              <a:pPr/>
              <a:t>45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85800" y="1703388"/>
            <a:ext cx="2693988" cy="1039812"/>
            <a:chOff x="480" y="689"/>
            <a:chExt cx="1697" cy="655"/>
          </a:xfrm>
        </p:grpSpPr>
        <p:sp>
          <p:nvSpPr>
            <p:cNvPr id="192517" name="Rectangle 5"/>
            <p:cNvSpPr>
              <a:spLocks noChangeArrowheads="1"/>
            </p:cNvSpPr>
            <p:nvPr/>
          </p:nvSpPr>
          <p:spPr bwMode="auto">
            <a:xfrm>
              <a:off x="480" y="864"/>
              <a:ext cx="528" cy="48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/>
                <a:t>IP</a:t>
              </a:r>
            </a:p>
            <a:p>
              <a:pPr algn="ctr" eaLnBrk="0" hangingPunct="0"/>
              <a:r>
                <a:rPr lang="en-US" sz="1400"/>
                <a:t>Header</a:t>
              </a:r>
            </a:p>
          </p:txBody>
        </p:sp>
        <p:sp>
          <p:nvSpPr>
            <p:cNvPr id="192518" name="Rectangle 6"/>
            <p:cNvSpPr>
              <a:spLocks noChangeArrowheads="1"/>
            </p:cNvSpPr>
            <p:nvPr/>
          </p:nvSpPr>
          <p:spPr bwMode="auto">
            <a:xfrm flipH="1">
              <a:off x="1008" y="864"/>
              <a:ext cx="528" cy="48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>
                  <a:solidFill>
                    <a:srgbClr val="CCFFCC"/>
                  </a:solidFill>
                </a:rPr>
                <a:t>IP</a:t>
              </a:r>
            </a:p>
            <a:p>
              <a:pPr algn="ctr" eaLnBrk="0" hangingPunct="0"/>
              <a:r>
                <a:rPr lang="en-US" sz="1400">
                  <a:solidFill>
                    <a:srgbClr val="CCFFCC"/>
                  </a:solidFill>
                </a:rPr>
                <a:t>Data</a:t>
              </a:r>
            </a:p>
          </p:txBody>
        </p:sp>
        <p:sp>
          <p:nvSpPr>
            <p:cNvPr id="192519" name="Text Box 7"/>
            <p:cNvSpPr txBox="1">
              <a:spLocks noChangeArrowheads="1"/>
            </p:cNvSpPr>
            <p:nvPr/>
          </p:nvSpPr>
          <p:spPr bwMode="auto">
            <a:xfrm>
              <a:off x="480" y="689"/>
              <a:ext cx="1697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200" b="1"/>
                <a:t>Length = 1500, M=1, Offset = 0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85800" y="2770188"/>
            <a:ext cx="2881313" cy="1039812"/>
            <a:chOff x="480" y="1361"/>
            <a:chExt cx="1815" cy="655"/>
          </a:xfrm>
        </p:grpSpPr>
        <p:sp>
          <p:nvSpPr>
            <p:cNvPr id="192521" name="Rectangle 9"/>
            <p:cNvSpPr>
              <a:spLocks noChangeArrowheads="1"/>
            </p:cNvSpPr>
            <p:nvPr/>
          </p:nvSpPr>
          <p:spPr bwMode="auto">
            <a:xfrm>
              <a:off x="480" y="1536"/>
              <a:ext cx="528" cy="48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/>
                <a:t>IP</a:t>
              </a:r>
            </a:p>
            <a:p>
              <a:pPr algn="ctr" eaLnBrk="0" hangingPunct="0"/>
              <a:r>
                <a:rPr lang="en-US" sz="1400"/>
                <a:t>Header</a:t>
              </a:r>
            </a:p>
          </p:txBody>
        </p:sp>
        <p:sp>
          <p:nvSpPr>
            <p:cNvPr id="192522" name="Rectangle 10"/>
            <p:cNvSpPr>
              <a:spLocks noChangeArrowheads="1"/>
            </p:cNvSpPr>
            <p:nvPr/>
          </p:nvSpPr>
          <p:spPr bwMode="auto">
            <a:xfrm flipH="1">
              <a:off x="1008" y="1536"/>
              <a:ext cx="384" cy="480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>
                  <a:solidFill>
                    <a:srgbClr val="CCFFCC"/>
                  </a:solidFill>
                </a:rPr>
                <a:t>IP</a:t>
              </a:r>
            </a:p>
            <a:p>
              <a:pPr algn="ctr" eaLnBrk="0" hangingPunct="0"/>
              <a:r>
                <a:rPr lang="en-US" sz="1400">
                  <a:solidFill>
                    <a:srgbClr val="CCFFCC"/>
                  </a:solidFill>
                </a:rPr>
                <a:t>Data</a:t>
              </a:r>
            </a:p>
          </p:txBody>
        </p:sp>
        <p:sp>
          <p:nvSpPr>
            <p:cNvPr id="192523" name="Text Box 11"/>
            <p:cNvSpPr txBox="1">
              <a:spLocks noChangeArrowheads="1"/>
            </p:cNvSpPr>
            <p:nvPr/>
          </p:nvSpPr>
          <p:spPr bwMode="auto">
            <a:xfrm>
              <a:off x="480" y="1361"/>
              <a:ext cx="1815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200" b="1"/>
                <a:t>Length = 520, M=1, Offset = 1480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685800" y="3836988"/>
            <a:ext cx="2974975" cy="1039812"/>
            <a:chOff x="480" y="2033"/>
            <a:chExt cx="1874" cy="655"/>
          </a:xfrm>
        </p:grpSpPr>
        <p:sp>
          <p:nvSpPr>
            <p:cNvPr id="192525" name="Rectangle 13"/>
            <p:cNvSpPr>
              <a:spLocks noChangeArrowheads="1"/>
            </p:cNvSpPr>
            <p:nvPr/>
          </p:nvSpPr>
          <p:spPr bwMode="auto">
            <a:xfrm>
              <a:off x="480" y="2208"/>
              <a:ext cx="528" cy="48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/>
                <a:t>IP</a:t>
              </a:r>
            </a:p>
            <a:p>
              <a:pPr algn="ctr" eaLnBrk="0" hangingPunct="0"/>
              <a:r>
                <a:rPr lang="en-US" sz="1400"/>
                <a:t>Header</a:t>
              </a:r>
            </a:p>
          </p:txBody>
        </p:sp>
        <p:sp>
          <p:nvSpPr>
            <p:cNvPr id="192526" name="Rectangle 14"/>
            <p:cNvSpPr>
              <a:spLocks noChangeArrowheads="1"/>
            </p:cNvSpPr>
            <p:nvPr/>
          </p:nvSpPr>
          <p:spPr bwMode="auto">
            <a:xfrm flipH="1">
              <a:off x="1008" y="2208"/>
              <a:ext cx="528" cy="480"/>
            </a:xfrm>
            <a:prstGeom prst="rect">
              <a:avLst/>
            </a:prstGeom>
            <a:solidFill>
              <a:srgbClr val="0000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>
                  <a:solidFill>
                    <a:srgbClr val="CCFFCC"/>
                  </a:solidFill>
                </a:rPr>
                <a:t>IP</a:t>
              </a:r>
            </a:p>
            <a:p>
              <a:pPr algn="ctr" eaLnBrk="0" hangingPunct="0"/>
              <a:r>
                <a:rPr lang="en-US" sz="1400">
                  <a:solidFill>
                    <a:srgbClr val="CCFFCC"/>
                  </a:solidFill>
                </a:rPr>
                <a:t>Data</a:t>
              </a:r>
            </a:p>
          </p:txBody>
        </p:sp>
        <p:sp>
          <p:nvSpPr>
            <p:cNvPr id="192527" name="Text Box 15"/>
            <p:cNvSpPr txBox="1">
              <a:spLocks noChangeArrowheads="1"/>
            </p:cNvSpPr>
            <p:nvPr/>
          </p:nvSpPr>
          <p:spPr bwMode="auto">
            <a:xfrm>
              <a:off x="480" y="2033"/>
              <a:ext cx="1874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200" b="1"/>
                <a:t>Length = 1500, M=1, Offset = 1980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685800" y="4903788"/>
            <a:ext cx="2881313" cy="1039812"/>
            <a:chOff x="480" y="2705"/>
            <a:chExt cx="1815" cy="655"/>
          </a:xfrm>
        </p:grpSpPr>
        <p:sp>
          <p:nvSpPr>
            <p:cNvPr id="192529" name="Rectangle 17"/>
            <p:cNvSpPr>
              <a:spLocks noChangeArrowheads="1"/>
            </p:cNvSpPr>
            <p:nvPr/>
          </p:nvSpPr>
          <p:spPr bwMode="auto">
            <a:xfrm>
              <a:off x="480" y="2880"/>
              <a:ext cx="528" cy="48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/>
                <a:t>IP</a:t>
              </a:r>
            </a:p>
            <a:p>
              <a:pPr algn="ctr" eaLnBrk="0" hangingPunct="0"/>
              <a:r>
                <a:rPr lang="en-US" sz="1400"/>
                <a:t>Header</a:t>
              </a:r>
            </a:p>
          </p:txBody>
        </p:sp>
        <p:sp>
          <p:nvSpPr>
            <p:cNvPr id="192530" name="Rectangle 18"/>
            <p:cNvSpPr>
              <a:spLocks noChangeArrowheads="1"/>
            </p:cNvSpPr>
            <p:nvPr/>
          </p:nvSpPr>
          <p:spPr bwMode="auto">
            <a:xfrm flipH="1">
              <a:off x="1008" y="2880"/>
              <a:ext cx="384" cy="480"/>
            </a:xfrm>
            <a:prstGeom prst="rect">
              <a:avLst/>
            </a:prstGeom>
            <a:solidFill>
              <a:srgbClr val="CC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>
                  <a:solidFill>
                    <a:srgbClr val="CCFFCC"/>
                  </a:solidFill>
                </a:rPr>
                <a:t>IP</a:t>
              </a:r>
            </a:p>
            <a:p>
              <a:pPr algn="ctr" eaLnBrk="0" hangingPunct="0"/>
              <a:r>
                <a:rPr lang="en-US" sz="1400">
                  <a:solidFill>
                    <a:srgbClr val="CCFFCC"/>
                  </a:solidFill>
                </a:rPr>
                <a:t>Data</a:t>
              </a:r>
            </a:p>
          </p:txBody>
        </p:sp>
        <p:sp>
          <p:nvSpPr>
            <p:cNvPr id="192531" name="Text Box 19"/>
            <p:cNvSpPr txBox="1">
              <a:spLocks noChangeArrowheads="1"/>
            </p:cNvSpPr>
            <p:nvPr/>
          </p:nvSpPr>
          <p:spPr bwMode="auto">
            <a:xfrm>
              <a:off x="480" y="2705"/>
              <a:ext cx="1815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200" b="1"/>
                <a:t>Length = 360, M=0, Offset = 3460</a:t>
              </a:r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4851400" y="4737100"/>
            <a:ext cx="2895600" cy="762000"/>
            <a:chOff x="3072" y="576"/>
            <a:chExt cx="1824" cy="480"/>
          </a:xfrm>
        </p:grpSpPr>
        <p:sp>
          <p:nvSpPr>
            <p:cNvPr id="192533" name="Rectangle 21"/>
            <p:cNvSpPr>
              <a:spLocks noChangeArrowheads="1"/>
            </p:cNvSpPr>
            <p:nvPr/>
          </p:nvSpPr>
          <p:spPr bwMode="auto">
            <a:xfrm flipH="1">
              <a:off x="3072" y="576"/>
              <a:ext cx="528" cy="48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 b="1">
                  <a:solidFill>
                    <a:srgbClr val="CCFFCC"/>
                  </a:solidFill>
                </a:rPr>
                <a:t>IP</a:t>
              </a:r>
            </a:p>
            <a:p>
              <a:pPr algn="ctr" eaLnBrk="0" hangingPunct="0"/>
              <a:r>
                <a:rPr lang="en-US" sz="1400" b="1">
                  <a:solidFill>
                    <a:srgbClr val="CCFFCC"/>
                  </a:solidFill>
                </a:rPr>
                <a:t>Data</a:t>
              </a:r>
            </a:p>
          </p:txBody>
        </p:sp>
        <p:sp>
          <p:nvSpPr>
            <p:cNvPr id="192534" name="Rectangle 22"/>
            <p:cNvSpPr>
              <a:spLocks noChangeArrowheads="1"/>
            </p:cNvSpPr>
            <p:nvPr/>
          </p:nvSpPr>
          <p:spPr bwMode="auto">
            <a:xfrm flipH="1">
              <a:off x="3600" y="576"/>
              <a:ext cx="384" cy="480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 b="1">
                  <a:solidFill>
                    <a:srgbClr val="CCFFCC"/>
                  </a:solidFill>
                </a:rPr>
                <a:t>IP</a:t>
              </a:r>
            </a:p>
            <a:p>
              <a:pPr algn="ctr" eaLnBrk="0" hangingPunct="0"/>
              <a:r>
                <a:rPr lang="en-US" sz="1400" b="1">
                  <a:solidFill>
                    <a:srgbClr val="CCFFCC"/>
                  </a:solidFill>
                </a:rPr>
                <a:t>Data</a:t>
              </a:r>
            </a:p>
          </p:txBody>
        </p:sp>
        <p:sp>
          <p:nvSpPr>
            <p:cNvPr id="192535" name="Rectangle 23"/>
            <p:cNvSpPr>
              <a:spLocks noChangeArrowheads="1"/>
            </p:cNvSpPr>
            <p:nvPr/>
          </p:nvSpPr>
          <p:spPr bwMode="auto">
            <a:xfrm flipH="1">
              <a:off x="3984" y="576"/>
              <a:ext cx="528" cy="480"/>
            </a:xfrm>
            <a:prstGeom prst="rect">
              <a:avLst/>
            </a:prstGeom>
            <a:solidFill>
              <a:srgbClr val="0000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 b="1">
                  <a:solidFill>
                    <a:srgbClr val="CCFFCC"/>
                  </a:solidFill>
                </a:rPr>
                <a:t>IP</a:t>
              </a:r>
            </a:p>
            <a:p>
              <a:pPr algn="ctr" eaLnBrk="0" hangingPunct="0"/>
              <a:r>
                <a:rPr lang="en-US" sz="1400" b="1">
                  <a:solidFill>
                    <a:srgbClr val="CCFFCC"/>
                  </a:solidFill>
                </a:rPr>
                <a:t>Data</a:t>
              </a:r>
            </a:p>
          </p:txBody>
        </p:sp>
        <p:sp>
          <p:nvSpPr>
            <p:cNvPr id="192536" name="Rectangle 24"/>
            <p:cNvSpPr>
              <a:spLocks noChangeArrowheads="1"/>
            </p:cNvSpPr>
            <p:nvPr/>
          </p:nvSpPr>
          <p:spPr bwMode="auto">
            <a:xfrm flipH="1">
              <a:off x="4512" y="576"/>
              <a:ext cx="384" cy="480"/>
            </a:xfrm>
            <a:prstGeom prst="rect">
              <a:avLst/>
            </a:prstGeom>
            <a:solidFill>
              <a:srgbClr val="CC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/>
              <a:r>
                <a:rPr lang="en-US" sz="1400" b="1">
                  <a:solidFill>
                    <a:srgbClr val="CCFFCC"/>
                  </a:solidFill>
                </a:rPr>
                <a:t>IP</a:t>
              </a:r>
            </a:p>
            <a:p>
              <a:pPr algn="ctr" eaLnBrk="0" hangingPunct="0"/>
              <a:r>
                <a:rPr lang="en-US" sz="1400" b="1">
                  <a:solidFill>
                    <a:srgbClr val="CCFFCC"/>
                  </a:solidFill>
                </a:rPr>
                <a:t>Data</a:t>
              </a: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15881</TotalTime>
  <Words>2078</Words>
  <Application>Microsoft Office PowerPoint</Application>
  <PresentationFormat>On-screen Show (4:3)</PresentationFormat>
  <Paragraphs>355</Paragraphs>
  <Slides>45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Calibri</vt:lpstr>
      <vt:lpstr>Comic Sans MS</vt:lpstr>
      <vt:lpstr>Trebuchet MS</vt:lpstr>
      <vt:lpstr>Wingdings</vt:lpstr>
      <vt:lpstr>Wingdings 3</vt:lpstr>
      <vt:lpstr>Facet</vt:lpstr>
      <vt:lpstr>Week-4 </vt:lpstr>
      <vt:lpstr>What leads to fast Ethernet?</vt:lpstr>
      <vt:lpstr>Ethernet</vt:lpstr>
      <vt:lpstr>Fast Ethernet</vt:lpstr>
      <vt:lpstr>Fast Ethernet</vt:lpstr>
      <vt:lpstr>Gigabit Ethernet</vt:lpstr>
      <vt:lpstr>Routing Algorithm</vt:lpstr>
      <vt:lpstr>Non-adaptive &amp; adaptive algorithm</vt:lpstr>
      <vt:lpstr>PowerPoint Presentation</vt:lpstr>
      <vt:lpstr>The Optimality Principle</vt:lpstr>
      <vt:lpstr>PowerPoint Presentation</vt:lpstr>
      <vt:lpstr>PowerPoint Presentation</vt:lpstr>
      <vt:lpstr>Algorithm types</vt:lpstr>
      <vt:lpstr>Routing Metrics</vt:lpstr>
      <vt:lpstr>Static Algorithms</vt:lpstr>
      <vt:lpstr>PowerPoint Presentation</vt:lpstr>
      <vt:lpstr>PowerPoint Presentation</vt:lpstr>
      <vt:lpstr>Example of Shortest Path Routing</vt:lpstr>
      <vt:lpstr>Flooding  (a nonadaptive routing algorithm)</vt:lpstr>
      <vt:lpstr>Distance Vector Routing  (an adaptive routing algorithm)</vt:lpstr>
      <vt:lpstr>Distance Vector Routing  (an adaptive routing algorithm)</vt:lpstr>
      <vt:lpstr>Distance Vector Routing  (an adaptive routing algorithm)</vt:lpstr>
      <vt:lpstr>Distance Vector Routing  (an adaptive routing algorithm)</vt:lpstr>
      <vt:lpstr>The Count to Infinity Problem</vt:lpstr>
      <vt:lpstr>Link State Routing  (an adaptive routing algorithm)</vt:lpstr>
      <vt:lpstr>2.) Measuring Line Cost</vt:lpstr>
      <vt:lpstr>Argument 2:</vt:lpstr>
      <vt:lpstr>PowerPoint Presentation</vt:lpstr>
      <vt:lpstr>Build Link State Packets</vt:lpstr>
      <vt:lpstr>Distributing the Link State Packets</vt:lpstr>
      <vt:lpstr>Internetworking</vt:lpstr>
      <vt:lpstr>PowerPoint Presentation</vt:lpstr>
      <vt:lpstr>How Networks Differ </vt:lpstr>
      <vt:lpstr>How Networks Can Be Connected?</vt:lpstr>
      <vt:lpstr>Switch vs Router</vt:lpstr>
      <vt:lpstr>PowerPoint Presentation</vt:lpstr>
      <vt:lpstr>Tunneling </vt:lpstr>
      <vt:lpstr>Fragmentation. Why?</vt:lpstr>
      <vt:lpstr>IP Fragmentation</vt:lpstr>
      <vt:lpstr>Fragmentation Related Fields</vt:lpstr>
      <vt:lpstr>Fragmentation Related Fields</vt:lpstr>
      <vt:lpstr>IP Fragmentation Example #1</vt:lpstr>
      <vt:lpstr>IP Fragmentation Example #2</vt:lpstr>
      <vt:lpstr>IP Fragmentation Example #3</vt:lpstr>
      <vt:lpstr>IP Reassembly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Week-4</dc:title>
  <dc:creator>shahidul</dc:creator>
  <cp:lastModifiedBy>md islam</cp:lastModifiedBy>
  <cp:revision>326</cp:revision>
  <dcterms:created xsi:type="dcterms:W3CDTF">2014-02-13T14:15:38Z</dcterms:created>
  <dcterms:modified xsi:type="dcterms:W3CDTF">2023-01-27T03:40:01Z</dcterms:modified>
</cp:coreProperties>
</file>