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7.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8.xml" ContentType="application/vnd.openxmlformats-officedocument.presentationml.notesSlide+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notesMasterIdLst>
    <p:notesMasterId r:id="rId52"/>
  </p:notesMasterIdLst>
  <p:handoutMasterIdLst>
    <p:handoutMasterId r:id="rId53"/>
  </p:handoutMasterIdLst>
  <p:sldIdLst>
    <p:sldId id="311" r:id="rId2"/>
    <p:sldId id="256" r:id="rId3"/>
    <p:sldId id="257" r:id="rId4"/>
    <p:sldId id="258" r:id="rId5"/>
    <p:sldId id="259" r:id="rId6"/>
    <p:sldId id="260"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61" r:id="rId22"/>
    <p:sldId id="265" r:id="rId23"/>
    <p:sldId id="262" r:id="rId24"/>
    <p:sldId id="263" r:id="rId25"/>
    <p:sldId id="264" r:id="rId26"/>
    <p:sldId id="280" r:id="rId27"/>
    <p:sldId id="281" r:id="rId28"/>
    <p:sldId id="303" r:id="rId29"/>
    <p:sldId id="282" r:id="rId30"/>
    <p:sldId id="283" r:id="rId31"/>
    <p:sldId id="284" r:id="rId32"/>
    <p:sldId id="285" r:id="rId33"/>
    <p:sldId id="286" r:id="rId34"/>
    <p:sldId id="287" r:id="rId35"/>
    <p:sldId id="288" r:id="rId36"/>
    <p:sldId id="304" r:id="rId37"/>
    <p:sldId id="305" r:id="rId38"/>
    <p:sldId id="306" r:id="rId39"/>
    <p:sldId id="307" r:id="rId40"/>
    <p:sldId id="308" r:id="rId41"/>
    <p:sldId id="309" r:id="rId42"/>
    <p:sldId id="310" r:id="rId43"/>
    <p:sldId id="289" r:id="rId44"/>
    <p:sldId id="300" r:id="rId45"/>
    <p:sldId id="291" r:id="rId46"/>
    <p:sldId id="292" r:id="rId47"/>
    <p:sldId id="302" r:id="rId48"/>
    <p:sldId id="293" r:id="rId49"/>
    <p:sldId id="301" r:id="rId50"/>
    <p:sldId id="294"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9112" autoAdjust="0"/>
  </p:normalViewPr>
  <p:slideViewPr>
    <p:cSldViewPr>
      <p:cViewPr varScale="1">
        <p:scale>
          <a:sx n="86" d="100"/>
          <a:sy n="86" d="100"/>
        </p:scale>
        <p:origin x="1358" y="67"/>
      </p:cViewPr>
      <p:guideLst>
        <p:guide orient="horz" pos="2160"/>
        <p:guide pos="2880"/>
      </p:guideLst>
    </p:cSldViewPr>
  </p:slideViewPr>
  <p:outlineViewPr>
    <p:cViewPr>
      <p:scale>
        <a:sx n="33" d="100"/>
        <a:sy n="33" d="100"/>
      </p:scale>
      <p:origin x="53" y="979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handoutMaster" Target="handoutMasters/handoutMaster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CB26947-76F2-4F88-8D13-CD9E8E4AA0A2}" type="datetimeFigureOut">
              <a:rPr lang="en-US" smtClean="0"/>
              <a:pPr/>
              <a:t>27-Jan-2023</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99ABECAB-6C66-4D25-8EC7-32A144157B11}"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1:06.594"/>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57,'0'0,"0"0,0 0,24 0,-24 0,0 0,25 0,-25 0,25 0,-25 0,25 0,-25 0,0 0,25 0,-25 0,24 0,1 0,0 0,-25 0,25 0,0 0,-1 0,26 0,0 0,-1 0,1 0,-1 0,26 0,-25 0,-26 0,26 0,-50 0,25 0,0 0,-1 0,-24 0,25 0,-25 0,25 0,-25 0,25 0,0 0,-1 0,1 0,0 0,0 0,0 0,-1 0,1 0,0 0,0 0,0 0,-1 0,1 0,0 0,0-25,0 25,-25 0,24 0,1 0,-25 0,25 0,-25 0,0 0,25 0,0 0,-25 0,24 0,1-25,-25 25,50 0,-50 0,0 0,25 0,-25 0,25 0,-25 0,24 0,-24 0,25 0,-25 0,0 0,25 0,-25 0,25 0,-25 0,25 0,-25 0,0 0,0 0,24 0,-24 0,0 0</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1:09.634"/>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0,'25'0,"-25"0,0 0,0 0,-25 0,100 25,-75-25,0 0,24 0,1 0,-25 24,0-24,25 0,0 25,0-25,-1 0,1 0,25 0,-1 0,1 0,-25 0,24 0,1 0,-25 0,-25 0,25 0,0 0,-1 0,1 0,0 0,49 0,-24 0,0 0,24 0,50 0,-25 0,25 0,-49 0,49-25,-75 25,1 0,-25 0,0 0,-1 0,1 0,-25 0,25 0,0 0,0 0,-1 0,1 0,0 0,25 0,-26 0,1 0,0 0,-25 0,25 0,0 0,-1 0,-24 0,25 0,0 0,0 0,-25 0,25 0,-1 0,1 0,0 0,0 0,0 0,-1 0,1 0,0 0,0 0,25 0,-26 0,1 0,50 0,-75 0,24 0,1 0,0 0,-25 0,0 0,25 0,-25 0,25 0,-1 0,-24 0,25 0,-25 0,0 0,0-24,25 24,-25 0,25 0,-25 0,25 0,-25 0,0 0,24 0,-24 0,25 0,0 0,0 0,0 0,-1 0,-24 0,25 0,-25 0,0 0,25 0,0 0,-25 0,25 0,-1 0,-24 0,25 0,-25 0,0 0,25 0,0 0,0 0,-25 24,0-24,25 0,-25 0,24 0,-24 0,25 0,-25 0,25 0,-25 0,25 0,-25 0,0 0,25 0,-25 0,24 0,-24 0,25 0,-25 0,25 0,-25 0,0 0,25 0,-25 0,0 0,0-24,25 24,-1 0,1 0,0 0,0 0,0 0,-25 0,24 0,1 0,0 0,0 0,-25 0,49 0,-24 0,-25 0,25 0,-25 0,25 0,0 0,-25 0,24 0,-24 0,25 0,-25 0,25 0,-25 0,25 0,-25 0,25 0,-25 0,24 0,1 0,25 0,-25 0,49 0,-24 0,-1 0,1 0,-25 0,0 0,24 0,-49 0,25 0,0 0,-25 0,25 0,-1 0,1 0,0 0,0 24,0-24,-1 0,26 0,-50 0,25 0,-25 0,25 0,-25 0,24 0,1 0,0 0,-25 0,25 0,0 0,-25 0,24 0,1 0,-25 0,25 0,-25 0,0 0,25 0,-25 0,25 0,0 0,-1 0,1 0,0 0,-25 0,0 0,25 0,-25 0,25 0,-25 0,24 0,-24 0,0 0,25 0,-25 0,25 0,-25 0,25 0,0 0,-1 0,1 0,-25 0,0 0,25 0,-25 0,25 0,-25 0,25 0,-25 0,0 0,24 0,-24 0,25 0,-25 0,25 0,-25 0,25 0,-25 0,0 0,25 0,-25 0,24 0,-24 0,25 0,-25 0,0 0,25 0,-25 0,25 0,-25 0,0 0,-25 0,25 0,-25-24</inkml:trace>
</inkml:ink>
</file>

<file path=ppt/ink/ink3.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1:26.234"/>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0,'25'0,"-25"0,0 0,25 0,-1 0,0 0,-24 9,25-9,0 10,-1-10,1 0,-1 9,75-9,-75 0,25 0,26 0,47 19,25-19,25 0,-98 0,73 0,-24 0,-74 0,50 0,-25 0,-50 0,0 0,1 0,0 0,0 0,-2 0,-23 0,25 0,0 0,0 0,-1 0,0 0,1 0,25 0,-26 0,0 0,1 0,0 0,-1 0,-24 0,25 0,-1 0,50 0,-49 0,-1 0,50 0,-49 0,0 0,-2 0,27 0,23 0,-48 0,24 0,-24 0,-1 0,25 0,-24 0,0 0,-1 0,1 0,-1 0,1 0,48 0,-48 0,25 0,-50 0,48 0,-23 0,0 0,24 0,-25 0,1 0,-1 0,1 0,0 0,24 0,-25 0,1 0,0 0,-1 0,0 0,1 0,-25 0,25 0,0 0,-25 0,48 0,-48 0,50 0,-26 0,0 0,-24 0,50 0,-50 0,25 0,-1 0,0 0,1 0,0 0,-1 0,1 9,-1-9,-24 0,25 0,-1 0,1 0,0 0,0 0,-25 0,23 0,2 0,0 0,25 0,-27 0,27 0,-25 0,-25 0,24 0,-24 0,24 0,-24 0,25 0,24 0,-49 0,25 0,-1 0,1 0,-1 0,1 0,0 0,-25 0,24 0,-24 0,25 0,-25 0,24 0,26 0,-26 0,0 0,1 0,0 0,0 0,-25 0,23 0,2 0,0 0,-25 0,25 0,-1 0,25 0,-24 0,-1 0,1 0,-25 0,0 0,25 0,-1 0,-24 0,25 0,-1 0,1 0,0 0,23 0,-23 0,0 0,0 0,-2 0,2 0,-25 0,25 0,-25 0,25 0,-1 0,0 0,-24 0,25 0,0 0,-25 0,25 0,-25 0,0 0,24 0,-24 0,24 0,-24 0,25 0,0 0,-25 0,0 0,24 0,-24 0,0 0,25 0,24 0,-25 0,-24 0,25 0,-25 0,0 0,25 0,-25 0,0 0,25 0,-25 0,23 0,-23 0,25 0,-25 0,25 0,-25 0,25 0,0 0,-2 0,-23 0,25 0,-25 0,25 0,-25 0,0 0,25 0,-25 0,0 0,-25 0,25 0,0 0,-25 0,25 0,-25-9,25 9,-23 0</inkml:trace>
</inkml:ink>
</file>

<file path=ppt/ink/ink4.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3:10.049"/>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9,'0'0,"0"0,25 0,-25 0,25 0,-25 0,24 0,-24 0,25 0,-25 0,25 0,-25 0,25 0,0 0,24 0,-24 0,0 0,0 0,-1 0,1 0,0 0,25 0,-50 0,24 0,1 0,0 0,0 0,0 0,-1 0,26 0,-25 0,25 0,24 0,-49 0,0 0,24 0,-49 0,50 0,-25 0,-1 0,1 0,25 0,-1 0,-24 0,0 0,0 0,0 0,-1 25,1-25,0 0,0 25,0-25,24 0,-49 25,25-25,0 0,0 0,-25 0,24 0,1 0,0 0,0 25,25-25,-1 0,-24 0,25 24,-26-24,51 0,-50 0,-1 0,1 0,0 0,25 0,24 0,-24 0,24 0,-24 0,-1 25,1-25,-1 0,-24 0,0 0,0 0,0 0,24 0,-49 0,25 0,0 0,-25 0,25 0,24 0,-49 0,25 0,25 0,-25 0,-1 0,1 0,0 0,25 0,-1 0,-24 0,25 0,-26 0,26 0,24 0,-24 0,0 0,24 0,-24 0,-1 0,1 0,0 0,-1 0,-24 0,0 0,0 0,24 0,-24 0,0 0,0 0,-1 0,26 0,-25 0,49 0,-24 0,-25 0,24 0,1 0,-50 0,25 0,0 0,-25 0,0 0,24 0,-24 0,25 0,0 0,0 0,-25 0,25 0,-25 0,24 0,1 0,-25 0,50 0,-50 0,0 0,25 0,-1 0,1 0,0 0,25 0,-1 0,-24-25,25 25,-1 0,1 0,-1 0,1 0,24 0,26 0,-26 0,-24 0,-1 0,26 0,-50 0,24 0,1 0,-25 0,-1 0,1 0,-25 0,25 0,-25 0,25 0,0 0,-25 0,24 0,1 0,0 0,-25 0,25 0,-25 0,25 0,-1 0,-24 0,25 0,25 0,-25 0,-25 0,49 0,1 0,49 0,0 0,-49 0,49 0,-74 0,49 0,1 0,-50 0,49 0,-49 0,49 0,-49 0,25 0,-1 0,-24 0,-25 0,25 0,-25 0,25 0,0 0,-25 0,24 0,1 0,0 0,-25 0,25 0,0 0,-25 0,24 0,-24 0,25 0,-25 0,25 0,25 0,-1 0,1 0,24 0,1 0,-26 0,-24 0,49 0,1 0,-1 0,1 0,-1 0,1 0,24 0,-50 0,-24 0,25 0,-25 0,-1 0,-24 0,25 0,-25 0,25 0,-25 0,25 0,-25 0,0 0,25 0,-1 0,1 0,0 0,0 0,0 0,-25 0,24 0,-24 0,25 0,-25 0,25 0,0 0,0 0,-1 0,1 0,0 0,0 0,0 0,-25 0,25 0,-1 0,-24 0,25 25,-25-25,0 0,25 0,0 0,-25 0,25 0,-25 0,24 0,-24 0,0 0,25 0,-25 0,25 0,-25 0,25 0,-25 0,25 0,-25 25,24-25,-24 0,0 0,25 0,-25 0,25 0,-25 0,25 0,-25 0,0 0,25 0,-25 0,24 0,-24 0,25 0,-25 0,25 0,-25 0,0 0,25 0,-25 0,25 0,-25 0,24 0,-24 0,0 0,25 0,-25 0,25 0,-25 0,25 0,-25 0,0 0,25 0,-25 0,24 0,-24 0,25 0,-25 0,25 0,-25 0,0 0,25 0,-25 0,25 0</inkml:trace>
</inkml:ink>
</file>

<file path=ppt/ink/ink5.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3:16.746"/>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87,'0'0,"24"0,-24 0,25 0,-25 0,50 0,24 0,1 0,-1-24,25 24,-24 0,-1 0,1-25,-26 25,-24 0,0 0,-25 0,25 0,-25 0,24 0,-24 0,25 0,0 0,0 0,0-25,-1 25,26 0,0 0,-1 0,50 0,-24 0,-50 0,-1 0,51 0,-75 0,25 0,-25 0,25 0,-25 0,49 0,-24 0,0 0,24 0,1 0,-25 0,24 0,-24 0,0 0,-25 0,25 0,0 0,-25 0,24 0,1 0,0 0,0 0,0 0,-1 0,1 25,0-25,0 0,-25 0,25 0,-1 0,-24 0,50 25,-25-25,24 24,-24-24,25 25,-50 0,50-25,-26 0,1 0,0 0,-25 25,25-25,0 0,-25 0,24 0,-24 0,0 0,0 0,25 0,0 0,-25 0,25 0,-25 0,25 0,-25 0,24 0,1 0,-25 0,25 0,0 0,0 0,-1 0,1 0,-25 0,0 0,25 0,0 0,-25 0,25 0,-25 0,24 0,-24 0,0 0,25 0,-25 0,25 0,-25 0,25 0,-25 0,0 0,25 0,-25 0,24 0,-24 0,25 0,-25 0,25 0,-25 0,0 0,25 0,-25 0,25 0,-25 0,25 0,-25 0,0 0,24 0,-24 0,25 0,-25 0,25 0,-25 0,25 0,-25 0,0 0,25 0,-25 0,24 0,-24 0,0 0,25 0,-25 0,0 0,25 0,-25 0,25 0,0 0,-1 0,1-25,0 25,25 0,-1 0,-24-25,25 25,-50 0,49 0,-24-25,25 25,-1 0,26 0,24 0,-25 0,26 0,-1-24,-50 24,26 0,-1-25,-49 25,49 0,-24 0,-25 0,24 0,1 0,-25 0,0 0,-1 0,1 0,0 0,0 0,0 0,0 0,24 0,-24 0,25 0,-26 0,51 0,-50 0,24 0,-49 0,25 0,25 0,-26 0,1 0,25 0,-50 0,25 0,-1 0,1 0,0 0,0 0,0 0,-1 0,26 0,-25 0,0 0,24 0,1 0,-25 0,24 0,1 0,-25 0,0 0,-1 0,-24 0,50 0,-50 0,25 0,0 0,-25 0,0 0,24 0,1 0,0 0,-25 0,25 0,0 0,-25 0,0 0,24 0,1 0,-25 0,25 0,-25 0,25 0,24 0,-49 0,25 0,0 0,0 0,0 0,24 0,-24 0,0 0,24 0,-24 0,0 0,25 0,-25 0,-1 0,1 0,0 0,-25 0,0 0,25 0,-25 0,25 0,-25 0,24 0,-24 0,0 0,25 0,0 0,0 0,-25 0,25 0,-1 0,-24 0,25 0,-25 0,25 0,-25 0,25 0,0 0,-1 0,-24 0,25 0,-25 0,25 0,-25 0,25 0,0 25,-1-25,1 0,0 0,0 0,0 0,-25 0,24 0,-24 0,25 0,0 0,-25 0,25 0,-25 0,25 0,-25 0,0 0,25 0,-25 0,24 0,-24 0,25 0,0 0,-25 0,0 0,25 0,0 0,-25 0,24 0,-24 0,25 0,-25 0,0 0,25 0,-25 0,25 0,-25 0,25 0,-25 0,0 0,24 0,-24 0,25 0,0 0,-25 0,25 0,-25 0,25 0,-25 0,24 0,-24 0,25 24,0-24,0 0,0 0,-1 0,1 0,0 0,0 0,0 0,-25 0,24 0,-24 0,25 0,-25 0,0 0,50 0,-50 0,0 0,0 0,25 0,-1 0,-24 0,25 0,-25 0,0-24,50 24,-50 0,25 0,-25 0,0 0,25 0,-1 0,26 0,-25 0,24 0,-24 0,0 0,0 0,0 0,-1 0,1 0,-25 0,25 0,0 0,0 0,24 0,-24 0,0 0,0 0,-25 0,49 0,-24 0,-25 0,25 0,0 0,-1 0,1 0,-25 0,25 0,25 0,-1 0,1 0,0 0,-26 0,51 0,-1 0,-49 0,25 0,-1 0,26 0,24 0,-99 0,99 0,-49 0,-26 0,51 0,-50 0,-1 0,1 0,0 0,0 0,0 0,0 0,-1 0,1 0,-25 0,0 0,25 0,-25 0,25 0,-25 0,25 0,-1 0,1 0,0 0,0 0,24 0,-24 0,0 0,0 0,49 0,-49 0,0 0,0 0,24 0,-24 0,0 0,24 0,-24 0,0 0,0 0,24 0,1 0,-25 0,25 24,-1-24,-24 0,0 0,0 0,-1 0,-24 0,50 25,-25-25,24 0,-24 0,25 0,-50 0,25 0,-1 0,1 0,0 0,0 0,0 0,-1 0,-24 0,25 0,0 0,-25 0,0 0,25 0,-25 0,25 0,-25 0,24 0,-24 0,0 0,25 0,-25 0,25 0,-25 0,25 0,-25 0,25 0,-25 0,0 0,24 0,-24 0,25 0,-25 0,25 0,-25 0,0 25,0-25,25 0,-25 0,25 0,-25 0,25 0,-25 0,0 0,24 0,-24 0,0 0,25 0,-25 0,25 0,-25 0,25 0,-25 0,0 0,25 0,-25 0,24 0,-24 0,25 25,-25-25,0 0,25 0,-25 0,25 0,-25 0,0 0,25 0,-25 0,24 0,-24 0,0 0,0 0,25 0,-25 25,0-25,25 0,-25 0,25 0,-25 0,25 0,-25 0,0 0,24 0,-24 0,25 24,-25-24,25 0,-25 0,0 0,25 0,-25 0,25 25,-25-25,24 0,-24 0,25 0,-25 25,0-25,25 0,-25 0,25 0,-25 0,25 0,-25 0,0 0,0 0</inkml:trace>
</inkml:ink>
</file>

<file path=ppt/ink/ink6.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6:44.593"/>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45,'0'0,"0"0,25 0,-25 0,25 0,-25 0,24 0,-24 0,25 0,-25 0,25 0,0 0,0 0,49 0,0 0,51 0,-26 0,-74 0,49 0,-49 0,0 0,-1 0,1 0,-25 0,25 0,-25 0,25 0,24 0,-24 0,50 0,-51 0,51 0,-75 0,25 0,-25 0,24 0,-24 0,25 0,0 0,25 0,-26 0,1 0,25 0,-25 0,24 0,-49 0,25 0,0 0,-25 0,25 0,-25 0,49 0,-24 0,0 0,25 0,-1 0,-24 0,0 0,0 0,-1 0,1 0,-25 0,25 0,-25 0,0 0,25 0,0 0,-1 0,26 0,0 0,24 0,-49 0,49 0,-49 0,25 0,-1 0,-24 25,0-25,0 0,49 0,1 0,-26 24,75 1,-49-25,-51 0,26 0,-25 0,0 0,-1 0,1 0,-25 0,50 0,-25 0,24 25,-24-25,25 0,-1 0,-24 0,0 0,25 25,-1-25,-24 0,-25 0,25 0,24 0,-49 0,50 0,-25 0,24 0,-24 0,0 0,0 0,0 0,-1 0,26 0,-25 0,24 0,26 0,-25 25,24-25,-24 0,24 0,-24 0,-26 0,26 0,-50 0,25 0,0 0,-1 0,1 0,25 0,-25 0,24 0,26 0,-51 0,1 0,25 0,-25 0,-1 0,-24 0,25-25,0 25,0 0,25 0,-1 0,1 0,-25 0,24 0,1 0,-25 0,24-25,-24 25,0 0,24 0,-24 0,25 0,-1 0,-24 0,25-25,-1 25,1 0,0 0,-26 0,1 0,50 0,-26 0,1 0,24 0,1 0,-1 0,-49 0,0 0,0 0,-1 0,-24 0,25-25,-25 25,0 0,25 0,-25 0,0-24,0 24,25 0,-25 0,25 0,-25 0,24 0,-24 0,25 0,-25 0,0-25,0 25,0 0,25 0,-25 0,25 0,0 0,24 0,26 0,-1 0,-24 0,49 0,-25 0,26 0,-76 0,1 0,0 0,-25 0,0 0,25 0,-25 0,25 0,-25 0,24 0,1-25,-25 25,25 0,0 0,0 0,-1 0,1 0,0 0,25 0,-26 0,-24 0,50 0,0 0,24 0,-24 0,24 0,-49 0,-25 0,50 0,24 0,-24 0,-26 0,26 0,0 0,-50 0,24 0,26 0,-25 0,24 0,1 0,0 0,-1 0,1 0,-25 0,0 0,-1 0,1 0,-25 0,25 0,0 0,0 0,-1 0,26 0,0 0,24 0,-24 0,-1 0,26 0,-51 0,26 0,0 0,-1 0,-24 0,25 0,-26 0,-24 0,50 0,-25 0,0 0,0 0,-1 0,1 0,-25 0,25 0,0 0,-25 0,25 0,-25 0,24 0,-24 0,0 0,25 0,-25 0,25 0,-25 0,25 0,0 0,-1 0,-24 0,25 0,0 0,0 0,-25 0,25 0,-25 0,24 0,-24 0,0 0,25 0,0 0,-25 0,0 0</inkml:trace>
</inkml:ink>
</file>

<file path=ppt/ink/ink7.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6:58.487"/>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28,'25'0,"-25"0,25 0,-25 0,0 0,25 0,-25 0,25 0,-25 0,24 0,-24 0,25 0,-25 0,0 0,25 0,0 0,-25 0,25 0,-1 25,1-25,25 0,-1 0,75 0,75 0,24 0,0 0,1-25,-100 0,0 25,-25 0,-74 0,-1 0,1 0,-25 0,0 0,25 0,-25 0,25 0,25 0,-26 0,26 0,-25 0,0 0,-1 0,26 0,-25 0,49 0,-49 0,49 0,-49 0,50 0,-1 0,-24 0,24 0,-49 0,25 0,-26 0,26 25,0-25,-1 0,26 0,-26 0,50 0,25 0,0 0,-24 0,-26 0,-49 0,25 0,-26 0,1 25,0-25,0 0,0 0,-1 0,26 0,0 0,-1 0,1 0,-25 0,24 0,-24 24,25-24,-1 0,1 0,-1 0,-24 0,25 0,-25 0,-1 0,1 0,-25 0,25 0,-25 0,25 0,0 0,0 0,-1 0,1 25,0-25,25 0,24 0,-49 0,24 0,1 0,0 0,-1 0,1 0,-1 0,-24 0,50 0,-26 25,26-25,-26 0,-24 0,50 0,-26 0,-24 0,-25 0,25 0,-25 0,25 0,-1 0,1 0,0 0,25 0,-1 0,-24 0,25 0,-26 0,1 0,0 0,25 0,-1 0,26 0,-1 0,-24 0,-1 0,-24 0,25 0,-1 0,-24 0,25 0,-1 0,1 0,-25 0,24 0,-24 0,0 0,0 0,0 0,-1 0,1 0,25 0,-1 0,-24 0,0 0,0 0,0 0,-1 0,1 0,0 0,0 0,0 0,-1 0,26 0,0 0,-25 0,24 0,-49 0,50 0,-25 0,-1 0,1 0,-25 0,25 0,0 0,24 0,-24 0,25 0,-1 0,-24 0,50 0,-51 0,1 0,0 0,0 0,-25 25,25-25,-25 0,24 0,1 0,0 0,0 0,-25 0,25 0,0 0,-25 0,24 0,-24 0,25 0,0 0,0 0,0 0,-1 0,1 0,0 0,-25 0,25 0,0 0,-1 0,-24 0,25 0,0 0,-25 0,25 0,0 0,-1 0,-24 0,25 0,-25 0,25 0,-25 0,25 0,-25 0,25 0,-25 0,24 0,-24 0,0 0,25 0,-25 0,25 0,-25 0,25 0,-25 0,0 0,25 0,-25 0,24 0,1 0,-25 0,25 0,-25 0,0 0,25 0,-25 0,25 0,-25 0,-25 0</inkml:trace>
</inkml:ink>
</file>

<file path=ppt/ink/ink8.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7:02.506"/>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0 174,'0'0,"25"0,-25 0,25 0,-25 0,25 0,0 0,-1 0,26 0,0 0,-26 0,26 0,74 0,-25 0,50-50,25 50,24 0,1-24,-1 24,-74-25,-49 25,24-25,-74 25,-25 0,24-25,1 25,0 0,-25 0,25 0,-25 0,25 0,-1 0,-24 0,25 0,0 0,0 0,-25 0,49 0,-49 0,0 0,25 0,-25 0,25 0,-25 0,25 0,-25 0,25 0,-1 0,-24 0,25 0,-25 0,25 0,-25-25,0 25</inkml:trace>
</inkml:ink>
</file>

<file path=ppt/ink/ink9.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2:37:09.792"/>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0,'0'0,"0"0,25 0,0 0,0 0,-25 0,74 0,0 0,26 0,-1 0,50 0,24 0,26 0,-26 24,1-24,-50 25,75-25,-51 0,-24 25,-49-25,-1 0,1 0,-26 0,26 0,-75 0,74 0,-24 0,24 0,1 0,-51 0,100 0,-49 0,-1 0,1 0,-26 0,1 0,-25 0,-1 0,26 0,-25 0,0 0,24 0,-24 0,-25 0,25 0,0 0,-25 0,25 0,-1 0,26 0,0 0,-1 0,75 0,-49 0,-1 0,-24 0,24 25,25-25,-74 0,25 0,-25 0,-1 0,26 0,0 0,-26 0,26 0,24 0,-24 0,49 0,-49 0,24 0,1 0,-26 0,-24 0,25 0,-26 0,26 0,-25 0,0 0,49 0,-49 0,25 0,24 0,-24 0,-1 0,26 0,-26 0,1 0,24 0,1 0,-51 0,51 0,24 0,-49 0,-1 0,1 0,0 0,-26 0,26 0,-25 0,0 0,-1 0,1 0,-25 0,25 0,-25 0,25 0,0 0,-1 0,-24 0,25 0,-25 0,25 0,-25 0,0 0,25 0,-25 0,25 0,-1 0,-24 0,25 0,-25 0,25 0,0 0,-25 0,25 0,-1 0,1 0,0 0,0 0,0 0,-25 0,0 0,25 0,-25 0,24 0,-24 0,25 0,0 0,-25 0,25 0,0 0,24 0,-24 0,0 0,0 0,24 0,-24 0,0 0,24 0,1 0,-25 0,0 0,-1 0,1 0,-25 0,25 0,-25 0,0 0,0 0,25 0,-25 0,25 0,-25 0,24 0,-24 0,25 0,-25 0,25 0,-25 0,25 0,-25 0,25 0,-25 0,24 0,-24 0,0 0,25 0,0 0,0 0,0 0,0 0,-1 0,1 0,0 0,0 0,-25 0,25 0,-25 0,0 0,24 0,-24 0,25 0,0 0,-25 0,25 0,24 0,-24 0,0 0,25 0,-26 0,26 0,-25 0,0 0,-1 0,1 0,0 0,0 0,0 0,-25 0,24 0,-24 0,0 0,25 0,-25 0,25 0,-25 0,25 0,-25 0,25 0,-1 0,1 0,25 0,-50 0,74 0,-49 0,0-25,25 25,-26 0,1 0,-25 0,0 0,25 0,25 0,-1 0,-24 0,49 0,-24 0,0 0,24 0,-24 0,-26 0,1 0,-25 0,25 0,25 0,-1 0,-24 0,50 0,-51 0,26 0,49 0,-49 0,-1 0,1 0,0 0,-1 0,-49 0,25 0,0 0,0 0,-25 0,24 0,-24 0,25 0,0 0,-25 0,25 0,0 0,-25 0,24 0,1 0,25 0,-25 0,-25 0,24 0,1 0,0 0,0 0,-25 0,50 0,-26 0,1 0,50 0,-51 0,51 0,-26 0,1 0,-25 0,-25 0,0 0,0 0</inkml:trace>
</inkml:ink>
</file>

<file path=ppt/ink/ink10.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2:55.692"/>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86,'25'0,"-25"0,25 0,-25 0,24 0,-24 0,25 0,-25 0,50 0,-25 0,-1 0,1-25,0 25,0 0,0-25,-25 25,24 0,1 0,0 0,0 0,0 0,24 0,1 0,-25 0,0 0,-1 0,1 0,0 0,-25-25,50 25,-26 0,-24 0,25 0,0 0,0 0,-25 0,25 0,-1 0,1 0,0 0,0 0,-25 0,25 0,-1 0,1 0,0 0,0 0,0 0,-25 0,49 0,1 0,-25 25,-25-25,49 0,-24 0,25 0,24 0,-24 0,24 0,-24 0,-50 25,49 0,1-25,0 0,-1 0,26 24,-1-24,-24 0,24 0,0 25,-74-25,50 0,0 0,-26 25,1-25,0 0,0 0,0 0,0 0,-25 0,49 0,-24 0,0 0,0 0,-1 0,1 0,0 0,0 0,-25 0,49 0,1 25,-25-25,24 0,-24 0,0 25,0-25,-25 0,49 0,-24 0,0 0,0 0,0 0,24 0,-24 0,0 0,0 0,-25 0,25 0,24 0,-24 0,0 0,24 0,-24 0,25 0,-1 0,-24 0,0 0,25 0,-26 0,1 0,50 0,-51 0,-24 0,25 0,25 0,-1 0,1 0,-50 24,50-24,24 0,-24 0,-1 0,26 0,-1 0,-24 0,49 0,0 0,-49 0,49 0,25 0,50 0,-50 0,0 0,-25 0,50 25,49 0,-123-25,24 0,0 0,0 0,-24 0,49 0,-25 0,0 0,-24 0,-26 0,50 0,1 0,-51 0,1 0,49 0,-74 0,49 0,-49 0,0 0,0 0,0 0,24 0,1 0,-25-25,24 25,1 0,-25 0,24 0,-24-25,0 25,49 0,-49 0,50 0,-26-24,-24 24,49 0,-74 0,25 0,25-25,-1 25,1 0,0-25,-26 25,51 0,-75 0,0-25,49 25,-49-25,50 25,-25-24,24 24,1 0,25 0,-75 0,24 0,26 0,-25 0,0 0,-1 0,1 0,0 0,0 0,0 0,-1 0,26 0,-50 0,25 0,0 0,-1 0,1 0,-25 0,25 0,0 0,24 0,1 0,0 0,-1 0,1 0,-1 0,26 0,-25 0,24 0,-24 0,-1 0,-24 0,0 0,0 0,24 0,-24 0,-25 0,25 0,-25 0,25 0,-1 0,-24 0,0 0,25 0,-25 0,25 0,-25 0,0 0,0 0,-25 0,0 0,-24 0</inkml:trace>
</inkml:ink>
</file>

<file path=ppt/ink/ink11.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2:59.580"/>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0,'0'0,"0"0,25 0,0 0,0 0,0 0,-1 0,1 0,-25 0,0 0,25 0,-25 0,0 0,25 0,-25 0,0 0,25 0,-25 0,24 0,-24 0,25 0,-25 0,0 0,25 0,0 0,0 0,-1 0,1 0,0 0,-25 0,0 0,25 0,-25 0,25 0,-25 0,24 0,-24 0,25 0,0 0,0 0,-25 0,25 0,-25 0,0 0,25 0,-1 0,1 0,-25 0,25 0,0 25,24-25,-24 0,25 0,24 0,-24 0,-50 24,49-24,-24 0,25 0,-1 0,-49 0,25 0,0 0,0 0,0 0,-25 0,24 0,-24 0,25 0,-25 0,25 0,-25 0,25 0,-25 0,25 0,-25 0,0 0,49 0,-49 0,25 0,0 0,-25 0,25 0,-25 0,49 0,-24 0,0 0,-25 0,25 0,-25 0,25 0,-1 0,-24 0,25 0,-25 0,25 0,-25 0,25 0,0 0,-25 0,24 0,1 0,-25 0,25 0,0 0,24 0,-24 0,0 0,0 0,24 0,-49 0,25 0,0 0,0 0,0 0,-1 0,1 0,25 0,-1 0,-24 0,0 0,25 0,-1 0,-49 0,25 0,0 0,0 0,-25 0,25 0,-25 0,24 0,1 0,25 0,-25 0,-1 0,1 0,0 0,-25 0,25 0,0 0,-1 0,-24 0,25 0,0 0,0 0,-25 0,25 0,-1 0,1 0,25 0,-50 0,49 0,-49 0,25 0,0 0,0 0,-25 0,25 0,-25 0,25 0,-1 0,1 0,-25 0,25 0,-25 0,0 0,0 0,25 0,-25 0,25 0,-25 0,24 0,-24-24,0 24,0 0,0 0,0 0</inkml:trace>
</inkml:ink>
</file>

<file path=ppt/ink/ink12.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4:02.723"/>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14,'0'0,"0"0,0 0,25 0,-25 0,25 25,-25-25,0 0,24 0,-24 0,0 24,25-24,-25 0,25 0,-25 0,0 0,25 0,-25 0,0 25,25-25,-25 0,24 0,-24 0,0 0,25 0,-25 0,25 0,-25 0,25 0,0 0,-25 0,24 0,1 0,-25 0,25 0,-25 0,25 0,0 0,-25 0,24 0,1 0,0 0,-25 0,25 0,-25 0,25 0,-1 0,-24 0,25 0,0 0,0 0,-25 0,25 0,0 0,-1 0,-24 0,25 0,-25 0,0 25,25-25,-25 0,25 0,0 0,-25 0,24 0,-24 0,25 0,-25 0,25 0,0-25,-25 0,25 25,-1 0,-24 0,25 0,-25 0,25 0,25 0,-50 0,24 0,1 0,25-24,-50 24,0 0,25 0,-1 0,51 0,-50 0,-1 0,51 0,-1-25,1 25,-75 0,49 0,1 0,0 0,-26 0,26 0,0 0,-26 0,76 0,-51 0,-49 0,75 0,-1 0,0 0,-24 0,24 0,26 0,-75 0,49 0,0 0,-49 0,0 0,49 0,-24 0,-25 0,24 0,-24 0,0 0,0 0,0 0,-1 0,1 0,0 0,25 0,-26 25,26-25,-25 0,49 0,1 0,-50 0,24 0,50 0,-24 0,24 24,-99-24,50 0,-1 0,26 0,-26 0,1 0,-25 0,-1 0,26 0,0 0,-26 0,26 0,0 25,24-25,-24 0,-1 0,1 0,0 0,-26 0,26 0,-25 0,24 0,-24 0,0 0,25 0,-26 0,-24 0,50 0,-25 0,-25 0,25 0,-1 0,-24 0,25 0,-25 0,25 0,0 0,0 0,0 0,-1 0,1 0,0 0,0 0,-25 0,25 0,-1 0,1 0,0 0,0 0,-25 0,0 0,25 0,-1 0,1 0,0 0,0 0,0 0,-1 0,1 0,-25 0,0 0,25 0,25 0,-1 0,-24 0,25 0,-1 0,-24 0,0 0,0 0,24 0,1 0,-25 0,49 0,1 0,-26 0,1 0,-25 0,-1 0,1 0,25 0,-25 0,-1 0,26 0,0 0,-26 0,1 0,-25 0,50 0,-25 0,-25 0,24 0,-24 0,25 0,-25 0,0 0,25 0,0 0,0 0,-1 0,-24 0,25 0,0 0,0 0,-25 0,0 0,25 0,-25 0,25 0,-25-25,0 25,24 0,-24 0,25 0,-25 0,0 0,25 0,-25 0,25 0,0 0,-25 0,24 0,-24 0,0 0,0 0,25 0,-25 0,0 0,-25 0,25 0,0 0,0 0,-24 0,-1 0,-25 25</inkml:trace>
</inkml:ink>
</file>

<file path=ppt/ink/ink13.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4:06.580"/>
    </inkml:context>
    <inkml:brush xml:id="br0">
      <inkml:brushProperty name="width" value="0.08819" units="cm"/>
      <inkml:brushProperty name="height" value="0.35278" units="cm"/>
      <inkml:brushProperty name="color" value="#FFFF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0 135,'25'0,"-25"0,24 0,-24 0,25 0,0 0,-25 0,25 0,-25 0,25 0,-1 0,1 0,25 0,49 0,-25 0,26 0,-26-24,-24 24,24-25,1 25,-51-25,26 25,-25 0,24 0,1-25,0 25,-1 0,26 0,-26-25,1 25,49 0,-24 0,49 0,24 0,1 0,0 0,-25 0,-50 0,150 0,-75 0,24 0,-24 0,-25 0,-49 0,-1 0,0 0,-74 0,25 0,50 0,-26 0,-24 0,49 0,-49 0,50 0,-26 0,-24 0,25 0,-26 0,51 0,-26 0,-49 0,50 25,-25-25,74 0,-24 0,49 25,-50-25,-24 0,24 0,-24 0,-1 0,1 0,-25 0,-1 0,26 0,-25 0,49 0,-24 25,-25-25,49 0,-49 0,0 0,0 0,-1 0,1 0,25 0,-25 0,49 0,-24 0,-1 0,-24 0,25 0,-26 0,-24 0,25 0,-25 0,25 0,0 0,24 0,-24 0,25 0,-25 0,-1 0,1 25,0-25,-25 0,25 0,25 0,-26 0,51 24,-26-24,1 0,0 0,-1 0,-24 0,-25 0,74 0,-49 0,25 0,-25 0,-1 0,-24 0,50 0,0 0,-26 0,1 0,0 0,0 0,0 0,-1 0,1 0,0 0,-25 0,25 0,0 0,0 0,-1 0,26 0,-25 0,24 0,-49 0,25 0,-25 0,25 0,-25 0,0 0,50 0,-26 0,1 0,-25 0,25 0,0 0,-25 0,25 0,-25 0,0 0,24 0,-24 0,25 0,0 0,-25 0,25 0,-25 0,0 0,25 0,-25 0,24 0,-24 0,25 0,-25 0,25 0,-25 0,0 0,25 0,-25 0,25 0,-25 0,24 0,-24 0,0 0,0 0,0 0</inkml:trace>
</inkml:ink>
</file>

<file path=ppt/ink/ink14.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4:34.106"/>
    </inkml:context>
    <inkml:brush xml:id="br0">
      <inkml:brushProperty name="width" value="0.08819" units="cm"/>
      <inkml:brushProperty name="height" value="0.35278" units="cm"/>
      <inkml:brushProperty name="color" value="#FF00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0,'0'0,"0"0,24 0,-24 0,25 0,-25 0,0 0,25 0,0 0,0 0,24 0,-24 0,0 0,-25 0,25 0,-1 0,1 0,25 0,0 0,49 0,-50 25,1-25,0 0,-1 0,1 0,-25 0,-1 0,1 0,0 0,0 0,-25 0,25 0,-25 25,0-25,49 0,-24 0,0 0,24 0,-24 0,0 0,0 0,0 0,24 0,-49 0,25 0,25 0,-1 0,-49 0,25 0,0 0,0 0,0 0,-1 0,1 0,0 0,0 0,0 0,-1 0,-24 0,25 0,0 0,25 0,-50 0,74 0,-49 0,0 0,24 0,1 0,-25 0,-1 0,26 0,-25 0,24 0,26 0,-50 0,49 0,1 0,-51 0,51 0,-75 25,74-25,1 0,-51 0,26 0,-25 0,49 0,-74 0,50 0,-25 0,24 0,26 0,-50 0,-1 0,-24 0,25 0,0 0,0 0,-25 0,25 0,-25 0,24 0,-24 0,50 0,-50 0,50 0,-50 0,0 0,24 0,1 0,0 0,0 0,0 0,-25 0,24 0,1 0,-25 0,0 0,25 0,-25 0,25 0,0 0,-1 0,26 0,0 0,-26 0,-24 0,50 0,0 0,-1 0,1 0,0 0,-26 0,26 0,-25 0,0 0,-25 0,24 0,1 0,-25 0,25 0,0 0,0 0,-1 0,1 0,-25 0,25 0,-25 0,0 0,25 0,0 0,-25 0,24 0,-24 0,0 0,25 0,-25 0,0 0,25 0,-25 0,25 0,-25 0,25 0,-25 0,24 0,1 0,-25 0,25 0,0 0,-25 0,25 0,-25 0,24 0,-24 0,25 0,-25 0,25 0,-25 0,25 0,-25 0,25 0,-25 0,0 0,24 0,-24 0,25 0,-25 0,25 0,-25 0,25 0,-25 0,0 0,25 0,-25 0,0 0,0 0,25 0,-25 0,24 0,-24 0,0 0,25 0,-25 0,25 0,-25 0,25 0,-25 0,25 0,-25 0,0 0,24 0,-24 0,25 0,-25 0,25 0,-25 0,0 0,0 0,0 0,0 0,0 0,25 0,-25 0,0 0,25 0,-25 0,24 0,-24 0,0 0</inkml:trace>
</inkml:ink>
</file>

<file path=ppt/ink/ink15.xml><?xml version="1.0" encoding="utf-8"?>
<inkml:ink xmlns:inkml="http://www.w3.org/2003/InkML">
  <inkml:definitions>
    <inkml:context xml:id="ctx0">
      <inkml:inkSource xml:id="inkSrc0">
        <inkml:traceFormat>
          <inkml:channel name="X" type="integer" max="2390" units="cm"/>
          <inkml:channel name="Y" type="integer" max="768" units="cm"/>
        </inkml:traceFormat>
        <inkml:channelProperties>
          <inkml:channelProperty channel="X" name="resolution" value="49.58506" units="1/cm"/>
          <inkml:channelProperty channel="Y" name="resolution" value="28.33948" units="1/cm"/>
        </inkml:channelProperties>
      </inkml:inkSource>
      <inkml:timestamp xml:id="ts0" timeString="2014-01-19T13:44:38.467"/>
    </inkml:context>
    <inkml:brush xml:id="br0">
      <inkml:brushProperty name="width" value="0.08819" units="cm"/>
      <inkml:brushProperty name="height" value="0.35278" units="cm"/>
      <inkml:brushProperty name="color" value="#FF0000"/>
      <inkml:brushProperty name="transparency" value="170"/>
      <inkml:brushProperty name="tip" value="rectangle"/>
      <inkml:brushProperty name="rasterOp" value="maskPen"/>
      <inkml:brushProperty name="fitToCurve" value="1"/>
      <inkml:brushProperty name="ignorePressure" value="1"/>
    </inkml:brush>
  </inkml:definitions>
  <inkml:trace contextRef="#ctx0" brushRef="#br0">0 143,'25'0,"-25"0,25 0,-25 0,24 0,-24 0,25 0,-25 0,0 0,25 0,0 0,0 0,-1 0,26 0,-50-24,50 24,-26 0,-24 0,25 0,-25 0,25-25,0 25,25-25,-1 25,1 0,-25 0,49 0,-24 0,-1 0,1 0,24 0,-24 0,-25 0,24 0,1 0,24 0,1 0,-1 0,-24 0,24 0,-24 0,24-25,-24 25,24 0,-49 0,-25 0,50 0,-1 0,1 0,-25 0,24-25,-49 25,25 0,0 0,0 0,-25 0,24 0,1 0,0 0,0 0,0 0,-1 0,1 0,0 0,-25 0,25 0,-25 0,0 0,0 0,25 0,0 0,-25 0,24 0,-24 0,25 0,-25 0,0 0,25 0,-25 0,25 0,-25 0,25 0,-25 0,0 0,24 0,-24 0,25 0,-25 0,25 0,-25 0,25 0,-25 0,0 0,25 0,-25 0,24 0,-24 0,0 0,25 0,-25 0,0 0,25 0,-25 0,25 0,-25 0,25 0,-25 0,24 0,-24 0,0 0,25 0,-25 0,25 0,-25 0,25 0,-25 0,0 0,0 0,25 0,-25 0,24 0,-24 0,0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230D32F-3048-450E-A830-0D2384D845AC}" type="datetimeFigureOut">
              <a:rPr lang="en-US" smtClean="0"/>
              <a:pPr/>
              <a:t>27-Jan-2023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A8E3C9-870E-4E10-82AC-F740053F722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107C2B-1E14-49EB-8E9F-EF9A3D476108}" type="slidenum">
              <a:rPr lang="en-US"/>
              <a:pPr/>
              <a:t>7</a:t>
            </a:fld>
            <a:endParaRPr lang="en-US"/>
          </a:p>
        </p:txBody>
      </p:sp>
      <p:sp>
        <p:nvSpPr>
          <p:cNvPr id="21506"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21507"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8C7442E-0AF3-4527-BF64-FF86868DA9A7}" type="slidenum">
              <a:rPr lang="en-US"/>
              <a:pPr/>
              <a:t>8</a:t>
            </a:fld>
            <a:endParaRPr lang="en-US"/>
          </a:p>
        </p:txBody>
      </p:sp>
      <p:sp>
        <p:nvSpPr>
          <p:cNvPr id="23554"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23555"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05016EA-BAB5-4266-A89C-30B3801E0DA4}" type="slidenum">
              <a:rPr lang="en-US"/>
              <a:pPr/>
              <a:t>9</a:t>
            </a:fld>
            <a:endParaRPr lang="en-US"/>
          </a:p>
        </p:txBody>
      </p:sp>
      <p:sp>
        <p:nvSpPr>
          <p:cNvPr id="25602"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25603"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A3F197-9F37-4959-AF6A-240F53AE6B8D}" type="slidenum">
              <a:rPr lang="en-US"/>
              <a:pPr/>
              <a:t>10</a:t>
            </a:fld>
            <a:endParaRPr lang="en-US"/>
          </a:p>
        </p:txBody>
      </p:sp>
      <p:sp>
        <p:nvSpPr>
          <p:cNvPr id="27650"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27651"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F8199B-8AB2-4A7C-A078-43198D46209E}" type="slidenum">
              <a:rPr lang="en-US"/>
              <a:pPr/>
              <a:t>11</a:t>
            </a:fld>
            <a:endParaRPr lang="en-US"/>
          </a:p>
        </p:txBody>
      </p:sp>
      <p:sp>
        <p:nvSpPr>
          <p:cNvPr id="29698"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29699"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5B75211-8025-4E22-965F-4C2D5D65C58D}" type="slidenum">
              <a:rPr lang="en-US"/>
              <a:pPr/>
              <a:t>12</a:t>
            </a:fld>
            <a:endParaRPr lang="en-US"/>
          </a:p>
        </p:txBody>
      </p:sp>
      <p:sp>
        <p:nvSpPr>
          <p:cNvPr id="31746"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31747"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DED9D5-E051-45F4-B8C4-A39F88DAE0CF}" type="slidenum">
              <a:rPr lang="en-US"/>
              <a:pPr/>
              <a:t>13</a:t>
            </a:fld>
            <a:endParaRPr lang="en-US"/>
          </a:p>
        </p:txBody>
      </p:sp>
      <p:sp>
        <p:nvSpPr>
          <p:cNvPr id="33794"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33795"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ED930C0-B84E-4CBB-A762-21AEEB360CA5}" type="slidenum">
              <a:rPr lang="en-US"/>
              <a:pPr/>
              <a:t>14</a:t>
            </a:fld>
            <a:endParaRPr lang="en-US"/>
          </a:p>
        </p:txBody>
      </p:sp>
      <p:sp>
        <p:nvSpPr>
          <p:cNvPr id="35842"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35843"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13D6502-13AF-4882-90C1-5905B0BF034F}" type="slidenum">
              <a:rPr lang="en-US"/>
              <a:pPr/>
              <a:t>15</a:t>
            </a:fld>
            <a:endParaRPr lang="en-US"/>
          </a:p>
        </p:txBody>
      </p:sp>
      <p:sp>
        <p:nvSpPr>
          <p:cNvPr id="37890"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37891"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482D133-4639-45F0-90F1-DD10C0833753}" type="slidenum">
              <a:rPr lang="en-US"/>
              <a:pPr/>
              <a:t>16</a:t>
            </a:fld>
            <a:endParaRPr lang="en-US"/>
          </a:p>
        </p:txBody>
      </p:sp>
      <p:sp>
        <p:nvSpPr>
          <p:cNvPr id="39938"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39939"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1C9A85-6D84-45C6-8183-A66D55079F3F}" type="slidenum">
              <a:rPr lang="en-US"/>
              <a:pPr/>
              <a:t>17</a:t>
            </a:fld>
            <a:endParaRPr lang="en-US"/>
          </a:p>
        </p:txBody>
      </p:sp>
      <p:sp>
        <p:nvSpPr>
          <p:cNvPr id="41986"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41987"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DC56F6-04BD-4649-9E8B-EDCE6677ACA5}" type="slidenum">
              <a:rPr lang="en-US"/>
              <a:pPr/>
              <a:t>18</a:t>
            </a:fld>
            <a:endParaRPr lang="en-US"/>
          </a:p>
        </p:txBody>
      </p:sp>
      <p:sp>
        <p:nvSpPr>
          <p:cNvPr id="44034"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44035"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18A4F7F-17B8-450E-8375-0799F9338FD0}" type="slidenum">
              <a:rPr lang="en-US"/>
              <a:pPr/>
              <a:t>19</a:t>
            </a:fld>
            <a:endParaRPr lang="en-US"/>
          </a:p>
        </p:txBody>
      </p:sp>
      <p:sp>
        <p:nvSpPr>
          <p:cNvPr id="46082"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46083"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0983E7-C787-4544-AEDA-744247BBB6F3}" type="slidenum">
              <a:rPr lang="en-US"/>
              <a:pPr/>
              <a:t>20</a:t>
            </a:fld>
            <a:endParaRPr lang="en-US"/>
          </a:p>
        </p:txBody>
      </p:sp>
      <p:sp>
        <p:nvSpPr>
          <p:cNvPr id="48130" name="Rectangle 2"/>
          <p:cNvSpPr>
            <a:spLocks noGrp="1" noRot="1" noChangeAspect="1" noChangeArrowheads="1" noTextEdit="1"/>
          </p:cNvSpPr>
          <p:nvPr>
            <p:ph type="sldImg"/>
          </p:nvPr>
        </p:nvSpPr>
        <p:spPr>
          <a:xfrm>
            <a:off x="1341438" y="915988"/>
            <a:ext cx="4176712" cy="3132137"/>
          </a:xfrm>
          <a:solidFill>
            <a:srgbClr val="FFFFFF"/>
          </a:solidFill>
          <a:ln/>
        </p:spPr>
      </p:sp>
      <p:sp>
        <p:nvSpPr>
          <p:cNvPr id="48131" name="Rectangle 3"/>
          <p:cNvSpPr txBox="1">
            <a:spLocks noGrp="1" noChangeArrowheads="1"/>
          </p:cNvSpPr>
          <p:nvPr>
            <p:ph type="body" idx="1"/>
          </p:nvPr>
        </p:nvSpPr>
        <p:spPr>
          <a:xfrm>
            <a:off x="1046163" y="4352925"/>
            <a:ext cx="4770437" cy="3476625"/>
          </a:xfrm>
          <a:ln/>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1BBF99E3-0E3B-4BBA-9DF3-396DF19830C6}" type="slidenum">
              <a:rPr lang="en-US" smtClean="0"/>
              <a:pPr>
                <a:defRPr/>
              </a:pPr>
              <a:t>43</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p:cNvSpPr>
            <a:spLocks noGrp="1" noChangeArrowheads="1"/>
          </p:cNvSpPr>
          <p:nvPr>
            <p:ph type="sldNum" sz="quarter" idx="5"/>
          </p:nvPr>
        </p:nvSpPr>
        <p:spPr>
          <a:noFill/>
        </p:spPr>
        <p:txBody>
          <a:bodyPr/>
          <a:lstStyle/>
          <a:p>
            <a:fld id="{EDE1998D-3339-4312-8CEF-67E95BEC4F36}" type="slidenum">
              <a:rPr lang="en-US" smtClean="0"/>
              <a:pPr/>
              <a:t>44</a:t>
            </a:fld>
            <a:endParaRPr lang="en-US"/>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p:spPr>
        <p:txBody>
          <a:bodyPr/>
          <a:lstStyle/>
          <a:p>
            <a:r>
              <a:rPr lang="en-US" dirty="0"/>
              <a:t>The frame begins with a frame sequence: 01111110</a:t>
            </a:r>
          </a:p>
          <a:p>
            <a:r>
              <a:rPr lang="en-US" dirty="0"/>
              <a:t>The address field : on lines with multiple terminals, the address field is used to identify one of the terminals</a:t>
            </a:r>
          </a:p>
          <a:p>
            <a:r>
              <a:rPr lang="en-US" dirty="0"/>
              <a:t>The control field: used for sequence numbers, acknowledgements and other purposes as shown on the next slide</a:t>
            </a:r>
          </a:p>
          <a:p>
            <a:r>
              <a:rPr lang="en-US" dirty="0"/>
              <a:t>The data field: may contain any information. It can have any length, although the efficiency of the checksum falls down with increasing frame length, due to the probability of occurrence of multiple burst errors. </a:t>
            </a:r>
          </a:p>
          <a:p>
            <a:r>
              <a:rPr lang="en-US" dirty="0"/>
              <a:t>The Checksum is the Cyclic Redundancy Code obtained with the technique described earlier</a:t>
            </a:r>
          </a:p>
          <a:p>
            <a:r>
              <a:rPr lang="en-US" dirty="0"/>
              <a:t>The frame is ended with another frame sequence: 01111110</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p:spPr>
        <p:txBody>
          <a:bodyPr/>
          <a:lstStyle/>
          <a:p>
            <a:fld id="{B18A5B21-0808-478D-ABBB-83DC528E0DAC}" type="slidenum">
              <a:rPr lang="en-US" smtClean="0"/>
              <a:pPr/>
              <a:t>45</a:t>
            </a:fld>
            <a:endParaRPr lang="en-US"/>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p:spPr>
        <p:txBody>
          <a:bodyPr/>
          <a:lstStyle/>
          <a:p>
            <a:r>
              <a:rPr lang="en-US"/>
              <a:t>There are three types of frames: information, supervisory and unnumbered.</a:t>
            </a:r>
          </a:p>
          <a:p>
            <a:endParaRPr lang="en-US"/>
          </a:p>
          <a:p>
            <a:endParaRPr lang="en-US"/>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4790682-788E-45A9-8ABE-2EE6D5699960}" type="slidenum">
              <a:rPr lang="en-US" smtClean="0"/>
              <a:pPr/>
              <a:t>46</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dirty="0"/>
              <a:t>The protocol is using a sliding window with 3 bits sequence numbers. Up to 7 unacknowledged frames can be in the traffic at any time. The </a:t>
            </a:r>
            <a:r>
              <a:rPr lang="en-US" dirty="0" err="1"/>
              <a:t>SEQ</a:t>
            </a:r>
            <a:r>
              <a:rPr lang="en-US" dirty="0"/>
              <a:t> field is the frame sequence number, while the NEXT field is the piggyback acknowledgement. </a:t>
            </a:r>
          </a:p>
          <a:p>
            <a:r>
              <a:rPr lang="en-US" dirty="0"/>
              <a:t>All of the </a:t>
            </a:r>
            <a:r>
              <a:rPr lang="en-US" dirty="0" err="1"/>
              <a:t>HDLC</a:t>
            </a:r>
            <a:r>
              <a:rPr lang="en-US" dirty="0"/>
              <a:t> protocols adhere to the convention that instead of sending the sequence number for the frame that has been received correctly, the acknowledgement contains the sequence number of the next frame that is expected (not received yet). </a:t>
            </a:r>
          </a:p>
          <a:p>
            <a:r>
              <a:rPr lang="en-US" dirty="0"/>
              <a:t>The P/F bit stands for Pool/Final and it is used when a computer is polling a group of terminals. When used as P, the computer is inviting the terminals to send data. All the frames from the terminal, except the final one, have the P/F flag set to P. The final one is F. The F flag is sometimes used to force the other machine to send a supervisory frame immediately, without waiting for reverse traffic where to piggyback the window information.</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p:cNvSpPr>
            <a:spLocks noGrp="1" noChangeArrowheads="1"/>
          </p:cNvSpPr>
          <p:nvPr>
            <p:ph type="sldNum" sz="quarter" idx="5"/>
          </p:nvPr>
        </p:nvSpPr>
        <p:spPr>
          <a:noFill/>
        </p:spPr>
        <p:txBody>
          <a:bodyPr/>
          <a:lstStyle/>
          <a:p>
            <a:fld id="{F4790682-788E-45A9-8ABE-2EE6D5699960}" type="slidenum">
              <a:rPr lang="en-US" smtClean="0"/>
              <a:pPr/>
              <a:t>47</a:t>
            </a:fld>
            <a:endParaRPr lang="en-US"/>
          </a:p>
        </p:txBody>
      </p:sp>
      <p:sp>
        <p:nvSpPr>
          <p:cNvPr id="23555" name="Rectangle 2"/>
          <p:cNvSpPr>
            <a:spLocks noGrp="1" noRot="1" noChangeAspect="1" noChangeArrowheads="1" noTextEdit="1"/>
          </p:cNvSpPr>
          <p:nvPr>
            <p:ph type="sldImg"/>
          </p:nvPr>
        </p:nvSpPr>
        <p:spPr>
          <a:ln/>
        </p:spPr>
      </p:sp>
      <p:sp>
        <p:nvSpPr>
          <p:cNvPr id="23556" name="Rectangle 3"/>
          <p:cNvSpPr>
            <a:spLocks noGrp="1" noChangeArrowheads="1"/>
          </p:cNvSpPr>
          <p:nvPr>
            <p:ph type="body" idx="1"/>
          </p:nvPr>
        </p:nvSpPr>
        <p:spPr>
          <a:noFill/>
          <a:ln/>
        </p:spPr>
        <p:txBody>
          <a:bodyPr/>
          <a:lstStyle/>
          <a:p>
            <a:r>
              <a:rPr lang="en-US" dirty="0"/>
              <a:t>The protocol is using a sliding window with 3 bits sequence numbers. Up to 7 unacknowledged frames can be in the traffic at any time. The </a:t>
            </a:r>
            <a:r>
              <a:rPr lang="en-US" dirty="0" err="1"/>
              <a:t>SEQ</a:t>
            </a:r>
            <a:r>
              <a:rPr lang="en-US" dirty="0"/>
              <a:t> field is the frame sequence number, while the NEXT field is the piggyback acknowledgement. </a:t>
            </a:r>
          </a:p>
          <a:p>
            <a:r>
              <a:rPr lang="en-US" dirty="0"/>
              <a:t>All of the </a:t>
            </a:r>
            <a:r>
              <a:rPr lang="en-US" dirty="0" err="1"/>
              <a:t>HDLC</a:t>
            </a:r>
            <a:r>
              <a:rPr lang="en-US" dirty="0"/>
              <a:t> protocols adhere to the convention that instead of sending the sequence number for the frame that has been received correctly, the acknowledgement contains the sequence number of the next frame that is expected (not received yet). </a:t>
            </a:r>
          </a:p>
          <a:p>
            <a:r>
              <a:rPr lang="en-US" dirty="0"/>
              <a:t>The P/F bit stands for Pool/Final and it is used when a computer is polling a group of terminals. When used as P, the computer is inviting the terminals to send data. All the frames from the terminal, except the final one, have the P/F flag set to P. The final one is F. The F flag is sometimes used to force the other machine to send a supervisory frame immediately, without waiting for reverse traffic where to piggyback the window information.</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p:spPr>
        <p:txBody>
          <a:bodyPr/>
          <a:lstStyle/>
          <a:p>
            <a:fld id="{E3B6104C-20C6-4093-8829-95D84ABAEE10}" type="slidenum">
              <a:rPr lang="en-US" smtClean="0"/>
              <a:pPr/>
              <a:t>48</a:t>
            </a:fld>
            <a:endParaRPr lang="en-US"/>
          </a:p>
        </p:txBody>
      </p:sp>
      <p:sp>
        <p:nvSpPr>
          <p:cNvPr id="24579" name="Rectangle 2"/>
          <p:cNvSpPr>
            <a:spLocks noGrp="1" noRot="1" noChangeAspect="1" noChangeArrowheads="1" noTextEdit="1"/>
          </p:cNvSpPr>
          <p:nvPr>
            <p:ph type="sldImg"/>
          </p:nvPr>
        </p:nvSpPr>
        <p:spPr>
          <a:ln/>
        </p:spPr>
      </p:sp>
      <p:sp>
        <p:nvSpPr>
          <p:cNvPr id="24580" name="Rectangle 3"/>
          <p:cNvSpPr>
            <a:spLocks noGrp="1" noChangeArrowheads="1"/>
          </p:cNvSpPr>
          <p:nvPr>
            <p:ph type="body" idx="1"/>
          </p:nvPr>
        </p:nvSpPr>
        <p:spPr>
          <a:noFill/>
          <a:ln/>
        </p:spPr>
        <p:txBody>
          <a:bodyPr/>
          <a:lstStyle/>
          <a:p>
            <a:r>
              <a:rPr lang="en-US"/>
              <a:t>Various kinds of SUPERVISORY frames are distinguished by the type filed:</a:t>
            </a:r>
          </a:p>
          <a:p>
            <a:pPr lvl="1"/>
            <a:r>
              <a:rPr lang="en-US"/>
              <a:t>Type 0 is an acknowledgement frame (called RECEIVE READY), used to indicate the next frame expected</a:t>
            </a:r>
          </a:p>
          <a:p>
            <a:pPr lvl="1"/>
            <a:r>
              <a:rPr lang="en-US"/>
              <a:t>Type 1 is a negative acknowledgement frame (called REJECT), used to indicate an error. The NEXT field indicates the first frame in sequence that has not been received correctly. The sender is requested to send all frames beginning at NEXT</a:t>
            </a:r>
          </a:p>
          <a:p>
            <a:pPr lvl="1"/>
            <a:r>
              <a:rPr lang="en-US"/>
              <a:t>Type 2 is RECEIVE NOT READY. It acknowledges all frames up to but not including the NEXT one. It also tells the sender to stop sending. When the receiver is ready again, it sends a RECEIVE READY. </a:t>
            </a:r>
          </a:p>
          <a:p>
            <a:pPr lvl="1"/>
            <a:r>
              <a:rPr lang="en-US"/>
              <a:t>Type 3 is a SELECTIVE REJECT. It calls for retransmission of only the frame specified. Thus, if a receiver wants to buffer out of sequence frames, it can force the retransmission of a specific frame by using a selective reject.</a:t>
            </a:r>
          </a:p>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a:ln/>
        </p:spPr>
      </p:sp>
      <p:sp>
        <p:nvSpPr>
          <p:cNvPr id="25603" name="Notes Placeholder 2"/>
          <p:cNvSpPr>
            <a:spLocks noGrp="1"/>
          </p:cNvSpPr>
          <p:nvPr>
            <p:ph type="body" idx="1"/>
          </p:nvPr>
        </p:nvSpPr>
        <p:spPr>
          <a:noFill/>
          <a:ln/>
        </p:spPr>
        <p:txBody>
          <a:bodyPr/>
          <a:lstStyle/>
          <a:p>
            <a:endParaRPr lang="en-US"/>
          </a:p>
        </p:txBody>
      </p:sp>
      <p:sp>
        <p:nvSpPr>
          <p:cNvPr id="25604" name="Slide Number Placeholder 3"/>
          <p:cNvSpPr>
            <a:spLocks noGrp="1"/>
          </p:cNvSpPr>
          <p:nvPr>
            <p:ph type="sldNum" sz="quarter" idx="5"/>
          </p:nvPr>
        </p:nvSpPr>
        <p:spPr>
          <a:noFill/>
        </p:spPr>
        <p:txBody>
          <a:bodyPr/>
          <a:lstStyle/>
          <a:p>
            <a:fld id="{6EC937EF-8E17-4907-A3CF-EBA182FF9F73}" type="slidenum">
              <a:rPr lang="en-US" smtClean="0"/>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7E70D8E-DDD6-4498-9ECA-03F6EA49C555}"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4025541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AC26EF-7DEE-4EE5-B253-FB7CF62B4188}"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505455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39A29F-EBD9-4F24-8F64-C92530BD5C39}"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398866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AA4CD8A-DFD9-4335-9207-C271704E3239}" type="datetime1">
              <a:rPr lang="en-US" smtClean="0"/>
              <a:t>27-Jan-2023</a:t>
            </a:fld>
            <a:endParaRPr lang="en-US"/>
          </a:p>
        </p:txBody>
      </p:sp>
      <p:sp>
        <p:nvSpPr>
          <p:cNvPr id="6" name="Footer Placeholder 5"/>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7" name="Slide Number Placeholder 6"/>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466965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FE3497-50FE-4E92-BC7B-F4C947FA50A0}" type="datetime1">
              <a:rPr lang="en-US" smtClean="0"/>
              <a:t>27-Jan-2023</a:t>
            </a:fld>
            <a:endParaRPr lang="en-US"/>
          </a:p>
        </p:txBody>
      </p:sp>
      <p:sp>
        <p:nvSpPr>
          <p:cNvPr id="8" name="Footer Placeholder 7"/>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9" name="Slide Number Placeholder 8"/>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3139773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F8AD843-43B4-49CA-85A1-B096C26313E3}" type="datetime1">
              <a:rPr lang="en-US" smtClean="0"/>
              <a:t>27-Jan-2023</a:t>
            </a:fld>
            <a:endParaRPr lang="en-US"/>
          </a:p>
        </p:txBody>
      </p:sp>
      <p:sp>
        <p:nvSpPr>
          <p:cNvPr id="4" name="Footer Placeholder 3"/>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5" name="Slide Number Placeholder 4"/>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10610333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FB162DE-C810-4488-838C-C182E8109C75}" type="datetime1">
              <a:rPr lang="en-US" smtClean="0"/>
              <a:t>27-Jan-2023</a:t>
            </a:fld>
            <a:endParaRPr lang="en-US"/>
          </a:p>
        </p:txBody>
      </p:sp>
      <p:sp>
        <p:nvSpPr>
          <p:cNvPr id="3" name="Footer Placeholder 2"/>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4" name="Slide Number Placeholder 3"/>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284720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9BAAAFC2-FD42-41AA-AD2B-ADA0C3B6D1B7}" type="datetime1">
              <a:rPr lang="en-US" smtClean="0"/>
              <a:t>27-Jan-2023</a:t>
            </a:fld>
            <a:endParaRPr lang="en-US"/>
          </a:p>
        </p:txBody>
      </p:sp>
      <p:sp>
        <p:nvSpPr>
          <p:cNvPr id="6" name="Footer Placeholder 5"/>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7" name="Slide Number Placeholder 6"/>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4687690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BAE920-1F5F-4B5E-8CDF-005B00EF3A3F}" type="datetime1">
              <a:rPr lang="en-US" smtClean="0"/>
              <a:t>27-Jan-2023</a:t>
            </a:fld>
            <a:endParaRPr lang="en-US"/>
          </a:p>
        </p:txBody>
      </p:sp>
      <p:sp>
        <p:nvSpPr>
          <p:cNvPr id="6" name="Footer Placeholder 5"/>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7" name="Slide Number Placeholder 6"/>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3100989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9665B7-80C2-4264-955E-20A3A33971DA}"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350795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3945BED-1BEA-4521-B645-44E10DA5C1F6}"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011625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C61F455-DE05-473E-BA30-44D882F25417}"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13924455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6F6F3E-0292-462E-8F50-C59BBFE057B1}"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0034868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2F59C0-7206-40CC-BA23-88150BA009B1}"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1700679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271B18-579C-43C1-AF59-D0C47480A8D1}"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4021130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E773B6E-2053-440C-9F52-80FE05B4B374}" type="datetime1">
              <a:rPr lang="en-US" smtClean="0"/>
              <a:t>27-Jan-2023</a:t>
            </a:fld>
            <a:endParaRPr lang="en-US"/>
          </a:p>
        </p:txBody>
      </p:sp>
      <p:sp>
        <p:nvSpPr>
          <p:cNvPr id="5" name="Footer Placeholder 4"/>
          <p:cNvSpPr>
            <a:spLocks noGrp="1"/>
          </p:cNvSpPr>
          <p:nvPr>
            <p:ph type="ftr" sz="quarter" idx="11"/>
          </p:nvPr>
        </p:nvSpPr>
        <p:spPr/>
        <p:txBody>
          <a:bodyPr/>
          <a:lstStyle/>
          <a:p>
            <a:r>
              <a:rPr lang="en-US"/>
              <a:t>Computer Networks, 6th Edition by Andrew Tanenbaum and David Wetherall, © Pearson Education-Prentice Hall</a:t>
            </a:r>
          </a:p>
        </p:txBody>
      </p:sp>
      <p:sp>
        <p:nvSpPr>
          <p:cNvPr id="6" name="Slide Number Placeholder 5"/>
          <p:cNvSpPr>
            <a:spLocks noGrp="1"/>
          </p:cNvSpPr>
          <p:nvPr>
            <p:ph type="sldNum" sz="quarter" idx="12"/>
          </p:nvPr>
        </p:nvSpPr>
        <p:spPr/>
        <p:txBody>
          <a:bodyPr/>
          <a:lstStyle/>
          <a:p>
            <a:fld id="{B71CAC89-F98C-4A6B-8C5A-B8543597B71D}" type="slidenum">
              <a:rPr lang="en-US" smtClean="0"/>
              <a:pPr/>
              <a:t>‹#›</a:t>
            </a:fld>
            <a:endParaRPr lang="en-US"/>
          </a:p>
        </p:txBody>
      </p:sp>
    </p:spTree>
    <p:extLst>
      <p:ext uri="{BB962C8B-B14F-4D97-AF65-F5344CB8AC3E}">
        <p14:creationId xmlns:p14="http://schemas.microsoft.com/office/powerpoint/2010/main" val="23855316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C6F0A0D2-1C87-42B1-87A8-C5B0A740080A}" type="datetime1">
              <a:rPr lang="en-US" smtClean="0"/>
              <a:t>27-Jan-2023</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Computer Networks, 6th Edition by Andrew Tanenbaum and David Wetherall, © Pearson Education-Prentice Hall</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B55C108C-B689-427D-897E-60B2DA4F3424}" type="slidenum">
              <a:rPr lang="en-US"/>
              <a:pPr/>
              <a:t>‹#›</a:t>
            </a:fld>
            <a:endParaRPr lang="en-US"/>
          </a:p>
        </p:txBody>
      </p:sp>
    </p:spTree>
    <p:extLst>
      <p:ext uri="{BB962C8B-B14F-4D97-AF65-F5344CB8AC3E}">
        <p14:creationId xmlns:p14="http://schemas.microsoft.com/office/powerpoint/2010/main" val="39829872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5B6AC70-8A15-431C-ADEF-A1EDB8773F35}" type="datetime1">
              <a:rPr lang="en-US" smtClean="0"/>
              <a:t>27-Jan-2023</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Computer Networks, 6th Edition by Andrew Tanenbaum and David Wetherall, © Pearson Education-Prentice Hall</a:t>
            </a:r>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71CAC89-F98C-4A6B-8C5A-B8543597B71D}" type="slidenum">
              <a:rPr lang="en-US" smtClean="0"/>
              <a:pPr/>
              <a:t>‹#›</a:t>
            </a:fld>
            <a:endParaRPr lang="en-US"/>
          </a:p>
        </p:txBody>
      </p:sp>
    </p:spTree>
    <p:extLst>
      <p:ext uri="{BB962C8B-B14F-4D97-AF65-F5344CB8AC3E}">
        <p14:creationId xmlns:p14="http://schemas.microsoft.com/office/powerpoint/2010/main" val="377444417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70" r:id="rId12"/>
    <p:sldLayoutId id="2147483771" r:id="rId13"/>
    <p:sldLayoutId id="2147483772" r:id="rId14"/>
    <p:sldLayoutId id="2147483773" r:id="rId15"/>
    <p:sldLayoutId id="2147483774" r:id="rId16"/>
    <p:sldLayoutId id="2147483775" r:id="rId17"/>
  </p:sldLayoutIdLst>
  <p:hf sldNum="0"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sites.google.com/site/drmohammadshahidulisla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7.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8.png"/><Relationship Id="rId12" Type="http://schemas.openxmlformats.org/officeDocument/2006/relationships/customXml" Target="../ink/ink4.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customXml" Target="../ink/ink1.xml"/><Relationship Id="rId11" Type="http://schemas.openxmlformats.org/officeDocument/2006/relationships/image" Target="../media/image10.png"/><Relationship Id="rId5" Type="http://schemas.openxmlformats.org/officeDocument/2006/relationships/image" Target="../media/image7.png"/><Relationship Id="rId15" Type="http://schemas.openxmlformats.org/officeDocument/2006/relationships/image" Target="../media/image12.png"/><Relationship Id="rId10" Type="http://schemas.openxmlformats.org/officeDocument/2006/relationships/customXml" Target="../ink/ink3.xml"/><Relationship Id="rId4" Type="http://schemas.openxmlformats.org/officeDocument/2006/relationships/image" Target="../media/image6.png"/><Relationship Id="rId9" Type="http://schemas.openxmlformats.org/officeDocument/2006/relationships/image" Target="../media/image9.png"/><Relationship Id="rId14" Type="http://schemas.openxmlformats.org/officeDocument/2006/relationships/customXml" Target="../ink/ink5.xml"/></Relationships>
</file>

<file path=ppt/slides/_rels/slide13.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18.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customXml" Target="../ink/ink9.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customXml" Target="../ink/ink6.xml"/><Relationship Id="rId11" Type="http://schemas.openxmlformats.org/officeDocument/2006/relationships/image" Target="../media/image17.png"/><Relationship Id="rId5" Type="http://schemas.openxmlformats.org/officeDocument/2006/relationships/image" Target="../media/image14.png"/><Relationship Id="rId10" Type="http://schemas.openxmlformats.org/officeDocument/2006/relationships/customXml" Target="../ink/ink8.xml"/><Relationship Id="rId4" Type="http://schemas.openxmlformats.org/officeDocument/2006/relationships/image" Target="../media/image13.png"/><Relationship Id="rId9" Type="http://schemas.openxmlformats.org/officeDocument/2006/relationships/image" Target="../media/image16.png"/></Relationships>
</file>

<file path=ppt/slides/_rels/slide1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customXml" Target="../ink/ink14.xml"/><Relationship Id="rId3" Type="http://schemas.openxmlformats.org/officeDocument/2006/relationships/image" Target="../media/image1.png"/><Relationship Id="rId7" Type="http://schemas.openxmlformats.org/officeDocument/2006/relationships/customXml" Target="../ink/ink11.xml"/><Relationship Id="rId12" Type="http://schemas.openxmlformats.org/officeDocument/2006/relationships/image" Target="../media/image23.png"/><Relationship Id="rId2" Type="http://schemas.openxmlformats.org/officeDocument/2006/relationships/notesSlide" Target="../notesSlides/notesSlide8.xml"/><Relationship Id="rId16" Type="http://schemas.openxmlformats.org/officeDocument/2006/relationships/image" Target="../media/image25.png"/><Relationship Id="rId1" Type="http://schemas.openxmlformats.org/officeDocument/2006/relationships/slideLayout" Target="../slideLayouts/slideLayout17.xml"/><Relationship Id="rId6" Type="http://schemas.openxmlformats.org/officeDocument/2006/relationships/image" Target="../media/image20.png"/><Relationship Id="rId11" Type="http://schemas.openxmlformats.org/officeDocument/2006/relationships/customXml" Target="../ink/ink13.xml"/><Relationship Id="rId5" Type="http://schemas.openxmlformats.org/officeDocument/2006/relationships/customXml" Target="../ink/ink10.xml"/><Relationship Id="rId15" Type="http://schemas.openxmlformats.org/officeDocument/2006/relationships/customXml" Target="../ink/ink15.xml"/><Relationship Id="rId10" Type="http://schemas.openxmlformats.org/officeDocument/2006/relationships/image" Target="../media/image22.png"/><Relationship Id="rId4" Type="http://schemas.openxmlformats.org/officeDocument/2006/relationships/image" Target="../media/image19.png"/><Relationship Id="rId9" Type="http://schemas.openxmlformats.org/officeDocument/2006/relationships/customXml" Target="../ink/ink12.xml"/><Relationship Id="rId1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33.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Week-1</a:t>
            </a:r>
          </a:p>
        </p:txBody>
      </p:sp>
      <p:sp>
        <p:nvSpPr>
          <p:cNvPr id="3" name="Subtitle 2"/>
          <p:cNvSpPr>
            <a:spLocks noGrp="1"/>
          </p:cNvSpPr>
          <p:nvPr>
            <p:ph type="subTitle" idx="1"/>
          </p:nvPr>
        </p:nvSpPr>
        <p:spPr/>
        <p:txBody>
          <a:bodyPr/>
          <a:lstStyle/>
          <a:p>
            <a:r>
              <a:rPr lang="en-US" dirty="0"/>
              <a:t>Instructor: </a:t>
            </a:r>
            <a:r>
              <a:rPr lang="en-US" dirty="0" err="1"/>
              <a:t>D.MSI</a:t>
            </a:r>
            <a:endParaRPr lang="en-US" dirty="0"/>
          </a:p>
        </p:txBody>
      </p:sp>
      <p:sp>
        <p:nvSpPr>
          <p:cNvPr id="5" name="TextBox 4"/>
          <p:cNvSpPr txBox="1"/>
          <p:nvPr/>
        </p:nvSpPr>
        <p:spPr>
          <a:xfrm>
            <a:off x="838200" y="168275"/>
            <a:ext cx="5391219" cy="369332"/>
          </a:xfrm>
          <a:prstGeom prst="rect">
            <a:avLst/>
          </a:prstGeom>
          <a:noFill/>
        </p:spPr>
        <p:txBody>
          <a:bodyPr wrap="none" rtlCol="0">
            <a:spAutoFit/>
          </a:bodyPr>
          <a:lstStyle/>
          <a:p>
            <a:r>
              <a:rPr lang="en-US" dirty="0" err="1">
                <a:hlinkClick r:id="rId2"/>
              </a:rPr>
              <a:t>https://sites.google.com/site/drmohammadshahidulislam</a:t>
            </a:r>
            <a:endParaRPr lang="en-US" dirty="0"/>
          </a:p>
        </p:txBody>
      </p:sp>
      <p:sp>
        <p:nvSpPr>
          <p:cNvPr id="4" name="Footer Placeholder 3">
            <a:extLst>
              <a:ext uri="{FF2B5EF4-FFF2-40B4-BE49-F238E27FC236}">
                <a16:creationId xmlns:a16="http://schemas.microsoft.com/office/drawing/2014/main" id="{EC0FF5F0-C809-59A7-C011-EEC34D7CCBF0}"/>
              </a:ext>
            </a:extLst>
          </p:cNvPr>
          <p:cNvSpPr>
            <a:spLocks noGrp="1"/>
          </p:cNvSpPr>
          <p:nvPr>
            <p:ph type="ftr" sz="quarter" idx="11"/>
          </p:nvPr>
        </p:nvSpPr>
        <p:spPr>
          <a:xfrm>
            <a:off x="228600" y="6324600"/>
            <a:ext cx="8763000" cy="365125"/>
          </a:xfrm>
        </p:spPr>
        <p:txBody>
          <a:bodyPr/>
          <a:lstStyle/>
          <a:p>
            <a:r>
              <a:rPr lang="en-US" dirty="0"/>
              <a:t>Computer Networks, 6th Edition by Andrew Tanenbaum and David </a:t>
            </a:r>
            <a:r>
              <a:rPr lang="en-US" dirty="0" err="1"/>
              <a:t>Wetherall</a:t>
            </a:r>
            <a:r>
              <a:rPr lang="en-US" dirty="0"/>
              <a:t>, © Pearson Education-Prentice Hall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295401"/>
            <a:ext cx="7772400" cy="2305050"/>
          </a:xfrm>
        </p:spPr>
        <p:txBody>
          <a:bodyPr>
            <a:normAutofit fontScale="90000"/>
          </a:bodyPr>
          <a:lstStyle/>
          <a:p>
            <a:r>
              <a:rPr lang="en-US" dirty="0"/>
              <a:t>Computer Networks </a:t>
            </a:r>
            <a:br>
              <a:rPr lang="en-US" b="1" dirty="0"/>
            </a:br>
            <a:r>
              <a:rPr lang="en-US" b="1" dirty="0"/>
              <a:t>1.5 hours in a week, 3.00 Cr.</a:t>
            </a:r>
            <a:br>
              <a:rPr lang="en-US" dirty="0"/>
            </a:br>
            <a:endParaRPr lang="en-US" dirty="0"/>
          </a:p>
        </p:txBody>
      </p:sp>
      <p:sp>
        <p:nvSpPr>
          <p:cNvPr id="3" name="Subtitle 2"/>
          <p:cNvSpPr>
            <a:spLocks noGrp="1"/>
          </p:cNvSpPr>
          <p:nvPr>
            <p:ph type="subTitle" idx="1"/>
          </p:nvPr>
        </p:nvSpPr>
        <p:spPr>
          <a:xfrm>
            <a:off x="762000" y="5105400"/>
            <a:ext cx="8077200" cy="1499616"/>
          </a:xfrm>
        </p:spPr>
        <p:txBody>
          <a:bodyPr>
            <a:normAutofit/>
          </a:bodyPr>
          <a:lstStyle/>
          <a:p>
            <a:r>
              <a:rPr lang="en-US" sz="3200" dirty="0"/>
              <a:t>Dr. Mohammad </a:t>
            </a:r>
            <a:r>
              <a:rPr lang="en-US" sz="3200" dirty="0" err="1"/>
              <a:t>Shahidul</a:t>
            </a:r>
            <a:r>
              <a:rPr lang="en-US" sz="3200" dirty="0"/>
              <a:t> Islam</a:t>
            </a:r>
          </a:p>
          <a:p>
            <a:r>
              <a:rPr lang="en-US" sz="3200" dirty="0"/>
              <a:t>Associate Professor</a:t>
            </a:r>
          </a:p>
        </p:txBody>
      </p:sp>
      <p:sp>
        <p:nvSpPr>
          <p:cNvPr id="4" name="Footer Placeholder 3">
            <a:extLst>
              <a:ext uri="{FF2B5EF4-FFF2-40B4-BE49-F238E27FC236}">
                <a16:creationId xmlns:a16="http://schemas.microsoft.com/office/drawing/2014/main" id="{071F6B88-B8E3-EC58-CF0D-8A70CD5F52D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Reference Book(s): </a:t>
            </a:r>
            <a:br>
              <a:rPr lang="en-US" dirty="0"/>
            </a:br>
            <a:endParaRPr lang="en-US" dirty="0"/>
          </a:p>
        </p:txBody>
      </p:sp>
      <p:sp>
        <p:nvSpPr>
          <p:cNvPr id="3" name="Content Placeholder 2"/>
          <p:cNvSpPr>
            <a:spLocks noGrp="1"/>
          </p:cNvSpPr>
          <p:nvPr>
            <p:ph idx="1"/>
          </p:nvPr>
        </p:nvSpPr>
        <p:spPr/>
        <p:txBody>
          <a:bodyPr/>
          <a:lstStyle/>
          <a:p>
            <a:pPr>
              <a:buNone/>
            </a:pPr>
            <a:endParaRPr lang="en-US" dirty="0"/>
          </a:p>
          <a:p>
            <a:pPr>
              <a:buNone/>
            </a:pPr>
            <a:r>
              <a:rPr lang="en-US" dirty="0"/>
              <a:t>1. Computer Networks - Andrew S. </a:t>
            </a:r>
            <a:r>
              <a:rPr lang="en-US" dirty="0" err="1"/>
              <a:t>Tanenbaum</a:t>
            </a:r>
            <a:r>
              <a:rPr lang="en-US" dirty="0"/>
              <a:t> </a:t>
            </a:r>
          </a:p>
          <a:p>
            <a:pPr>
              <a:buNone/>
            </a:pPr>
            <a:r>
              <a:rPr lang="en-US" dirty="0"/>
              <a:t>2. Computer Networks: Protocols, Standards, and Interfaces - </a:t>
            </a:r>
            <a:r>
              <a:rPr lang="en-US" dirty="0" err="1"/>
              <a:t>Uyless</a:t>
            </a:r>
            <a:r>
              <a:rPr lang="en-US" dirty="0"/>
              <a:t> Black </a:t>
            </a:r>
          </a:p>
          <a:p>
            <a:pPr>
              <a:buNone/>
            </a:pPr>
            <a:r>
              <a:rPr lang="en-US" dirty="0"/>
              <a:t>3. Internetworking with TCP/IP: Principles, Protocols, Architecture - D. E. Comer </a:t>
            </a:r>
          </a:p>
          <a:p>
            <a:pPr>
              <a:buNone/>
            </a:pPr>
            <a:r>
              <a:rPr lang="en-US" dirty="0"/>
              <a:t>4. TCP/IP Illustrated Vol. I - W. R. Stevens </a:t>
            </a:r>
          </a:p>
          <a:p>
            <a:endParaRPr lang="en-US" dirty="0"/>
          </a:p>
        </p:txBody>
      </p:sp>
      <p:sp>
        <p:nvSpPr>
          <p:cNvPr id="2" name="Footer Placeholder 1">
            <a:extLst>
              <a:ext uri="{FF2B5EF4-FFF2-40B4-BE49-F238E27FC236}">
                <a16:creationId xmlns:a16="http://schemas.microsoft.com/office/drawing/2014/main" id="{FFF7442F-9391-38D0-5871-D8FD4E4F603C}"/>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4800" dirty="0"/>
              <a:t>Course Contents:</a:t>
            </a:r>
            <a:br>
              <a:rPr lang="en-US" sz="4800" dirty="0"/>
            </a:br>
            <a:endParaRPr lang="en-US" dirty="0"/>
          </a:p>
        </p:txBody>
      </p:sp>
      <p:sp>
        <p:nvSpPr>
          <p:cNvPr id="3" name="Content Placeholder 2"/>
          <p:cNvSpPr>
            <a:spLocks noGrp="1"/>
          </p:cNvSpPr>
          <p:nvPr>
            <p:ph idx="1"/>
          </p:nvPr>
        </p:nvSpPr>
        <p:spPr>
          <a:xfrm>
            <a:off x="457200" y="1524000"/>
            <a:ext cx="8229600" cy="5333999"/>
          </a:xfrm>
        </p:spPr>
        <p:txBody>
          <a:bodyPr>
            <a:normAutofit/>
          </a:bodyPr>
          <a:lstStyle/>
          <a:p>
            <a:r>
              <a:rPr lang="en-US" dirty="0"/>
              <a:t>Protocol hierarchies; Data link control: </a:t>
            </a:r>
            <a:r>
              <a:rPr lang="en-US" dirty="0" err="1"/>
              <a:t>HDLC</a:t>
            </a:r>
            <a:r>
              <a:rPr lang="en-US" dirty="0"/>
              <a:t>; </a:t>
            </a:r>
          </a:p>
          <a:p>
            <a:r>
              <a:rPr lang="en-US" dirty="0"/>
              <a:t>DLL in Internet; DLL of ATM; LAN Protocols: Standards IEEE 802; </a:t>
            </a:r>
          </a:p>
          <a:p>
            <a:r>
              <a:rPr lang="en-US" dirty="0"/>
              <a:t>Hubs, Bridges, and Switches, </a:t>
            </a:r>
            <a:r>
              <a:rPr lang="en-US" dirty="0" err="1"/>
              <a:t>FDDI</a:t>
            </a:r>
            <a:r>
              <a:rPr lang="en-US" dirty="0"/>
              <a:t>, </a:t>
            </a:r>
          </a:p>
          <a:p>
            <a:r>
              <a:rPr lang="en-US" dirty="0"/>
              <a:t>Fast Ethernet; Routing Algorithm; </a:t>
            </a:r>
          </a:p>
          <a:p>
            <a:r>
              <a:rPr lang="en-US" dirty="0"/>
              <a:t>Internetworking, WAN; Fragmentation; Firewalls; </a:t>
            </a:r>
          </a:p>
          <a:p>
            <a:r>
              <a:rPr lang="en-US" dirty="0" err="1"/>
              <a:t>IPV4</a:t>
            </a:r>
            <a:r>
              <a:rPr lang="en-US" dirty="0"/>
              <a:t>, </a:t>
            </a:r>
            <a:r>
              <a:rPr lang="en-US" dirty="0" err="1"/>
              <a:t>IPV6</a:t>
            </a:r>
            <a:r>
              <a:rPr lang="en-US" dirty="0"/>
              <a:t>, ARP, </a:t>
            </a:r>
            <a:r>
              <a:rPr lang="en-US" dirty="0" err="1"/>
              <a:t>RARP</a:t>
            </a:r>
            <a:r>
              <a:rPr lang="en-US" dirty="0"/>
              <a:t>, Mobile IP,</a:t>
            </a:r>
          </a:p>
          <a:p>
            <a:r>
              <a:rPr lang="en-US" dirty="0"/>
              <a:t> Network layer of ATM; </a:t>
            </a:r>
          </a:p>
          <a:p>
            <a:r>
              <a:rPr lang="en-US" dirty="0"/>
              <a:t>Transport Protocols; Transmission Control Protocol: Connection Management, </a:t>
            </a:r>
          </a:p>
          <a:p>
            <a:pPr>
              <a:buNone/>
            </a:pPr>
            <a:endParaRPr lang="en-US" dirty="0"/>
          </a:p>
          <a:p>
            <a:endParaRPr lang="en-US" dirty="0"/>
          </a:p>
        </p:txBody>
      </p:sp>
      <p:sp>
        <p:nvSpPr>
          <p:cNvPr id="2" name="Footer Placeholder 1">
            <a:extLst>
              <a:ext uri="{FF2B5EF4-FFF2-40B4-BE49-F238E27FC236}">
                <a16:creationId xmlns:a16="http://schemas.microsoft.com/office/drawing/2014/main" id="{F27D4DE1-1930-BDC8-BB8D-6F608D4FBC41}"/>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sz="4800" dirty="0"/>
              <a:t>Course Contents:</a:t>
            </a:r>
            <a:br>
              <a:rPr lang="en-US" sz="4800" dirty="0"/>
            </a:br>
            <a:endParaRPr lang="en-US" dirty="0"/>
          </a:p>
        </p:txBody>
      </p:sp>
      <p:sp>
        <p:nvSpPr>
          <p:cNvPr id="3" name="Content Placeholder 2"/>
          <p:cNvSpPr>
            <a:spLocks noGrp="1"/>
          </p:cNvSpPr>
          <p:nvPr>
            <p:ph idx="1"/>
          </p:nvPr>
        </p:nvSpPr>
        <p:spPr>
          <a:xfrm>
            <a:off x="457200" y="1524000"/>
            <a:ext cx="8229600" cy="5181599"/>
          </a:xfrm>
        </p:spPr>
        <p:txBody>
          <a:bodyPr>
            <a:normAutofit/>
          </a:bodyPr>
          <a:lstStyle/>
          <a:p>
            <a:r>
              <a:rPr lang="en-US" dirty="0"/>
              <a:t>Transmission Policy, Congestion Control, Timer Management; </a:t>
            </a:r>
          </a:p>
          <a:p>
            <a:r>
              <a:rPr lang="en-US" dirty="0" err="1"/>
              <a:t>UDP</a:t>
            </a:r>
            <a:r>
              <a:rPr lang="en-US" dirty="0"/>
              <a:t>; </a:t>
            </a:r>
            <a:r>
              <a:rPr lang="en-US" dirty="0" err="1"/>
              <a:t>AAL</a:t>
            </a:r>
            <a:r>
              <a:rPr lang="en-US" dirty="0"/>
              <a:t> of ATM; wireless networks, </a:t>
            </a:r>
          </a:p>
          <a:p>
            <a:r>
              <a:rPr lang="en-US" dirty="0"/>
              <a:t>mobile computing, and high speed networks; </a:t>
            </a:r>
          </a:p>
          <a:p>
            <a:r>
              <a:rPr lang="en-US" dirty="0"/>
              <a:t>Gigabit Ethernet; Domain Name System: Name servers; </a:t>
            </a:r>
          </a:p>
          <a:p>
            <a:r>
              <a:rPr lang="en-US" dirty="0"/>
              <a:t>Email and Its privacy; SNMP; HTTP; </a:t>
            </a:r>
          </a:p>
          <a:p>
            <a:r>
              <a:rPr lang="en-US" dirty="0"/>
              <a:t>World Wide Web; Network security: Cryptography, </a:t>
            </a:r>
          </a:p>
          <a:p>
            <a:r>
              <a:rPr lang="en-US" dirty="0"/>
              <a:t>DES, IDEA, public key algorithm; </a:t>
            </a:r>
          </a:p>
          <a:p>
            <a:r>
              <a:rPr lang="en-US" dirty="0"/>
              <a:t>Authentication; Digital signatures. </a:t>
            </a:r>
          </a:p>
        </p:txBody>
      </p:sp>
      <p:sp>
        <p:nvSpPr>
          <p:cNvPr id="2" name="Footer Placeholder 1">
            <a:extLst>
              <a:ext uri="{FF2B5EF4-FFF2-40B4-BE49-F238E27FC236}">
                <a16:creationId xmlns:a16="http://schemas.microsoft.com/office/drawing/2014/main" id="{C87F61AF-450E-BE44-0852-A8887844687B}"/>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Today</a:t>
            </a:r>
          </a:p>
        </p:txBody>
      </p:sp>
      <p:sp>
        <p:nvSpPr>
          <p:cNvPr id="3" name="Content Placeholder 2"/>
          <p:cNvSpPr>
            <a:spLocks noGrp="1"/>
          </p:cNvSpPr>
          <p:nvPr>
            <p:ph idx="1"/>
          </p:nvPr>
        </p:nvSpPr>
        <p:spPr/>
        <p:txBody>
          <a:bodyPr>
            <a:normAutofit/>
          </a:bodyPr>
          <a:lstStyle/>
          <a:p>
            <a:r>
              <a:rPr lang="en-US" sz="4400" dirty="0"/>
              <a:t>Computer Network basics</a:t>
            </a:r>
          </a:p>
          <a:p>
            <a:r>
              <a:rPr lang="en-US" sz="4400" dirty="0"/>
              <a:t>Protocol hierarchies; </a:t>
            </a:r>
          </a:p>
          <a:p>
            <a:r>
              <a:rPr lang="en-US" sz="4400" dirty="0"/>
              <a:t>Data link control: </a:t>
            </a:r>
            <a:r>
              <a:rPr lang="en-US" sz="4400" dirty="0" err="1"/>
              <a:t>HDLC</a:t>
            </a:r>
            <a:r>
              <a:rPr lang="en-US" sz="4400" dirty="0"/>
              <a:t>;</a:t>
            </a:r>
          </a:p>
        </p:txBody>
      </p:sp>
      <p:sp>
        <p:nvSpPr>
          <p:cNvPr id="2" name="Footer Placeholder 1">
            <a:extLst>
              <a:ext uri="{FF2B5EF4-FFF2-40B4-BE49-F238E27FC236}">
                <a16:creationId xmlns:a16="http://schemas.microsoft.com/office/drawing/2014/main" id="{75EB4CCA-8894-99C7-14F1-EA097DF794A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533400" y="381000"/>
            <a:ext cx="8229600" cy="10668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Computer Networks</a:t>
            </a:r>
            <a:endParaRPr lang="en-GB" sz="4000" b="1" dirty="0">
              <a:solidFill>
                <a:srgbClr val="E4005C"/>
              </a:solidFill>
            </a:endParaRPr>
          </a:p>
        </p:txBody>
      </p:sp>
      <p:sp>
        <p:nvSpPr>
          <p:cNvPr id="20483" name="Rectangle 3"/>
          <p:cNvSpPr>
            <a:spLocks noGrp="1" noChangeArrowheads="1"/>
          </p:cNvSpPr>
          <p:nvPr>
            <p:ph type="body" sz="half" idx="1"/>
          </p:nvPr>
        </p:nvSpPr>
        <p:spPr>
          <a:xfrm>
            <a:off x="457200" y="1600200"/>
            <a:ext cx="4191000" cy="4525963"/>
          </a:xfrm>
        </p:spPr>
        <p:txBody>
          <a:bodyPr>
            <a:normAutofit/>
          </a:bodyPr>
          <a:lstStyle/>
          <a:p>
            <a:pPr marL="392113" indent="-293688" defTabSz="414338">
              <a:lnSpc>
                <a:spcPct val="80000"/>
              </a:lnSpc>
              <a:spcBef>
                <a:spcPct val="50000"/>
              </a:spcBef>
              <a:buClr>
                <a:srgbClr val="CC0000"/>
              </a:buClr>
              <a:buFont typeface="Wingdings" pitchFamily="2" charset="2"/>
              <a:buBlip>
                <a:blip r:embed="rId3"/>
              </a:buBlip>
            </a:pPr>
            <a:endParaRPr lang="en-US" sz="2000" b="1" dirty="0"/>
          </a:p>
          <a:p>
            <a:pPr marL="392113" indent="-293688" algn="just" defTabSz="414338">
              <a:lnSpc>
                <a:spcPct val="80000"/>
              </a:lnSpc>
              <a:buClr>
                <a:srgbClr val="CC0000"/>
              </a:buClr>
              <a:buFont typeface="Wingdings" pitchFamily="2" charset="2"/>
              <a:buBlip>
                <a:blip r:embed="rId3"/>
              </a:buBlip>
            </a:pPr>
            <a:r>
              <a:rPr lang="en-US" sz="2800" dirty="0"/>
              <a:t>Define?</a:t>
            </a:r>
          </a:p>
          <a:p>
            <a:pPr marL="392113" indent="-293688" algn="just" defTabSz="414338">
              <a:lnSpc>
                <a:spcPct val="80000"/>
              </a:lnSpc>
              <a:buClr>
                <a:srgbClr val="CC0000"/>
              </a:buClr>
              <a:buNone/>
            </a:pPr>
            <a:endParaRPr lang="en-US" sz="2800" dirty="0"/>
          </a:p>
          <a:p>
            <a:pPr marL="392113" indent="-293688" algn="just" defTabSz="414338">
              <a:lnSpc>
                <a:spcPct val="80000"/>
              </a:lnSpc>
              <a:buClr>
                <a:srgbClr val="CC0000"/>
              </a:buClr>
              <a:buFont typeface="Wingdings" pitchFamily="2" charset="2"/>
              <a:buBlip>
                <a:blip r:embed="rId3"/>
              </a:buBlip>
            </a:pPr>
            <a:r>
              <a:rPr lang="en-US" sz="2800" dirty="0"/>
              <a:t>Computer network connects two or more autonomous computers.</a:t>
            </a:r>
          </a:p>
          <a:p>
            <a:pPr marL="392113" indent="-293688" algn="just" defTabSz="414338">
              <a:lnSpc>
                <a:spcPct val="80000"/>
              </a:lnSpc>
              <a:buClr>
                <a:srgbClr val="CC0000"/>
              </a:buClr>
              <a:buFont typeface="Wingdings" pitchFamily="2" charset="2"/>
              <a:buBlip>
                <a:blip r:embed="rId3"/>
              </a:buBlip>
            </a:pPr>
            <a:endParaRPr lang="en-US" sz="2800" dirty="0"/>
          </a:p>
          <a:p>
            <a:pPr marL="392113" indent="-293688" algn="just" defTabSz="414338">
              <a:lnSpc>
                <a:spcPct val="80000"/>
              </a:lnSpc>
              <a:buClr>
                <a:srgbClr val="CC0000"/>
              </a:buClr>
              <a:buFont typeface="Wingdings" pitchFamily="2" charset="2"/>
              <a:buBlip>
                <a:blip r:embed="rId3"/>
              </a:buBlip>
            </a:pPr>
            <a:r>
              <a:rPr lang="en-US" sz="2800" dirty="0"/>
              <a:t>The computers can be geographically located anywhere.</a:t>
            </a:r>
          </a:p>
        </p:txBody>
      </p:sp>
      <p:pic>
        <p:nvPicPr>
          <p:cNvPr id="20490" name="Picture 10"/>
          <p:cNvPicPr>
            <a:picLocks noGrp="1" noChangeAspect="1" noChangeArrowheads="1"/>
          </p:cNvPicPr>
          <p:nvPr>
            <p:ph sz="half" idx="2"/>
          </p:nvPr>
        </p:nvPicPr>
        <p:blipFill>
          <a:blip r:embed="rId4" cstate="print"/>
          <a:stretch>
            <a:fillRect/>
          </a:stretch>
        </p:blipFill>
        <p:spPr>
          <a:xfrm>
            <a:off x="4777024" y="2196515"/>
            <a:ext cx="3780952" cy="3333333"/>
          </a:xfrm>
          <a:noFill/>
          <a:ln/>
        </p:spPr>
      </p:pic>
      <p:sp>
        <p:nvSpPr>
          <p:cNvPr id="20485"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0486"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0487"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0488" name="Text Box 8"/>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538EFC92-74E8-742E-336B-050C70DFFF7D}"/>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LAN, MAN &amp; WAN</a:t>
            </a:r>
            <a:endParaRPr lang="en-GB" sz="4000" b="1" dirty="0">
              <a:solidFill>
                <a:srgbClr val="E4005C"/>
              </a:solidFill>
            </a:endParaRPr>
          </a:p>
        </p:txBody>
      </p:sp>
      <p:sp>
        <p:nvSpPr>
          <p:cNvPr id="22537" name="Rectangle 9"/>
          <p:cNvSpPr>
            <a:spLocks noGrp="1" noChangeArrowheads="1"/>
          </p:cNvSpPr>
          <p:nvPr>
            <p:ph idx="1"/>
          </p:nvPr>
        </p:nvSpPr>
        <p:spPr>
          <a:xfrm>
            <a:off x="457200" y="1600200"/>
            <a:ext cx="8229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dirty="0"/>
          </a:p>
          <a:p>
            <a:pPr marL="392113" indent="-293688" algn="just" defTabSz="414338">
              <a:lnSpc>
                <a:spcPct val="80000"/>
              </a:lnSpc>
              <a:buClr>
                <a:srgbClr val="CC0000"/>
              </a:buClr>
              <a:buFont typeface="Wingdings" pitchFamily="2" charset="2"/>
              <a:buBlip>
                <a:blip r:embed="rId3"/>
              </a:buBlip>
            </a:pPr>
            <a:r>
              <a:rPr lang="en-US" sz="2400" b="1" dirty="0"/>
              <a:t>Network in small geographical Area (Room, Building or a Campus) is called LAN (Local Area Network)</a:t>
            </a:r>
          </a:p>
          <a:p>
            <a:pPr marL="392113" indent="-293688" algn="just" defTabSz="414338">
              <a:lnSpc>
                <a:spcPct val="80000"/>
              </a:lnSpc>
              <a:buClr>
                <a:srgbClr val="CC0000"/>
              </a:buClr>
              <a:buFont typeface="Wingdings" pitchFamily="2" charset="2"/>
              <a:buBlip>
                <a:blip r:embed="rId3"/>
              </a:buBlip>
            </a:pPr>
            <a:r>
              <a:rPr lang="en-US" sz="2400" b="1" dirty="0"/>
              <a:t>Network in a City is call MAN (Metropolitan Area Network)</a:t>
            </a:r>
          </a:p>
          <a:p>
            <a:pPr marL="392113" indent="-293688" algn="just" defTabSz="414338">
              <a:lnSpc>
                <a:spcPct val="80000"/>
              </a:lnSpc>
              <a:buClr>
                <a:srgbClr val="CC0000"/>
              </a:buClr>
              <a:buFont typeface="Wingdings" pitchFamily="2" charset="2"/>
              <a:buBlip>
                <a:blip r:embed="rId3"/>
              </a:buBlip>
            </a:pPr>
            <a:r>
              <a:rPr lang="en-US" sz="2400" b="1" dirty="0"/>
              <a:t>Network spread geographically (Country or across Globe) is called WAN (Wide Area Network)</a:t>
            </a:r>
          </a:p>
        </p:txBody>
      </p:sp>
      <p:sp>
        <p:nvSpPr>
          <p:cNvPr id="22532"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2533"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2534"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2535" name="Text Box 7"/>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pic>
        <p:nvPicPr>
          <p:cNvPr id="7171" name="Picture 3"/>
          <p:cNvPicPr>
            <a:picLocks noChangeAspect="1" noChangeArrowheads="1"/>
          </p:cNvPicPr>
          <p:nvPr/>
        </p:nvPicPr>
        <p:blipFill>
          <a:blip r:embed="rId4" cstate="print"/>
          <a:srcRect/>
          <a:stretch>
            <a:fillRect/>
          </a:stretch>
        </p:blipFill>
        <p:spPr bwMode="auto">
          <a:xfrm>
            <a:off x="1981200" y="4114800"/>
            <a:ext cx="5659341" cy="2743200"/>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1E7863B7-8A52-6A6C-C278-48D8AAF0D506}"/>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Applications of Networks</a:t>
            </a:r>
            <a:endParaRPr lang="en-GB" sz="4000" b="1" dirty="0">
              <a:solidFill>
                <a:srgbClr val="E4005C"/>
              </a:solidFill>
            </a:endParaRPr>
          </a:p>
        </p:txBody>
      </p:sp>
      <p:sp>
        <p:nvSpPr>
          <p:cNvPr id="24585" name="Rectangle 9"/>
          <p:cNvSpPr>
            <a:spLocks noGrp="1" noChangeArrowheads="1"/>
          </p:cNvSpPr>
          <p:nvPr>
            <p:ph idx="1"/>
          </p:nvPr>
        </p:nvSpPr>
        <p:spPr>
          <a:xfrm>
            <a:off x="457200" y="1600200"/>
            <a:ext cx="8229600" cy="5257800"/>
          </a:xfrm>
        </p:spPr>
        <p:txBody>
          <a:bodyPr>
            <a:normAutofit lnSpcReduction="10000"/>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dirty="0">
              <a:solidFill>
                <a:srgbClr val="000066"/>
              </a:solidFill>
            </a:endParaRP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Resource Sharing</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Hardware (computing resources, disks, printers)</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Software (application software)</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Information Sharing</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Easy accessibility from anywhere (files, databases)</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Search Capability (WWW)</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Communication</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Email</a:t>
            </a:r>
          </a:p>
          <a:p>
            <a:pPr marL="782638" lvl="1" indent="-260350" defTabSz="414338">
              <a:lnSpc>
                <a:spcPct val="80000"/>
              </a:lnSpc>
              <a:buClr>
                <a:srgbClr val="CC0000"/>
              </a:buClr>
              <a:buFont typeface="Wingdings" pitchFamily="2" charset="2"/>
              <a:buBlip>
                <a:blip r:embed="rId3"/>
              </a:buBlip>
            </a:pPr>
            <a:r>
              <a:rPr lang="en-US" sz="2400" dirty="0">
                <a:solidFill>
                  <a:srgbClr val="000066"/>
                </a:solidFill>
              </a:rPr>
              <a:t>Message broadcast</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Remote computing</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Distributed processing (GRID Computing)</a:t>
            </a:r>
          </a:p>
        </p:txBody>
      </p:sp>
      <p:sp>
        <p:nvSpPr>
          <p:cNvPr id="24580"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4581"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4582"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4583" name="Text Box 7"/>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9E92E11B-A5B3-A023-6893-64CC5B9F99B5}"/>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762000"/>
            <a:ext cx="8229600" cy="9144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Network Topology </a:t>
            </a:r>
            <a:r>
              <a:rPr lang="en-US" sz="4000" b="1" dirty="0" err="1">
                <a:solidFill>
                  <a:schemeClr val="accent3">
                    <a:lumMod val="75000"/>
                  </a:schemeClr>
                </a:solidFill>
              </a:rPr>
              <a:t>BSRM</a:t>
            </a:r>
            <a:endParaRPr lang="en-GB" sz="4000" b="1" dirty="0">
              <a:solidFill>
                <a:schemeClr val="accent3">
                  <a:lumMod val="75000"/>
                </a:schemeClr>
              </a:solidFill>
            </a:endParaRPr>
          </a:p>
        </p:txBody>
      </p:sp>
      <p:sp>
        <p:nvSpPr>
          <p:cNvPr id="26627" name="Rectangle 3"/>
          <p:cNvSpPr>
            <a:spLocks noGrp="1" noChangeArrowheads="1"/>
          </p:cNvSpPr>
          <p:nvPr>
            <p:ph type="body" sz="half" idx="1"/>
          </p:nvPr>
        </p:nvSpPr>
        <p:spPr>
          <a:xfrm>
            <a:off x="457200" y="1600200"/>
            <a:ext cx="4419600" cy="4525963"/>
          </a:xfrm>
        </p:spPr>
        <p:txBody>
          <a:bodyPr/>
          <a:lstStyle/>
          <a:p>
            <a:pPr marL="392113" indent="-293688" defTabSz="414338">
              <a:lnSpc>
                <a:spcPct val="80000"/>
              </a:lnSpc>
              <a:spcBef>
                <a:spcPct val="50000"/>
              </a:spcBef>
              <a:buClr>
                <a:srgbClr val="CC0000"/>
              </a:buClr>
              <a:buFont typeface="Wingdings" pitchFamily="2" charset="2"/>
              <a:buNone/>
            </a:pPr>
            <a:endParaRPr lang="en-US" sz="2000" b="1" dirty="0">
              <a:solidFill>
                <a:srgbClr val="000066"/>
              </a:solidFill>
            </a:endParaRPr>
          </a:p>
          <a:p>
            <a:pPr marL="392113" indent="-293688" algn="just" defTabSz="414338">
              <a:lnSpc>
                <a:spcPct val="80000"/>
              </a:lnSpc>
              <a:buClr>
                <a:srgbClr val="CC0000"/>
              </a:buClr>
              <a:buFont typeface="Wingdings" pitchFamily="2" charset="2"/>
              <a:buBlip>
                <a:blip r:embed="rId3"/>
              </a:buBlip>
            </a:pPr>
            <a:r>
              <a:rPr lang="en-US" sz="2400" b="1" dirty="0">
                <a:solidFill>
                  <a:srgbClr val="000066"/>
                </a:solidFill>
                <a:cs typeface="Times New Roman" pitchFamily="18" charset="0"/>
              </a:rPr>
              <a:t>The network topology defines the way in which computers, printers, and other devices are connected.</a:t>
            </a:r>
          </a:p>
          <a:p>
            <a:pPr marL="392113" indent="-293688" algn="just" defTabSz="414338">
              <a:lnSpc>
                <a:spcPct val="80000"/>
              </a:lnSpc>
              <a:buClr>
                <a:srgbClr val="CC0000"/>
              </a:buClr>
              <a:buFont typeface="Wingdings" pitchFamily="2" charset="2"/>
              <a:buBlip>
                <a:blip r:embed="rId3"/>
              </a:buBlip>
            </a:pPr>
            <a:r>
              <a:rPr lang="en-US" sz="2400" b="1" dirty="0">
                <a:solidFill>
                  <a:srgbClr val="000066"/>
                </a:solidFill>
                <a:cs typeface="Times New Roman" pitchFamily="18" charset="0"/>
              </a:rPr>
              <a:t>A network topology describes the layout of the wire and devices as well as the paths used by data transmissions.</a:t>
            </a:r>
            <a:r>
              <a:rPr lang="en-US" sz="2400" dirty="0">
                <a:solidFill>
                  <a:srgbClr val="000000"/>
                </a:solidFill>
                <a:cs typeface="Times New Roman" pitchFamily="18" charset="0"/>
              </a:rPr>
              <a:t> </a:t>
            </a:r>
          </a:p>
        </p:txBody>
      </p:sp>
      <p:pic>
        <p:nvPicPr>
          <p:cNvPr id="26634" name="Picture 10"/>
          <p:cNvPicPr>
            <a:picLocks noGrp="1" noChangeAspect="1" noChangeArrowheads="1"/>
          </p:cNvPicPr>
          <p:nvPr>
            <p:ph sz="half" idx="2"/>
          </p:nvPr>
        </p:nvPicPr>
        <p:blipFill>
          <a:blip r:embed="rId4" cstate="print"/>
          <a:stretch>
            <a:fillRect/>
          </a:stretch>
        </p:blipFill>
        <p:spPr>
          <a:xfrm>
            <a:off x="4772262" y="2182229"/>
            <a:ext cx="3790476" cy="3361905"/>
          </a:xfrm>
          <a:noFill/>
          <a:ln/>
        </p:spPr>
      </p:pic>
      <p:sp>
        <p:nvSpPr>
          <p:cNvPr id="26629"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6630"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6631"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6632" name="Text Box 8"/>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D1B40FF0-FCA0-3A32-2EB8-0179A1B286F9}"/>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57200" y="838200"/>
            <a:ext cx="8229600" cy="8382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Bus Topology</a:t>
            </a:r>
            <a:endParaRPr lang="en-GB" sz="4000" b="1" dirty="0">
              <a:solidFill>
                <a:srgbClr val="E4005C"/>
              </a:solidFill>
            </a:endParaRPr>
          </a:p>
        </p:txBody>
      </p:sp>
      <p:sp>
        <p:nvSpPr>
          <p:cNvPr id="28675" name="Rectangle 3"/>
          <p:cNvSpPr>
            <a:spLocks noGrp="1" noChangeArrowheads="1"/>
          </p:cNvSpPr>
          <p:nvPr>
            <p:ph type="body" sz="half" idx="1"/>
          </p:nvPr>
        </p:nvSpPr>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000" b="1" dirty="0">
              <a:solidFill>
                <a:srgbClr val="000066"/>
              </a:solidFill>
            </a:endParaRPr>
          </a:p>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cs typeface="Times New Roman" pitchFamily="18" charset="0"/>
              </a:rPr>
              <a:t>Commonly referred to as a linear bus, all the devices on a bus topology are connected by one single cable.</a:t>
            </a:r>
          </a:p>
        </p:txBody>
      </p:sp>
      <p:pic>
        <p:nvPicPr>
          <p:cNvPr id="28682" name="Picture 10" descr="562"/>
          <p:cNvPicPr>
            <a:picLocks noGrp="1" noChangeAspect="1" noChangeArrowheads="1"/>
          </p:cNvPicPr>
          <p:nvPr>
            <p:ph sz="half" idx="2"/>
          </p:nvPr>
        </p:nvPicPr>
        <p:blipFill>
          <a:blip r:embed="rId4" cstate="print"/>
          <a:stretch>
            <a:fillRect/>
          </a:stretch>
        </p:blipFill>
        <p:spPr>
          <a:xfrm>
            <a:off x="4648200" y="2846932"/>
            <a:ext cx="4038600" cy="2032498"/>
          </a:xfrm>
          <a:noFill/>
          <a:ln/>
        </p:spPr>
      </p:pic>
      <p:sp>
        <p:nvSpPr>
          <p:cNvPr id="28677"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28678"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28679"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2" name="Footer Placeholder 1">
            <a:extLst>
              <a:ext uri="{FF2B5EF4-FFF2-40B4-BE49-F238E27FC236}">
                <a16:creationId xmlns:a16="http://schemas.microsoft.com/office/drawing/2014/main" id="{2D3772CE-1DA1-DD98-1D76-70CEA9957B87}"/>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Star &amp; Tree Topology</a:t>
            </a:r>
            <a:endParaRPr lang="en-GB" sz="4000" b="1" dirty="0">
              <a:solidFill>
                <a:srgbClr val="E4005C"/>
              </a:solidFill>
            </a:endParaRPr>
          </a:p>
        </p:txBody>
      </p:sp>
      <p:sp>
        <p:nvSpPr>
          <p:cNvPr id="30729" name="Rectangle 9"/>
          <p:cNvSpPr>
            <a:spLocks noGrp="1" noChangeArrowheads="1"/>
          </p:cNvSpPr>
          <p:nvPr>
            <p:ph idx="1"/>
          </p:nvPr>
        </p:nvSpPr>
        <p:spPr>
          <a:xfrm>
            <a:off x="457200" y="1600200"/>
            <a:ext cx="5181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The star topology is the most commonly used architecture in Ethernet LANs. </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When installed, the star topology resembles spokes in a bicycle wheel.</a:t>
            </a:r>
          </a:p>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Larger networks use the extended star topology also called tree topology. When used with network devices that filter frames or packets, like bridges, switches, and routers, this topology significantly reduces the traffic on the wires by sending packets only to the wires of the destination host.</a:t>
            </a:r>
          </a:p>
        </p:txBody>
      </p:sp>
      <p:sp>
        <p:nvSpPr>
          <p:cNvPr id="30724"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0725"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0726"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0727" name="Text Box 7"/>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pic>
        <p:nvPicPr>
          <p:cNvPr id="30730" name="Picture 10" descr="565star"/>
          <p:cNvPicPr>
            <a:picLocks noChangeAspect="1" noChangeArrowheads="1"/>
          </p:cNvPicPr>
          <p:nvPr/>
        </p:nvPicPr>
        <p:blipFill>
          <a:blip r:embed="rId4" cstate="print"/>
          <a:srcRect/>
          <a:stretch>
            <a:fillRect/>
          </a:stretch>
        </p:blipFill>
        <p:spPr bwMode="auto">
          <a:xfrm>
            <a:off x="5516563" y="1600200"/>
            <a:ext cx="2300287" cy="2185988"/>
          </a:xfrm>
          <a:prstGeom prst="rect">
            <a:avLst/>
          </a:prstGeom>
          <a:noFill/>
          <a:ln w="9525">
            <a:noFill/>
            <a:miter lim="800000"/>
            <a:headEnd/>
            <a:tailEnd/>
          </a:ln>
        </p:spPr>
      </p:pic>
      <p:pic>
        <p:nvPicPr>
          <p:cNvPr id="30731" name="Picture 11" descr="566estar"/>
          <p:cNvPicPr>
            <a:picLocks noChangeAspect="1" noChangeArrowheads="1"/>
          </p:cNvPicPr>
          <p:nvPr/>
        </p:nvPicPr>
        <p:blipFill>
          <a:blip r:embed="rId5" cstate="print"/>
          <a:srcRect/>
          <a:stretch>
            <a:fillRect/>
          </a:stretch>
        </p:blipFill>
        <p:spPr bwMode="auto">
          <a:xfrm>
            <a:off x="5595938" y="3938588"/>
            <a:ext cx="2143125" cy="2187575"/>
          </a:xfrm>
          <a:prstGeom prst="rect">
            <a:avLst/>
          </a:prstGeom>
          <a:noFill/>
          <a:ln w="9525">
            <a:noFill/>
            <a:miter lim="800000"/>
            <a:headEnd/>
            <a:tailEnd/>
          </a:ln>
        </p:spPr>
      </p:pic>
      <mc:AlternateContent xmlns:mc="http://schemas.openxmlformats.org/markup-compatibility/2006">
        <mc:Choice xmlns:p14="http://schemas.microsoft.com/office/powerpoint/2010/main" Requires="p14">
          <p:contentPart p14:bwMode="auto" r:id="rId6">
            <p14:nvContentPartPr>
              <p14:cNvPr id="1026" name="Ink 2"/>
              <p14:cNvContentPartPr>
                <a14:cpLocks xmlns:a14="http://schemas.microsoft.com/office/drawing/2010/main" noRot="1" noChangeAspect="1" noEditPoints="1" noChangeArrowheads="1" noChangeShapeType="1"/>
              </p14:cNvContentPartPr>
              <p14:nvPr/>
            </p14:nvContentPartPr>
            <p14:xfrm>
              <a:off x="4017963" y="1751013"/>
              <a:ext cx="608012" cy="17462"/>
            </p14:xfrm>
          </p:contentPart>
        </mc:Choice>
        <mc:Fallback>
          <p:pic>
            <p:nvPicPr>
              <p:cNvPr id="1026" name="Ink 2"/>
              <p:cNvPicPr>
                <a:picLocks noRot="1" noChangeAspect="1" noEditPoints="1" noChangeArrowheads="1" noChangeShapeType="1"/>
              </p:cNvPicPr>
              <p:nvPr/>
            </p:nvPicPr>
            <p:blipFill>
              <a:blip r:embed="rId7"/>
              <a:stretch>
                <a:fillRect/>
              </a:stretch>
            </p:blipFill>
            <p:spPr>
              <a:xfrm>
                <a:off x="4002105" y="1710036"/>
                <a:ext cx="639368" cy="99417"/>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1027" name="Ink 3"/>
              <p14:cNvContentPartPr>
                <a14:cpLocks xmlns:a14="http://schemas.microsoft.com/office/drawing/2010/main" noRot="1" noChangeAspect="1" noEditPoints="1" noChangeArrowheads="1" noChangeShapeType="1"/>
              </p14:cNvContentPartPr>
              <p14:nvPr/>
            </p14:nvContentPartPr>
            <p14:xfrm>
              <a:off x="911225" y="2098675"/>
              <a:ext cx="1990725" cy="26988"/>
            </p14:xfrm>
          </p:contentPart>
        </mc:Choice>
        <mc:Fallback>
          <p:pic>
            <p:nvPicPr>
              <p:cNvPr id="1027" name="Ink 3"/>
              <p:cNvPicPr>
                <a:picLocks noRot="1" noChangeAspect="1" noEditPoints="1" noChangeArrowheads="1" noChangeShapeType="1"/>
              </p:cNvPicPr>
              <p:nvPr/>
            </p:nvPicPr>
            <p:blipFill>
              <a:blip r:embed="rId9"/>
              <a:stretch>
                <a:fillRect/>
              </a:stretch>
            </p:blipFill>
            <p:spPr>
              <a:xfrm>
                <a:off x="895394" y="2050696"/>
                <a:ext cx="2022027" cy="122945"/>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1028" name="Ink 4"/>
              <p14:cNvContentPartPr>
                <a14:cpLocks xmlns:a14="http://schemas.microsoft.com/office/drawing/2010/main" noRot="1" noChangeAspect="1" noEditPoints="1" noChangeArrowheads="1" noChangeShapeType="1"/>
              </p14:cNvContentPartPr>
              <p14:nvPr/>
            </p14:nvContentPartPr>
            <p14:xfrm>
              <a:off x="955675" y="3840163"/>
              <a:ext cx="2135188" cy="53975"/>
            </p14:xfrm>
          </p:contentPart>
        </mc:Choice>
        <mc:Fallback>
          <p:pic>
            <p:nvPicPr>
              <p:cNvPr id="1028" name="Ink 4"/>
              <p:cNvPicPr>
                <a:picLocks noRot="1" noChangeAspect="1" noEditPoints="1" noChangeArrowheads="1" noChangeShapeType="1"/>
              </p:cNvPicPr>
              <p:nvPr/>
            </p:nvPicPr>
            <p:blipFill>
              <a:blip r:embed="rId11"/>
              <a:stretch>
                <a:fillRect/>
              </a:stretch>
            </p:blipFill>
            <p:spPr>
              <a:xfrm>
                <a:off x="939859" y="3771325"/>
                <a:ext cx="2166461" cy="19165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1029" name="Ink 5"/>
              <p14:cNvContentPartPr>
                <a14:cpLocks xmlns:a14="http://schemas.microsoft.com/office/drawing/2010/main" noRot="1" noChangeAspect="1" noEditPoints="1" noChangeArrowheads="1" noChangeShapeType="1"/>
              </p14:cNvContentPartPr>
              <p14:nvPr/>
            </p14:nvContentPartPr>
            <p14:xfrm>
              <a:off x="2116138" y="5313363"/>
              <a:ext cx="3367087" cy="63500"/>
            </p14:xfrm>
          </p:contentPart>
        </mc:Choice>
        <mc:Fallback>
          <p:pic>
            <p:nvPicPr>
              <p:cNvPr id="1029" name="Ink 5"/>
              <p:cNvPicPr>
                <a:picLocks noRot="1" noChangeAspect="1" noEditPoints="1" noChangeArrowheads="1" noChangeShapeType="1"/>
              </p:cNvPicPr>
              <p:nvPr/>
            </p:nvPicPr>
            <p:blipFill>
              <a:blip r:embed="rId13"/>
              <a:stretch>
                <a:fillRect/>
              </a:stretch>
            </p:blipFill>
            <p:spPr>
              <a:xfrm>
                <a:off x="2100298" y="5254542"/>
                <a:ext cx="3398407" cy="181142"/>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30" name="Ink 6"/>
              <p14:cNvContentPartPr>
                <a14:cpLocks xmlns:a14="http://schemas.microsoft.com/office/drawing/2010/main" noRot="1" noChangeAspect="1" noEditPoints="1" noChangeArrowheads="1" noChangeShapeType="1"/>
              </p14:cNvContentPartPr>
              <p14:nvPr/>
            </p14:nvContentPartPr>
            <p14:xfrm>
              <a:off x="938213" y="5608638"/>
              <a:ext cx="4500562" cy="88900"/>
            </p14:xfrm>
          </p:contentPart>
        </mc:Choice>
        <mc:Fallback>
          <p:pic>
            <p:nvPicPr>
              <p:cNvPr id="1030" name="Ink 6"/>
              <p:cNvPicPr>
                <a:picLocks noRot="1" noChangeAspect="1" noEditPoints="1" noChangeArrowheads="1" noChangeShapeType="1"/>
              </p:cNvPicPr>
              <p:nvPr/>
            </p:nvPicPr>
            <p:blipFill>
              <a:blip r:embed="rId15"/>
              <a:stretch>
                <a:fillRect/>
              </a:stretch>
            </p:blipFill>
            <p:spPr>
              <a:xfrm>
                <a:off x="922375" y="5548919"/>
                <a:ext cx="4531878" cy="208338"/>
              </a:xfrm>
              <a:prstGeom prst="rect">
                <a:avLst/>
              </a:prstGeom>
            </p:spPr>
          </p:pic>
        </mc:Fallback>
      </mc:AlternateContent>
      <p:sp>
        <p:nvSpPr>
          <p:cNvPr id="2" name="Footer Placeholder 1">
            <a:extLst>
              <a:ext uri="{FF2B5EF4-FFF2-40B4-BE49-F238E27FC236}">
                <a16:creationId xmlns:a16="http://schemas.microsoft.com/office/drawing/2014/main" id="{AC459767-950D-EFD2-DE24-7557D0C86A7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Ring Topology</a:t>
            </a:r>
            <a:endParaRPr lang="en-GB" sz="4000" b="1">
              <a:solidFill>
                <a:srgbClr val="E4005C"/>
              </a:solidFill>
            </a:endParaRPr>
          </a:p>
        </p:txBody>
      </p:sp>
      <p:sp>
        <p:nvSpPr>
          <p:cNvPr id="32777" name="Rectangle 9"/>
          <p:cNvSpPr>
            <a:spLocks noGrp="1" noChangeArrowheads="1"/>
          </p:cNvSpPr>
          <p:nvPr>
            <p:ph idx="1"/>
          </p:nvPr>
        </p:nvSpPr>
        <p:spPr>
          <a:xfrm>
            <a:off x="457200" y="1600200"/>
            <a:ext cx="5562600" cy="5257800"/>
          </a:xfrm>
        </p:spPr>
        <p:txBody>
          <a:bodyPr>
            <a:normAutofit/>
          </a:bodyPr>
          <a:lstStyle/>
          <a:p>
            <a:pPr marL="392113" indent="-293688" algn="just" defTabSz="414338">
              <a:lnSpc>
                <a:spcPct val="9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A frame travels around the ring, stopping at each node. If a node wants to transmit data, it adds the data as well as the destination address to the frame. </a:t>
            </a:r>
          </a:p>
          <a:p>
            <a:pPr marL="392113" indent="-293688" algn="just" defTabSz="414338">
              <a:lnSpc>
                <a:spcPct val="9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The frame then continues around the ring until it finds the destination node, which takes the data out of the frame. </a:t>
            </a:r>
          </a:p>
          <a:p>
            <a:pPr marL="782638" lvl="1" indent="-260350" algn="just" defTabSz="414338">
              <a:lnSpc>
                <a:spcPct val="90000"/>
              </a:lnSpc>
              <a:spcBef>
                <a:spcPct val="50000"/>
              </a:spcBef>
              <a:buClr>
                <a:srgbClr val="CC0000"/>
              </a:buClr>
              <a:buFont typeface="Wingdings" pitchFamily="2" charset="2"/>
              <a:buBlip>
                <a:blip r:embed="rId3"/>
              </a:buBlip>
            </a:pPr>
            <a:r>
              <a:rPr lang="en-US" sz="2400">
                <a:solidFill>
                  <a:srgbClr val="000066"/>
                </a:solidFill>
                <a:cs typeface="Times New Roman" pitchFamily="18" charset="0"/>
              </a:rPr>
              <a:t>Single ring – All the devices on the network share a single cable</a:t>
            </a:r>
            <a:r>
              <a:rPr lang="en-US" sz="2400">
                <a:solidFill>
                  <a:srgbClr val="000066"/>
                </a:solidFill>
              </a:rPr>
              <a:t> </a:t>
            </a:r>
          </a:p>
          <a:p>
            <a:pPr marL="782638" lvl="1" indent="-260350" algn="just" defTabSz="414338">
              <a:lnSpc>
                <a:spcPct val="90000"/>
              </a:lnSpc>
              <a:spcBef>
                <a:spcPct val="50000"/>
              </a:spcBef>
              <a:buClr>
                <a:srgbClr val="CC0000"/>
              </a:buClr>
              <a:buFont typeface="Wingdings" pitchFamily="2" charset="2"/>
              <a:buBlip>
                <a:blip r:embed="rId3"/>
              </a:buBlip>
            </a:pPr>
            <a:r>
              <a:rPr lang="en-US" sz="2400">
                <a:solidFill>
                  <a:srgbClr val="000066"/>
                </a:solidFill>
                <a:cs typeface="Times New Roman" pitchFamily="18" charset="0"/>
              </a:rPr>
              <a:t>Dual ring – The dual ring topology allows data to be sent in both directions. </a:t>
            </a:r>
          </a:p>
        </p:txBody>
      </p:sp>
      <p:sp>
        <p:nvSpPr>
          <p:cNvPr id="32772"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2773"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2774"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2775" name="Text Box 7"/>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pic>
        <p:nvPicPr>
          <p:cNvPr id="32778" name="Picture 10" descr="563ring"/>
          <p:cNvPicPr>
            <a:picLocks noChangeAspect="1" noChangeArrowheads="1"/>
          </p:cNvPicPr>
          <p:nvPr/>
        </p:nvPicPr>
        <p:blipFill>
          <a:blip r:embed="rId4" cstate="print"/>
          <a:srcRect/>
          <a:stretch>
            <a:fillRect/>
          </a:stretch>
        </p:blipFill>
        <p:spPr bwMode="auto">
          <a:xfrm>
            <a:off x="6007100" y="1600200"/>
            <a:ext cx="2563813" cy="2185988"/>
          </a:xfrm>
          <a:prstGeom prst="rect">
            <a:avLst/>
          </a:prstGeom>
          <a:noFill/>
          <a:ln w="9525">
            <a:noFill/>
            <a:miter lim="800000"/>
            <a:headEnd/>
            <a:tailEnd/>
          </a:ln>
        </p:spPr>
      </p:pic>
      <p:pic>
        <p:nvPicPr>
          <p:cNvPr id="32779" name="Picture 11" descr="564dring"/>
          <p:cNvPicPr>
            <a:picLocks noChangeAspect="1" noChangeArrowheads="1"/>
          </p:cNvPicPr>
          <p:nvPr/>
        </p:nvPicPr>
        <p:blipFill>
          <a:blip r:embed="rId5" cstate="print"/>
          <a:srcRect/>
          <a:stretch>
            <a:fillRect/>
          </a:stretch>
        </p:blipFill>
        <p:spPr bwMode="auto">
          <a:xfrm>
            <a:off x="5891213" y="3938588"/>
            <a:ext cx="2795587" cy="2187575"/>
          </a:xfrm>
          <a:prstGeom prst="rect">
            <a:avLst/>
          </a:prstGeom>
          <a:noFill/>
          <a:ln w="9525">
            <a:noFill/>
            <a:miter lim="800000"/>
            <a:headEnd/>
            <a:tailEnd/>
          </a:ln>
        </p:spPr>
      </p:pic>
      <mc:AlternateContent xmlns:mc="http://schemas.openxmlformats.org/markup-compatibility/2006">
        <mc:Choice xmlns:p14="http://schemas.microsoft.com/office/powerpoint/2010/main" Requires="p14">
          <p:contentPart p14:bwMode="auto" r:id="rId6">
            <p14:nvContentPartPr>
              <p14:cNvPr id="2050" name="Ink 2"/>
              <p14:cNvContentPartPr>
                <a14:cpLocks xmlns:a14="http://schemas.microsoft.com/office/drawing/2010/main" noRot="1" noChangeAspect="1" noEditPoints="1" noChangeArrowheads="1" noChangeShapeType="1"/>
              </p14:cNvContentPartPr>
              <p14:nvPr/>
            </p14:nvContentPartPr>
            <p14:xfrm>
              <a:off x="965200" y="1812925"/>
              <a:ext cx="3446463" cy="63500"/>
            </p14:xfrm>
          </p:contentPart>
        </mc:Choice>
        <mc:Fallback>
          <p:pic>
            <p:nvPicPr>
              <p:cNvPr id="2050" name="Ink 2"/>
              <p:cNvPicPr>
                <a:picLocks noRot="1" noChangeAspect="1" noEditPoints="1" noChangeArrowheads="1" noChangeShapeType="1"/>
              </p:cNvPicPr>
              <p:nvPr/>
            </p:nvPicPr>
            <p:blipFill>
              <a:blip r:embed="rId7"/>
              <a:stretch>
                <a:fillRect/>
              </a:stretch>
            </p:blipFill>
            <p:spPr>
              <a:xfrm>
                <a:off x="949364" y="1755612"/>
                <a:ext cx="3477775" cy="178126"/>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2051" name="Ink 3"/>
              <p14:cNvContentPartPr>
                <a14:cpLocks xmlns:a14="http://schemas.microsoft.com/office/drawing/2010/main" noRot="1" noChangeAspect="1" noEditPoints="1" noChangeArrowheads="1" noChangeShapeType="1"/>
              </p14:cNvContentPartPr>
              <p14:nvPr/>
            </p14:nvContentPartPr>
            <p14:xfrm>
              <a:off x="2652713" y="4268788"/>
              <a:ext cx="3108325" cy="53975"/>
            </p14:xfrm>
          </p:contentPart>
        </mc:Choice>
        <mc:Fallback>
          <p:pic>
            <p:nvPicPr>
              <p:cNvPr id="2051" name="Ink 3"/>
              <p:cNvPicPr>
                <a:picLocks noRot="1" noChangeAspect="1" noEditPoints="1" noChangeArrowheads="1" noChangeShapeType="1"/>
              </p:cNvPicPr>
              <p:nvPr/>
            </p:nvPicPr>
            <p:blipFill>
              <a:blip r:embed="rId9"/>
              <a:stretch>
                <a:fillRect/>
              </a:stretch>
            </p:blipFill>
            <p:spPr>
              <a:xfrm>
                <a:off x="2636827" y="4209415"/>
                <a:ext cx="3139737" cy="17272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2052" name="Ink 4"/>
              <p14:cNvContentPartPr>
                <a14:cpLocks xmlns:a14="http://schemas.microsoft.com/office/drawing/2010/main" noRot="1" noChangeAspect="1" noEditPoints="1" noChangeArrowheads="1" noChangeShapeType="1"/>
              </p14:cNvContentPartPr>
              <p14:nvPr/>
            </p14:nvContentPartPr>
            <p14:xfrm>
              <a:off x="946150" y="4572000"/>
              <a:ext cx="795338" cy="63500"/>
            </p14:xfrm>
          </p:contentPart>
        </mc:Choice>
        <mc:Fallback>
          <p:pic>
            <p:nvPicPr>
              <p:cNvPr id="2052" name="Ink 4"/>
              <p:cNvPicPr>
                <a:picLocks noRot="1" noChangeAspect="1" noEditPoints="1" noChangeArrowheads="1" noChangeShapeType="1"/>
              </p:cNvPicPr>
              <p:nvPr/>
            </p:nvPicPr>
            <p:blipFill>
              <a:blip r:embed="rId11"/>
              <a:stretch>
                <a:fillRect/>
              </a:stretch>
            </p:blipFill>
            <p:spPr>
              <a:xfrm>
                <a:off x="930308" y="4508137"/>
                <a:ext cx="826662" cy="191226"/>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2053" name="Ink 5"/>
              <p14:cNvContentPartPr>
                <a14:cpLocks xmlns:a14="http://schemas.microsoft.com/office/drawing/2010/main" noRot="1" noChangeAspect="1" noEditPoints="1" noChangeArrowheads="1" noChangeShapeType="1"/>
              </p14:cNvContentPartPr>
              <p14:nvPr/>
            </p14:nvContentPartPr>
            <p14:xfrm>
              <a:off x="1554163" y="3635375"/>
              <a:ext cx="3786187" cy="34925"/>
            </p14:xfrm>
          </p:contentPart>
        </mc:Choice>
        <mc:Fallback>
          <p:pic>
            <p:nvPicPr>
              <p:cNvPr id="2053" name="Ink 5"/>
              <p:cNvPicPr>
                <a:picLocks noRot="1" noChangeAspect="1" noEditPoints="1" noChangeArrowheads="1" noChangeShapeType="1"/>
              </p:cNvPicPr>
              <p:nvPr/>
            </p:nvPicPr>
            <p:blipFill>
              <a:blip r:embed="rId13"/>
              <a:stretch>
                <a:fillRect/>
              </a:stretch>
            </p:blipFill>
            <p:spPr>
              <a:xfrm>
                <a:off x="1538326" y="3584575"/>
                <a:ext cx="3817502" cy="136525"/>
              </a:xfrm>
              <a:prstGeom prst="rect">
                <a:avLst/>
              </a:prstGeom>
            </p:spPr>
          </p:pic>
        </mc:Fallback>
      </mc:AlternateContent>
      <p:sp>
        <p:nvSpPr>
          <p:cNvPr id="2" name="Footer Placeholder 1">
            <a:extLst>
              <a:ext uri="{FF2B5EF4-FFF2-40B4-BE49-F238E27FC236}">
                <a16:creationId xmlns:a16="http://schemas.microsoft.com/office/drawing/2014/main" id="{4A1D32F6-BC75-D300-5047-5A6D1555ED03}"/>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457200" y="838200"/>
            <a:ext cx="8229600" cy="8382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Mesh Topology</a:t>
            </a:r>
            <a:endParaRPr lang="en-GB" sz="4000" b="1" dirty="0">
              <a:solidFill>
                <a:srgbClr val="E4005C"/>
              </a:solidFill>
            </a:endParaRPr>
          </a:p>
        </p:txBody>
      </p:sp>
      <p:sp>
        <p:nvSpPr>
          <p:cNvPr id="34819" name="Rectangle 3"/>
          <p:cNvSpPr>
            <a:spLocks noGrp="1" noChangeArrowheads="1"/>
          </p:cNvSpPr>
          <p:nvPr>
            <p:ph type="body" sz="half" idx="1"/>
          </p:nvPr>
        </p:nvSpPr>
        <p:spPr>
          <a:xfrm>
            <a:off x="457200" y="1600200"/>
            <a:ext cx="4038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1600" b="1" dirty="0">
              <a:solidFill>
                <a:srgbClr val="000066"/>
              </a:solidFill>
            </a:endParaRPr>
          </a:p>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cs typeface="Times New Roman" pitchFamily="18" charset="0"/>
              </a:rPr>
              <a:t>The mesh topology connects all devices (nodes) to each other for redundancy and fault tolerance. </a:t>
            </a:r>
          </a:p>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cs typeface="Times New Roman" pitchFamily="18" charset="0"/>
              </a:rPr>
              <a:t>It is used in WANs to interconnect LANs and for mission critical networks like those used by banks and financial institutions. </a:t>
            </a:r>
          </a:p>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cs typeface="Times New Roman" pitchFamily="18" charset="0"/>
              </a:rPr>
              <a:t>Implementing the mesh topology is expensive and difficult.</a:t>
            </a:r>
            <a:r>
              <a:rPr lang="en-US" sz="2400" b="1" dirty="0">
                <a:solidFill>
                  <a:srgbClr val="000066"/>
                </a:solidFill>
              </a:rPr>
              <a:t> </a:t>
            </a:r>
          </a:p>
        </p:txBody>
      </p:sp>
      <p:pic>
        <p:nvPicPr>
          <p:cNvPr id="34826" name="Picture 10" descr="569mesh"/>
          <p:cNvPicPr>
            <a:picLocks noGrp="1" noChangeAspect="1" noChangeArrowheads="1"/>
          </p:cNvPicPr>
          <p:nvPr>
            <p:ph sz="half" idx="2"/>
          </p:nvPr>
        </p:nvPicPr>
        <p:blipFill>
          <a:blip r:embed="rId4" cstate="print"/>
          <a:stretch>
            <a:fillRect/>
          </a:stretch>
        </p:blipFill>
        <p:spPr>
          <a:xfrm>
            <a:off x="4748212" y="2482056"/>
            <a:ext cx="3838575" cy="2762250"/>
          </a:xfrm>
          <a:noFill/>
          <a:ln/>
        </p:spPr>
      </p:pic>
      <p:sp>
        <p:nvSpPr>
          <p:cNvPr id="34821"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4822"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4823"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mc:AlternateContent xmlns:mc="http://schemas.openxmlformats.org/markup-compatibility/2006">
        <mc:Choice xmlns:p14="http://schemas.microsoft.com/office/powerpoint/2010/main" Requires="p14">
          <p:contentPart p14:bwMode="auto" r:id="rId5">
            <p14:nvContentPartPr>
              <p14:cNvPr id="3074" name="Ink 2"/>
              <p14:cNvContentPartPr>
                <a14:cpLocks xmlns:a14="http://schemas.microsoft.com/office/drawing/2010/main" noRot="1" noChangeAspect="1" noEditPoints="1" noChangeArrowheads="1" noChangeShapeType="1"/>
              </p14:cNvContentPartPr>
              <p14:nvPr/>
            </p14:nvContentPartPr>
            <p14:xfrm>
              <a:off x="919163" y="3009900"/>
              <a:ext cx="3492500" cy="98425"/>
            </p14:xfrm>
          </p:contentPart>
        </mc:Choice>
        <mc:Fallback>
          <p:pic>
            <p:nvPicPr>
              <p:cNvPr id="3074" name="Ink 2"/>
              <p:cNvPicPr>
                <a:picLocks noRot="1" noChangeAspect="1" noEditPoints="1" noChangeArrowheads="1" noChangeShapeType="1"/>
              </p:cNvPicPr>
              <p:nvPr/>
            </p:nvPicPr>
            <p:blipFill>
              <a:blip r:embed="rId6"/>
              <a:stretch>
                <a:fillRect/>
              </a:stretch>
            </p:blipFill>
            <p:spPr>
              <a:xfrm>
                <a:off x="903321" y="2951377"/>
                <a:ext cx="3523824" cy="215471"/>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3075" name="Ink 3"/>
              <p14:cNvContentPartPr>
                <a14:cpLocks xmlns:a14="http://schemas.microsoft.com/office/drawing/2010/main" noRot="1" noChangeAspect="1" noEditPoints="1" noChangeArrowheads="1" noChangeShapeType="1"/>
              </p14:cNvContentPartPr>
              <p14:nvPr/>
            </p14:nvContentPartPr>
            <p14:xfrm>
              <a:off x="901700" y="3305175"/>
              <a:ext cx="1196975" cy="17463"/>
            </p14:xfrm>
          </p:contentPart>
        </mc:Choice>
        <mc:Fallback>
          <p:pic>
            <p:nvPicPr>
              <p:cNvPr id="3075" name="Ink 3"/>
              <p:cNvPicPr>
                <a:picLocks noRot="1" noChangeAspect="1" noEditPoints="1" noChangeArrowheads="1" noChangeShapeType="1"/>
              </p:cNvPicPr>
              <p:nvPr/>
            </p:nvPicPr>
            <p:blipFill>
              <a:blip r:embed="rId8"/>
              <a:stretch>
                <a:fillRect/>
              </a:stretch>
            </p:blipFill>
            <p:spPr>
              <a:xfrm>
                <a:off x="885860" y="3279982"/>
                <a:ext cx="1228294" cy="67848"/>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3076" name="Ink 4"/>
              <p14:cNvContentPartPr>
                <a14:cpLocks xmlns:a14="http://schemas.microsoft.com/office/drawing/2010/main" noRot="1" noChangeAspect="1" noEditPoints="1" noChangeArrowheads="1" noChangeShapeType="1"/>
              </p14:cNvContentPartPr>
              <p14:nvPr/>
            </p14:nvContentPartPr>
            <p14:xfrm>
              <a:off x="1795463" y="3768725"/>
              <a:ext cx="2517775" cy="36513"/>
            </p14:xfrm>
          </p:contentPart>
        </mc:Choice>
        <mc:Fallback>
          <p:pic>
            <p:nvPicPr>
              <p:cNvPr id="3076" name="Ink 4"/>
              <p:cNvPicPr>
                <a:picLocks noRot="1" noChangeAspect="1" noEditPoints="1" noChangeArrowheads="1" noChangeShapeType="1"/>
              </p:cNvPicPr>
              <p:nvPr/>
            </p:nvPicPr>
            <p:blipFill>
              <a:blip r:embed="rId10"/>
              <a:stretch>
                <a:fillRect/>
              </a:stretch>
            </p:blipFill>
            <p:spPr>
              <a:xfrm>
                <a:off x="1779578" y="3715615"/>
                <a:ext cx="2549184" cy="142733"/>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3077" name="Ink 5"/>
              <p14:cNvContentPartPr>
                <a14:cpLocks xmlns:a14="http://schemas.microsoft.com/office/drawing/2010/main" noRot="1" noChangeAspect="1" noEditPoints="1" noChangeArrowheads="1" noChangeShapeType="1"/>
              </p14:cNvContentPartPr>
              <p14:nvPr/>
            </p14:nvContentPartPr>
            <p14:xfrm>
              <a:off x="928688" y="4064000"/>
              <a:ext cx="2635250" cy="44450"/>
            </p14:xfrm>
          </p:contentPart>
        </mc:Choice>
        <mc:Fallback>
          <p:pic>
            <p:nvPicPr>
              <p:cNvPr id="3077" name="Ink 5"/>
              <p:cNvPicPr>
                <a:picLocks noRot="1" noChangeAspect="1" noEditPoints="1" noChangeArrowheads="1" noChangeShapeType="1"/>
              </p:cNvPicPr>
              <p:nvPr/>
            </p:nvPicPr>
            <p:blipFill>
              <a:blip r:embed="rId12"/>
              <a:stretch>
                <a:fillRect/>
              </a:stretch>
            </p:blipFill>
            <p:spPr>
              <a:xfrm>
                <a:off x="912843" y="4011141"/>
                <a:ext cx="2666579" cy="150169"/>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3078" name="Ink 6"/>
              <p14:cNvContentPartPr>
                <a14:cpLocks xmlns:a14="http://schemas.microsoft.com/office/drawing/2010/main" noRot="1" noChangeAspect="1" noEditPoints="1" noChangeArrowheads="1" noChangeShapeType="1"/>
              </p14:cNvContentPartPr>
              <p14:nvPr/>
            </p14:nvContentPartPr>
            <p14:xfrm>
              <a:off x="2544763" y="6019800"/>
              <a:ext cx="1804987" cy="26988"/>
            </p14:xfrm>
          </p:contentPart>
        </mc:Choice>
        <mc:Fallback>
          <p:pic>
            <p:nvPicPr>
              <p:cNvPr id="3078" name="Ink 6"/>
              <p:cNvPicPr>
                <a:picLocks noRot="1" noChangeAspect="1" noEditPoints="1" noChangeArrowheads="1" noChangeShapeType="1"/>
              </p:cNvPicPr>
              <p:nvPr/>
            </p:nvPicPr>
            <p:blipFill>
              <a:blip r:embed="rId14"/>
              <a:stretch>
                <a:fillRect/>
              </a:stretch>
            </p:blipFill>
            <p:spPr>
              <a:xfrm>
                <a:off x="2528914" y="5963254"/>
                <a:ext cx="1836325" cy="140081"/>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3079" name="Ink 7"/>
              <p14:cNvContentPartPr>
                <a14:cpLocks xmlns:a14="http://schemas.microsoft.com/office/drawing/2010/main" noRot="1" noChangeAspect="1" noEditPoints="1" noChangeArrowheads="1" noChangeShapeType="1"/>
              </p14:cNvContentPartPr>
              <p14:nvPr/>
            </p14:nvContentPartPr>
            <p14:xfrm>
              <a:off x="965200" y="6286500"/>
              <a:ext cx="990600" cy="46038"/>
            </p14:xfrm>
          </p:contentPart>
        </mc:Choice>
        <mc:Fallback>
          <p:pic>
            <p:nvPicPr>
              <p:cNvPr id="3079" name="Ink 7"/>
              <p:cNvPicPr>
                <a:picLocks noRot="1" noChangeAspect="1" noEditPoints="1" noChangeArrowheads="1" noChangeShapeType="1"/>
              </p:cNvPicPr>
              <p:nvPr/>
            </p:nvPicPr>
            <p:blipFill>
              <a:blip r:embed="rId16"/>
              <a:stretch>
                <a:fillRect/>
              </a:stretch>
            </p:blipFill>
            <p:spPr>
              <a:xfrm>
                <a:off x="949373" y="6230231"/>
                <a:ext cx="1021893" cy="158575"/>
              </a:xfrm>
              <a:prstGeom prst="rect">
                <a:avLst/>
              </a:prstGeom>
            </p:spPr>
          </p:pic>
        </mc:Fallback>
      </mc:AlternateContent>
      <p:sp>
        <p:nvSpPr>
          <p:cNvPr id="2" name="Footer Placeholder 1">
            <a:extLst>
              <a:ext uri="{FF2B5EF4-FFF2-40B4-BE49-F238E27FC236}">
                <a16:creationId xmlns:a16="http://schemas.microsoft.com/office/drawing/2014/main" id="{EE0818F6-FB3C-ACC3-C33F-7C686290DEE3}"/>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Network Components</a:t>
            </a:r>
            <a:endParaRPr lang="en-GB" sz="4000" b="1" dirty="0">
              <a:solidFill>
                <a:srgbClr val="E4005C"/>
              </a:solidFill>
            </a:endParaRPr>
          </a:p>
        </p:txBody>
      </p:sp>
      <p:sp>
        <p:nvSpPr>
          <p:cNvPr id="36873" name="Rectangle 9"/>
          <p:cNvSpPr>
            <a:spLocks noGrp="1" noChangeArrowheads="1"/>
          </p:cNvSpPr>
          <p:nvPr>
            <p:ph idx="1"/>
          </p:nvPr>
        </p:nvSpPr>
        <p:spPr>
          <a:xfrm>
            <a:off x="457200" y="1600200"/>
            <a:ext cx="82296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dirty="0">
              <a:solidFill>
                <a:srgbClr val="000066"/>
              </a:solidFill>
            </a:endParaRP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Physical Media</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Interconnecting Devices</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Computers</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Networking Software</a:t>
            </a:r>
          </a:p>
          <a:p>
            <a:pPr marL="392113" indent="-293688" defTabSz="414338">
              <a:lnSpc>
                <a:spcPct val="80000"/>
              </a:lnSpc>
              <a:spcBef>
                <a:spcPct val="50000"/>
              </a:spcBef>
              <a:buClr>
                <a:srgbClr val="CC0000"/>
              </a:buClr>
              <a:buFont typeface="Wingdings" pitchFamily="2" charset="2"/>
              <a:buBlip>
                <a:blip r:embed="rId3"/>
              </a:buBlip>
            </a:pPr>
            <a:r>
              <a:rPr lang="en-US" sz="2400" b="1" dirty="0">
                <a:solidFill>
                  <a:srgbClr val="000066"/>
                </a:solidFill>
              </a:rPr>
              <a:t>Applications</a:t>
            </a:r>
          </a:p>
        </p:txBody>
      </p:sp>
      <p:sp>
        <p:nvSpPr>
          <p:cNvPr id="36868"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6869"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6870"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6871" name="Text Box 7"/>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579A9D58-6A9F-CD8B-BB8B-2B7E2185A267}"/>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a:xfrm>
            <a:off x="457200" y="762000"/>
            <a:ext cx="8229600" cy="9906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Networking Media</a:t>
            </a:r>
            <a:endParaRPr lang="en-GB" sz="4000" b="1" dirty="0">
              <a:solidFill>
                <a:srgbClr val="E4005C"/>
              </a:solidFill>
            </a:endParaRPr>
          </a:p>
        </p:txBody>
      </p:sp>
      <p:sp>
        <p:nvSpPr>
          <p:cNvPr id="38915" name="Rectangle 3"/>
          <p:cNvSpPr>
            <a:spLocks noGrp="1" noChangeArrowheads="1"/>
          </p:cNvSpPr>
          <p:nvPr>
            <p:ph type="body" sz="half" idx="1"/>
          </p:nvPr>
        </p:nvSpPr>
        <p:spPr>
          <a:xfrm>
            <a:off x="457200" y="1600200"/>
            <a:ext cx="3810000" cy="4525963"/>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000" b="1" dirty="0">
              <a:solidFill>
                <a:srgbClr val="000066"/>
              </a:solidFill>
            </a:endParaRPr>
          </a:p>
          <a:p>
            <a:pPr marL="392113" indent="-293688" algn="just" defTabSz="414338">
              <a:lnSpc>
                <a:spcPct val="80000"/>
              </a:lnSpc>
              <a:spcBef>
                <a:spcPct val="50000"/>
              </a:spcBef>
              <a:buClr>
                <a:srgbClr val="CC0000"/>
              </a:buClr>
              <a:buFont typeface="Wingdings" pitchFamily="2" charset="2"/>
              <a:buBlip>
                <a:blip r:embed="rId3"/>
              </a:buBlip>
            </a:pPr>
            <a:r>
              <a:rPr lang="en-US" sz="2400" b="1" dirty="0">
                <a:solidFill>
                  <a:srgbClr val="000066"/>
                </a:solidFill>
                <a:cs typeface="Times New Roman" pitchFamily="18" charset="0"/>
              </a:rPr>
              <a:t>Networking media can be defined simply as the means by which signals (data) are sent from one computer to another (either by cable or wireless means).</a:t>
            </a:r>
          </a:p>
        </p:txBody>
      </p:sp>
      <p:pic>
        <p:nvPicPr>
          <p:cNvPr id="38922" name="Picture 10"/>
          <p:cNvPicPr>
            <a:picLocks noGrp="1" noChangeAspect="1" noChangeArrowheads="1"/>
          </p:cNvPicPr>
          <p:nvPr>
            <p:ph sz="half" idx="2"/>
          </p:nvPr>
        </p:nvPicPr>
        <p:blipFill>
          <a:blip r:embed="rId4" cstate="print"/>
          <a:stretch>
            <a:fillRect/>
          </a:stretch>
        </p:blipFill>
        <p:spPr>
          <a:xfrm>
            <a:off x="4881785" y="2301277"/>
            <a:ext cx="3571429" cy="3123809"/>
          </a:xfrm>
          <a:noFill/>
          <a:ln/>
        </p:spPr>
      </p:pic>
      <p:sp>
        <p:nvSpPr>
          <p:cNvPr id="38917"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38918"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38919"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38920" name="Text Box 8"/>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BA37CDC4-159C-13AC-AACF-378639D2A2E9}"/>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Networking Devices</a:t>
            </a:r>
            <a:endParaRPr lang="en-GB" sz="4000" b="1">
              <a:solidFill>
                <a:srgbClr val="E4005C"/>
              </a:solidFill>
            </a:endParaRPr>
          </a:p>
        </p:txBody>
      </p:sp>
      <p:sp>
        <p:nvSpPr>
          <p:cNvPr id="40969" name="Rectangle 9"/>
          <p:cNvSpPr>
            <a:spLocks noGrp="1" noChangeArrowheads="1"/>
          </p:cNvSpPr>
          <p:nvPr>
            <p:ph idx="1"/>
          </p:nvPr>
        </p:nvSpPr>
        <p:spPr>
          <a:xfrm>
            <a:off x="457200" y="1600200"/>
            <a:ext cx="4572000" cy="5257800"/>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400" b="1">
              <a:solidFill>
                <a:srgbClr val="000066"/>
              </a:solidFill>
            </a:endParaRP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rPr>
              <a:t>HUB, Switches, Routers, Wireless Access Points, Modems etc.</a:t>
            </a:r>
          </a:p>
        </p:txBody>
      </p:sp>
      <p:sp>
        <p:nvSpPr>
          <p:cNvPr id="40964"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40965"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40966"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40967" name="Text Box 7"/>
          <p:cNvSpPr txBox="1">
            <a:spLocks noChangeArrowheads="1"/>
          </p:cNvSpPr>
          <p:nvPr/>
        </p:nvSpPr>
        <p:spPr bwMode="auto">
          <a:xfrm>
            <a:off x="123825" y="104775"/>
            <a:ext cx="5819775" cy="577850"/>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endParaRPr lang="en-GB" sz="2000" b="1">
              <a:solidFill>
                <a:schemeClr val="bg1"/>
              </a:solidFill>
              <a:latin typeface="Times" pitchFamily="16" charset="0"/>
            </a:endParaRPr>
          </a:p>
        </p:txBody>
      </p:sp>
      <p:pic>
        <p:nvPicPr>
          <p:cNvPr id="40970" name="Picture 10" descr="PC620939"/>
          <p:cNvPicPr>
            <a:picLocks noChangeAspect="1" noChangeArrowheads="1"/>
          </p:cNvPicPr>
          <p:nvPr/>
        </p:nvPicPr>
        <p:blipFill>
          <a:blip r:embed="rId4" cstate="print"/>
          <a:srcRect/>
          <a:stretch>
            <a:fillRect/>
          </a:stretch>
        </p:blipFill>
        <p:spPr bwMode="auto">
          <a:xfrm>
            <a:off x="5038725" y="2114550"/>
            <a:ext cx="3876675" cy="1162050"/>
          </a:xfrm>
          <a:prstGeom prst="rect">
            <a:avLst/>
          </a:prstGeom>
          <a:noFill/>
          <a:ln w="9525">
            <a:noFill/>
            <a:miter lim="800000"/>
            <a:headEnd/>
            <a:tailEnd/>
          </a:ln>
        </p:spPr>
      </p:pic>
      <p:pic>
        <p:nvPicPr>
          <p:cNvPr id="40971" name="Picture 11"/>
          <p:cNvPicPr>
            <a:picLocks noChangeAspect="1" noChangeArrowheads="1"/>
          </p:cNvPicPr>
          <p:nvPr/>
        </p:nvPicPr>
        <p:blipFill>
          <a:blip r:embed="rId5" cstate="print"/>
          <a:srcRect t="18462" r="5984" b="10428"/>
          <a:stretch>
            <a:fillRect/>
          </a:stretch>
        </p:blipFill>
        <p:spPr bwMode="auto">
          <a:xfrm>
            <a:off x="5289550" y="3938588"/>
            <a:ext cx="3373438" cy="2187575"/>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F2F9E2DE-5C09-A59C-F690-6B24AC857FF1}"/>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a:xfrm>
            <a:off x="609600" y="838200"/>
            <a:ext cx="8229600" cy="7620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Computers: Clients and Servers</a:t>
            </a:r>
            <a:endParaRPr lang="en-GB" sz="4000" b="1" dirty="0">
              <a:solidFill>
                <a:srgbClr val="E4005C"/>
              </a:solidFill>
            </a:endParaRPr>
          </a:p>
        </p:txBody>
      </p:sp>
      <p:sp>
        <p:nvSpPr>
          <p:cNvPr id="43011" name="Rectangle 3"/>
          <p:cNvSpPr>
            <a:spLocks noGrp="1" noChangeArrowheads="1"/>
          </p:cNvSpPr>
          <p:nvPr>
            <p:ph type="body" sz="half" idx="1"/>
          </p:nvPr>
        </p:nvSpPr>
        <p:spPr>
          <a:xfrm>
            <a:off x="457200" y="1600200"/>
            <a:ext cx="4038600" cy="5257800"/>
          </a:xfrm>
        </p:spPr>
        <p:txBody>
          <a:bodyPr>
            <a:normAutofit lnSpcReduction="10000"/>
          </a:bodyPr>
          <a:lstStyle/>
          <a:p>
            <a:pPr marL="392113" indent="-293688" algn="just" defTabSz="414338">
              <a:lnSpc>
                <a:spcPct val="80000"/>
              </a:lnSpc>
              <a:spcBef>
                <a:spcPct val="50000"/>
              </a:spcBef>
              <a:buClr>
                <a:srgbClr val="CC0000"/>
              </a:buClr>
              <a:buFont typeface="Wingdings" pitchFamily="2" charset="2"/>
              <a:buBlip>
                <a:blip r:embed="rId3"/>
              </a:buBlip>
            </a:pPr>
            <a:r>
              <a:rPr lang="en-US" sz="2400" b="1">
                <a:solidFill>
                  <a:srgbClr val="000066"/>
                </a:solidFill>
                <a:cs typeface="Times New Roman" pitchFamily="18" charset="0"/>
              </a:rPr>
              <a:t>In a client/server network arrangement, network services are located in a dedicated computer whose only function is to respond to the requests of clients. </a:t>
            </a:r>
          </a:p>
          <a:p>
            <a:pPr marL="392113" indent="-293688" algn="just" defTabSz="414338">
              <a:lnSpc>
                <a:spcPct val="80000"/>
              </a:lnSpc>
              <a:buClr>
                <a:srgbClr val="CC0000"/>
              </a:buClr>
              <a:buFont typeface="Wingdings" pitchFamily="2" charset="2"/>
              <a:buBlip>
                <a:blip r:embed="rId3"/>
              </a:buBlip>
            </a:pPr>
            <a:endParaRPr lang="en-US" sz="2400" b="1">
              <a:solidFill>
                <a:srgbClr val="000066"/>
              </a:solidFill>
              <a:cs typeface="Times New Roman" pitchFamily="18" charset="0"/>
            </a:endParaRPr>
          </a:p>
          <a:p>
            <a:pPr marL="392113" indent="-293688" algn="just" defTabSz="414338">
              <a:lnSpc>
                <a:spcPct val="80000"/>
              </a:lnSpc>
              <a:buClr>
                <a:srgbClr val="CC0000"/>
              </a:buClr>
              <a:buFont typeface="Wingdings" pitchFamily="2" charset="2"/>
              <a:buBlip>
                <a:blip r:embed="rId3"/>
              </a:buBlip>
            </a:pPr>
            <a:r>
              <a:rPr lang="en-US" sz="2400" b="1">
                <a:solidFill>
                  <a:srgbClr val="000066"/>
                </a:solidFill>
                <a:cs typeface="Times New Roman" pitchFamily="18" charset="0"/>
              </a:rPr>
              <a:t>The server contains the file, print, application, security, and other services in a central computer that is continuously available to respond</a:t>
            </a:r>
            <a:r>
              <a:rPr lang="en-US" sz="2400">
                <a:cs typeface="Times New Roman" pitchFamily="18" charset="0"/>
              </a:rPr>
              <a:t> </a:t>
            </a:r>
            <a:r>
              <a:rPr lang="en-US" sz="2400" b="1">
                <a:solidFill>
                  <a:srgbClr val="000066"/>
                </a:solidFill>
                <a:cs typeface="Times New Roman" pitchFamily="18" charset="0"/>
              </a:rPr>
              <a:t>to client requests. </a:t>
            </a:r>
          </a:p>
        </p:txBody>
      </p:sp>
      <p:pic>
        <p:nvPicPr>
          <p:cNvPr id="43018" name="Picture 10"/>
          <p:cNvPicPr>
            <a:picLocks noGrp="1" noChangeAspect="1" noChangeArrowheads="1"/>
          </p:cNvPicPr>
          <p:nvPr>
            <p:ph sz="half" idx="2"/>
          </p:nvPr>
        </p:nvPicPr>
        <p:blipFill>
          <a:blip r:embed="rId4" cstate="print"/>
          <a:stretch>
            <a:fillRect/>
          </a:stretch>
        </p:blipFill>
        <p:spPr>
          <a:xfrm>
            <a:off x="4757976" y="2191753"/>
            <a:ext cx="3819048" cy="3342857"/>
          </a:xfrm>
          <a:noFill/>
          <a:ln/>
        </p:spPr>
      </p:pic>
      <p:sp>
        <p:nvSpPr>
          <p:cNvPr id="43013"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43014"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43015"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43016" name="Text Box 8"/>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681A13C7-1DCF-2AAB-9EA7-4BBE9222A245}"/>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1093788" y="674688"/>
            <a:ext cx="7808912" cy="1147762"/>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a:solidFill>
                  <a:srgbClr val="E4005C"/>
                </a:solidFill>
              </a:rPr>
              <a:t>Networking Protocol: TCP/IP</a:t>
            </a:r>
            <a:endParaRPr lang="en-GB" sz="4000" b="1">
              <a:solidFill>
                <a:srgbClr val="E4005C"/>
              </a:solidFill>
            </a:endParaRPr>
          </a:p>
        </p:txBody>
      </p:sp>
      <p:sp>
        <p:nvSpPr>
          <p:cNvPr id="45065" name="Rectangle 9"/>
          <p:cNvSpPr>
            <a:spLocks noGrp="1" noChangeArrowheads="1"/>
          </p:cNvSpPr>
          <p:nvPr>
            <p:ph idx="1"/>
          </p:nvPr>
        </p:nvSpPr>
        <p:spPr>
          <a:xfrm>
            <a:off x="457200" y="1600200"/>
            <a:ext cx="8229600" cy="5257800"/>
          </a:xfrm>
        </p:spPr>
        <p:txBody>
          <a:bodyPr/>
          <a:lstStyle/>
          <a:p>
            <a:pPr marL="392113" indent="-293688" defTabSz="414338">
              <a:lnSpc>
                <a:spcPct val="80000"/>
              </a:lnSpc>
              <a:spcBef>
                <a:spcPct val="50000"/>
              </a:spcBef>
              <a:buClr>
                <a:srgbClr val="CC0000"/>
              </a:buClr>
              <a:buFont typeface="Wingdings" pitchFamily="2" charset="2"/>
              <a:buNone/>
            </a:pPr>
            <a:endParaRPr lang="en-US" sz="2400" b="1">
              <a:solidFill>
                <a:srgbClr val="000066"/>
              </a:solidFill>
            </a:endParaRPr>
          </a:p>
        </p:txBody>
      </p:sp>
      <p:sp>
        <p:nvSpPr>
          <p:cNvPr id="45060" name="AutoShape 4"/>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45061" name="AutoShape 5"/>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45062" name="AutoShape 6"/>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pic>
        <p:nvPicPr>
          <p:cNvPr id="45066" name="Picture 10"/>
          <p:cNvPicPr>
            <a:picLocks noChangeAspect="1" noChangeArrowheads="1"/>
          </p:cNvPicPr>
          <p:nvPr/>
        </p:nvPicPr>
        <p:blipFill>
          <a:blip r:embed="rId3" cstate="print"/>
          <a:srcRect r="2563"/>
          <a:stretch>
            <a:fillRect/>
          </a:stretch>
        </p:blipFill>
        <p:spPr bwMode="auto">
          <a:xfrm>
            <a:off x="228600" y="1646238"/>
            <a:ext cx="2971800" cy="2441575"/>
          </a:xfrm>
          <a:prstGeom prst="rect">
            <a:avLst/>
          </a:prstGeom>
          <a:noFill/>
          <a:ln w="9525">
            <a:noFill/>
            <a:miter lim="800000"/>
            <a:headEnd/>
            <a:tailEnd/>
          </a:ln>
          <a:effectLst/>
        </p:spPr>
      </p:pic>
      <p:pic>
        <p:nvPicPr>
          <p:cNvPr id="45067" name="Picture 11"/>
          <p:cNvPicPr>
            <a:picLocks noChangeAspect="1" noChangeArrowheads="1"/>
          </p:cNvPicPr>
          <p:nvPr/>
        </p:nvPicPr>
        <p:blipFill>
          <a:blip r:embed="rId4" cstate="print"/>
          <a:srcRect l="2777" r="2777"/>
          <a:stretch>
            <a:fillRect/>
          </a:stretch>
        </p:blipFill>
        <p:spPr bwMode="auto">
          <a:xfrm>
            <a:off x="3276600" y="3003550"/>
            <a:ext cx="2743200" cy="2678113"/>
          </a:xfrm>
          <a:prstGeom prst="rect">
            <a:avLst/>
          </a:prstGeom>
          <a:noFill/>
          <a:ln w="9525">
            <a:noFill/>
            <a:miter lim="800000"/>
            <a:headEnd/>
            <a:tailEnd/>
          </a:ln>
          <a:effectLst/>
        </p:spPr>
      </p:pic>
      <p:pic>
        <p:nvPicPr>
          <p:cNvPr id="45068" name="Picture 12"/>
          <p:cNvPicPr>
            <a:picLocks noChangeAspect="1" noChangeArrowheads="1"/>
          </p:cNvPicPr>
          <p:nvPr/>
        </p:nvPicPr>
        <p:blipFill>
          <a:blip r:embed="rId5" cstate="print"/>
          <a:srcRect r="5714"/>
          <a:stretch>
            <a:fillRect/>
          </a:stretch>
        </p:blipFill>
        <p:spPr bwMode="auto">
          <a:xfrm>
            <a:off x="6249988" y="4084638"/>
            <a:ext cx="2665412" cy="2697162"/>
          </a:xfrm>
          <a:prstGeom prst="rect">
            <a:avLst/>
          </a:prstGeom>
          <a:noFill/>
          <a:ln w="9525">
            <a:noFill/>
            <a:miter lim="800000"/>
            <a:headEnd/>
            <a:tailEnd/>
          </a:ln>
          <a:effectLst/>
        </p:spPr>
      </p:pic>
      <p:sp>
        <p:nvSpPr>
          <p:cNvPr id="45069" name="Line 13"/>
          <p:cNvSpPr>
            <a:spLocks noChangeShapeType="1"/>
          </p:cNvSpPr>
          <p:nvPr/>
        </p:nvSpPr>
        <p:spPr bwMode="auto">
          <a:xfrm flipH="1">
            <a:off x="1384300" y="2243138"/>
            <a:ext cx="533400" cy="0"/>
          </a:xfrm>
          <a:prstGeom prst="line">
            <a:avLst/>
          </a:prstGeom>
          <a:noFill/>
          <a:ln w="9525">
            <a:solidFill>
              <a:schemeClr val="tx1"/>
            </a:solidFill>
            <a:round/>
            <a:headEnd/>
            <a:tailEnd type="triangle" w="med" len="med"/>
          </a:ln>
          <a:effectLst/>
        </p:spPr>
        <p:txBody>
          <a:bodyPr/>
          <a:lstStyle/>
          <a:p>
            <a:endParaRPr lang="en-US"/>
          </a:p>
        </p:txBody>
      </p:sp>
      <p:sp>
        <p:nvSpPr>
          <p:cNvPr id="45070" name="Line 14"/>
          <p:cNvSpPr>
            <a:spLocks noChangeShapeType="1"/>
          </p:cNvSpPr>
          <p:nvPr/>
        </p:nvSpPr>
        <p:spPr bwMode="auto">
          <a:xfrm flipH="1">
            <a:off x="4648200" y="4313238"/>
            <a:ext cx="749300" cy="0"/>
          </a:xfrm>
          <a:prstGeom prst="line">
            <a:avLst/>
          </a:prstGeom>
          <a:noFill/>
          <a:ln w="9525">
            <a:solidFill>
              <a:schemeClr val="tx1"/>
            </a:solidFill>
            <a:round/>
            <a:headEnd/>
            <a:tailEnd type="triangle" w="med" len="med"/>
          </a:ln>
          <a:effectLst/>
        </p:spPr>
        <p:txBody>
          <a:bodyPr/>
          <a:lstStyle/>
          <a:p>
            <a:endParaRPr lang="en-US"/>
          </a:p>
        </p:txBody>
      </p:sp>
      <p:sp>
        <p:nvSpPr>
          <p:cNvPr id="45071" name="Line 15"/>
          <p:cNvSpPr>
            <a:spLocks noChangeShapeType="1"/>
          </p:cNvSpPr>
          <p:nvPr/>
        </p:nvSpPr>
        <p:spPr bwMode="auto">
          <a:xfrm flipH="1">
            <a:off x="7620000" y="5608638"/>
            <a:ext cx="749300" cy="0"/>
          </a:xfrm>
          <a:prstGeom prst="line">
            <a:avLst/>
          </a:prstGeom>
          <a:noFill/>
          <a:ln w="9525">
            <a:solidFill>
              <a:schemeClr val="tx1"/>
            </a:solidFill>
            <a:round/>
            <a:headEnd/>
            <a:tailEnd type="triangle" w="med" len="med"/>
          </a:ln>
          <a:effectLst/>
        </p:spPr>
        <p:txBody>
          <a:bodyPr/>
          <a:lstStyle/>
          <a:p>
            <a:endParaRPr lang="en-US"/>
          </a:p>
        </p:txBody>
      </p:sp>
      <p:sp>
        <p:nvSpPr>
          <p:cNvPr id="2" name="Footer Placeholder 1">
            <a:extLst>
              <a:ext uri="{FF2B5EF4-FFF2-40B4-BE49-F238E27FC236}">
                <a16:creationId xmlns:a16="http://schemas.microsoft.com/office/drawing/2014/main" id="{CC579AB5-9DD7-E7B6-A07D-10F90956CB26}"/>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533400" y="381000"/>
            <a:ext cx="8229600" cy="1066800"/>
          </a:xfrm>
          <a:ln/>
        </p:spPr>
        <p:txBody>
          <a:bodyPr lIns="0" tIns="0" rIns="0" bIns="0"/>
          <a:lstStyle/>
          <a:p>
            <a:pPr defTabSz="457200">
              <a:tabLst>
                <a:tab pos="723900" algn="l"/>
                <a:tab pos="1447800" algn="l"/>
                <a:tab pos="2171700" algn="l"/>
                <a:tab pos="2895600" algn="l"/>
                <a:tab pos="3619500" algn="l"/>
                <a:tab pos="4343400" algn="l"/>
                <a:tab pos="5067300" algn="l"/>
                <a:tab pos="5791200" algn="l"/>
                <a:tab pos="6515100" algn="l"/>
                <a:tab pos="7239000" algn="l"/>
                <a:tab pos="7962900" algn="l"/>
              </a:tabLst>
            </a:pPr>
            <a:r>
              <a:rPr lang="en-US" sz="4000" b="1" dirty="0">
                <a:solidFill>
                  <a:srgbClr val="E4005C"/>
                </a:solidFill>
              </a:rPr>
              <a:t>Applications</a:t>
            </a:r>
            <a:endParaRPr lang="en-GB" sz="4000" b="1" dirty="0">
              <a:solidFill>
                <a:srgbClr val="E4005C"/>
              </a:solidFill>
            </a:endParaRPr>
          </a:p>
        </p:txBody>
      </p:sp>
      <p:sp>
        <p:nvSpPr>
          <p:cNvPr id="47107" name="Rectangle 3"/>
          <p:cNvSpPr>
            <a:spLocks noGrp="1" noChangeArrowheads="1"/>
          </p:cNvSpPr>
          <p:nvPr>
            <p:ph type="body" sz="half" idx="1"/>
          </p:nvPr>
        </p:nvSpPr>
        <p:spPr>
          <a:xfrm>
            <a:off x="457200" y="1600200"/>
            <a:ext cx="4953000" cy="4525963"/>
          </a:xfrm>
        </p:spPr>
        <p:txBody>
          <a:bodyPr/>
          <a:lstStyle/>
          <a:p>
            <a:pPr marL="392113" indent="-293688" defTabSz="414338">
              <a:lnSpc>
                <a:spcPct val="80000"/>
              </a:lnSpc>
              <a:spcBef>
                <a:spcPct val="50000"/>
              </a:spcBef>
              <a:buClr>
                <a:srgbClr val="CC0000"/>
              </a:buClr>
              <a:buFont typeface="Wingdings" pitchFamily="2" charset="2"/>
              <a:buBlip>
                <a:blip r:embed="rId3"/>
              </a:buBlip>
            </a:pPr>
            <a:endParaRPr lang="en-US" sz="2000" b="1" dirty="0">
              <a:solidFill>
                <a:srgbClr val="000066"/>
              </a:solidFill>
            </a:endParaRP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E-mail</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Searchable Data (Web Sites)</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E-Commerce</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News Groups</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Internet Telephony (VoIP)</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Video Conferencing</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Chat Groups</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Instant Messengers </a:t>
            </a:r>
          </a:p>
          <a:p>
            <a:pPr marL="392113" indent="-293688" defTabSz="414338">
              <a:lnSpc>
                <a:spcPct val="80000"/>
              </a:lnSpc>
              <a:buClr>
                <a:srgbClr val="CC0000"/>
              </a:buClr>
              <a:buFont typeface="Wingdings" pitchFamily="2" charset="2"/>
              <a:buBlip>
                <a:blip r:embed="rId3"/>
              </a:buBlip>
            </a:pPr>
            <a:r>
              <a:rPr lang="en-US" sz="2400" b="1" dirty="0">
                <a:solidFill>
                  <a:srgbClr val="000066"/>
                </a:solidFill>
              </a:rPr>
              <a:t>Internet Radio</a:t>
            </a:r>
          </a:p>
        </p:txBody>
      </p:sp>
      <p:pic>
        <p:nvPicPr>
          <p:cNvPr id="47114" name="Picture 10" descr="00006872"/>
          <p:cNvPicPr>
            <a:picLocks noGrp="1" noChangeAspect="1" noChangeArrowheads="1"/>
          </p:cNvPicPr>
          <p:nvPr>
            <p:ph sz="half" idx="2"/>
          </p:nvPr>
        </p:nvPicPr>
        <p:blipFill>
          <a:blip r:embed="rId4" cstate="print">
            <a:clrChange>
              <a:clrFrom>
                <a:srgbClr val="FFFFFF"/>
              </a:clrFrom>
              <a:clrTo>
                <a:srgbClr val="FFFFFF">
                  <a:alpha val="0"/>
                </a:srgbClr>
              </a:clrTo>
            </a:clrChange>
          </a:blip>
          <a:stretch>
            <a:fillRect/>
          </a:stretch>
        </p:blipFill>
        <p:spPr>
          <a:xfrm>
            <a:off x="5158846" y="1600200"/>
            <a:ext cx="3017308" cy="4525963"/>
          </a:xfrm>
          <a:noFill/>
          <a:ln/>
        </p:spPr>
      </p:pic>
      <p:sp>
        <p:nvSpPr>
          <p:cNvPr id="47109" name="AutoShape 5"/>
          <p:cNvSpPr>
            <a:spLocks noChangeArrowheads="1"/>
          </p:cNvSpPr>
          <p:nvPr/>
        </p:nvSpPr>
        <p:spPr bwMode="auto">
          <a:xfrm>
            <a:off x="511175" y="1270000"/>
            <a:ext cx="247650" cy="247650"/>
          </a:xfrm>
          <a:prstGeom prst="roundRect">
            <a:avLst>
              <a:gd name="adj" fmla="val 579"/>
            </a:avLst>
          </a:prstGeom>
          <a:solidFill>
            <a:srgbClr val="214263"/>
          </a:solidFill>
          <a:ln w="9525">
            <a:solidFill>
              <a:srgbClr val="000000"/>
            </a:solidFill>
            <a:round/>
            <a:headEnd/>
            <a:tailEnd/>
          </a:ln>
        </p:spPr>
        <p:txBody>
          <a:bodyPr wrap="none" anchor="ctr"/>
          <a:lstStyle/>
          <a:p>
            <a:endParaRPr lang="en-US"/>
          </a:p>
        </p:txBody>
      </p:sp>
      <p:sp>
        <p:nvSpPr>
          <p:cNvPr id="47110" name="AutoShape 6"/>
          <p:cNvSpPr>
            <a:spLocks noChangeArrowheads="1"/>
          </p:cNvSpPr>
          <p:nvPr/>
        </p:nvSpPr>
        <p:spPr bwMode="auto">
          <a:xfrm>
            <a:off x="635000" y="1392238"/>
            <a:ext cx="247650" cy="247650"/>
          </a:xfrm>
          <a:prstGeom prst="roundRect">
            <a:avLst>
              <a:gd name="adj" fmla="val 579"/>
            </a:avLst>
          </a:prstGeom>
          <a:solidFill>
            <a:srgbClr val="00B8FF"/>
          </a:solidFill>
          <a:ln w="9525">
            <a:solidFill>
              <a:srgbClr val="000000"/>
            </a:solidFill>
            <a:round/>
            <a:headEnd/>
            <a:tailEnd/>
          </a:ln>
        </p:spPr>
        <p:txBody>
          <a:bodyPr wrap="none" anchor="ctr"/>
          <a:lstStyle/>
          <a:p>
            <a:endParaRPr lang="en-US"/>
          </a:p>
        </p:txBody>
      </p:sp>
      <p:sp>
        <p:nvSpPr>
          <p:cNvPr id="47111" name="AutoShape 7"/>
          <p:cNvSpPr>
            <a:spLocks noChangeArrowheads="1"/>
          </p:cNvSpPr>
          <p:nvPr/>
        </p:nvSpPr>
        <p:spPr bwMode="auto">
          <a:xfrm>
            <a:off x="969963" y="1552575"/>
            <a:ext cx="7407275" cy="36513"/>
          </a:xfrm>
          <a:prstGeom prst="roundRect">
            <a:avLst>
              <a:gd name="adj" fmla="val 4167"/>
            </a:avLst>
          </a:prstGeom>
          <a:gradFill rotWithShape="0">
            <a:gsLst>
              <a:gs pos="0">
                <a:srgbClr val="800080"/>
              </a:gs>
              <a:gs pos="100000">
                <a:srgbClr val="008000"/>
              </a:gs>
            </a:gsLst>
            <a:lin ang="9000000" scaled="1"/>
          </a:gradFill>
          <a:ln w="9525">
            <a:solidFill>
              <a:srgbClr val="000000"/>
            </a:solidFill>
            <a:round/>
            <a:headEnd/>
            <a:tailEnd/>
          </a:ln>
        </p:spPr>
        <p:txBody>
          <a:bodyPr wrap="none" anchor="ctr"/>
          <a:lstStyle/>
          <a:p>
            <a:endParaRPr lang="en-US"/>
          </a:p>
        </p:txBody>
      </p:sp>
      <p:sp>
        <p:nvSpPr>
          <p:cNvPr id="47112" name="Text Box 8"/>
          <p:cNvSpPr txBox="1">
            <a:spLocks noChangeArrowheads="1"/>
          </p:cNvSpPr>
          <p:nvPr/>
        </p:nvSpPr>
        <p:spPr bwMode="auto">
          <a:xfrm>
            <a:off x="123825" y="104775"/>
            <a:ext cx="5819775" cy="288925"/>
          </a:xfrm>
          <a:prstGeom prst="rect">
            <a:avLst/>
          </a:prstGeom>
          <a:noFill/>
          <a:ln w="9525">
            <a:noFill/>
            <a:miter lim="800000"/>
            <a:headEnd/>
            <a:tailEnd/>
          </a:ln>
        </p:spPr>
        <p:txBody>
          <a:bodyPr lIns="0" tIns="0" rIns="0" bIns="0">
            <a:spAutoFit/>
          </a:bodyPr>
          <a:lstStyle/>
          <a:p>
            <a:pPr defTabSz="828675" hangingPunct="0">
              <a:lnSpc>
                <a:spcPct val="95000"/>
              </a:lnSpc>
              <a:buClr>
                <a:srgbClr val="000000"/>
              </a:buClr>
              <a:buSzPct val="45000"/>
              <a:buFont typeface="StarSymbol" charset="0"/>
              <a:buNone/>
              <a:tabLst>
                <a:tab pos="657225" algn="l"/>
                <a:tab pos="1312863" algn="l"/>
                <a:tab pos="1970088" algn="l"/>
                <a:tab pos="2627313" algn="l"/>
                <a:tab pos="3282950" algn="l"/>
                <a:tab pos="3940175" algn="l"/>
                <a:tab pos="4595813" algn="l"/>
                <a:tab pos="5253038" algn="l"/>
              </a:tabLst>
            </a:pPr>
            <a:r>
              <a:rPr lang="en-GB" sz="2000" b="1">
                <a:solidFill>
                  <a:schemeClr val="bg1"/>
                </a:solidFill>
              </a:rPr>
              <a:t>Introduction to Computer Networks</a:t>
            </a:r>
          </a:p>
        </p:txBody>
      </p:sp>
      <p:sp>
        <p:nvSpPr>
          <p:cNvPr id="2" name="Footer Placeholder 1">
            <a:extLst>
              <a:ext uri="{FF2B5EF4-FFF2-40B4-BE49-F238E27FC236}">
                <a16:creationId xmlns:a16="http://schemas.microsoft.com/office/drawing/2014/main" id="{6BC49B4F-474E-B62B-CAE5-99323D9E97B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Protocol Hierarchies</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dirty="0"/>
              <a:t>•  Most networks are organized as a series of layers or </a:t>
            </a:r>
            <a:r>
              <a:rPr lang="en-US"/>
              <a:t>levels </a:t>
            </a:r>
            <a:endParaRPr lang="en-US" dirty="0"/>
          </a:p>
          <a:p>
            <a:pPr marL="630238" indent="-285750">
              <a:buNone/>
            </a:pPr>
            <a:r>
              <a:rPr lang="en-US" dirty="0"/>
              <a:t>– Each layer offers certain services to the higher layers</a:t>
            </a:r>
          </a:p>
          <a:p>
            <a:pPr>
              <a:buNone/>
            </a:pPr>
            <a:r>
              <a:rPr lang="en-US" dirty="0"/>
              <a:t>•  </a:t>
            </a:r>
            <a:r>
              <a:rPr lang="en-US" b="1" dirty="0"/>
              <a:t>Protocol</a:t>
            </a:r>
          </a:p>
          <a:p>
            <a:pPr marL="628650" indent="-223838">
              <a:buNone/>
            </a:pPr>
            <a:r>
              <a:rPr lang="en-US" dirty="0"/>
              <a:t>– an agreement between the communicating parties on how communication is to proceed.</a:t>
            </a:r>
          </a:p>
          <a:p>
            <a:pPr marL="628650" indent="-223838">
              <a:buNone/>
            </a:pPr>
            <a:r>
              <a:rPr lang="en-US" dirty="0"/>
              <a:t>– Layer n protocol</a:t>
            </a:r>
          </a:p>
        </p:txBody>
      </p:sp>
      <p:sp>
        <p:nvSpPr>
          <p:cNvPr id="4" name="Footer Placeholder 3">
            <a:extLst>
              <a:ext uri="{FF2B5EF4-FFF2-40B4-BE49-F238E27FC236}">
                <a16:creationId xmlns:a16="http://schemas.microsoft.com/office/drawing/2014/main" id="{83C72CFD-0E3A-B268-5EC5-2124593E86B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www.thatstechnology.com/wp-content/images/computer-networks/Layers,%20protocols,%20and%20interfaces.jpg"/>
          <p:cNvPicPr>
            <a:picLocks noChangeAspect="1" noChangeArrowheads="1"/>
          </p:cNvPicPr>
          <p:nvPr/>
        </p:nvPicPr>
        <p:blipFill>
          <a:blip r:embed="rId2" cstate="print"/>
          <a:srcRect/>
          <a:stretch>
            <a:fillRect/>
          </a:stretch>
        </p:blipFill>
        <p:spPr bwMode="auto">
          <a:xfrm>
            <a:off x="1447800" y="457200"/>
            <a:ext cx="5797379" cy="5743576"/>
          </a:xfrm>
          <a:prstGeom prst="rect">
            <a:avLst/>
          </a:prstGeom>
          <a:noFill/>
        </p:spPr>
      </p:pic>
      <p:sp>
        <p:nvSpPr>
          <p:cNvPr id="5" name="TextBox 4"/>
          <p:cNvSpPr txBox="1"/>
          <p:nvPr/>
        </p:nvSpPr>
        <p:spPr>
          <a:xfrm>
            <a:off x="1981200" y="6324600"/>
            <a:ext cx="5410200" cy="461665"/>
          </a:xfrm>
          <a:prstGeom prst="rect">
            <a:avLst/>
          </a:prstGeom>
          <a:noFill/>
        </p:spPr>
        <p:txBody>
          <a:bodyPr wrap="square" rtlCol="0">
            <a:spAutoFit/>
          </a:bodyPr>
          <a:lstStyle/>
          <a:p>
            <a:pPr algn="ctr"/>
            <a:r>
              <a:rPr lang="en-US" sz="2400" dirty="0"/>
              <a:t>Fig: protocols, layers and interfaces</a:t>
            </a:r>
          </a:p>
        </p:txBody>
      </p:sp>
      <p:sp>
        <p:nvSpPr>
          <p:cNvPr id="2" name="Footer Placeholder 1">
            <a:extLst>
              <a:ext uri="{FF2B5EF4-FFF2-40B4-BE49-F238E27FC236}">
                <a16:creationId xmlns:a16="http://schemas.microsoft.com/office/drawing/2014/main" id="{71AF1A37-D90B-207E-728B-6675010C563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Peers and Interfaces</a:t>
            </a:r>
            <a:br>
              <a:rPr lang="en-US" dirty="0"/>
            </a:br>
            <a:endParaRPr lang="en-US" dirty="0"/>
          </a:p>
        </p:txBody>
      </p:sp>
      <p:sp>
        <p:nvSpPr>
          <p:cNvPr id="3" name="Content Placeholder 2"/>
          <p:cNvSpPr>
            <a:spLocks noGrp="1"/>
          </p:cNvSpPr>
          <p:nvPr>
            <p:ph idx="1"/>
          </p:nvPr>
        </p:nvSpPr>
        <p:spPr/>
        <p:txBody>
          <a:bodyPr>
            <a:normAutofit/>
          </a:bodyPr>
          <a:lstStyle/>
          <a:p>
            <a:pPr>
              <a:buNone/>
            </a:pPr>
            <a:r>
              <a:rPr lang="en-US" dirty="0"/>
              <a:t>•</a:t>
            </a:r>
            <a:r>
              <a:rPr lang="en-US" b="1" dirty="0"/>
              <a:t> Peers</a:t>
            </a:r>
          </a:p>
          <a:p>
            <a:pPr>
              <a:buNone/>
            </a:pPr>
            <a:r>
              <a:rPr lang="en-US" dirty="0"/>
              <a:t>– The entities comprising the corresponding layers on different machines</a:t>
            </a:r>
          </a:p>
          <a:p>
            <a:pPr>
              <a:buNone/>
            </a:pPr>
            <a:r>
              <a:rPr lang="en-US" dirty="0"/>
              <a:t>• </a:t>
            </a:r>
            <a:r>
              <a:rPr lang="en-US" b="1" dirty="0"/>
              <a:t>Interface</a:t>
            </a:r>
          </a:p>
          <a:p>
            <a:pPr>
              <a:buNone/>
            </a:pPr>
            <a:r>
              <a:rPr lang="en-US" dirty="0"/>
              <a:t>– between each pair of adjacent layers</a:t>
            </a:r>
          </a:p>
          <a:p>
            <a:pPr>
              <a:buNone/>
            </a:pPr>
            <a:r>
              <a:rPr lang="en-US" dirty="0"/>
              <a:t>– defines which primitive operations and services the lower layer offers to the upper one.</a:t>
            </a:r>
          </a:p>
        </p:txBody>
      </p:sp>
      <p:sp>
        <p:nvSpPr>
          <p:cNvPr id="4" name="Footer Placeholder 3">
            <a:extLst>
              <a:ext uri="{FF2B5EF4-FFF2-40B4-BE49-F238E27FC236}">
                <a16:creationId xmlns:a16="http://schemas.microsoft.com/office/drawing/2014/main" id="{2A5942AD-C5EC-A616-B4F9-4DE9A46E3D26}"/>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Entities and Peer Entities</a:t>
            </a:r>
            <a:br>
              <a:rPr lang="en-US" dirty="0"/>
            </a:br>
            <a:endParaRPr lang="en-US" dirty="0"/>
          </a:p>
        </p:txBody>
      </p:sp>
      <p:sp>
        <p:nvSpPr>
          <p:cNvPr id="3" name="Content Placeholder 2"/>
          <p:cNvSpPr>
            <a:spLocks noGrp="1"/>
          </p:cNvSpPr>
          <p:nvPr>
            <p:ph idx="1"/>
          </p:nvPr>
        </p:nvSpPr>
        <p:spPr>
          <a:xfrm>
            <a:off x="457200" y="1775191"/>
            <a:ext cx="8229600" cy="5082809"/>
          </a:xfrm>
        </p:spPr>
        <p:txBody>
          <a:bodyPr/>
          <a:lstStyle/>
          <a:p>
            <a:pPr>
              <a:buNone/>
            </a:pPr>
            <a:r>
              <a:rPr lang="en-US" b="1" dirty="0"/>
              <a:t>• An entity</a:t>
            </a:r>
          </a:p>
          <a:p>
            <a:pPr>
              <a:buNone/>
            </a:pPr>
            <a:r>
              <a:rPr lang="en-US" dirty="0"/>
              <a:t>– an active element in a layer</a:t>
            </a:r>
          </a:p>
          <a:p>
            <a:pPr>
              <a:buNone/>
            </a:pPr>
            <a:r>
              <a:rPr lang="en-US" dirty="0"/>
              <a:t>– can be a software entity (a process), a hardware entity (an I/O chip), or both (an I/O chip with its driver).</a:t>
            </a:r>
          </a:p>
          <a:p>
            <a:pPr>
              <a:buNone/>
            </a:pPr>
            <a:r>
              <a:rPr lang="en-US" dirty="0"/>
              <a:t>• </a:t>
            </a:r>
            <a:r>
              <a:rPr lang="en-US" b="1" dirty="0"/>
              <a:t>Peer entities</a:t>
            </a:r>
          </a:p>
          <a:p>
            <a:pPr>
              <a:buNone/>
            </a:pPr>
            <a:r>
              <a:rPr lang="en-US" dirty="0"/>
              <a:t>– entities in the same layer on different machines</a:t>
            </a:r>
          </a:p>
        </p:txBody>
      </p:sp>
      <p:sp>
        <p:nvSpPr>
          <p:cNvPr id="4" name="Footer Placeholder 3">
            <a:extLst>
              <a:ext uri="{FF2B5EF4-FFF2-40B4-BE49-F238E27FC236}">
                <a16:creationId xmlns:a16="http://schemas.microsoft.com/office/drawing/2014/main" id="{E6866B73-9AD2-8950-5AC3-17AF9E909401}"/>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Protocol Stacks</a:t>
            </a:r>
            <a:br>
              <a:rPr lang="en-US" dirty="0"/>
            </a:br>
            <a:endParaRPr lang="en-US" dirty="0"/>
          </a:p>
        </p:txBody>
      </p:sp>
      <p:sp>
        <p:nvSpPr>
          <p:cNvPr id="3" name="Content Placeholder 2"/>
          <p:cNvSpPr>
            <a:spLocks noGrp="1"/>
          </p:cNvSpPr>
          <p:nvPr>
            <p:ph idx="1"/>
          </p:nvPr>
        </p:nvSpPr>
        <p:spPr/>
        <p:txBody>
          <a:bodyPr/>
          <a:lstStyle/>
          <a:p>
            <a:pPr>
              <a:buNone/>
            </a:pPr>
            <a:r>
              <a:rPr lang="en-US" dirty="0"/>
              <a:t>• A protocol stack.</a:t>
            </a:r>
          </a:p>
          <a:p>
            <a:pPr>
              <a:buNone/>
            </a:pPr>
            <a:r>
              <a:rPr lang="en-US" dirty="0"/>
              <a:t>– A list of protocols used by a certain system, one protocol per layer</a:t>
            </a:r>
          </a:p>
          <a:p>
            <a:pPr>
              <a:buNone/>
            </a:pPr>
            <a:r>
              <a:rPr lang="en-US" dirty="0"/>
              <a:t>• Network architecture</a:t>
            </a:r>
          </a:p>
          <a:p>
            <a:pPr>
              <a:buNone/>
            </a:pPr>
            <a:r>
              <a:rPr lang="en-US" dirty="0"/>
              <a:t>– A set of layers and protocols</a:t>
            </a:r>
          </a:p>
        </p:txBody>
      </p:sp>
      <p:sp>
        <p:nvSpPr>
          <p:cNvPr id="4" name="Footer Placeholder 3">
            <a:extLst>
              <a:ext uri="{FF2B5EF4-FFF2-40B4-BE49-F238E27FC236}">
                <a16:creationId xmlns:a16="http://schemas.microsoft.com/office/drawing/2014/main" id="{4A3A9D6B-0147-7827-0950-538A721B9467}"/>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Layers at An Interface</a:t>
            </a:r>
          </a:p>
        </p:txBody>
      </p:sp>
      <p:pic>
        <p:nvPicPr>
          <p:cNvPr id="4098" name="Picture 2"/>
          <p:cNvPicPr>
            <a:picLocks noChangeAspect="1" noChangeArrowheads="1"/>
          </p:cNvPicPr>
          <p:nvPr/>
        </p:nvPicPr>
        <p:blipFill>
          <a:blip r:embed="rId2" cstate="print"/>
          <a:srcRect/>
          <a:stretch>
            <a:fillRect/>
          </a:stretch>
        </p:blipFill>
        <p:spPr bwMode="auto">
          <a:xfrm>
            <a:off x="304800" y="1828800"/>
            <a:ext cx="8680349" cy="4267200"/>
          </a:xfrm>
          <a:prstGeom prst="rect">
            <a:avLst/>
          </a:prstGeom>
          <a:noFill/>
          <a:ln w="9525">
            <a:noFill/>
            <a:miter lim="800000"/>
            <a:headEnd/>
            <a:tailEnd/>
          </a:ln>
        </p:spPr>
      </p:pic>
      <p:sp>
        <p:nvSpPr>
          <p:cNvPr id="3" name="Footer Placeholder 2">
            <a:extLst>
              <a:ext uri="{FF2B5EF4-FFF2-40B4-BE49-F238E27FC236}">
                <a16:creationId xmlns:a16="http://schemas.microsoft.com/office/drawing/2014/main" id="{34FB4565-F99B-1941-1A09-4BCD22B4F71D}"/>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t>
            </a:r>
            <a:r>
              <a:rPr lang="en-US" dirty="0" err="1"/>
              <a:t>SAPs</a:t>
            </a:r>
            <a:r>
              <a:rPr lang="en-US" dirty="0"/>
              <a:t> in LLC</a:t>
            </a:r>
          </a:p>
        </p:txBody>
      </p:sp>
      <p:pic>
        <p:nvPicPr>
          <p:cNvPr id="5122" name="Picture 2"/>
          <p:cNvPicPr>
            <a:picLocks noChangeAspect="1" noChangeArrowheads="1"/>
          </p:cNvPicPr>
          <p:nvPr/>
        </p:nvPicPr>
        <p:blipFill>
          <a:blip r:embed="rId2" cstate="print"/>
          <a:srcRect/>
          <a:stretch>
            <a:fillRect/>
          </a:stretch>
        </p:blipFill>
        <p:spPr bwMode="auto">
          <a:xfrm>
            <a:off x="85725" y="1524000"/>
            <a:ext cx="9058275" cy="5172075"/>
          </a:xfrm>
          <a:prstGeom prst="rect">
            <a:avLst/>
          </a:prstGeom>
          <a:noFill/>
          <a:ln w="9525">
            <a:noFill/>
            <a:miter lim="800000"/>
            <a:headEnd/>
            <a:tailEnd/>
          </a:ln>
        </p:spPr>
      </p:pic>
      <p:sp>
        <p:nvSpPr>
          <p:cNvPr id="3" name="Footer Placeholder 2">
            <a:extLst>
              <a:ext uri="{FF2B5EF4-FFF2-40B4-BE49-F238E27FC236}">
                <a16:creationId xmlns:a16="http://schemas.microsoft.com/office/drawing/2014/main" id="{DDBD22C7-31E8-5E68-645D-1F38BE8180E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Till Now</a:t>
            </a:r>
          </a:p>
        </p:txBody>
      </p:sp>
      <p:sp>
        <p:nvSpPr>
          <p:cNvPr id="4" name="Rectangle 3"/>
          <p:cNvSpPr/>
          <p:nvPr/>
        </p:nvSpPr>
        <p:spPr>
          <a:xfrm>
            <a:off x="457200" y="304801"/>
            <a:ext cx="8305800" cy="6186309"/>
          </a:xfrm>
          <a:prstGeom prst="rect">
            <a:avLst/>
          </a:prstGeom>
        </p:spPr>
        <p:txBody>
          <a:bodyPr wrap="square">
            <a:spAutoFit/>
          </a:bodyPr>
          <a:lstStyle/>
          <a:p>
            <a:pPr lvl="0"/>
            <a:endParaRPr lang="en-US" sz="3600" dirty="0"/>
          </a:p>
          <a:p>
            <a:pPr lvl="0"/>
            <a:endParaRPr lang="en-US" sz="3600" dirty="0"/>
          </a:p>
          <a:p>
            <a:pPr lvl="0"/>
            <a:r>
              <a:rPr lang="en-US" sz="3600" dirty="0"/>
              <a:t>LAN, MAN &amp; WAN </a:t>
            </a:r>
          </a:p>
          <a:p>
            <a:pPr lvl="0"/>
            <a:r>
              <a:rPr lang="en-US" sz="3600" dirty="0"/>
              <a:t>Applications of Networks </a:t>
            </a:r>
          </a:p>
          <a:p>
            <a:pPr lvl="0"/>
            <a:r>
              <a:rPr lang="en-US" sz="3600" dirty="0"/>
              <a:t>Network Topology </a:t>
            </a:r>
            <a:r>
              <a:rPr lang="en-US" sz="3600" dirty="0" err="1"/>
              <a:t>BSRM</a:t>
            </a:r>
            <a:r>
              <a:rPr lang="en-US" sz="3600" dirty="0"/>
              <a:t> </a:t>
            </a:r>
          </a:p>
          <a:p>
            <a:pPr lvl="0"/>
            <a:r>
              <a:rPr lang="en-US" sz="3600" dirty="0"/>
              <a:t>Network Components </a:t>
            </a:r>
            <a:r>
              <a:rPr lang="en-GB" sz="3600" dirty="0"/>
              <a:t> </a:t>
            </a:r>
            <a:r>
              <a:rPr lang="en-GB" sz="3600" dirty="0" err="1"/>
              <a:t>PINCONA</a:t>
            </a:r>
            <a:endParaRPr lang="en-US" sz="3600" dirty="0"/>
          </a:p>
          <a:p>
            <a:pPr lvl="0"/>
            <a:r>
              <a:rPr lang="en-US" sz="3600" dirty="0"/>
              <a:t>:protocols, layers and interfaces</a:t>
            </a:r>
          </a:p>
          <a:p>
            <a:pPr lvl="0"/>
            <a:r>
              <a:rPr lang="en-US" sz="3600" dirty="0"/>
              <a:t>Peers, Entities and Peer Entities </a:t>
            </a:r>
          </a:p>
          <a:p>
            <a:pPr lvl="0"/>
            <a:r>
              <a:rPr lang="en-US" sz="3600" dirty="0"/>
              <a:t>Protocol Stacks</a:t>
            </a:r>
          </a:p>
          <a:p>
            <a:pPr lvl="0"/>
            <a:r>
              <a:rPr lang="en-US" sz="3600" dirty="0"/>
              <a:t>Layers at An Interface</a:t>
            </a:r>
          </a:p>
          <a:p>
            <a:pPr lvl="0"/>
            <a:r>
              <a:rPr lang="en-US" sz="3600" dirty="0"/>
              <a:t>Connections Multiplexing</a:t>
            </a:r>
          </a:p>
        </p:txBody>
      </p:sp>
      <p:sp>
        <p:nvSpPr>
          <p:cNvPr id="3" name="Footer Placeholder 2">
            <a:extLst>
              <a:ext uri="{FF2B5EF4-FFF2-40B4-BE49-F238E27FC236}">
                <a16:creationId xmlns:a16="http://schemas.microsoft.com/office/drawing/2014/main" id="{8415A911-8958-6BB7-C877-8B821032E567}"/>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Connections Multiplexing</a:t>
            </a:r>
          </a:p>
        </p:txBody>
      </p:sp>
      <p:sp>
        <p:nvSpPr>
          <p:cNvPr id="3" name="Content Placeholder 2"/>
          <p:cNvSpPr>
            <a:spLocks noGrp="1"/>
          </p:cNvSpPr>
          <p:nvPr>
            <p:ph idx="1"/>
          </p:nvPr>
        </p:nvSpPr>
        <p:spPr/>
        <p:txBody>
          <a:bodyPr/>
          <a:lstStyle/>
          <a:p>
            <a:pPr marL="514350" indent="-514350"/>
            <a:r>
              <a:rPr lang="en-US" dirty="0"/>
              <a:t>Upward Multiplexing: Several layer N connections should be multiplexed into a</a:t>
            </a:r>
          </a:p>
          <a:p>
            <a:pPr>
              <a:buNone/>
            </a:pPr>
            <a:r>
              <a:rPr lang="en-US" dirty="0"/>
              <a:t>layer N-1 connection.</a:t>
            </a:r>
          </a:p>
          <a:p>
            <a:r>
              <a:rPr lang="en-US" dirty="0"/>
              <a:t>  Downward Multiplexing: a layer N connection uses several layer N-1 connections.</a:t>
            </a:r>
          </a:p>
        </p:txBody>
      </p:sp>
      <p:sp>
        <p:nvSpPr>
          <p:cNvPr id="4" name="Footer Placeholder 3">
            <a:extLst>
              <a:ext uri="{FF2B5EF4-FFF2-40B4-BE49-F238E27FC236}">
                <a16:creationId xmlns:a16="http://schemas.microsoft.com/office/drawing/2014/main" id="{1B8BF5F0-0D69-DD21-FB80-613ACC4C831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Connections Multiplexing[p-510-511]</a:t>
            </a:r>
          </a:p>
        </p:txBody>
      </p:sp>
      <p:pic>
        <p:nvPicPr>
          <p:cNvPr id="6146" name="Picture 2"/>
          <p:cNvPicPr>
            <a:picLocks noChangeAspect="1" noChangeArrowheads="1"/>
          </p:cNvPicPr>
          <p:nvPr/>
        </p:nvPicPr>
        <p:blipFill>
          <a:blip r:embed="rId2" cstate="print"/>
          <a:srcRect/>
          <a:stretch>
            <a:fillRect/>
          </a:stretch>
        </p:blipFill>
        <p:spPr bwMode="auto">
          <a:xfrm>
            <a:off x="1524000" y="1219200"/>
            <a:ext cx="6615112" cy="5431634"/>
          </a:xfrm>
          <a:prstGeom prst="rect">
            <a:avLst/>
          </a:prstGeom>
          <a:noFill/>
          <a:ln w="9525">
            <a:noFill/>
            <a:miter lim="800000"/>
            <a:headEnd/>
            <a:tailEnd/>
          </a:ln>
        </p:spPr>
      </p:pic>
      <p:sp>
        <p:nvSpPr>
          <p:cNvPr id="3" name="Footer Placeholder 2">
            <a:extLst>
              <a:ext uri="{FF2B5EF4-FFF2-40B4-BE49-F238E27FC236}">
                <a16:creationId xmlns:a16="http://schemas.microsoft.com/office/drawing/2014/main" id="{7E9B8D5D-BBB0-C523-FE75-BECDC6BDEB64}"/>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Connection-Oriented and</a:t>
            </a:r>
            <a:br>
              <a:rPr lang="en-US" dirty="0"/>
            </a:br>
            <a:r>
              <a:rPr lang="en-US" dirty="0"/>
              <a:t>Connectionless Services</a:t>
            </a:r>
          </a:p>
        </p:txBody>
      </p:sp>
      <p:sp>
        <p:nvSpPr>
          <p:cNvPr id="3" name="Content Placeholder 2"/>
          <p:cNvSpPr>
            <a:spLocks noGrp="1"/>
          </p:cNvSpPr>
          <p:nvPr>
            <p:ph idx="1"/>
          </p:nvPr>
        </p:nvSpPr>
        <p:spPr/>
        <p:txBody>
          <a:bodyPr/>
          <a:lstStyle/>
          <a:p>
            <a:pPr>
              <a:buNone/>
            </a:pPr>
            <a:r>
              <a:rPr lang="en-US" dirty="0"/>
              <a:t>• </a:t>
            </a:r>
            <a:r>
              <a:rPr lang="en-US" b="1" dirty="0"/>
              <a:t>connection-oriented</a:t>
            </a:r>
          </a:p>
          <a:p>
            <a:pPr>
              <a:buNone/>
            </a:pPr>
            <a:r>
              <a:rPr lang="en-US" dirty="0"/>
              <a:t>– Establish a connection first, use the</a:t>
            </a:r>
          </a:p>
          <a:p>
            <a:pPr>
              <a:buNone/>
            </a:pPr>
            <a:r>
              <a:rPr lang="en-US" dirty="0"/>
              <a:t>connection, and then release the connection.</a:t>
            </a:r>
          </a:p>
          <a:p>
            <a:pPr>
              <a:buNone/>
            </a:pPr>
            <a:r>
              <a:rPr lang="en-US" dirty="0"/>
              <a:t>– Example: the telephone system</a:t>
            </a:r>
          </a:p>
          <a:p>
            <a:pPr>
              <a:buNone/>
            </a:pPr>
            <a:r>
              <a:rPr lang="en-US" dirty="0"/>
              <a:t>• </a:t>
            </a:r>
            <a:r>
              <a:rPr lang="en-US" b="1" dirty="0"/>
              <a:t>connectionless</a:t>
            </a:r>
          </a:p>
          <a:p>
            <a:pPr>
              <a:buNone/>
            </a:pPr>
            <a:r>
              <a:rPr lang="en-US" dirty="0"/>
              <a:t>– No connection is established.</a:t>
            </a:r>
          </a:p>
          <a:p>
            <a:pPr>
              <a:buNone/>
            </a:pPr>
            <a:r>
              <a:rPr lang="en-US" dirty="0"/>
              <a:t>– Example: the postal system</a:t>
            </a:r>
          </a:p>
        </p:txBody>
      </p:sp>
      <p:sp>
        <p:nvSpPr>
          <p:cNvPr id="4" name="Footer Placeholder 3">
            <a:extLst>
              <a:ext uri="{FF2B5EF4-FFF2-40B4-BE49-F238E27FC236}">
                <a16:creationId xmlns:a16="http://schemas.microsoft.com/office/drawing/2014/main" id="{4CD578E8-3D1A-49C8-6758-94D6DA32587E}"/>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 Primitives</a:t>
            </a:r>
          </a:p>
        </p:txBody>
      </p:sp>
      <p:sp>
        <p:nvSpPr>
          <p:cNvPr id="3" name="Content Placeholder 2"/>
          <p:cNvSpPr>
            <a:spLocks noGrp="1"/>
          </p:cNvSpPr>
          <p:nvPr>
            <p:ph idx="1"/>
          </p:nvPr>
        </p:nvSpPr>
        <p:spPr>
          <a:xfrm>
            <a:off x="457200" y="1600200"/>
            <a:ext cx="8229600" cy="5029200"/>
          </a:xfrm>
        </p:spPr>
        <p:txBody>
          <a:bodyPr>
            <a:normAutofit/>
          </a:bodyPr>
          <a:lstStyle/>
          <a:p>
            <a:pPr>
              <a:buNone/>
            </a:pPr>
            <a:r>
              <a:rPr lang="en-US" dirty="0"/>
              <a:t>• Request</a:t>
            </a:r>
          </a:p>
          <a:p>
            <a:pPr>
              <a:buNone/>
            </a:pPr>
            <a:r>
              <a:rPr lang="en-US" dirty="0"/>
              <a:t>– layer </a:t>
            </a:r>
            <a:r>
              <a:rPr lang="en-US" dirty="0" err="1"/>
              <a:t>n+1</a:t>
            </a:r>
            <a:r>
              <a:rPr lang="en-US" dirty="0"/>
              <a:t> to layer n</a:t>
            </a:r>
          </a:p>
          <a:p>
            <a:pPr>
              <a:buNone/>
            </a:pPr>
            <a:r>
              <a:rPr lang="en-US" dirty="0"/>
              <a:t>• Indication</a:t>
            </a:r>
          </a:p>
          <a:p>
            <a:pPr>
              <a:buNone/>
            </a:pPr>
            <a:r>
              <a:rPr lang="en-US" dirty="0"/>
              <a:t>– layer n to layer </a:t>
            </a:r>
            <a:r>
              <a:rPr lang="en-US" dirty="0" err="1"/>
              <a:t>n+1</a:t>
            </a:r>
            <a:endParaRPr lang="en-US" dirty="0"/>
          </a:p>
          <a:p>
            <a:pPr>
              <a:buNone/>
            </a:pPr>
            <a:r>
              <a:rPr lang="en-US" dirty="0"/>
              <a:t>– signal an event</a:t>
            </a:r>
          </a:p>
          <a:p>
            <a:pPr>
              <a:buNone/>
            </a:pPr>
            <a:r>
              <a:rPr lang="en-US" dirty="0"/>
              <a:t>• Response</a:t>
            </a:r>
          </a:p>
          <a:p>
            <a:pPr>
              <a:buNone/>
            </a:pPr>
            <a:r>
              <a:rPr lang="en-US" dirty="0"/>
              <a:t>– layer </a:t>
            </a:r>
            <a:r>
              <a:rPr lang="en-US" dirty="0" err="1"/>
              <a:t>n+1</a:t>
            </a:r>
            <a:r>
              <a:rPr lang="en-US" dirty="0"/>
              <a:t> to layer n</a:t>
            </a:r>
          </a:p>
          <a:p>
            <a:pPr>
              <a:buNone/>
            </a:pPr>
            <a:r>
              <a:rPr lang="en-US" dirty="0"/>
              <a:t>– respond to the previous</a:t>
            </a:r>
          </a:p>
          <a:p>
            <a:pPr>
              <a:buNone/>
            </a:pPr>
            <a:r>
              <a:rPr lang="en-US" dirty="0"/>
              <a:t>indication</a:t>
            </a:r>
          </a:p>
          <a:p>
            <a:pPr>
              <a:buNone/>
            </a:pPr>
            <a:r>
              <a:rPr lang="en-US" dirty="0"/>
              <a:t>• Confirm</a:t>
            </a:r>
          </a:p>
          <a:p>
            <a:pPr>
              <a:buNone/>
            </a:pPr>
            <a:r>
              <a:rPr lang="en-US" dirty="0"/>
              <a:t>– layer n to layer </a:t>
            </a:r>
            <a:r>
              <a:rPr lang="en-US" dirty="0" err="1"/>
              <a:t>n+1</a:t>
            </a:r>
            <a:endParaRPr lang="en-US" dirty="0"/>
          </a:p>
          <a:p>
            <a:pPr>
              <a:buNone/>
            </a:pPr>
            <a:r>
              <a:rPr lang="en-US" dirty="0"/>
              <a:t>– confirm the previous request</a:t>
            </a:r>
          </a:p>
        </p:txBody>
      </p:sp>
      <p:pic>
        <p:nvPicPr>
          <p:cNvPr id="8194" name="Picture 2"/>
          <p:cNvPicPr>
            <a:picLocks noChangeAspect="1" noChangeArrowheads="1"/>
          </p:cNvPicPr>
          <p:nvPr/>
        </p:nvPicPr>
        <p:blipFill>
          <a:blip r:embed="rId2" cstate="print"/>
          <a:srcRect/>
          <a:stretch>
            <a:fillRect/>
          </a:stretch>
        </p:blipFill>
        <p:spPr bwMode="auto">
          <a:xfrm>
            <a:off x="4648200" y="1524000"/>
            <a:ext cx="3933825" cy="5095875"/>
          </a:xfrm>
          <a:prstGeom prst="rect">
            <a:avLst/>
          </a:prstGeom>
          <a:noFill/>
          <a:ln w="9525">
            <a:noFill/>
            <a:miter lim="800000"/>
            <a:headEnd/>
            <a:tailEnd/>
          </a:ln>
        </p:spPr>
      </p:pic>
      <p:sp>
        <p:nvSpPr>
          <p:cNvPr id="4" name="Footer Placeholder 3">
            <a:extLst>
              <a:ext uri="{FF2B5EF4-FFF2-40B4-BE49-F238E27FC236}">
                <a16:creationId xmlns:a16="http://schemas.microsoft.com/office/drawing/2014/main" id="{41C33988-7590-27EE-3C3D-AC92882C03C5}"/>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 Models</a:t>
            </a:r>
          </a:p>
        </p:txBody>
      </p:sp>
      <p:sp>
        <p:nvSpPr>
          <p:cNvPr id="3" name="Content Placeholder 2"/>
          <p:cNvSpPr>
            <a:spLocks noGrp="1"/>
          </p:cNvSpPr>
          <p:nvPr>
            <p:ph idx="1"/>
          </p:nvPr>
        </p:nvSpPr>
        <p:spPr/>
        <p:txBody>
          <a:bodyPr/>
          <a:lstStyle/>
          <a:p>
            <a:pPr>
              <a:buNone/>
            </a:pPr>
            <a:r>
              <a:rPr lang="en-US" dirty="0"/>
              <a:t>• The </a:t>
            </a:r>
            <a:r>
              <a:rPr lang="en-US" dirty="0" err="1"/>
              <a:t>OSI</a:t>
            </a:r>
            <a:r>
              <a:rPr lang="en-US" dirty="0"/>
              <a:t> Reference Model</a:t>
            </a:r>
          </a:p>
          <a:p>
            <a:pPr>
              <a:buNone/>
            </a:pPr>
            <a:r>
              <a:rPr lang="en-US" dirty="0"/>
              <a:t>	– based on a proposal developed by the</a:t>
            </a:r>
          </a:p>
          <a:p>
            <a:pPr>
              <a:buNone/>
            </a:pPr>
            <a:r>
              <a:rPr lang="en-US" dirty="0"/>
              <a:t>		International Standards Organization (ISO)</a:t>
            </a:r>
          </a:p>
          <a:p>
            <a:pPr>
              <a:buNone/>
            </a:pPr>
            <a:r>
              <a:rPr lang="en-US" dirty="0"/>
              <a:t>	– a first step toward international</a:t>
            </a:r>
          </a:p>
          <a:p>
            <a:pPr>
              <a:buNone/>
            </a:pPr>
            <a:r>
              <a:rPr lang="en-US" dirty="0"/>
              <a:t>		standardization of the protocols used in the</a:t>
            </a:r>
          </a:p>
          <a:p>
            <a:pPr>
              <a:buNone/>
            </a:pPr>
            <a:r>
              <a:rPr lang="en-US" dirty="0"/>
              <a:t>		various layers.</a:t>
            </a:r>
          </a:p>
          <a:p>
            <a:pPr>
              <a:buNone/>
            </a:pPr>
            <a:r>
              <a:rPr lang="en-US" dirty="0"/>
              <a:t>• The TCP/IP Reference Model</a:t>
            </a:r>
          </a:p>
        </p:txBody>
      </p:sp>
      <p:sp>
        <p:nvSpPr>
          <p:cNvPr id="4" name="Footer Placeholder 3">
            <a:extLst>
              <a:ext uri="{FF2B5EF4-FFF2-40B4-BE49-F238E27FC236}">
                <a16:creationId xmlns:a16="http://schemas.microsoft.com/office/drawing/2014/main" id="{76DC2CA9-03E2-9FEB-9A9D-6C2A00DDD4A8}"/>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err="1"/>
              <a:t>OSI</a:t>
            </a:r>
            <a:r>
              <a:rPr lang="en-US" dirty="0"/>
              <a:t> Reference Model</a:t>
            </a:r>
          </a:p>
        </p:txBody>
      </p:sp>
      <p:pic>
        <p:nvPicPr>
          <p:cNvPr id="9219" name="Picture 3"/>
          <p:cNvPicPr>
            <a:picLocks noChangeAspect="1" noChangeArrowheads="1"/>
          </p:cNvPicPr>
          <p:nvPr/>
        </p:nvPicPr>
        <p:blipFill>
          <a:blip r:embed="rId2" cstate="print">
            <a:lum bright="-20000" contrast="20000"/>
          </a:blip>
          <a:srcRect/>
          <a:stretch>
            <a:fillRect/>
          </a:stretch>
        </p:blipFill>
        <p:spPr bwMode="auto">
          <a:xfrm>
            <a:off x="609600" y="1676400"/>
            <a:ext cx="8001000" cy="4727486"/>
          </a:xfrm>
          <a:prstGeom prst="rect">
            <a:avLst/>
          </a:prstGeom>
          <a:noFill/>
          <a:ln w="9525">
            <a:noFill/>
            <a:miter lim="800000"/>
            <a:headEnd/>
            <a:tailEnd/>
          </a:ln>
        </p:spPr>
      </p:pic>
      <p:sp>
        <p:nvSpPr>
          <p:cNvPr id="3" name="Footer Placeholder 2">
            <a:extLst>
              <a:ext uri="{FF2B5EF4-FFF2-40B4-BE49-F238E27FC236}">
                <a16:creationId xmlns:a16="http://schemas.microsoft.com/office/drawing/2014/main" id="{E7BC05D5-09C1-0A7D-101B-AB991BC9C689}"/>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TCP/IP Reference Model</a:t>
            </a:r>
          </a:p>
        </p:txBody>
      </p:sp>
      <p:pic>
        <p:nvPicPr>
          <p:cNvPr id="10242" name="Picture 2"/>
          <p:cNvPicPr>
            <a:picLocks noChangeAspect="1" noChangeArrowheads="1"/>
          </p:cNvPicPr>
          <p:nvPr/>
        </p:nvPicPr>
        <p:blipFill>
          <a:blip r:embed="rId2" cstate="print"/>
          <a:srcRect/>
          <a:stretch>
            <a:fillRect/>
          </a:stretch>
        </p:blipFill>
        <p:spPr bwMode="auto">
          <a:xfrm>
            <a:off x="609600" y="1981200"/>
            <a:ext cx="8296275" cy="4486275"/>
          </a:xfrm>
          <a:prstGeom prst="rect">
            <a:avLst/>
          </a:prstGeom>
          <a:noFill/>
          <a:ln w="9525">
            <a:noFill/>
            <a:miter lim="800000"/>
            <a:headEnd/>
            <a:tailEnd/>
          </a:ln>
        </p:spPr>
      </p:pic>
      <p:sp>
        <p:nvSpPr>
          <p:cNvPr id="3" name="Footer Placeholder 2">
            <a:extLst>
              <a:ext uri="{FF2B5EF4-FFF2-40B4-BE49-F238E27FC236}">
                <a16:creationId xmlns:a16="http://schemas.microsoft.com/office/drawing/2014/main" id="{8A25600D-9DB1-1C37-E157-1BD292632A3B}"/>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u="sng" dirty="0"/>
              <a:t>Physical Layer</a:t>
            </a:r>
            <a:br>
              <a:rPr lang="en-US" dirty="0"/>
            </a:br>
            <a:endParaRPr lang="en-US" dirty="0"/>
          </a:p>
        </p:txBody>
      </p:sp>
      <p:sp>
        <p:nvSpPr>
          <p:cNvPr id="3" name="Content Placeholder 2"/>
          <p:cNvSpPr>
            <a:spLocks noGrp="1"/>
          </p:cNvSpPr>
          <p:nvPr>
            <p:ph idx="1"/>
          </p:nvPr>
        </p:nvSpPr>
        <p:spPr/>
        <p:txBody>
          <a:bodyPr/>
          <a:lstStyle/>
          <a:p>
            <a:r>
              <a:rPr lang="en-US" dirty="0"/>
              <a:t>- main function to transmit bits over a communication channel </a:t>
            </a:r>
          </a:p>
          <a:p>
            <a:r>
              <a:rPr lang="en-US" dirty="0"/>
              <a:t>- to establish and terminate a connection to a communications medium</a:t>
            </a:r>
          </a:p>
          <a:p>
            <a:r>
              <a:rPr lang="en-US" dirty="0"/>
              <a:t>- responsible to make sure that when one side sends a '1' bit the other side will receive '1' bit and not '0' bit. </a:t>
            </a:r>
          </a:p>
          <a:p>
            <a:pPr>
              <a:buNone/>
            </a:pPr>
            <a:endParaRPr lang="en-US" dirty="0"/>
          </a:p>
        </p:txBody>
      </p:sp>
      <p:sp>
        <p:nvSpPr>
          <p:cNvPr id="4" name="Footer Placeholder 3">
            <a:extLst>
              <a:ext uri="{FF2B5EF4-FFF2-40B4-BE49-F238E27FC236}">
                <a16:creationId xmlns:a16="http://schemas.microsoft.com/office/drawing/2014/main" id="{9F3F943A-8A92-F438-5978-260BB934898D}"/>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u="sng" dirty="0"/>
              <a:t>Data Link Layer</a:t>
            </a:r>
            <a:br>
              <a:rPr lang="en-US" dirty="0"/>
            </a:br>
            <a:endParaRPr lang="en-US" dirty="0"/>
          </a:p>
        </p:txBody>
      </p:sp>
      <p:sp>
        <p:nvSpPr>
          <p:cNvPr id="3" name="Content Placeholder 2"/>
          <p:cNvSpPr>
            <a:spLocks noGrp="1"/>
          </p:cNvSpPr>
          <p:nvPr>
            <p:ph idx="1"/>
          </p:nvPr>
        </p:nvSpPr>
        <p:spPr/>
        <p:txBody>
          <a:bodyPr>
            <a:normAutofit/>
          </a:bodyPr>
          <a:lstStyle/>
          <a:p>
            <a:r>
              <a:rPr lang="en-US" dirty="0"/>
              <a:t>provides means to transfer data between network entities. </a:t>
            </a:r>
          </a:p>
          <a:p>
            <a:r>
              <a:rPr lang="en-US" dirty="0"/>
              <a:t>- it takes the bit streams of data from the Network Layer </a:t>
            </a:r>
          </a:p>
          <a:p>
            <a:r>
              <a:rPr lang="en-US" dirty="0"/>
              <a:t>- breaks into frames and passes them to the physical layer. </a:t>
            </a:r>
          </a:p>
          <a:p>
            <a:r>
              <a:rPr lang="en-US" dirty="0"/>
              <a:t>- At the receiving end data link layer detects and possibly corrects the errors </a:t>
            </a:r>
          </a:p>
          <a:p>
            <a:r>
              <a:rPr lang="en-US" dirty="0"/>
              <a:t>- passes the correct stream to the network layer. </a:t>
            </a:r>
          </a:p>
          <a:p>
            <a:r>
              <a:rPr lang="en-US" dirty="0"/>
              <a:t>- also concerned with flow control techniques.    </a:t>
            </a:r>
          </a:p>
          <a:p>
            <a:endParaRPr lang="en-US" dirty="0"/>
          </a:p>
        </p:txBody>
      </p:sp>
      <p:sp>
        <p:nvSpPr>
          <p:cNvPr id="4" name="Footer Placeholder 3">
            <a:extLst>
              <a:ext uri="{FF2B5EF4-FFF2-40B4-BE49-F238E27FC236}">
                <a16:creationId xmlns:a16="http://schemas.microsoft.com/office/drawing/2014/main" id="{6A0DD8A6-FFCE-E4E8-8B81-8C0FF8235E76}"/>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a:t>Network Layer</a:t>
            </a:r>
            <a:endParaRPr lang="en-US" dirty="0"/>
          </a:p>
        </p:txBody>
      </p:sp>
      <p:sp>
        <p:nvSpPr>
          <p:cNvPr id="3" name="Content Placeholder 2"/>
          <p:cNvSpPr>
            <a:spLocks noGrp="1"/>
          </p:cNvSpPr>
          <p:nvPr>
            <p:ph idx="1"/>
          </p:nvPr>
        </p:nvSpPr>
        <p:spPr/>
        <p:txBody>
          <a:bodyPr/>
          <a:lstStyle/>
          <a:p>
            <a:r>
              <a:rPr lang="en-US" dirty="0"/>
              <a:t>- performs network </a:t>
            </a:r>
            <a:r>
              <a:rPr lang="en-US" u="sng" dirty="0"/>
              <a:t>routing</a:t>
            </a:r>
            <a:r>
              <a:rPr lang="en-US" dirty="0"/>
              <a:t>, </a:t>
            </a:r>
          </a:p>
          <a:p>
            <a:r>
              <a:rPr lang="en-US" dirty="0"/>
              <a:t>- flow control</a:t>
            </a:r>
          </a:p>
          <a:p>
            <a:r>
              <a:rPr lang="en-US" dirty="0"/>
              <a:t>- error control functions. </a:t>
            </a:r>
          </a:p>
          <a:p>
            <a:r>
              <a:rPr lang="en-US" dirty="0"/>
              <a:t>- prevents the possibility of congestion .</a:t>
            </a:r>
          </a:p>
          <a:p>
            <a:pPr>
              <a:buNone/>
            </a:pPr>
            <a:endParaRPr lang="en-US" dirty="0"/>
          </a:p>
        </p:txBody>
      </p:sp>
      <p:sp>
        <p:nvSpPr>
          <p:cNvPr id="4" name="Footer Placeholder 3">
            <a:extLst>
              <a:ext uri="{FF2B5EF4-FFF2-40B4-BE49-F238E27FC236}">
                <a16:creationId xmlns:a16="http://schemas.microsoft.com/office/drawing/2014/main" id="{6AF9E3E1-2752-6A70-5BE2-A7A504A59476}"/>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u="sng" dirty="0"/>
              <a:t>Transport Layer</a:t>
            </a:r>
            <a:br>
              <a:rPr lang="en-US" dirty="0"/>
            </a:br>
            <a:endParaRPr lang="en-US" dirty="0"/>
          </a:p>
        </p:txBody>
      </p:sp>
      <p:sp>
        <p:nvSpPr>
          <p:cNvPr id="3" name="Content Placeholder 2"/>
          <p:cNvSpPr>
            <a:spLocks noGrp="1"/>
          </p:cNvSpPr>
          <p:nvPr>
            <p:ph idx="1"/>
          </p:nvPr>
        </p:nvSpPr>
        <p:spPr/>
        <p:txBody>
          <a:bodyPr/>
          <a:lstStyle/>
          <a:p>
            <a:r>
              <a:rPr lang="en-US" dirty="0"/>
              <a:t>-main task to accept data from the Session layer, </a:t>
            </a:r>
          </a:p>
          <a:p>
            <a:r>
              <a:rPr lang="en-US" dirty="0"/>
              <a:t>- split them up into smaller units </a:t>
            </a:r>
          </a:p>
          <a:p>
            <a:r>
              <a:rPr lang="en-US" dirty="0"/>
              <a:t>- passes them to the Network layer </a:t>
            </a:r>
          </a:p>
          <a:p>
            <a:r>
              <a:rPr lang="en-US" dirty="0"/>
              <a:t>- make sure that all the pieces arrived correctly. </a:t>
            </a:r>
          </a:p>
          <a:p>
            <a:r>
              <a:rPr lang="en-US" dirty="0"/>
              <a:t>- checks the sequence of packets.</a:t>
            </a:r>
          </a:p>
        </p:txBody>
      </p:sp>
      <p:sp>
        <p:nvSpPr>
          <p:cNvPr id="4" name="Footer Placeholder 3">
            <a:extLst>
              <a:ext uri="{FF2B5EF4-FFF2-40B4-BE49-F238E27FC236}">
                <a16:creationId xmlns:a16="http://schemas.microsoft.com/office/drawing/2014/main" id="{9AE16456-6D84-03E9-2199-1A63C638C5C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u="sng" dirty="0"/>
              <a:t>Session Layer</a:t>
            </a:r>
            <a:br>
              <a:rPr lang="en-US" dirty="0"/>
            </a:br>
            <a:endParaRPr lang="en-US" dirty="0"/>
          </a:p>
        </p:txBody>
      </p:sp>
      <p:sp>
        <p:nvSpPr>
          <p:cNvPr id="3" name="Content Placeholder 2"/>
          <p:cNvSpPr>
            <a:spLocks noGrp="1"/>
          </p:cNvSpPr>
          <p:nvPr>
            <p:ph idx="1"/>
          </p:nvPr>
        </p:nvSpPr>
        <p:spPr/>
        <p:txBody>
          <a:bodyPr/>
          <a:lstStyle/>
          <a:p>
            <a:r>
              <a:rPr lang="en-US" dirty="0"/>
              <a:t>responsible for controlling exchange information and </a:t>
            </a:r>
          </a:p>
          <a:p>
            <a:r>
              <a:rPr lang="en-US" dirty="0"/>
              <a:t>sets up, coordinates, and terminates conversations, exchanges, and dialogs between the applications at each end</a:t>
            </a:r>
          </a:p>
          <a:p>
            <a:r>
              <a:rPr lang="en-US" dirty="0"/>
              <a:t>synchronization.</a:t>
            </a:r>
          </a:p>
          <a:p>
            <a:r>
              <a:rPr lang="en-US" dirty="0"/>
              <a:t>Provides a session</a:t>
            </a:r>
          </a:p>
          <a:p>
            <a:endParaRPr lang="en-US" dirty="0"/>
          </a:p>
        </p:txBody>
      </p:sp>
      <p:sp>
        <p:nvSpPr>
          <p:cNvPr id="4" name="TextBox 3"/>
          <p:cNvSpPr txBox="1"/>
          <p:nvPr/>
        </p:nvSpPr>
        <p:spPr>
          <a:xfrm>
            <a:off x="8001000" y="457200"/>
            <a:ext cx="697627" cy="646331"/>
          </a:xfrm>
          <a:prstGeom prst="rect">
            <a:avLst/>
          </a:prstGeom>
          <a:noFill/>
        </p:spPr>
        <p:txBody>
          <a:bodyPr wrap="none" rtlCol="0">
            <a:spAutoFit/>
          </a:bodyPr>
          <a:lstStyle/>
          <a:p>
            <a:r>
              <a:rPr lang="en-US" sz="3600" dirty="0"/>
              <a:t>SS</a:t>
            </a:r>
          </a:p>
        </p:txBody>
      </p:sp>
      <p:sp>
        <p:nvSpPr>
          <p:cNvPr id="5" name="Footer Placeholder 4">
            <a:extLst>
              <a:ext uri="{FF2B5EF4-FFF2-40B4-BE49-F238E27FC236}">
                <a16:creationId xmlns:a16="http://schemas.microsoft.com/office/drawing/2014/main" id="{7FE58BDA-A523-48F7-FC96-C029FCD2FE1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u="sng" dirty="0"/>
              <a:t>Presentation Layer</a:t>
            </a:r>
            <a:br>
              <a:rPr lang="en-US" dirty="0"/>
            </a:br>
            <a:endParaRPr lang="en-US" dirty="0"/>
          </a:p>
        </p:txBody>
      </p:sp>
      <p:sp>
        <p:nvSpPr>
          <p:cNvPr id="3" name="Content Placeholder 2"/>
          <p:cNvSpPr>
            <a:spLocks noGrp="1"/>
          </p:cNvSpPr>
          <p:nvPr>
            <p:ph idx="1"/>
          </p:nvPr>
        </p:nvSpPr>
        <p:spPr/>
        <p:txBody>
          <a:bodyPr>
            <a:normAutofit/>
          </a:bodyPr>
          <a:lstStyle/>
          <a:p>
            <a:r>
              <a:rPr lang="en-US" dirty="0"/>
              <a:t>Responsible to translate different data formats from the representation used inside the computer (</a:t>
            </a:r>
            <a:r>
              <a:rPr lang="en-US" u="sng" dirty="0"/>
              <a:t>ASCII</a:t>
            </a:r>
            <a:r>
              <a:rPr lang="en-US" dirty="0"/>
              <a:t>) to the network standard representation and back. </a:t>
            </a:r>
          </a:p>
          <a:p>
            <a:r>
              <a:rPr lang="en-US" dirty="0"/>
              <a:t>Computers use different codes for representing character strings so a standard encoding must be used and is handled by the presentation layer. </a:t>
            </a:r>
          </a:p>
          <a:p>
            <a:r>
              <a:rPr lang="en-US" dirty="0"/>
              <a:t>Generally in a few words this layer is concerned with the syntax and semantics of the information transmitted.</a:t>
            </a:r>
          </a:p>
        </p:txBody>
      </p:sp>
      <p:sp>
        <p:nvSpPr>
          <p:cNvPr id="4" name="TextBox 3"/>
          <p:cNvSpPr txBox="1"/>
          <p:nvPr/>
        </p:nvSpPr>
        <p:spPr>
          <a:xfrm>
            <a:off x="7772400" y="457200"/>
            <a:ext cx="755335" cy="707886"/>
          </a:xfrm>
          <a:prstGeom prst="rect">
            <a:avLst/>
          </a:prstGeom>
          <a:noFill/>
        </p:spPr>
        <p:txBody>
          <a:bodyPr wrap="none" rtlCol="0">
            <a:spAutoFit/>
          </a:bodyPr>
          <a:lstStyle/>
          <a:p>
            <a:r>
              <a:rPr lang="en-US" sz="4000" dirty="0"/>
              <a:t>PS</a:t>
            </a:r>
            <a:endParaRPr lang="en-US" sz="2800" dirty="0"/>
          </a:p>
        </p:txBody>
      </p:sp>
      <p:sp>
        <p:nvSpPr>
          <p:cNvPr id="5" name="Footer Placeholder 4">
            <a:extLst>
              <a:ext uri="{FF2B5EF4-FFF2-40B4-BE49-F238E27FC236}">
                <a16:creationId xmlns:a16="http://schemas.microsoft.com/office/drawing/2014/main" id="{B2BA1586-5823-3B7E-19E5-4374E13D6968}"/>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u="sng" dirty="0"/>
              <a:t>Application layer</a:t>
            </a:r>
            <a:endParaRPr lang="en-US" dirty="0"/>
          </a:p>
        </p:txBody>
      </p:sp>
      <p:sp>
        <p:nvSpPr>
          <p:cNvPr id="3" name="Content Placeholder 2"/>
          <p:cNvSpPr>
            <a:spLocks noGrp="1"/>
          </p:cNvSpPr>
          <p:nvPr>
            <p:ph idx="1"/>
          </p:nvPr>
        </p:nvSpPr>
        <p:spPr/>
        <p:txBody>
          <a:bodyPr>
            <a:normAutofit/>
          </a:bodyPr>
          <a:lstStyle/>
          <a:p>
            <a:pPr lvl="0"/>
            <a:r>
              <a:rPr lang="en-US" dirty="0"/>
              <a:t>Makes sure that the other party is identified and can be reached</a:t>
            </a:r>
          </a:p>
          <a:p>
            <a:pPr lvl="0"/>
            <a:r>
              <a:rPr lang="en-US" dirty="0"/>
              <a:t>If appropriate, authenticates either the message sender or receiver or both</a:t>
            </a:r>
          </a:p>
          <a:p>
            <a:pPr lvl="0"/>
            <a:r>
              <a:rPr lang="en-US" dirty="0"/>
              <a:t>Makes sure that necessary communication resources exist (for example, is there a modem in the sender's computer?)</a:t>
            </a:r>
          </a:p>
          <a:p>
            <a:pPr lvl="0"/>
            <a:r>
              <a:rPr lang="en-US" dirty="0"/>
              <a:t>Ensures agreement at both ends about error recovery procedures, data integrity, and privacy</a:t>
            </a:r>
          </a:p>
          <a:p>
            <a:pPr lvl="0"/>
            <a:r>
              <a:rPr lang="en-US" dirty="0"/>
              <a:t>Determines protocol and data syntax rules at the application level</a:t>
            </a:r>
          </a:p>
          <a:p>
            <a:endParaRPr lang="en-US" dirty="0"/>
          </a:p>
        </p:txBody>
      </p:sp>
      <p:sp>
        <p:nvSpPr>
          <p:cNvPr id="4" name="Footer Placeholder 3">
            <a:extLst>
              <a:ext uri="{FF2B5EF4-FFF2-40B4-BE49-F238E27FC236}">
                <a16:creationId xmlns:a16="http://schemas.microsoft.com/office/drawing/2014/main" id="{1CCC3534-5728-A7C6-8555-C4000BDB4371}"/>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p:txBody>
          <a:bodyPr/>
          <a:lstStyle/>
          <a:p>
            <a:pPr fontAlgn="auto">
              <a:spcAft>
                <a:spcPts val="0"/>
              </a:spcAft>
              <a:defRPr/>
            </a:pPr>
            <a:r>
              <a:rPr lang="en-US"/>
              <a:t>Example Data Link Protocols</a:t>
            </a:r>
          </a:p>
        </p:txBody>
      </p:sp>
      <p:sp>
        <p:nvSpPr>
          <p:cNvPr id="9218" name="Rectangle 3"/>
          <p:cNvSpPr>
            <a:spLocks noGrp="1" noChangeArrowheads="1"/>
          </p:cNvSpPr>
          <p:nvPr>
            <p:ph idx="1"/>
          </p:nvPr>
        </p:nvSpPr>
        <p:spPr>
          <a:xfrm>
            <a:off x="601663" y="2095500"/>
            <a:ext cx="8542337" cy="4457700"/>
          </a:xfrm>
        </p:spPr>
        <p:txBody>
          <a:bodyPr/>
          <a:lstStyle/>
          <a:p>
            <a:pPr marL="609600" indent="-609600"/>
            <a:r>
              <a:rPr lang="en-US" sz="4400"/>
              <a:t>HDLC – High-Level Data Link Control</a:t>
            </a:r>
          </a:p>
          <a:p>
            <a:pPr marL="609600" indent="-609600"/>
            <a:r>
              <a:rPr lang="en-US" sz="4400"/>
              <a:t>The Data Link Layer in the Internet</a:t>
            </a:r>
          </a:p>
        </p:txBody>
      </p:sp>
      <p:sp>
        <p:nvSpPr>
          <p:cNvPr id="2" name="Footer Placeholder 1">
            <a:extLst>
              <a:ext uri="{FF2B5EF4-FFF2-40B4-BE49-F238E27FC236}">
                <a16:creationId xmlns:a16="http://schemas.microsoft.com/office/drawing/2014/main" id="{3FE14CC5-D533-3CC7-71D1-AA414548B238}"/>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pPr fontAlgn="auto">
              <a:spcAft>
                <a:spcPts val="0"/>
              </a:spcAft>
              <a:defRPr/>
            </a:pPr>
            <a:r>
              <a:rPr lang="en-US"/>
              <a:t>High-Level Data Link Control</a:t>
            </a:r>
          </a:p>
        </p:txBody>
      </p:sp>
      <p:sp>
        <p:nvSpPr>
          <p:cNvPr id="10242" name="Rectangle 3"/>
          <p:cNvSpPr>
            <a:spLocks noGrp="1" noChangeArrowheads="1"/>
          </p:cNvSpPr>
          <p:nvPr>
            <p:ph idx="1"/>
          </p:nvPr>
        </p:nvSpPr>
        <p:spPr>
          <a:xfrm>
            <a:off x="228600" y="5867400"/>
            <a:ext cx="8686800" cy="838200"/>
          </a:xfrm>
        </p:spPr>
        <p:txBody>
          <a:bodyPr/>
          <a:lstStyle/>
          <a:p>
            <a:pPr marL="609600" indent="-609600" algn="ctr">
              <a:buFontTx/>
              <a:buNone/>
            </a:pPr>
            <a:r>
              <a:rPr lang="en-US"/>
              <a:t>Frame format for bit-oriented protocols</a:t>
            </a:r>
          </a:p>
        </p:txBody>
      </p:sp>
      <p:pic>
        <p:nvPicPr>
          <p:cNvPr id="10244" name="Picture 4" descr="3-24"/>
          <p:cNvPicPr>
            <a:picLocks noChangeAspect="1" noChangeArrowheads="1"/>
          </p:cNvPicPr>
          <p:nvPr/>
        </p:nvPicPr>
        <p:blipFill>
          <a:blip r:embed="rId3" cstate="print"/>
          <a:srcRect/>
          <a:stretch>
            <a:fillRect/>
          </a:stretch>
        </p:blipFill>
        <p:spPr bwMode="auto">
          <a:xfrm>
            <a:off x="457200" y="4191000"/>
            <a:ext cx="7829550" cy="1081088"/>
          </a:xfrm>
          <a:prstGeom prst="rect">
            <a:avLst/>
          </a:prstGeom>
          <a:noFill/>
          <a:ln w="9525">
            <a:noFill/>
            <a:miter lim="800000"/>
            <a:headEnd/>
            <a:tailEnd/>
          </a:ln>
        </p:spPr>
      </p:pic>
      <p:sp>
        <p:nvSpPr>
          <p:cNvPr id="10245" name="AutoShape 5"/>
          <p:cNvSpPr>
            <a:spLocks noChangeArrowheads="1"/>
          </p:cNvSpPr>
          <p:nvPr/>
        </p:nvSpPr>
        <p:spPr bwMode="auto">
          <a:xfrm>
            <a:off x="304800" y="1371600"/>
            <a:ext cx="8610600" cy="1905000"/>
          </a:xfrm>
          <a:prstGeom prst="wedgeRectCallout">
            <a:avLst>
              <a:gd name="adj1" fmla="val -32505"/>
              <a:gd name="adj2" fmla="val 92417"/>
            </a:avLst>
          </a:prstGeom>
          <a:noFill/>
          <a:ln w="9525">
            <a:solidFill>
              <a:schemeClr val="tx1"/>
            </a:solidFill>
            <a:miter lim="800000"/>
            <a:headEnd/>
            <a:tailEnd/>
          </a:ln>
        </p:spPr>
        <p:txBody>
          <a:bodyPr/>
          <a:lstStyle/>
          <a:p>
            <a:r>
              <a:rPr lang="en-US"/>
              <a:t>All HDLC frames begin with the HDLC flag 01111110, which is byte stuffed if occurs in the rest of the frame. </a:t>
            </a:r>
          </a:p>
          <a:p>
            <a:endParaRPr lang="en-US"/>
          </a:p>
        </p:txBody>
      </p:sp>
      <p:sp>
        <p:nvSpPr>
          <p:cNvPr id="340998" name="AutoShape 6"/>
          <p:cNvSpPr>
            <a:spLocks noChangeArrowheads="1"/>
          </p:cNvSpPr>
          <p:nvPr/>
        </p:nvSpPr>
        <p:spPr bwMode="auto">
          <a:xfrm>
            <a:off x="304800" y="1371600"/>
            <a:ext cx="8610600" cy="1905000"/>
          </a:xfrm>
          <a:prstGeom prst="wedgeRectCallout">
            <a:avLst>
              <a:gd name="adj1" fmla="val -17255"/>
              <a:gd name="adj2" fmla="val 96250"/>
            </a:avLst>
          </a:prstGeom>
          <a:solidFill>
            <a:schemeClr val="bg1"/>
          </a:solidFill>
          <a:ln w="9525">
            <a:solidFill>
              <a:schemeClr val="tx1"/>
            </a:solidFill>
            <a:miter lim="800000"/>
            <a:headEnd/>
            <a:tailEnd/>
          </a:ln>
        </p:spPr>
        <p:txBody>
          <a:bodyPr/>
          <a:lstStyle/>
          <a:p>
            <a:pPr eaLnBrk="0" hangingPunct="0">
              <a:spcBef>
                <a:spcPct val="30000"/>
              </a:spcBef>
            </a:pPr>
            <a:r>
              <a:rPr lang="en-US"/>
              <a:t>The address field : on lines with multiple terminals, the address field is used to identify one of the terminals</a:t>
            </a:r>
          </a:p>
        </p:txBody>
      </p:sp>
      <p:sp>
        <p:nvSpPr>
          <p:cNvPr id="340999" name="AutoShape 7"/>
          <p:cNvSpPr>
            <a:spLocks noChangeArrowheads="1"/>
          </p:cNvSpPr>
          <p:nvPr/>
        </p:nvSpPr>
        <p:spPr bwMode="auto">
          <a:xfrm>
            <a:off x="304800" y="1371600"/>
            <a:ext cx="8610600" cy="1905000"/>
          </a:xfrm>
          <a:prstGeom prst="wedgeRectCallout">
            <a:avLst>
              <a:gd name="adj1" fmla="val -5292"/>
              <a:gd name="adj2" fmla="val 97000"/>
            </a:avLst>
          </a:prstGeom>
          <a:solidFill>
            <a:schemeClr val="bg1"/>
          </a:solidFill>
          <a:ln w="9525">
            <a:solidFill>
              <a:schemeClr val="tx1"/>
            </a:solidFill>
            <a:miter lim="800000"/>
            <a:headEnd/>
            <a:tailEnd/>
          </a:ln>
        </p:spPr>
        <p:txBody>
          <a:bodyPr/>
          <a:lstStyle/>
          <a:p>
            <a:r>
              <a:rPr lang="en-US"/>
              <a:t>The control field: used for sequence numbers, acknowledgements and other purposes.</a:t>
            </a:r>
          </a:p>
        </p:txBody>
      </p:sp>
      <p:sp>
        <p:nvSpPr>
          <p:cNvPr id="341000" name="AutoShape 8"/>
          <p:cNvSpPr>
            <a:spLocks noChangeArrowheads="1"/>
          </p:cNvSpPr>
          <p:nvPr/>
        </p:nvSpPr>
        <p:spPr bwMode="auto">
          <a:xfrm>
            <a:off x="304800" y="1371600"/>
            <a:ext cx="8610600" cy="1905000"/>
          </a:xfrm>
          <a:prstGeom prst="wedgeRectCallout">
            <a:avLst>
              <a:gd name="adj1" fmla="val 3264"/>
              <a:gd name="adj2" fmla="val 90083"/>
            </a:avLst>
          </a:prstGeom>
          <a:solidFill>
            <a:schemeClr val="bg1"/>
          </a:solidFill>
          <a:ln w="9525">
            <a:solidFill>
              <a:schemeClr val="tx1"/>
            </a:solidFill>
            <a:miter lim="800000"/>
            <a:headEnd/>
            <a:tailEnd/>
          </a:ln>
        </p:spPr>
        <p:txBody>
          <a:bodyPr/>
          <a:lstStyle/>
          <a:p>
            <a:pPr eaLnBrk="0" hangingPunct="0">
              <a:spcBef>
                <a:spcPct val="30000"/>
              </a:spcBef>
            </a:pPr>
            <a:r>
              <a:rPr lang="en-US" dirty="0"/>
              <a:t>The data field: may contain any information. It can have any length, although the efficiency of the checksum falls down with increasing frame length, due to the probability of occurrence of multiple burst errors. </a:t>
            </a:r>
          </a:p>
        </p:txBody>
      </p:sp>
      <p:sp>
        <p:nvSpPr>
          <p:cNvPr id="341001" name="AutoShape 9"/>
          <p:cNvSpPr>
            <a:spLocks noChangeArrowheads="1"/>
          </p:cNvSpPr>
          <p:nvPr/>
        </p:nvSpPr>
        <p:spPr bwMode="auto">
          <a:xfrm>
            <a:off x="304800" y="1371600"/>
            <a:ext cx="8610600" cy="1905000"/>
          </a:xfrm>
          <a:prstGeom prst="wedgeRectCallout">
            <a:avLst>
              <a:gd name="adj1" fmla="val 15597"/>
              <a:gd name="adj2" fmla="val 90750"/>
            </a:avLst>
          </a:prstGeom>
          <a:solidFill>
            <a:schemeClr val="bg1"/>
          </a:solidFill>
          <a:ln w="9525">
            <a:solidFill>
              <a:schemeClr val="tx1"/>
            </a:solidFill>
            <a:miter lim="800000"/>
            <a:headEnd/>
            <a:tailEnd/>
          </a:ln>
        </p:spPr>
        <p:txBody>
          <a:bodyPr/>
          <a:lstStyle/>
          <a:p>
            <a:r>
              <a:rPr lang="en-US" dirty="0" err="1"/>
              <a:t>CRC</a:t>
            </a:r>
            <a:r>
              <a:rPr lang="en-US" dirty="0"/>
              <a:t> – checksum obtained with techniques………</a:t>
            </a:r>
          </a:p>
        </p:txBody>
      </p:sp>
      <p:sp>
        <p:nvSpPr>
          <p:cNvPr id="341002" name="AutoShape 10"/>
          <p:cNvSpPr>
            <a:spLocks noChangeArrowheads="1"/>
          </p:cNvSpPr>
          <p:nvPr/>
        </p:nvSpPr>
        <p:spPr bwMode="auto">
          <a:xfrm>
            <a:off x="304800" y="1371600"/>
            <a:ext cx="8610600" cy="1905000"/>
          </a:xfrm>
          <a:prstGeom prst="wedgeRectCallout">
            <a:avLst>
              <a:gd name="adj1" fmla="val 32963"/>
              <a:gd name="adj2" fmla="val 89333"/>
            </a:avLst>
          </a:prstGeom>
          <a:solidFill>
            <a:schemeClr val="bg1"/>
          </a:solidFill>
          <a:ln w="9525">
            <a:solidFill>
              <a:schemeClr val="tx1"/>
            </a:solidFill>
            <a:miter lim="800000"/>
            <a:headEnd/>
            <a:tailEnd/>
          </a:ln>
        </p:spPr>
        <p:txBody>
          <a:bodyPr/>
          <a:lstStyle/>
          <a:p>
            <a:r>
              <a:rPr lang="en-US"/>
              <a:t>End of frame (same as start of frame)  </a:t>
            </a:r>
          </a:p>
          <a:p>
            <a:endParaRPr lang="en-US"/>
          </a:p>
        </p:txBody>
      </p:sp>
      <p:sp>
        <p:nvSpPr>
          <p:cNvPr id="2" name="Footer Placeholder 1">
            <a:extLst>
              <a:ext uri="{FF2B5EF4-FFF2-40B4-BE49-F238E27FC236}">
                <a16:creationId xmlns:a16="http://schemas.microsoft.com/office/drawing/2014/main" id="{D43D3CFA-8446-617D-AF7A-7E3F1B2D46DB}"/>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40998"/>
                                        </p:tgtEl>
                                        <p:attrNameLst>
                                          <p:attrName>style.visibility</p:attrName>
                                        </p:attrNameLst>
                                      </p:cBhvr>
                                      <p:to>
                                        <p:strVal val="visible"/>
                                      </p:to>
                                    </p:set>
                                    <p:anim calcmode="lin" valueType="num">
                                      <p:cBhvr additive="base">
                                        <p:cTn id="7" dur="500" fill="hold"/>
                                        <p:tgtEl>
                                          <p:spTgt spid="340998"/>
                                        </p:tgtEl>
                                        <p:attrNameLst>
                                          <p:attrName>ppt_x</p:attrName>
                                        </p:attrNameLst>
                                      </p:cBhvr>
                                      <p:tavLst>
                                        <p:tav tm="0">
                                          <p:val>
                                            <p:strVal val="#ppt_x"/>
                                          </p:val>
                                        </p:tav>
                                        <p:tav tm="100000">
                                          <p:val>
                                            <p:strVal val="#ppt_x"/>
                                          </p:val>
                                        </p:tav>
                                      </p:tavLst>
                                    </p:anim>
                                    <p:anim calcmode="lin" valueType="num">
                                      <p:cBhvr additive="base">
                                        <p:cTn id="8" dur="500" fill="hold"/>
                                        <p:tgtEl>
                                          <p:spTgt spid="34099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40999"/>
                                        </p:tgtEl>
                                        <p:attrNameLst>
                                          <p:attrName>style.visibility</p:attrName>
                                        </p:attrNameLst>
                                      </p:cBhvr>
                                      <p:to>
                                        <p:strVal val="visible"/>
                                      </p:to>
                                    </p:set>
                                    <p:anim calcmode="lin" valueType="num">
                                      <p:cBhvr additive="base">
                                        <p:cTn id="13" dur="500" fill="hold"/>
                                        <p:tgtEl>
                                          <p:spTgt spid="340999"/>
                                        </p:tgtEl>
                                        <p:attrNameLst>
                                          <p:attrName>ppt_x</p:attrName>
                                        </p:attrNameLst>
                                      </p:cBhvr>
                                      <p:tavLst>
                                        <p:tav tm="0">
                                          <p:val>
                                            <p:strVal val="#ppt_x"/>
                                          </p:val>
                                        </p:tav>
                                        <p:tav tm="100000">
                                          <p:val>
                                            <p:strVal val="#ppt_x"/>
                                          </p:val>
                                        </p:tav>
                                      </p:tavLst>
                                    </p:anim>
                                    <p:anim calcmode="lin" valueType="num">
                                      <p:cBhvr additive="base">
                                        <p:cTn id="14" dur="500" fill="hold"/>
                                        <p:tgtEl>
                                          <p:spTgt spid="34099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41000"/>
                                        </p:tgtEl>
                                        <p:attrNameLst>
                                          <p:attrName>style.visibility</p:attrName>
                                        </p:attrNameLst>
                                      </p:cBhvr>
                                      <p:to>
                                        <p:strVal val="visible"/>
                                      </p:to>
                                    </p:set>
                                    <p:anim calcmode="lin" valueType="num">
                                      <p:cBhvr additive="base">
                                        <p:cTn id="19" dur="500" fill="hold"/>
                                        <p:tgtEl>
                                          <p:spTgt spid="341000"/>
                                        </p:tgtEl>
                                        <p:attrNameLst>
                                          <p:attrName>ppt_x</p:attrName>
                                        </p:attrNameLst>
                                      </p:cBhvr>
                                      <p:tavLst>
                                        <p:tav tm="0">
                                          <p:val>
                                            <p:strVal val="#ppt_x"/>
                                          </p:val>
                                        </p:tav>
                                        <p:tav tm="100000">
                                          <p:val>
                                            <p:strVal val="#ppt_x"/>
                                          </p:val>
                                        </p:tav>
                                      </p:tavLst>
                                    </p:anim>
                                    <p:anim calcmode="lin" valueType="num">
                                      <p:cBhvr additive="base">
                                        <p:cTn id="20" dur="500" fill="hold"/>
                                        <p:tgtEl>
                                          <p:spTgt spid="34100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41001"/>
                                        </p:tgtEl>
                                        <p:attrNameLst>
                                          <p:attrName>style.visibility</p:attrName>
                                        </p:attrNameLst>
                                      </p:cBhvr>
                                      <p:to>
                                        <p:strVal val="visible"/>
                                      </p:to>
                                    </p:set>
                                    <p:anim calcmode="lin" valueType="num">
                                      <p:cBhvr additive="base">
                                        <p:cTn id="25" dur="500" fill="hold"/>
                                        <p:tgtEl>
                                          <p:spTgt spid="341001"/>
                                        </p:tgtEl>
                                        <p:attrNameLst>
                                          <p:attrName>ppt_x</p:attrName>
                                        </p:attrNameLst>
                                      </p:cBhvr>
                                      <p:tavLst>
                                        <p:tav tm="0">
                                          <p:val>
                                            <p:strVal val="#ppt_x"/>
                                          </p:val>
                                        </p:tav>
                                        <p:tav tm="100000">
                                          <p:val>
                                            <p:strVal val="#ppt_x"/>
                                          </p:val>
                                        </p:tav>
                                      </p:tavLst>
                                    </p:anim>
                                    <p:anim calcmode="lin" valueType="num">
                                      <p:cBhvr additive="base">
                                        <p:cTn id="26" dur="500" fill="hold"/>
                                        <p:tgtEl>
                                          <p:spTgt spid="34100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1002"/>
                                        </p:tgtEl>
                                        <p:attrNameLst>
                                          <p:attrName>style.visibility</p:attrName>
                                        </p:attrNameLst>
                                      </p:cBhvr>
                                      <p:to>
                                        <p:strVal val="visible"/>
                                      </p:to>
                                    </p:set>
                                    <p:anim calcmode="lin" valueType="num">
                                      <p:cBhvr additive="base">
                                        <p:cTn id="31" dur="500" fill="hold"/>
                                        <p:tgtEl>
                                          <p:spTgt spid="341002"/>
                                        </p:tgtEl>
                                        <p:attrNameLst>
                                          <p:attrName>ppt_x</p:attrName>
                                        </p:attrNameLst>
                                      </p:cBhvr>
                                      <p:tavLst>
                                        <p:tav tm="0">
                                          <p:val>
                                            <p:strVal val="#ppt_x"/>
                                          </p:val>
                                        </p:tav>
                                        <p:tav tm="100000">
                                          <p:val>
                                            <p:strVal val="#ppt_x"/>
                                          </p:val>
                                        </p:tav>
                                      </p:tavLst>
                                    </p:anim>
                                    <p:anim calcmode="lin" valueType="num">
                                      <p:cBhvr additive="base">
                                        <p:cTn id="32" dur="500" fill="hold"/>
                                        <p:tgtEl>
                                          <p:spTgt spid="34100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0998" grpId="0" animBg="1"/>
      <p:bldP spid="340999" grpId="0" animBg="1"/>
      <p:bldP spid="341000" grpId="0" animBg="1"/>
      <p:bldP spid="341001" grpId="0" animBg="1"/>
      <p:bldP spid="34100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normAutofit/>
          </a:bodyPr>
          <a:lstStyle/>
          <a:p>
            <a:pPr fontAlgn="auto">
              <a:spcAft>
                <a:spcPts val="0"/>
              </a:spcAft>
              <a:defRPr/>
            </a:pPr>
            <a:r>
              <a:rPr lang="en-US"/>
              <a:t>High-Level Data Link Control (2)</a:t>
            </a:r>
          </a:p>
        </p:txBody>
      </p:sp>
      <p:sp>
        <p:nvSpPr>
          <p:cNvPr id="11266" name="Rectangle 3"/>
          <p:cNvSpPr>
            <a:spLocks noGrp="1" noChangeArrowheads="1"/>
          </p:cNvSpPr>
          <p:nvPr>
            <p:ph idx="1"/>
          </p:nvPr>
        </p:nvSpPr>
        <p:spPr>
          <a:xfrm>
            <a:off x="2405063" y="4598988"/>
            <a:ext cx="6738937" cy="1954212"/>
          </a:xfrm>
        </p:spPr>
        <p:txBody>
          <a:bodyPr>
            <a:normAutofit/>
          </a:bodyPr>
          <a:lstStyle/>
          <a:p>
            <a:pPr marL="609600" indent="-609600">
              <a:buFontTx/>
              <a:buNone/>
            </a:pPr>
            <a:r>
              <a:rPr lang="en-US"/>
              <a:t>Control field of </a:t>
            </a:r>
          </a:p>
          <a:p>
            <a:pPr marL="609600" indent="-609600">
              <a:buFontTx/>
              <a:buNone/>
            </a:pPr>
            <a:r>
              <a:rPr lang="en-US">
                <a:solidFill>
                  <a:schemeClr val="accent2"/>
                </a:solidFill>
              </a:rPr>
              <a:t>(a)</a:t>
            </a:r>
            <a:r>
              <a:rPr lang="en-US"/>
              <a:t> An information frame.</a:t>
            </a:r>
          </a:p>
          <a:p>
            <a:pPr marL="609600" indent="-609600">
              <a:buFontTx/>
              <a:buNone/>
            </a:pPr>
            <a:r>
              <a:rPr lang="en-US">
                <a:solidFill>
                  <a:schemeClr val="accent2"/>
                </a:solidFill>
              </a:rPr>
              <a:t>(b)</a:t>
            </a:r>
            <a:r>
              <a:rPr lang="en-US"/>
              <a:t> A supervisory frame.</a:t>
            </a:r>
          </a:p>
          <a:p>
            <a:pPr marL="609600" indent="-609600">
              <a:buFontTx/>
              <a:buNone/>
            </a:pPr>
            <a:r>
              <a:rPr lang="en-US">
                <a:solidFill>
                  <a:schemeClr val="accent2"/>
                </a:solidFill>
              </a:rPr>
              <a:t>(c)</a:t>
            </a:r>
            <a:r>
              <a:rPr lang="en-US"/>
              <a:t> An unnumbered frame.</a:t>
            </a:r>
          </a:p>
        </p:txBody>
      </p:sp>
      <p:pic>
        <p:nvPicPr>
          <p:cNvPr id="11268" name="Picture 4" descr="3-25"/>
          <p:cNvPicPr>
            <a:picLocks noChangeAspect="1" noChangeArrowheads="1"/>
          </p:cNvPicPr>
          <p:nvPr/>
        </p:nvPicPr>
        <p:blipFill>
          <a:blip r:embed="rId3" cstate="print"/>
          <a:srcRect/>
          <a:stretch>
            <a:fillRect/>
          </a:stretch>
        </p:blipFill>
        <p:spPr bwMode="auto">
          <a:xfrm>
            <a:off x="1395413" y="1492250"/>
            <a:ext cx="6132512" cy="2543175"/>
          </a:xfrm>
          <a:prstGeom prst="rect">
            <a:avLst/>
          </a:prstGeom>
          <a:noFill/>
          <a:ln w="9525">
            <a:noFill/>
            <a:miter lim="800000"/>
            <a:headEnd/>
            <a:tailEnd/>
          </a:ln>
        </p:spPr>
      </p:pic>
      <p:sp>
        <p:nvSpPr>
          <p:cNvPr id="2" name="Footer Placeholder 1">
            <a:extLst>
              <a:ext uri="{FF2B5EF4-FFF2-40B4-BE49-F238E27FC236}">
                <a16:creationId xmlns:a16="http://schemas.microsoft.com/office/drawing/2014/main" id="{4FFBBE6D-D928-B9C2-8377-3E90BE299759}"/>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fontAlgn="auto">
              <a:spcAft>
                <a:spcPts val="0"/>
              </a:spcAft>
              <a:defRPr/>
            </a:pPr>
            <a:r>
              <a:rPr lang="en-US"/>
              <a:t>Information Frame</a:t>
            </a:r>
          </a:p>
        </p:txBody>
      </p:sp>
      <p:sp>
        <p:nvSpPr>
          <p:cNvPr id="5123" name="Rectangle 3"/>
          <p:cNvSpPr>
            <a:spLocks noGrp="1" noChangeArrowheads="1"/>
          </p:cNvSpPr>
          <p:nvPr>
            <p:ph idx="1"/>
          </p:nvPr>
        </p:nvSpPr>
        <p:spPr>
          <a:xfrm>
            <a:off x="228600" y="1219200"/>
            <a:ext cx="8686800" cy="5029200"/>
          </a:xfrm>
        </p:spPr>
        <p:txBody>
          <a:bodyPr>
            <a:noAutofit/>
          </a:bodyPr>
          <a:lstStyle/>
          <a:p>
            <a:pPr marL="365760" indent="-256032" fontAlgn="auto">
              <a:lnSpc>
                <a:spcPct val="80000"/>
              </a:lnSpc>
              <a:spcAft>
                <a:spcPts val="0"/>
              </a:spcAft>
              <a:buFont typeface="Wingdings 3"/>
              <a:buChar char=""/>
              <a:defRPr/>
            </a:pPr>
            <a:r>
              <a:rPr lang="en-US" sz="4000" dirty="0" err="1"/>
              <a:t>SEQ</a:t>
            </a:r>
            <a:r>
              <a:rPr lang="en-US" sz="4000" dirty="0"/>
              <a:t> – 3 bits sequence numbers are used</a:t>
            </a:r>
          </a:p>
          <a:p>
            <a:pPr marL="365760" indent="-256032" fontAlgn="auto">
              <a:lnSpc>
                <a:spcPct val="80000"/>
              </a:lnSpc>
              <a:spcAft>
                <a:spcPts val="0"/>
              </a:spcAft>
              <a:buFont typeface="Wingdings 3"/>
              <a:buChar char=""/>
              <a:defRPr/>
            </a:pPr>
            <a:r>
              <a:rPr lang="en-US" sz="4000" dirty="0"/>
              <a:t>NEXT – used for piggybacking acknowledge</a:t>
            </a:r>
          </a:p>
          <a:p>
            <a:pPr marL="621792" lvl="1" fontAlgn="auto">
              <a:lnSpc>
                <a:spcPct val="80000"/>
              </a:lnSpc>
              <a:spcBef>
                <a:spcPts val="324"/>
              </a:spcBef>
              <a:spcAft>
                <a:spcPts val="0"/>
              </a:spcAft>
              <a:buFont typeface="Verdana"/>
              <a:buChar char="◦"/>
              <a:defRPr/>
            </a:pPr>
            <a:r>
              <a:rPr lang="en-US" sz="3600" dirty="0"/>
              <a:t>All of the </a:t>
            </a:r>
            <a:r>
              <a:rPr lang="en-US" sz="3600" dirty="0" err="1"/>
              <a:t>HDLC</a:t>
            </a:r>
            <a:r>
              <a:rPr lang="en-US" sz="3600" dirty="0"/>
              <a:t> protocols adhere to the convention that instead of sending the sequence number for the frame that has been received correctly, the acknowledgement contains the sequence number of the next frame that is expected (not received yet).</a:t>
            </a:r>
          </a:p>
        </p:txBody>
      </p:sp>
      <p:sp>
        <p:nvSpPr>
          <p:cNvPr id="2" name="Footer Placeholder 1">
            <a:extLst>
              <a:ext uri="{FF2B5EF4-FFF2-40B4-BE49-F238E27FC236}">
                <a16:creationId xmlns:a16="http://schemas.microsoft.com/office/drawing/2014/main" id="{78466E45-937C-A56E-CC09-930FF2311522}"/>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fontAlgn="auto">
              <a:spcAft>
                <a:spcPts val="0"/>
              </a:spcAft>
              <a:defRPr/>
            </a:pPr>
            <a:r>
              <a:rPr lang="en-US"/>
              <a:t>Information Frame</a:t>
            </a:r>
          </a:p>
        </p:txBody>
      </p:sp>
      <p:sp>
        <p:nvSpPr>
          <p:cNvPr id="5123" name="Rectangle 3"/>
          <p:cNvSpPr>
            <a:spLocks noGrp="1" noChangeArrowheads="1"/>
          </p:cNvSpPr>
          <p:nvPr>
            <p:ph idx="1"/>
          </p:nvPr>
        </p:nvSpPr>
        <p:spPr>
          <a:xfrm>
            <a:off x="228600" y="1219200"/>
            <a:ext cx="8686800" cy="5638800"/>
          </a:xfrm>
        </p:spPr>
        <p:txBody>
          <a:bodyPr>
            <a:noAutofit/>
          </a:bodyPr>
          <a:lstStyle/>
          <a:p>
            <a:pPr marL="365760" indent="-256032" fontAlgn="auto">
              <a:lnSpc>
                <a:spcPct val="80000"/>
              </a:lnSpc>
              <a:spcAft>
                <a:spcPts val="0"/>
              </a:spcAft>
              <a:buFont typeface="Wingdings 3"/>
              <a:buChar char=""/>
              <a:defRPr/>
            </a:pPr>
            <a:r>
              <a:rPr lang="en-US" sz="3600" dirty="0"/>
              <a:t>The P/F bit stands for Pool/Final and it is used when a computer is polling a group of terminals. </a:t>
            </a:r>
          </a:p>
          <a:p>
            <a:pPr marL="621792" lvl="1" fontAlgn="auto">
              <a:lnSpc>
                <a:spcPct val="80000"/>
              </a:lnSpc>
              <a:spcBef>
                <a:spcPts val="324"/>
              </a:spcBef>
              <a:spcAft>
                <a:spcPts val="0"/>
              </a:spcAft>
              <a:buFont typeface="Verdana"/>
              <a:buChar char="◦"/>
              <a:defRPr/>
            </a:pPr>
            <a:r>
              <a:rPr lang="en-US" sz="3200" dirty="0"/>
              <a:t>When used as P, the computer is inviting the terminals to send data. All the frames from the terminal, except the final one, have the P/F flag set to P. The final one is F. </a:t>
            </a:r>
          </a:p>
          <a:p>
            <a:pPr marL="621792" lvl="1" fontAlgn="auto">
              <a:lnSpc>
                <a:spcPct val="80000"/>
              </a:lnSpc>
              <a:spcBef>
                <a:spcPts val="324"/>
              </a:spcBef>
              <a:spcAft>
                <a:spcPts val="0"/>
              </a:spcAft>
              <a:buFont typeface="Verdana"/>
              <a:buChar char="◦"/>
              <a:defRPr/>
            </a:pPr>
            <a:r>
              <a:rPr lang="en-US" sz="3200" dirty="0"/>
              <a:t>The F flag is sometimes used to force the other machine to send a supervisory frame immediately, without waiting for reverse traffic where to piggyback the window information.</a:t>
            </a:r>
          </a:p>
        </p:txBody>
      </p:sp>
      <p:sp>
        <p:nvSpPr>
          <p:cNvPr id="2" name="Footer Placeholder 1">
            <a:extLst>
              <a:ext uri="{FF2B5EF4-FFF2-40B4-BE49-F238E27FC236}">
                <a16:creationId xmlns:a16="http://schemas.microsoft.com/office/drawing/2014/main" id="{6E2BF398-5A8A-D93E-CC1F-C08CAD975A50}"/>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fontAlgn="auto">
              <a:spcAft>
                <a:spcPts val="0"/>
              </a:spcAft>
              <a:defRPr/>
            </a:pPr>
            <a:r>
              <a:rPr lang="en-US" dirty="0"/>
              <a:t>Supervisory Frame</a:t>
            </a:r>
          </a:p>
        </p:txBody>
      </p:sp>
      <p:sp>
        <p:nvSpPr>
          <p:cNvPr id="6147" name="Rectangle 3"/>
          <p:cNvSpPr>
            <a:spLocks noGrp="1" noChangeArrowheads="1"/>
          </p:cNvSpPr>
          <p:nvPr>
            <p:ph idx="1"/>
          </p:nvPr>
        </p:nvSpPr>
        <p:spPr>
          <a:xfrm>
            <a:off x="457200" y="1371600"/>
            <a:ext cx="8229600" cy="5257800"/>
          </a:xfrm>
        </p:spPr>
        <p:txBody>
          <a:bodyPr>
            <a:normAutofit/>
          </a:bodyPr>
          <a:lstStyle/>
          <a:p>
            <a:pPr marL="365760" indent="-256032" fontAlgn="auto">
              <a:lnSpc>
                <a:spcPct val="80000"/>
              </a:lnSpc>
              <a:spcAft>
                <a:spcPts val="0"/>
              </a:spcAft>
              <a:buFont typeface="Wingdings 3"/>
              <a:buChar char=""/>
              <a:defRPr/>
            </a:pPr>
            <a:r>
              <a:rPr lang="en-US" sz="3600" dirty="0"/>
              <a:t>Various kinds of SUPERVISORY frames are distinguished by the type filed:</a:t>
            </a:r>
          </a:p>
          <a:p>
            <a:pPr marL="621792" lvl="1" fontAlgn="auto">
              <a:lnSpc>
                <a:spcPct val="80000"/>
              </a:lnSpc>
              <a:spcBef>
                <a:spcPts val="324"/>
              </a:spcBef>
              <a:spcAft>
                <a:spcPts val="0"/>
              </a:spcAft>
              <a:buFont typeface="Verdana"/>
              <a:buChar char="◦"/>
              <a:defRPr/>
            </a:pPr>
            <a:r>
              <a:rPr lang="en-US" sz="3200" b="1" dirty="0"/>
              <a:t>[00]Type 0 is an acknowledgement frame </a:t>
            </a:r>
            <a:r>
              <a:rPr lang="en-US" sz="3200" dirty="0"/>
              <a:t>(called RECEIVE READY), used to indicate the next frame expected</a:t>
            </a:r>
          </a:p>
          <a:p>
            <a:pPr marL="621792" lvl="1" fontAlgn="auto">
              <a:lnSpc>
                <a:spcPct val="80000"/>
              </a:lnSpc>
              <a:spcBef>
                <a:spcPts val="324"/>
              </a:spcBef>
              <a:spcAft>
                <a:spcPts val="0"/>
              </a:spcAft>
              <a:buFont typeface="Verdana"/>
              <a:buChar char="◦"/>
              <a:defRPr/>
            </a:pPr>
            <a:r>
              <a:rPr lang="en-US" sz="3200" b="1" dirty="0"/>
              <a:t>[01]Type 1 is a negative acknowledgement frame </a:t>
            </a:r>
            <a:r>
              <a:rPr lang="en-US" sz="3200" dirty="0"/>
              <a:t>(called REJECT), used to indicate an error. The NEXT field indicates the first frame in sequence that has not been received correctly. The sender is requested to send all frames beginning at NEXT</a:t>
            </a:r>
          </a:p>
        </p:txBody>
      </p:sp>
      <p:sp>
        <p:nvSpPr>
          <p:cNvPr id="2" name="Footer Placeholder 1">
            <a:extLst>
              <a:ext uri="{FF2B5EF4-FFF2-40B4-BE49-F238E27FC236}">
                <a16:creationId xmlns:a16="http://schemas.microsoft.com/office/drawing/2014/main" id="{4ADA572F-6886-0005-2CD6-CED86077A69D}"/>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Supervisory Frame</a:t>
            </a:r>
          </a:p>
        </p:txBody>
      </p:sp>
      <p:sp>
        <p:nvSpPr>
          <p:cNvPr id="3" name="Content Placeholder 2"/>
          <p:cNvSpPr>
            <a:spLocks noGrp="1"/>
          </p:cNvSpPr>
          <p:nvPr>
            <p:ph idx="1"/>
          </p:nvPr>
        </p:nvSpPr>
        <p:spPr/>
        <p:txBody>
          <a:bodyPr>
            <a:normAutofit fontScale="85000" lnSpcReduction="10000"/>
          </a:bodyPr>
          <a:lstStyle/>
          <a:p>
            <a:pPr marL="621792" lvl="1" fontAlgn="auto">
              <a:lnSpc>
                <a:spcPct val="80000"/>
              </a:lnSpc>
              <a:spcBef>
                <a:spcPts val="324"/>
              </a:spcBef>
              <a:spcAft>
                <a:spcPts val="0"/>
              </a:spcAft>
              <a:buFont typeface="Verdana"/>
              <a:buChar char="◦"/>
              <a:defRPr/>
            </a:pPr>
            <a:r>
              <a:rPr lang="en-US" sz="3200" b="1" dirty="0"/>
              <a:t>[10]Type 2 is RECEIVE NOT READY</a:t>
            </a:r>
            <a:r>
              <a:rPr lang="en-US" sz="3200" dirty="0"/>
              <a:t>. It acknowledges all frames up to but not including the NEXT one. It also tells the sender to stop sending. When the receiver is ready again, it sends a RECEIVE READY. </a:t>
            </a:r>
          </a:p>
          <a:p>
            <a:pPr marL="621792" lvl="1" fontAlgn="auto">
              <a:lnSpc>
                <a:spcPct val="80000"/>
              </a:lnSpc>
              <a:spcBef>
                <a:spcPts val="324"/>
              </a:spcBef>
              <a:spcAft>
                <a:spcPts val="0"/>
              </a:spcAft>
              <a:buFont typeface="Verdana"/>
              <a:buChar char="◦"/>
              <a:defRPr/>
            </a:pPr>
            <a:r>
              <a:rPr lang="en-US" sz="3200" b="1" dirty="0"/>
              <a:t>[11]Type 3 is a SELECTIVE REJECT</a:t>
            </a:r>
            <a:r>
              <a:rPr lang="en-US" sz="3200" dirty="0"/>
              <a:t>. It calls for retransmission of only the frame specified. Thus, if a receiver wants to buffer out of sequence frames, it can force the retransmission of a specific frame by using a selective reject.</a:t>
            </a:r>
          </a:p>
          <a:p>
            <a:endParaRPr lang="en-US" dirty="0"/>
          </a:p>
        </p:txBody>
      </p:sp>
      <p:sp>
        <p:nvSpPr>
          <p:cNvPr id="4" name="Footer Placeholder 3">
            <a:extLst>
              <a:ext uri="{FF2B5EF4-FFF2-40B4-BE49-F238E27FC236}">
                <a16:creationId xmlns:a16="http://schemas.microsoft.com/office/drawing/2014/main" id="{1658F242-88D2-8701-24A4-DDFBE9035181}"/>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pPr fontAlgn="auto">
              <a:spcAft>
                <a:spcPts val="0"/>
              </a:spcAft>
              <a:defRPr/>
            </a:pPr>
            <a:r>
              <a:rPr lang="en-US"/>
              <a:t>Unnumbered Frame</a:t>
            </a:r>
          </a:p>
        </p:txBody>
      </p:sp>
      <p:sp>
        <p:nvSpPr>
          <p:cNvPr id="7171" name="Rectangle 3"/>
          <p:cNvSpPr>
            <a:spLocks noGrp="1" noChangeArrowheads="1"/>
          </p:cNvSpPr>
          <p:nvPr>
            <p:ph idx="1"/>
          </p:nvPr>
        </p:nvSpPr>
        <p:spPr/>
        <p:txBody>
          <a:bodyPr>
            <a:normAutofit fontScale="70000" lnSpcReduction="20000"/>
          </a:bodyPr>
          <a:lstStyle/>
          <a:p>
            <a:pPr marL="365760" indent="-256032" fontAlgn="auto">
              <a:spcAft>
                <a:spcPts val="0"/>
              </a:spcAft>
              <a:buFont typeface="Wingdings 3"/>
              <a:buChar char=""/>
              <a:defRPr/>
            </a:pPr>
            <a:r>
              <a:rPr lang="en-US" sz="2800" dirty="0"/>
              <a:t>UNNUMBERED FRAME is used for control and to carry data when </a:t>
            </a:r>
            <a:r>
              <a:rPr lang="en-US" sz="2800" b="1" dirty="0"/>
              <a:t>unreliable connectionless </a:t>
            </a:r>
            <a:r>
              <a:rPr lang="en-US" sz="2800" dirty="0"/>
              <a:t>service is required. </a:t>
            </a:r>
          </a:p>
          <a:p>
            <a:pPr marL="365760" indent="-256032" fontAlgn="auto">
              <a:spcAft>
                <a:spcPts val="0"/>
              </a:spcAft>
              <a:buFont typeface="Wingdings 3"/>
              <a:buChar char=""/>
              <a:defRPr/>
            </a:pPr>
            <a:r>
              <a:rPr lang="en-US" sz="2800" dirty="0"/>
              <a:t>Using this frame, a number of commands can be sent:</a:t>
            </a:r>
          </a:p>
          <a:p>
            <a:pPr marL="621792" lvl="1" fontAlgn="auto">
              <a:spcBef>
                <a:spcPts val="324"/>
              </a:spcBef>
              <a:spcAft>
                <a:spcPts val="0"/>
              </a:spcAft>
              <a:buFont typeface="Verdana"/>
              <a:buChar char="◦"/>
              <a:defRPr/>
            </a:pPr>
            <a:r>
              <a:rPr lang="en-US" sz="2400" b="1" dirty="0" err="1"/>
              <a:t>DISConect</a:t>
            </a:r>
            <a:r>
              <a:rPr lang="en-US" sz="2400" dirty="0"/>
              <a:t> – allows a machine to announce its intention to bring down the connection</a:t>
            </a:r>
          </a:p>
          <a:p>
            <a:pPr marL="621792" lvl="1" fontAlgn="auto">
              <a:spcBef>
                <a:spcPts val="324"/>
              </a:spcBef>
              <a:spcAft>
                <a:spcPts val="0"/>
              </a:spcAft>
              <a:buFont typeface="Verdana"/>
              <a:buChar char="◦"/>
              <a:defRPr/>
            </a:pPr>
            <a:r>
              <a:rPr lang="en-US" sz="2400" b="1" dirty="0" err="1"/>
              <a:t>SABM</a:t>
            </a:r>
            <a:r>
              <a:rPr lang="en-US" sz="2400" dirty="0"/>
              <a:t> (Set Asynchronous Balanced Mode) – resets the line</a:t>
            </a:r>
          </a:p>
          <a:p>
            <a:pPr marL="621792" lvl="1" fontAlgn="auto">
              <a:spcBef>
                <a:spcPts val="324"/>
              </a:spcBef>
              <a:spcAft>
                <a:spcPts val="0"/>
              </a:spcAft>
              <a:buFont typeface="Verdana"/>
              <a:buChar char="◦"/>
              <a:defRPr/>
            </a:pPr>
            <a:r>
              <a:rPr lang="en-US" sz="2400" b="1" dirty="0" err="1"/>
              <a:t>FRMR</a:t>
            </a:r>
            <a:r>
              <a:rPr lang="en-US" sz="2400" dirty="0"/>
              <a:t> (Frame Reject) – indicates that a frame with correct checksum but incorrect semantics has arrived</a:t>
            </a:r>
          </a:p>
          <a:p>
            <a:pPr marL="365760" indent="-256032" fontAlgn="auto">
              <a:spcAft>
                <a:spcPts val="0"/>
              </a:spcAft>
              <a:buFont typeface="Wingdings 3"/>
              <a:buChar char=""/>
              <a:defRPr/>
            </a:pPr>
            <a:r>
              <a:rPr lang="en-US" sz="2800" dirty="0"/>
              <a:t>More control frames are actually available for initialization, polling and status reporting. </a:t>
            </a:r>
          </a:p>
        </p:txBody>
      </p:sp>
      <p:sp>
        <p:nvSpPr>
          <p:cNvPr id="2" name="Footer Placeholder 1">
            <a:extLst>
              <a:ext uri="{FF2B5EF4-FFF2-40B4-BE49-F238E27FC236}">
                <a16:creationId xmlns:a16="http://schemas.microsoft.com/office/drawing/2014/main" id="{2B0969E1-C8FC-3F3B-4F0D-3A832BD3E6BC}"/>
              </a:ext>
            </a:extLst>
          </p:cNvPr>
          <p:cNvSpPr>
            <a:spLocks noGrp="1"/>
          </p:cNvSpPr>
          <p:nvPr>
            <p:ph type="ftr" sz="quarter" idx="11"/>
          </p:nvPr>
        </p:nvSpPr>
        <p:spPr/>
        <p:txBody>
          <a:bodyPr/>
          <a:lstStyle/>
          <a:p>
            <a:r>
              <a:rPr lang="en-US"/>
              <a:t>Computer Networks, 6th Edition by Andrew Tanenbaum and David Wetherall, © Pearson Education-Prentice Hall</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31926</TotalTime>
  <Words>3727</Words>
  <Application>Microsoft Office PowerPoint</Application>
  <PresentationFormat>On-screen Show (4:3)</PresentationFormat>
  <Paragraphs>361</Paragraphs>
  <Slides>50</Slides>
  <Notes>21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50</vt:i4>
      </vt:variant>
    </vt:vector>
  </HeadingPairs>
  <TitlesOfParts>
    <vt:vector size="59" baseType="lpstr">
      <vt:lpstr>Arial</vt:lpstr>
      <vt:lpstr>Calibri</vt:lpstr>
      <vt:lpstr>StarSymbol</vt:lpstr>
      <vt:lpstr>Times</vt:lpstr>
      <vt:lpstr>Trebuchet MS</vt:lpstr>
      <vt:lpstr>Verdana</vt:lpstr>
      <vt:lpstr>Wingdings</vt:lpstr>
      <vt:lpstr>Wingdings 3</vt:lpstr>
      <vt:lpstr>Facet</vt:lpstr>
      <vt:lpstr>Week-1</vt:lpstr>
      <vt:lpstr>Computer Networks  1.5 hours in a week, 3.00 Cr. </vt:lpstr>
      <vt:lpstr>Reference Book(s):  </vt:lpstr>
      <vt:lpstr>Course Contents: </vt:lpstr>
      <vt:lpstr>Course Contents: </vt:lpstr>
      <vt:lpstr>Today</vt:lpstr>
      <vt:lpstr>Computer Networks</vt:lpstr>
      <vt:lpstr>LAN, MAN &amp; WAN</vt:lpstr>
      <vt:lpstr>Applications of Networks</vt:lpstr>
      <vt:lpstr>Network Topology BSRM</vt:lpstr>
      <vt:lpstr>Bus Topology</vt:lpstr>
      <vt:lpstr>Star &amp; Tree Topology</vt:lpstr>
      <vt:lpstr>Ring Topology</vt:lpstr>
      <vt:lpstr>Mesh Topology</vt:lpstr>
      <vt:lpstr>Network Components</vt:lpstr>
      <vt:lpstr>Networking Media</vt:lpstr>
      <vt:lpstr>Networking Devices</vt:lpstr>
      <vt:lpstr>Computers: Clients and Servers</vt:lpstr>
      <vt:lpstr>Networking Protocol: TCP/IP</vt:lpstr>
      <vt:lpstr>Applications</vt:lpstr>
      <vt:lpstr>Protocol Hierarchies </vt:lpstr>
      <vt:lpstr>PowerPoint Presentation</vt:lpstr>
      <vt:lpstr>Peers and Interfaces </vt:lpstr>
      <vt:lpstr>Entities and Peer Entities </vt:lpstr>
      <vt:lpstr>Protocol Stacks </vt:lpstr>
      <vt:lpstr>Layers at An Interface</vt:lpstr>
      <vt:lpstr>Example: SAPs in LLC</vt:lpstr>
      <vt:lpstr>Till Now</vt:lpstr>
      <vt:lpstr>Connections Multiplexing</vt:lpstr>
      <vt:lpstr>Connections Multiplexing[p-510-511]</vt:lpstr>
      <vt:lpstr>Connection-Oriented and Connectionless Services</vt:lpstr>
      <vt:lpstr>Service Primitives</vt:lpstr>
      <vt:lpstr>Reference Models</vt:lpstr>
      <vt:lpstr>The OSI Reference Model</vt:lpstr>
      <vt:lpstr>The TCP/IP Reference Model</vt:lpstr>
      <vt:lpstr>Physical Layer </vt:lpstr>
      <vt:lpstr>Data Link Layer </vt:lpstr>
      <vt:lpstr>Network Layer</vt:lpstr>
      <vt:lpstr>Transport Layer </vt:lpstr>
      <vt:lpstr>Session Layer </vt:lpstr>
      <vt:lpstr>Presentation Layer </vt:lpstr>
      <vt:lpstr>Application layer</vt:lpstr>
      <vt:lpstr>Example Data Link Protocols</vt:lpstr>
      <vt:lpstr>High-Level Data Link Control</vt:lpstr>
      <vt:lpstr>High-Level Data Link Control (2)</vt:lpstr>
      <vt:lpstr>Information Frame</vt:lpstr>
      <vt:lpstr>Information Frame</vt:lpstr>
      <vt:lpstr>Supervisory Frame</vt:lpstr>
      <vt:lpstr>Supervisory Frame</vt:lpstr>
      <vt:lpstr>Unnumbered Frame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shahidul</dc:creator>
  <cp:lastModifiedBy>md islam</cp:lastModifiedBy>
  <cp:revision>812</cp:revision>
  <dcterms:created xsi:type="dcterms:W3CDTF">2014-01-13T02:34:48Z</dcterms:created>
  <dcterms:modified xsi:type="dcterms:W3CDTF">2023-01-27T01:43:40Z</dcterms:modified>
</cp:coreProperties>
</file>