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handoutMasterIdLst>
    <p:handoutMasterId r:id="rId41"/>
  </p:handout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FB9B18-0BF2-4291-A030-32042A8E7A22}" type="datetimeFigureOut">
              <a:rPr lang="en-US" smtClean="0"/>
              <a:t>27-Jan-2023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C25B3A-07C1-446D-BDE2-F213FCB003F2}"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00C809-0964-4480-97F4-AA2757C8312E}" type="datetimeFigureOut">
              <a:rPr lang="en-US" smtClean="0"/>
              <a:t>27-Jan-2023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59CD6C-9D04-49A2-9554-83692406D38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C00A2F7B-FAB0-4EA1-9A5F-2C94885F2CC7}" type="slidenum">
              <a:rPr lang="en-US" smtClean="0"/>
              <a:pPr/>
              <a:t>5</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0188F756-EB4E-4D87-8DBB-5BB0475ECB1F}" type="slidenum">
              <a:rPr lang="en-US" smtClean="0"/>
              <a:pPr/>
              <a:t>6</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r>
              <a:rPr lang="en-US" dirty="0"/>
              <a:t>PPP handles error detection, supports multiple protocols, allows IP addresses to be negotiated at connection time, permits authentication (using two methods – PAP and CHAP)</a:t>
            </a:r>
          </a:p>
          <a:p>
            <a:r>
              <a:rPr lang="en-US" dirty="0"/>
              <a:t>PPP format was chosen to closely resemble </a:t>
            </a:r>
            <a:r>
              <a:rPr lang="en-US" dirty="0" err="1"/>
              <a:t>HDLC</a:t>
            </a:r>
            <a:r>
              <a:rPr lang="en-US" dirty="0"/>
              <a:t> frame format. The major difference is that PPP is character oriented, while </a:t>
            </a:r>
            <a:r>
              <a:rPr lang="en-US" dirty="0" err="1"/>
              <a:t>HDLC</a:t>
            </a:r>
            <a:r>
              <a:rPr lang="en-US" dirty="0"/>
              <a:t> is bit oriented protocol. In particular, PPP is using byte stuffing on dialup modem lines, so all frames are integral number of bytes.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C67C8420-8AC4-4894-9816-20E97F761AEC}" type="slidenum">
              <a:rPr lang="en-US" smtClean="0"/>
              <a:pPr/>
              <a:t>7</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normAutofit lnSpcReduction="10000"/>
          </a:bodyPr>
          <a:lstStyle/>
          <a:p>
            <a:pPr>
              <a:lnSpc>
                <a:spcPct val="90000"/>
              </a:lnSpc>
            </a:pPr>
            <a:r>
              <a:rPr lang="en-US" sz="1400" dirty="0"/>
              <a:t>All PPP frames start with standard </a:t>
            </a:r>
            <a:r>
              <a:rPr lang="en-US" sz="1400" dirty="0" err="1"/>
              <a:t>HDLC</a:t>
            </a:r>
            <a:r>
              <a:rPr lang="en-US" sz="1400" dirty="0"/>
              <a:t> flag 01111110, which is byte stuffed if occurs in the rest of the frame.</a:t>
            </a:r>
          </a:p>
          <a:p>
            <a:pPr>
              <a:lnSpc>
                <a:spcPct val="90000"/>
              </a:lnSpc>
            </a:pPr>
            <a:r>
              <a:rPr lang="en-US" sz="1400" dirty="0"/>
              <a:t>The Address field is always set to 11111111 to indicate that all stations are to accept the frame. Using this value solves the issue of assigning data link layer addresses.  </a:t>
            </a:r>
          </a:p>
          <a:p>
            <a:pPr eaLnBrk="1" hangingPunct="1">
              <a:lnSpc>
                <a:spcPct val="90000"/>
              </a:lnSpc>
              <a:spcBef>
                <a:spcPct val="0"/>
              </a:spcBef>
            </a:pPr>
            <a:r>
              <a:rPr lang="en-US" sz="1400" dirty="0"/>
              <a:t>The control field default value is 00000011 , which indicates an unnumbered frame (doesn’t provide by default reliable transmission using sequence numbers and acknowledgements). </a:t>
            </a:r>
          </a:p>
          <a:p>
            <a:pPr>
              <a:lnSpc>
                <a:spcPct val="90000"/>
              </a:lnSpc>
            </a:pPr>
            <a:r>
              <a:rPr lang="en-US" sz="1400" dirty="0"/>
              <a:t>Since the address field and control field are constant, </a:t>
            </a:r>
            <a:r>
              <a:rPr lang="en-US" sz="1400" dirty="0" err="1"/>
              <a:t>LCP</a:t>
            </a:r>
            <a:r>
              <a:rPr lang="en-US" sz="1400" dirty="0"/>
              <a:t> can negotiate and option that allows them to be omitted and to save two bytes per frame. </a:t>
            </a:r>
          </a:p>
          <a:p>
            <a:pPr>
              <a:lnSpc>
                <a:spcPct val="90000"/>
              </a:lnSpc>
            </a:pPr>
            <a:r>
              <a:rPr lang="en-US" sz="1400" dirty="0"/>
              <a:t>The Protocol field specifies what kind of packet is in the payload field. Codes are defined for </a:t>
            </a:r>
            <a:r>
              <a:rPr lang="en-US" sz="1400" dirty="0" err="1"/>
              <a:t>LCP</a:t>
            </a:r>
            <a:r>
              <a:rPr lang="en-US" sz="1400" dirty="0"/>
              <a:t>, </a:t>
            </a:r>
            <a:r>
              <a:rPr lang="en-US" sz="1400" dirty="0" err="1"/>
              <a:t>NCP</a:t>
            </a:r>
            <a:r>
              <a:rPr lang="en-US" sz="1400" dirty="0"/>
              <a:t>, IP, </a:t>
            </a:r>
            <a:r>
              <a:rPr lang="en-US" sz="1400" dirty="0" err="1"/>
              <a:t>IPX</a:t>
            </a:r>
            <a:r>
              <a:rPr lang="en-US" sz="1400" dirty="0"/>
              <a:t>, AppleTalk and other protocols. Protocols starting with zero are network layer protocols (IP, </a:t>
            </a:r>
            <a:r>
              <a:rPr lang="en-US" sz="1400" dirty="0" err="1"/>
              <a:t>IPX</a:t>
            </a:r>
            <a:r>
              <a:rPr lang="en-US" sz="1400" dirty="0"/>
              <a:t>, etc). Those starting with 1 are used to negotiate other protocols. These include </a:t>
            </a:r>
            <a:r>
              <a:rPr lang="en-US" sz="1400" dirty="0" err="1"/>
              <a:t>LCP</a:t>
            </a:r>
            <a:r>
              <a:rPr lang="en-US" sz="1400" dirty="0"/>
              <a:t> and a different </a:t>
            </a:r>
            <a:r>
              <a:rPr lang="en-US" sz="1400" dirty="0" err="1"/>
              <a:t>NCP</a:t>
            </a:r>
            <a:r>
              <a:rPr lang="en-US" sz="1400" dirty="0"/>
              <a:t> for each network layer protocol supported. The default size of the Protocol field is 2 bytes, but it can be negotiated down to one byte by </a:t>
            </a:r>
            <a:r>
              <a:rPr lang="en-US" sz="1400" dirty="0" err="1"/>
              <a:t>LCP</a:t>
            </a:r>
            <a:r>
              <a:rPr lang="en-US" sz="1400" dirty="0"/>
              <a:t>. </a:t>
            </a:r>
          </a:p>
          <a:p>
            <a:pPr>
              <a:lnSpc>
                <a:spcPct val="90000"/>
              </a:lnSpc>
            </a:pPr>
            <a:r>
              <a:rPr lang="en-US" sz="1400" dirty="0"/>
              <a:t>Payload – variable length data, up to some negotiated maximum. If no negotiated maximum value, a default 1500 value is used. </a:t>
            </a:r>
          </a:p>
          <a:p>
            <a:pPr>
              <a:lnSpc>
                <a:spcPct val="90000"/>
              </a:lnSpc>
            </a:pPr>
            <a:r>
              <a:rPr lang="en-US" sz="1400" dirty="0"/>
              <a:t>Checksum field is default 2 bytes, but it can be negotiated to 4 bytes.</a:t>
            </a:r>
          </a:p>
          <a:p>
            <a:pPr>
              <a:lnSpc>
                <a:spcPct val="90000"/>
              </a:lnSpc>
            </a:pPr>
            <a:endParaRPr lang="en-US" sz="1400" dirty="0"/>
          </a:p>
          <a:p>
            <a:pPr>
              <a:lnSpc>
                <a:spcPct val="90000"/>
              </a:lnSpc>
            </a:pPr>
            <a:endParaRPr lang="en-US" sz="1400" dirty="0"/>
          </a:p>
          <a:p>
            <a:pPr>
              <a:lnSpc>
                <a:spcPct val="90000"/>
              </a:lnSpc>
            </a:pPr>
            <a:endParaRPr lang="en-US" sz="14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A4A33D2F-2B83-41E9-A432-C76C1D1385AA}" type="slidenum">
              <a:rPr lang="en-US" smtClean="0"/>
              <a:pPr/>
              <a:t>8</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r>
              <a:rPr lang="en-US"/>
              <a:t>Line is in DEAD state. After physical connection is established, the line moves into ESTABLISHED phase. At that point, LCP option negotiation begins, and if successful leads to AUTHENTICATE. If authentication successful, the NETWORK state is entered. During this state, the appropriate NCP protocol is invoked, to configure the network layer. If the configuration is successful, the OPEN state is entered, where data transfer can take place. When the data transport is finished, the line moves into TERMINATE phase, and from there back to DEAD when the carrier is dropped.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Chapter 23</a:t>
            </a:r>
          </a:p>
        </p:txBody>
      </p:sp>
      <p:sp>
        <p:nvSpPr>
          <p:cNvPr id="5" name="Rectangle 3"/>
          <p:cNvSpPr>
            <a:spLocks noGrp="1" noChangeArrowheads="1"/>
          </p:cNvSpPr>
          <p:nvPr>
            <p:ph type="dt" idx="1"/>
          </p:nvPr>
        </p:nvSpPr>
        <p:spPr>
          <a:ln/>
        </p:spPr>
        <p:txBody>
          <a:bodyPr/>
          <a:lstStyle/>
          <a:p>
            <a:fld id="{EC24097A-3BFE-439D-B409-50CC0C8D3984}" type="datetime1">
              <a:rPr lang="en-US"/>
              <a:pPr/>
              <a:t>27-Jan-2023</a:t>
            </a:fld>
            <a:endParaRPr lang="en-US"/>
          </a:p>
        </p:txBody>
      </p:sp>
      <p:sp>
        <p:nvSpPr>
          <p:cNvPr id="6" name="Rectangle 6"/>
          <p:cNvSpPr>
            <a:spLocks noGrp="1" noChangeArrowheads="1"/>
          </p:cNvSpPr>
          <p:nvPr>
            <p:ph type="ftr" sz="quarter" idx="4"/>
          </p:nvPr>
        </p:nvSpPr>
        <p:spPr>
          <a:ln/>
        </p:spPr>
        <p:txBody>
          <a:bodyPr/>
          <a:lstStyle/>
          <a:p>
            <a:r>
              <a:rPr lang="en-US"/>
              <a:t>(c) Copyright N Ganesan</a:t>
            </a:r>
          </a:p>
        </p:txBody>
      </p:sp>
      <p:sp>
        <p:nvSpPr>
          <p:cNvPr id="7" name="Rectangle 7"/>
          <p:cNvSpPr>
            <a:spLocks noGrp="1" noChangeArrowheads="1"/>
          </p:cNvSpPr>
          <p:nvPr>
            <p:ph type="sldNum" sz="quarter" idx="5"/>
          </p:nvPr>
        </p:nvSpPr>
        <p:spPr>
          <a:ln/>
        </p:spPr>
        <p:txBody>
          <a:bodyPr/>
          <a:lstStyle/>
          <a:p>
            <a:fld id="{E1C756C8-05B9-4C35-9712-D64AB77DA14A}" type="slidenum">
              <a:rPr lang="en-US"/>
              <a:pPr/>
              <a:t>32</a:t>
            </a:fld>
            <a:endParaRPr lang="en-US"/>
          </a:p>
        </p:txBody>
      </p:sp>
      <p:sp>
        <p:nvSpPr>
          <p:cNvPr id="19865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986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Chapter 23</a:t>
            </a:r>
          </a:p>
        </p:txBody>
      </p:sp>
      <p:sp>
        <p:nvSpPr>
          <p:cNvPr id="5" name="Rectangle 3"/>
          <p:cNvSpPr>
            <a:spLocks noGrp="1" noChangeArrowheads="1"/>
          </p:cNvSpPr>
          <p:nvPr>
            <p:ph type="dt" idx="1"/>
          </p:nvPr>
        </p:nvSpPr>
        <p:spPr>
          <a:ln/>
        </p:spPr>
        <p:txBody>
          <a:bodyPr/>
          <a:lstStyle/>
          <a:p>
            <a:fld id="{1A054F25-B6B4-48A6-A36B-2F5BD85FA499}" type="datetime1">
              <a:rPr lang="en-US"/>
              <a:pPr/>
              <a:t>27-Jan-2023</a:t>
            </a:fld>
            <a:endParaRPr lang="en-US"/>
          </a:p>
        </p:txBody>
      </p:sp>
      <p:sp>
        <p:nvSpPr>
          <p:cNvPr id="6" name="Rectangle 6"/>
          <p:cNvSpPr>
            <a:spLocks noGrp="1" noChangeArrowheads="1"/>
          </p:cNvSpPr>
          <p:nvPr>
            <p:ph type="ftr" sz="quarter" idx="4"/>
          </p:nvPr>
        </p:nvSpPr>
        <p:spPr>
          <a:ln/>
        </p:spPr>
        <p:txBody>
          <a:bodyPr/>
          <a:lstStyle/>
          <a:p>
            <a:r>
              <a:rPr lang="en-US"/>
              <a:t>(c) Copyright N Ganesan</a:t>
            </a:r>
          </a:p>
        </p:txBody>
      </p:sp>
      <p:sp>
        <p:nvSpPr>
          <p:cNvPr id="7" name="Rectangle 7"/>
          <p:cNvSpPr>
            <a:spLocks noGrp="1" noChangeArrowheads="1"/>
          </p:cNvSpPr>
          <p:nvPr>
            <p:ph type="sldNum" sz="quarter" idx="5"/>
          </p:nvPr>
        </p:nvSpPr>
        <p:spPr>
          <a:ln/>
        </p:spPr>
        <p:txBody>
          <a:bodyPr/>
          <a:lstStyle/>
          <a:p>
            <a:fld id="{2CAD0A72-A4EE-49A8-B896-9CD850865110}" type="slidenum">
              <a:rPr lang="en-US"/>
              <a:pPr/>
              <a:t>33</a:t>
            </a:fld>
            <a:endParaRPr lang="en-US"/>
          </a:p>
        </p:txBody>
      </p:sp>
      <p:sp>
        <p:nvSpPr>
          <p:cNvPr id="20070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007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1261852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2906337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314869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6541F-7EA5-45BF-8292-A18063B9F35F}" type="datetimeFigureOut">
              <a:rPr lang="en-US" smtClean="0"/>
              <a:t>27-Jan-2023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1192818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6541F-7EA5-45BF-8292-A18063B9F35F}" type="datetimeFigureOut">
              <a:rPr lang="en-US" smtClean="0"/>
              <a:t>27-Jan-2023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11370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6541F-7EA5-45BF-8292-A18063B9F35F}" type="datetimeFigureOut">
              <a:rPr lang="en-US" smtClean="0"/>
              <a:t>27-Jan-2023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1164980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6541F-7EA5-45BF-8292-A18063B9F35F}" type="datetimeFigureOut">
              <a:rPr lang="en-US" smtClean="0"/>
              <a:t>27-Jan-2023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83754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926541F-7EA5-45BF-8292-A18063B9F35F}" type="datetimeFigureOut">
              <a:rPr lang="en-US" smtClean="0"/>
              <a:t>27-Jan-2023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3891039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26541F-7EA5-45BF-8292-A18063B9F35F}" type="datetimeFigureOut">
              <a:rPr lang="en-US" smtClean="0"/>
              <a:t>27-Jan-2023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2995749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2557711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38853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16432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7258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2958497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1828395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6541F-7EA5-45BF-8292-A18063B9F35F}" type="datetimeFigureOut">
              <a:rPr lang="en-US" smtClean="0"/>
              <a:t>27-Jan-2023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53419-4CE7-4970-957A-1683AC701619}" type="slidenum">
              <a:rPr lang="en-US" smtClean="0"/>
              <a:t>‹#›</a:t>
            </a:fld>
            <a:endParaRPr lang="en-US"/>
          </a:p>
        </p:txBody>
      </p:sp>
    </p:spTree>
    <p:extLst>
      <p:ext uri="{BB962C8B-B14F-4D97-AF65-F5344CB8AC3E}">
        <p14:creationId xmlns:p14="http://schemas.microsoft.com/office/powerpoint/2010/main" val="295262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926541F-7EA5-45BF-8292-A18063B9F35F}" type="datetimeFigureOut">
              <a:rPr lang="en-US" smtClean="0"/>
              <a:t>27-Jan-2023</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2753419-4CE7-4970-957A-1683AC701619}" type="slidenum">
              <a:rPr lang="en-US" smtClean="0"/>
              <a:t>‹#›</a:t>
            </a:fld>
            <a:endParaRPr lang="en-US"/>
          </a:p>
        </p:txBody>
      </p:sp>
    </p:spTree>
    <p:extLst>
      <p:ext uri="{BB962C8B-B14F-4D97-AF65-F5344CB8AC3E}">
        <p14:creationId xmlns:p14="http://schemas.microsoft.com/office/powerpoint/2010/main" val="42729820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ites.google.com/site/drmohammadshahidulisla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en.wikipedia.org/wiki/Frame_(networking)" TargetMode="External"/><Relationship Id="rId2" Type="http://schemas.openxmlformats.org/officeDocument/2006/relationships/hyperlink" Target="http://en.wikipedia.org/wiki/Datagram" TargetMode="External"/><Relationship Id="rId1" Type="http://schemas.openxmlformats.org/officeDocument/2006/relationships/slideLayout" Target="../slideLayouts/slideLayout2.xml"/><Relationship Id="rId5" Type="http://schemas.openxmlformats.org/officeDocument/2006/relationships/hyperlink" Target="http://en.wikipedia.org/wiki/Byte" TargetMode="External"/><Relationship Id="rId4" Type="http://schemas.openxmlformats.org/officeDocument/2006/relationships/hyperlink" Target="http://en.wikipedia.org/wiki/Octet_(computing)"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en.wikipedia.org/wiki/Network-to-network_interface" TargetMode="External"/><Relationship Id="rId2" Type="http://schemas.openxmlformats.org/officeDocument/2006/relationships/hyperlink" Target="http://en.wikipedia.org/wiki/User%E2%80%93network_interfac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en.wikipedia.org/wiki/CRC-based_framing" TargetMode="External"/><Relationship Id="rId5" Type="http://schemas.openxmlformats.org/officeDocument/2006/relationships/hyperlink" Target="http://en.wikipedia.org/wiki/Virtual_Channel_identifier" TargetMode="External"/><Relationship Id="rId4" Type="http://schemas.openxmlformats.org/officeDocument/2006/relationships/hyperlink" Target="http://en.wikipedia.org/wiki/Virtual_Path_Identifier"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en.wikipedia.org/wiki/Operations,_administration_and_management" TargetMode="External"/><Relationship Id="rId2" Type="http://schemas.openxmlformats.org/officeDocument/2006/relationships/hyperlink" Target="http://en.wikipedia.org/wiki/Flow_control_(data)"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CRC-based_framing" TargetMode="External"/><Relationship Id="rId2" Type="http://schemas.openxmlformats.org/officeDocument/2006/relationships/hyperlink" Target="http://en.wikipedia.org/wiki/Cell_Loss_Priorit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Week-2</a:t>
            </a:r>
          </a:p>
        </p:txBody>
      </p:sp>
      <p:sp>
        <p:nvSpPr>
          <p:cNvPr id="3" name="Subtitle 2"/>
          <p:cNvSpPr>
            <a:spLocks noGrp="1"/>
          </p:cNvSpPr>
          <p:nvPr>
            <p:ph type="subTitle" idx="1"/>
          </p:nvPr>
        </p:nvSpPr>
        <p:spPr/>
        <p:txBody>
          <a:bodyPr/>
          <a:lstStyle/>
          <a:p>
            <a:r>
              <a:rPr lang="en-US" dirty="0"/>
              <a:t>Instructor: </a:t>
            </a:r>
            <a:r>
              <a:rPr lang="en-US" dirty="0" err="1"/>
              <a:t>D.MSI</a:t>
            </a:r>
            <a:endParaRPr lang="en-US" dirty="0"/>
          </a:p>
        </p:txBody>
      </p:sp>
      <p:sp>
        <p:nvSpPr>
          <p:cNvPr id="5" name="TextBox 4"/>
          <p:cNvSpPr txBox="1"/>
          <p:nvPr/>
        </p:nvSpPr>
        <p:spPr>
          <a:xfrm>
            <a:off x="3429000" y="228600"/>
            <a:ext cx="5391219" cy="369332"/>
          </a:xfrm>
          <a:prstGeom prst="rect">
            <a:avLst/>
          </a:prstGeom>
          <a:noFill/>
        </p:spPr>
        <p:txBody>
          <a:bodyPr wrap="none" rtlCol="0">
            <a:spAutoFit/>
          </a:bodyPr>
          <a:lstStyle/>
          <a:p>
            <a:r>
              <a:rPr lang="en-US" dirty="0" err="1">
                <a:hlinkClick r:id="rId2"/>
              </a:rPr>
              <a:t>https://sites.google.com/site/drmohammadshahidulislam</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304801"/>
            <a:ext cx="8305800" cy="6186309"/>
          </a:xfrm>
          <a:prstGeom prst="rect">
            <a:avLst/>
          </a:prstGeom>
        </p:spPr>
        <p:txBody>
          <a:bodyPr wrap="square">
            <a:spAutoFit/>
          </a:bodyPr>
          <a:lstStyle/>
          <a:p>
            <a:pPr lvl="0"/>
            <a:r>
              <a:rPr lang="en-US" sz="3600" dirty="0"/>
              <a:t>LAN, MAN &amp; WAN </a:t>
            </a:r>
          </a:p>
          <a:p>
            <a:pPr lvl="0"/>
            <a:r>
              <a:rPr lang="en-US" sz="3600" dirty="0"/>
              <a:t>Applications of Networks </a:t>
            </a:r>
          </a:p>
          <a:p>
            <a:pPr lvl="0"/>
            <a:r>
              <a:rPr lang="en-US" sz="3600" dirty="0"/>
              <a:t>Network Topology </a:t>
            </a:r>
            <a:r>
              <a:rPr lang="en-US" sz="3600" dirty="0" err="1"/>
              <a:t>BSRM</a:t>
            </a:r>
            <a:r>
              <a:rPr lang="en-US" sz="3600" dirty="0"/>
              <a:t> </a:t>
            </a:r>
          </a:p>
          <a:p>
            <a:pPr lvl="0"/>
            <a:r>
              <a:rPr lang="en-US" sz="3600" dirty="0"/>
              <a:t>Network Components </a:t>
            </a:r>
            <a:r>
              <a:rPr lang="en-GB" sz="3600" dirty="0"/>
              <a:t> </a:t>
            </a:r>
            <a:r>
              <a:rPr lang="en-GB" sz="3600" dirty="0" err="1"/>
              <a:t>PINCONA</a:t>
            </a:r>
            <a:endParaRPr lang="en-US" sz="3600" dirty="0"/>
          </a:p>
          <a:p>
            <a:pPr lvl="0"/>
            <a:r>
              <a:rPr lang="en-US" sz="3600" dirty="0"/>
              <a:t>:protocols, layers and interfaces</a:t>
            </a:r>
          </a:p>
          <a:p>
            <a:pPr lvl="0"/>
            <a:r>
              <a:rPr lang="en-US" sz="3600" dirty="0"/>
              <a:t>Peers, Entities and Peer Entities </a:t>
            </a:r>
          </a:p>
          <a:p>
            <a:pPr lvl="0"/>
            <a:r>
              <a:rPr lang="en-US" sz="3600" dirty="0"/>
              <a:t>Protocol Stacks</a:t>
            </a:r>
          </a:p>
          <a:p>
            <a:pPr lvl="0"/>
            <a:r>
              <a:rPr lang="en-US" sz="3600" dirty="0"/>
              <a:t>Layers at An Interface</a:t>
            </a:r>
          </a:p>
          <a:p>
            <a:pPr lvl="0"/>
            <a:r>
              <a:rPr lang="en-US" sz="3600" dirty="0"/>
              <a:t>Connections Multiplexing</a:t>
            </a:r>
          </a:p>
          <a:p>
            <a:pPr lvl="0"/>
            <a:r>
              <a:rPr lang="en-US" sz="3600" dirty="0" err="1"/>
              <a:t>HDLC</a:t>
            </a:r>
            <a:r>
              <a:rPr lang="en-US" sz="3600" dirty="0"/>
              <a:t> frame, different control (</a:t>
            </a:r>
            <a:r>
              <a:rPr lang="en-US" sz="3600" dirty="0" err="1"/>
              <a:t>ISU</a:t>
            </a:r>
            <a:r>
              <a:rPr lang="en-US" sz="3600" dirty="0"/>
              <a:t>)</a:t>
            </a:r>
          </a:p>
          <a:p>
            <a:pPr lvl="0"/>
            <a:r>
              <a:rPr lang="en-US" sz="3600" dirty="0" err="1"/>
              <a:t>SEQ</a:t>
            </a:r>
            <a:r>
              <a:rPr lang="en-US" sz="3600" dirty="0"/>
              <a:t>, NEXT, P/</a:t>
            </a:r>
            <a:r>
              <a:rPr lang="en-US" sz="3600" dirty="0" err="1"/>
              <a:t>F,DISconect</a:t>
            </a:r>
            <a:r>
              <a:rPr lang="en-US" sz="3600" dirty="0"/>
              <a:t>, </a:t>
            </a:r>
            <a:r>
              <a:rPr lang="en-US" sz="3600" dirty="0" err="1"/>
              <a:t>SABM</a:t>
            </a:r>
            <a:r>
              <a:rPr lang="en-US" sz="3600" dirty="0"/>
              <a:t>, </a:t>
            </a:r>
            <a:r>
              <a:rPr lang="en-US" sz="3600" dirty="0" err="1"/>
              <a:t>FRMR</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Data Link Layer in the Internet</a:t>
            </a:r>
          </a:p>
        </p:txBody>
      </p:sp>
      <p:sp>
        <p:nvSpPr>
          <p:cNvPr id="3" name="Content Placeholder 2"/>
          <p:cNvSpPr>
            <a:spLocks noGrp="1"/>
          </p:cNvSpPr>
          <p:nvPr>
            <p:ph idx="1"/>
          </p:nvPr>
        </p:nvSpPr>
        <p:spPr/>
        <p:txBody>
          <a:bodyPr/>
          <a:lstStyle/>
          <a:p>
            <a:r>
              <a:rPr lang="en-US" dirty="0"/>
              <a:t>Internet consists of individual machines (hosts and routers) and the communication infrastructure that connects them. </a:t>
            </a:r>
          </a:p>
          <a:p>
            <a:endParaRPr lang="en-US" dirty="0"/>
          </a:p>
          <a:p>
            <a:r>
              <a:rPr lang="en-US" dirty="0"/>
              <a:t>Some of the machines are interconnected using LANs and some are interconnected using point to point lines (especially the ones that are far apart).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 –to-point lines in the Internet</a:t>
            </a:r>
          </a:p>
        </p:txBody>
      </p:sp>
      <p:sp>
        <p:nvSpPr>
          <p:cNvPr id="3" name="Content Placeholder 2"/>
          <p:cNvSpPr>
            <a:spLocks noGrp="1"/>
          </p:cNvSpPr>
          <p:nvPr>
            <p:ph idx="1"/>
          </p:nvPr>
        </p:nvSpPr>
        <p:spPr/>
        <p:txBody>
          <a:bodyPr/>
          <a:lstStyle/>
          <a:p>
            <a:r>
              <a:rPr lang="en-US" dirty="0"/>
              <a:t>Normally used in 2 situations:   (p: 238)</a:t>
            </a:r>
          </a:p>
          <a:p>
            <a:pPr lvl="1"/>
            <a:r>
              <a:rPr lang="en-US" dirty="0"/>
              <a:t>One LAN communicating with another (acts like a leased line/ dedicated line)</a:t>
            </a:r>
          </a:p>
          <a:p>
            <a:pPr lvl="1"/>
            <a:r>
              <a:rPr lang="en-US" dirty="0"/>
              <a:t>Home user using dial-up connection to connect with internet (also same as leased line)</a:t>
            </a:r>
          </a:p>
          <a:p>
            <a:pPr lvl="1">
              <a:buNone/>
            </a:pPr>
            <a:r>
              <a:rPr lang="en-US" dirty="0"/>
              <a:t>Fig shown in the next slide</a:t>
            </a:r>
          </a:p>
          <a:p>
            <a:r>
              <a:rPr lang="en-US" dirty="0"/>
              <a:t>Both the communication uses point-to-point data link protocol(In internet it is called PPP)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fontAlgn="auto">
              <a:spcAft>
                <a:spcPts val="0"/>
              </a:spcAft>
              <a:defRPr/>
            </a:pPr>
            <a:r>
              <a:rPr lang="en-US" dirty="0"/>
              <a:t>The Data Link Layer in the Internet</a:t>
            </a:r>
          </a:p>
        </p:txBody>
      </p:sp>
      <p:sp>
        <p:nvSpPr>
          <p:cNvPr id="15362" name="Rectangle 3"/>
          <p:cNvSpPr>
            <a:spLocks noGrp="1" noChangeArrowheads="1"/>
          </p:cNvSpPr>
          <p:nvPr>
            <p:ph idx="1"/>
          </p:nvPr>
        </p:nvSpPr>
        <p:spPr/>
        <p:txBody>
          <a:bodyPr/>
          <a:lstStyle/>
          <a:p>
            <a:pPr marL="609600" indent="-609600" algn="ctr">
              <a:buFontTx/>
              <a:buNone/>
            </a:pPr>
            <a:r>
              <a:rPr lang="en-US"/>
              <a:t>A home personal computer acting as an internet host.</a:t>
            </a:r>
          </a:p>
        </p:txBody>
      </p:sp>
      <p:pic>
        <p:nvPicPr>
          <p:cNvPr id="15364" name="Picture 4" descr="3-26"/>
          <p:cNvPicPr>
            <a:picLocks noChangeAspect="1" noChangeArrowheads="1"/>
          </p:cNvPicPr>
          <p:nvPr/>
        </p:nvPicPr>
        <p:blipFill>
          <a:blip r:embed="rId3" cstate="print"/>
          <a:srcRect/>
          <a:stretch>
            <a:fillRect/>
          </a:stretch>
        </p:blipFill>
        <p:spPr bwMode="auto">
          <a:xfrm>
            <a:off x="561975" y="1566863"/>
            <a:ext cx="8186738" cy="35972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fontAlgn="auto">
              <a:spcAft>
                <a:spcPts val="0"/>
              </a:spcAft>
              <a:defRPr/>
            </a:pPr>
            <a:r>
              <a:rPr lang="en-US"/>
              <a:t>PPP - Point to Point Protocol (1)</a:t>
            </a:r>
          </a:p>
        </p:txBody>
      </p:sp>
      <p:sp>
        <p:nvSpPr>
          <p:cNvPr id="16386" name="Rectangle 3"/>
          <p:cNvSpPr>
            <a:spLocks noGrp="1" noChangeArrowheads="1"/>
          </p:cNvSpPr>
          <p:nvPr>
            <p:ph idx="1"/>
          </p:nvPr>
        </p:nvSpPr>
        <p:spPr/>
        <p:txBody>
          <a:bodyPr/>
          <a:lstStyle/>
          <a:p>
            <a:pPr>
              <a:lnSpc>
                <a:spcPct val="90000"/>
              </a:lnSpc>
            </a:pPr>
            <a:r>
              <a:rPr lang="en-US"/>
              <a:t>Provides three features</a:t>
            </a:r>
          </a:p>
          <a:p>
            <a:pPr lvl="1">
              <a:lnSpc>
                <a:spcPct val="90000"/>
              </a:lnSpc>
            </a:pPr>
            <a:r>
              <a:rPr lang="en-US"/>
              <a:t>A framing method; the frame format also handles error detection</a:t>
            </a:r>
          </a:p>
          <a:p>
            <a:pPr lvl="1">
              <a:lnSpc>
                <a:spcPct val="90000"/>
              </a:lnSpc>
            </a:pPr>
            <a:r>
              <a:rPr lang="en-US"/>
              <a:t>A link control protocol called LCP (Link Control Protocol)</a:t>
            </a:r>
          </a:p>
          <a:p>
            <a:pPr lvl="1">
              <a:lnSpc>
                <a:spcPct val="90000"/>
              </a:lnSpc>
            </a:pPr>
            <a:r>
              <a:rPr lang="en-US"/>
              <a:t>A way to negotiate network specific options in a way that is independent of the network layer protocol to be used. The method chosen is to have a different NCP (Network Control Protocol) for each network layer supported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fontAlgn="auto">
              <a:spcAft>
                <a:spcPts val="0"/>
              </a:spcAft>
              <a:defRPr/>
            </a:pPr>
            <a:r>
              <a:rPr lang="en-US"/>
              <a:t>PPP – Point to Point Protocol (2)</a:t>
            </a:r>
          </a:p>
        </p:txBody>
      </p:sp>
      <p:sp>
        <p:nvSpPr>
          <p:cNvPr id="17410" name="Rectangle 3"/>
          <p:cNvSpPr>
            <a:spLocks noGrp="1" noChangeArrowheads="1"/>
          </p:cNvSpPr>
          <p:nvPr>
            <p:ph idx="1"/>
          </p:nvPr>
        </p:nvSpPr>
        <p:spPr>
          <a:xfrm>
            <a:off x="228600" y="5791200"/>
            <a:ext cx="8458200" cy="1066800"/>
          </a:xfrm>
        </p:spPr>
        <p:txBody>
          <a:bodyPr/>
          <a:lstStyle/>
          <a:p>
            <a:pPr marL="609600" indent="-609600" algn="ctr">
              <a:buFontTx/>
              <a:buNone/>
            </a:pPr>
            <a:r>
              <a:rPr lang="en-US"/>
              <a:t>The PPP full frame format for unnumbered mode operation.</a:t>
            </a:r>
          </a:p>
        </p:txBody>
      </p:sp>
      <p:pic>
        <p:nvPicPr>
          <p:cNvPr id="17412" name="Picture 4" descr="3-27"/>
          <p:cNvPicPr>
            <a:picLocks noChangeAspect="1" noChangeArrowheads="1"/>
          </p:cNvPicPr>
          <p:nvPr/>
        </p:nvPicPr>
        <p:blipFill>
          <a:blip r:embed="rId3" cstate="print"/>
          <a:srcRect/>
          <a:stretch>
            <a:fillRect/>
          </a:stretch>
        </p:blipFill>
        <p:spPr bwMode="auto">
          <a:xfrm>
            <a:off x="304800" y="4495800"/>
            <a:ext cx="7956550" cy="1076325"/>
          </a:xfrm>
          <a:prstGeom prst="rect">
            <a:avLst/>
          </a:prstGeom>
          <a:noFill/>
          <a:ln w="9525">
            <a:noFill/>
            <a:miter lim="800000"/>
            <a:headEnd/>
            <a:tailEnd/>
          </a:ln>
        </p:spPr>
      </p:pic>
      <p:sp>
        <p:nvSpPr>
          <p:cNvPr id="17413" name="AutoShape 8"/>
          <p:cNvSpPr>
            <a:spLocks noChangeArrowheads="1"/>
          </p:cNvSpPr>
          <p:nvPr/>
        </p:nvSpPr>
        <p:spPr bwMode="auto">
          <a:xfrm>
            <a:off x="228600" y="1828800"/>
            <a:ext cx="8610600" cy="1905000"/>
          </a:xfrm>
          <a:prstGeom prst="wedgeRectCallout">
            <a:avLst>
              <a:gd name="adj1" fmla="val -35546"/>
              <a:gd name="adj2" fmla="val 90083"/>
            </a:avLst>
          </a:prstGeom>
          <a:noFill/>
          <a:ln w="9525">
            <a:solidFill>
              <a:schemeClr val="tx1"/>
            </a:solidFill>
            <a:miter lim="800000"/>
            <a:headEnd/>
            <a:tailEnd/>
          </a:ln>
        </p:spPr>
        <p:txBody>
          <a:bodyPr/>
          <a:lstStyle/>
          <a:p>
            <a:r>
              <a:rPr lang="en-US"/>
              <a:t>All PPP frames start with standard HDLC flag 01111110, which is byte stuffed if occurs in the rest of the frame. </a:t>
            </a:r>
          </a:p>
          <a:p>
            <a:endParaRPr lang="en-US"/>
          </a:p>
        </p:txBody>
      </p:sp>
      <p:sp>
        <p:nvSpPr>
          <p:cNvPr id="344073" name="AutoShape 9"/>
          <p:cNvSpPr>
            <a:spLocks noChangeArrowheads="1"/>
          </p:cNvSpPr>
          <p:nvPr/>
        </p:nvSpPr>
        <p:spPr bwMode="auto">
          <a:xfrm>
            <a:off x="228600" y="1828800"/>
            <a:ext cx="8610600" cy="1905000"/>
          </a:xfrm>
          <a:prstGeom prst="wedgeRectCallout">
            <a:avLst>
              <a:gd name="adj1" fmla="val -23157"/>
              <a:gd name="adj2" fmla="val 87833"/>
            </a:avLst>
          </a:prstGeom>
          <a:solidFill>
            <a:schemeClr val="bg1"/>
          </a:solidFill>
          <a:ln w="9525">
            <a:solidFill>
              <a:schemeClr val="tx1"/>
            </a:solidFill>
            <a:miter lim="800000"/>
            <a:headEnd/>
            <a:tailEnd/>
          </a:ln>
        </p:spPr>
        <p:txBody>
          <a:bodyPr/>
          <a:lstStyle/>
          <a:p>
            <a:r>
              <a:rPr lang="en-US"/>
              <a:t>The Address field is always set to 11111111 to indicate that all stations are to accept the frame. Using this value solves the issue of assigning data link layer addresses.  </a:t>
            </a:r>
          </a:p>
          <a:p>
            <a:endParaRPr lang="en-US"/>
          </a:p>
        </p:txBody>
      </p:sp>
      <p:sp>
        <p:nvSpPr>
          <p:cNvPr id="344074" name="AutoShape 10"/>
          <p:cNvSpPr>
            <a:spLocks noChangeArrowheads="1"/>
          </p:cNvSpPr>
          <p:nvPr/>
        </p:nvSpPr>
        <p:spPr bwMode="auto">
          <a:xfrm>
            <a:off x="228600" y="1828800"/>
            <a:ext cx="8610600" cy="1905000"/>
          </a:xfrm>
          <a:prstGeom prst="wedgeRectCallout">
            <a:avLst>
              <a:gd name="adj1" fmla="val -10694"/>
              <a:gd name="adj2" fmla="val 83250"/>
            </a:avLst>
          </a:prstGeom>
          <a:solidFill>
            <a:schemeClr val="bg1"/>
          </a:solidFill>
          <a:ln w="9525">
            <a:solidFill>
              <a:schemeClr val="tx1"/>
            </a:solidFill>
            <a:miter lim="800000"/>
            <a:headEnd/>
            <a:tailEnd/>
          </a:ln>
        </p:spPr>
        <p:txBody>
          <a:bodyPr/>
          <a:lstStyle/>
          <a:p>
            <a:r>
              <a:rPr lang="en-US"/>
              <a:t>The Control field default value is 00000011 , which indicates an unnumbered frame (doesn’t provide by default reliable transmission using sequence numbers and acknowledgements). </a:t>
            </a:r>
          </a:p>
          <a:p>
            <a:endParaRPr lang="en-US"/>
          </a:p>
        </p:txBody>
      </p:sp>
      <p:sp>
        <p:nvSpPr>
          <p:cNvPr id="344075" name="AutoShape 11"/>
          <p:cNvSpPr>
            <a:spLocks noChangeArrowheads="1"/>
          </p:cNvSpPr>
          <p:nvPr/>
        </p:nvSpPr>
        <p:spPr bwMode="auto">
          <a:xfrm>
            <a:off x="228600" y="1828800"/>
            <a:ext cx="8610600" cy="1905000"/>
          </a:xfrm>
          <a:prstGeom prst="wedgeRectCallout">
            <a:avLst>
              <a:gd name="adj1" fmla="val -93"/>
              <a:gd name="adj2" fmla="val 82500"/>
            </a:avLst>
          </a:prstGeom>
          <a:solidFill>
            <a:schemeClr val="bg1"/>
          </a:solidFill>
          <a:ln w="9525">
            <a:solidFill>
              <a:schemeClr val="tx1"/>
            </a:solidFill>
            <a:miter lim="800000"/>
            <a:headEnd/>
            <a:tailEnd/>
          </a:ln>
        </p:spPr>
        <p:txBody>
          <a:bodyPr/>
          <a:lstStyle/>
          <a:p>
            <a:r>
              <a:rPr lang="en-US"/>
              <a:t>The Protocol field specifies what kind of packet is in the payload field. Codes are defined for LCP, NCP, IP, IPX, AppleTalk and other protocols. Protocols starting with zero are network layer protocols (IP, IPX, etc). Those starting with 1 are used to negotiate other protocols. These include LCP and a different NCP for each network layer protocol supported.</a:t>
            </a:r>
          </a:p>
          <a:p>
            <a:endParaRPr lang="en-US"/>
          </a:p>
        </p:txBody>
      </p:sp>
      <p:sp>
        <p:nvSpPr>
          <p:cNvPr id="344076" name="AutoShape 12"/>
          <p:cNvSpPr>
            <a:spLocks noChangeArrowheads="1"/>
          </p:cNvSpPr>
          <p:nvPr/>
        </p:nvSpPr>
        <p:spPr bwMode="auto">
          <a:xfrm>
            <a:off x="228600" y="1828800"/>
            <a:ext cx="8610600" cy="1905000"/>
          </a:xfrm>
          <a:prstGeom prst="wedgeRectCallout">
            <a:avLst>
              <a:gd name="adj1" fmla="val 10880"/>
              <a:gd name="adj2" fmla="val 78583"/>
            </a:avLst>
          </a:prstGeom>
          <a:solidFill>
            <a:schemeClr val="bg1"/>
          </a:solidFill>
          <a:ln w="9525">
            <a:solidFill>
              <a:schemeClr val="tx1"/>
            </a:solidFill>
            <a:miter lim="800000"/>
            <a:headEnd/>
            <a:tailEnd/>
          </a:ln>
        </p:spPr>
        <p:txBody>
          <a:bodyPr/>
          <a:lstStyle/>
          <a:p>
            <a:r>
              <a:rPr lang="en-US"/>
              <a:t>Payload – variable length data, up to some negotiated maximum. If no negotiated maximum value, a default 1500 value is used. </a:t>
            </a:r>
          </a:p>
          <a:p>
            <a:endParaRPr lang="en-US"/>
          </a:p>
        </p:txBody>
      </p:sp>
      <p:sp>
        <p:nvSpPr>
          <p:cNvPr id="344077" name="AutoShape 13"/>
          <p:cNvSpPr>
            <a:spLocks noChangeArrowheads="1"/>
          </p:cNvSpPr>
          <p:nvPr/>
        </p:nvSpPr>
        <p:spPr bwMode="auto">
          <a:xfrm>
            <a:off x="228600" y="1828800"/>
            <a:ext cx="8610600" cy="1905000"/>
          </a:xfrm>
          <a:prstGeom prst="wedgeRectCallout">
            <a:avLst>
              <a:gd name="adj1" fmla="val 22347"/>
              <a:gd name="adj2" fmla="val 79417"/>
            </a:avLst>
          </a:prstGeom>
          <a:solidFill>
            <a:schemeClr val="bg1"/>
          </a:solidFill>
          <a:ln w="9525">
            <a:solidFill>
              <a:schemeClr val="tx1"/>
            </a:solidFill>
            <a:miter lim="800000"/>
            <a:headEnd/>
            <a:tailEnd/>
          </a:ln>
        </p:spPr>
        <p:txBody>
          <a:bodyPr/>
          <a:lstStyle/>
          <a:p>
            <a:r>
              <a:rPr lang="en-US"/>
              <a:t>Checksum field is default 2 bytes, but it can be negotiated to 4 bytes.  </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4073"/>
                                        </p:tgtEl>
                                        <p:attrNameLst>
                                          <p:attrName>style.visibility</p:attrName>
                                        </p:attrNameLst>
                                      </p:cBhvr>
                                      <p:to>
                                        <p:strVal val="visible"/>
                                      </p:to>
                                    </p:set>
                                    <p:anim calcmode="lin" valueType="num">
                                      <p:cBhvr additive="base">
                                        <p:cTn id="7" dur="500" fill="hold"/>
                                        <p:tgtEl>
                                          <p:spTgt spid="344073"/>
                                        </p:tgtEl>
                                        <p:attrNameLst>
                                          <p:attrName>ppt_x</p:attrName>
                                        </p:attrNameLst>
                                      </p:cBhvr>
                                      <p:tavLst>
                                        <p:tav tm="0">
                                          <p:val>
                                            <p:strVal val="#ppt_x"/>
                                          </p:val>
                                        </p:tav>
                                        <p:tav tm="100000">
                                          <p:val>
                                            <p:strVal val="#ppt_x"/>
                                          </p:val>
                                        </p:tav>
                                      </p:tavLst>
                                    </p:anim>
                                    <p:anim calcmode="lin" valueType="num">
                                      <p:cBhvr additive="base">
                                        <p:cTn id="8" dur="500" fill="hold"/>
                                        <p:tgtEl>
                                          <p:spTgt spid="3440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4074"/>
                                        </p:tgtEl>
                                        <p:attrNameLst>
                                          <p:attrName>style.visibility</p:attrName>
                                        </p:attrNameLst>
                                      </p:cBhvr>
                                      <p:to>
                                        <p:strVal val="visible"/>
                                      </p:to>
                                    </p:set>
                                    <p:anim calcmode="lin" valueType="num">
                                      <p:cBhvr additive="base">
                                        <p:cTn id="13" dur="500" fill="hold"/>
                                        <p:tgtEl>
                                          <p:spTgt spid="344074"/>
                                        </p:tgtEl>
                                        <p:attrNameLst>
                                          <p:attrName>ppt_x</p:attrName>
                                        </p:attrNameLst>
                                      </p:cBhvr>
                                      <p:tavLst>
                                        <p:tav tm="0">
                                          <p:val>
                                            <p:strVal val="#ppt_x"/>
                                          </p:val>
                                        </p:tav>
                                        <p:tav tm="100000">
                                          <p:val>
                                            <p:strVal val="#ppt_x"/>
                                          </p:val>
                                        </p:tav>
                                      </p:tavLst>
                                    </p:anim>
                                    <p:anim calcmode="lin" valueType="num">
                                      <p:cBhvr additive="base">
                                        <p:cTn id="14" dur="500" fill="hold"/>
                                        <p:tgtEl>
                                          <p:spTgt spid="3440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4075"/>
                                        </p:tgtEl>
                                        <p:attrNameLst>
                                          <p:attrName>style.visibility</p:attrName>
                                        </p:attrNameLst>
                                      </p:cBhvr>
                                      <p:to>
                                        <p:strVal val="visible"/>
                                      </p:to>
                                    </p:set>
                                    <p:anim calcmode="lin" valueType="num">
                                      <p:cBhvr additive="base">
                                        <p:cTn id="19" dur="500" fill="hold"/>
                                        <p:tgtEl>
                                          <p:spTgt spid="344075"/>
                                        </p:tgtEl>
                                        <p:attrNameLst>
                                          <p:attrName>ppt_x</p:attrName>
                                        </p:attrNameLst>
                                      </p:cBhvr>
                                      <p:tavLst>
                                        <p:tav tm="0">
                                          <p:val>
                                            <p:strVal val="#ppt_x"/>
                                          </p:val>
                                        </p:tav>
                                        <p:tav tm="100000">
                                          <p:val>
                                            <p:strVal val="#ppt_x"/>
                                          </p:val>
                                        </p:tav>
                                      </p:tavLst>
                                    </p:anim>
                                    <p:anim calcmode="lin" valueType="num">
                                      <p:cBhvr additive="base">
                                        <p:cTn id="20" dur="500" fill="hold"/>
                                        <p:tgtEl>
                                          <p:spTgt spid="34407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44076"/>
                                        </p:tgtEl>
                                        <p:attrNameLst>
                                          <p:attrName>style.visibility</p:attrName>
                                        </p:attrNameLst>
                                      </p:cBhvr>
                                      <p:to>
                                        <p:strVal val="visible"/>
                                      </p:to>
                                    </p:set>
                                    <p:anim calcmode="lin" valueType="num">
                                      <p:cBhvr additive="base">
                                        <p:cTn id="25" dur="500" fill="hold"/>
                                        <p:tgtEl>
                                          <p:spTgt spid="344076"/>
                                        </p:tgtEl>
                                        <p:attrNameLst>
                                          <p:attrName>ppt_x</p:attrName>
                                        </p:attrNameLst>
                                      </p:cBhvr>
                                      <p:tavLst>
                                        <p:tav tm="0">
                                          <p:val>
                                            <p:strVal val="#ppt_x"/>
                                          </p:val>
                                        </p:tav>
                                        <p:tav tm="100000">
                                          <p:val>
                                            <p:strVal val="#ppt_x"/>
                                          </p:val>
                                        </p:tav>
                                      </p:tavLst>
                                    </p:anim>
                                    <p:anim calcmode="lin" valueType="num">
                                      <p:cBhvr additive="base">
                                        <p:cTn id="26" dur="500" fill="hold"/>
                                        <p:tgtEl>
                                          <p:spTgt spid="34407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44077"/>
                                        </p:tgtEl>
                                        <p:attrNameLst>
                                          <p:attrName>style.visibility</p:attrName>
                                        </p:attrNameLst>
                                      </p:cBhvr>
                                      <p:to>
                                        <p:strVal val="visible"/>
                                      </p:to>
                                    </p:set>
                                    <p:anim calcmode="lin" valueType="num">
                                      <p:cBhvr additive="base">
                                        <p:cTn id="31" dur="500" fill="hold"/>
                                        <p:tgtEl>
                                          <p:spTgt spid="344077"/>
                                        </p:tgtEl>
                                        <p:attrNameLst>
                                          <p:attrName>ppt_x</p:attrName>
                                        </p:attrNameLst>
                                      </p:cBhvr>
                                      <p:tavLst>
                                        <p:tav tm="0">
                                          <p:val>
                                            <p:strVal val="#ppt_x"/>
                                          </p:val>
                                        </p:tav>
                                        <p:tav tm="100000">
                                          <p:val>
                                            <p:strVal val="#ppt_x"/>
                                          </p:val>
                                        </p:tav>
                                      </p:tavLst>
                                    </p:anim>
                                    <p:anim calcmode="lin" valueType="num">
                                      <p:cBhvr additive="base">
                                        <p:cTn id="32" dur="500" fill="hold"/>
                                        <p:tgtEl>
                                          <p:spTgt spid="3440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3" grpId="0" animBg="1"/>
      <p:bldP spid="344074" grpId="0" animBg="1"/>
      <p:bldP spid="344075" grpId="0" animBg="1"/>
      <p:bldP spid="344076" grpId="0" animBg="1"/>
      <p:bldP spid="34407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fontAlgn="auto">
              <a:spcAft>
                <a:spcPts val="0"/>
              </a:spcAft>
              <a:defRPr/>
            </a:pPr>
            <a:r>
              <a:rPr lang="en-US"/>
              <a:t>PPP – Point to Point Protocol (3)</a:t>
            </a:r>
          </a:p>
        </p:txBody>
      </p:sp>
      <p:sp>
        <p:nvSpPr>
          <p:cNvPr id="18434" name="Rectangle 3"/>
          <p:cNvSpPr>
            <a:spLocks noGrp="1" noChangeArrowheads="1"/>
          </p:cNvSpPr>
          <p:nvPr>
            <p:ph idx="1"/>
          </p:nvPr>
        </p:nvSpPr>
        <p:spPr>
          <a:xfrm>
            <a:off x="0" y="5791200"/>
            <a:ext cx="9144000" cy="1066800"/>
          </a:xfrm>
        </p:spPr>
        <p:txBody>
          <a:bodyPr/>
          <a:lstStyle/>
          <a:p>
            <a:pPr marL="609600" indent="-609600" algn="ctr">
              <a:buFontTx/>
              <a:buNone/>
            </a:pPr>
            <a:r>
              <a:rPr lang="en-US"/>
              <a:t>A simplified phase diagram for bring a line up and down.</a:t>
            </a:r>
          </a:p>
        </p:txBody>
      </p:sp>
      <p:pic>
        <p:nvPicPr>
          <p:cNvPr id="18436" name="Picture 4" descr="3-28"/>
          <p:cNvPicPr>
            <a:picLocks noChangeAspect="1" noChangeArrowheads="1"/>
          </p:cNvPicPr>
          <p:nvPr/>
        </p:nvPicPr>
        <p:blipFill>
          <a:blip r:embed="rId3" cstate="print"/>
          <a:srcRect/>
          <a:stretch>
            <a:fillRect/>
          </a:stretch>
        </p:blipFill>
        <p:spPr bwMode="auto">
          <a:xfrm>
            <a:off x="1782763" y="1477963"/>
            <a:ext cx="5740400" cy="40163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fontAlgn="auto">
              <a:spcAft>
                <a:spcPts val="0"/>
              </a:spcAft>
              <a:defRPr/>
            </a:pPr>
            <a:r>
              <a:rPr lang="en-US"/>
              <a:t>PPP – Point to Point Protocol (4)</a:t>
            </a:r>
          </a:p>
        </p:txBody>
      </p:sp>
      <p:sp>
        <p:nvSpPr>
          <p:cNvPr id="19458" name="Rectangle 3"/>
          <p:cNvSpPr>
            <a:spLocks noGrp="1" noChangeArrowheads="1"/>
          </p:cNvSpPr>
          <p:nvPr>
            <p:ph idx="1"/>
          </p:nvPr>
        </p:nvSpPr>
        <p:spPr>
          <a:xfrm>
            <a:off x="228600" y="5943600"/>
            <a:ext cx="8686800" cy="762000"/>
          </a:xfrm>
        </p:spPr>
        <p:txBody>
          <a:bodyPr/>
          <a:lstStyle/>
          <a:p>
            <a:pPr marL="609600" indent="-609600" algn="ctr">
              <a:buFontTx/>
              <a:buNone/>
            </a:pPr>
            <a:r>
              <a:rPr lang="en-US"/>
              <a:t>The LCP frame types.</a:t>
            </a:r>
          </a:p>
        </p:txBody>
      </p:sp>
      <p:pic>
        <p:nvPicPr>
          <p:cNvPr id="19460" name="Picture 4" descr="3-29"/>
          <p:cNvPicPr>
            <a:picLocks noChangeAspect="1" noChangeArrowheads="1"/>
          </p:cNvPicPr>
          <p:nvPr/>
        </p:nvPicPr>
        <p:blipFill>
          <a:blip r:embed="rId2" cstate="print"/>
          <a:srcRect/>
          <a:stretch>
            <a:fillRect/>
          </a:stretch>
        </p:blipFill>
        <p:spPr bwMode="auto">
          <a:xfrm>
            <a:off x="1219200" y="1600200"/>
            <a:ext cx="6489700" cy="383222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DLL in ATM</a:t>
            </a:r>
          </a:p>
        </p:txBody>
      </p:sp>
      <p:sp>
        <p:nvSpPr>
          <p:cNvPr id="3" name="Content Placeholder 2"/>
          <p:cNvSpPr>
            <a:spLocks noGrp="1"/>
          </p:cNvSpPr>
          <p:nvPr>
            <p:ph idx="1"/>
          </p:nvPr>
        </p:nvSpPr>
        <p:spPr/>
        <p:txBody>
          <a:bodyPr/>
          <a:lstStyle/>
          <a:p>
            <a:pPr algn="just"/>
            <a:r>
              <a:rPr lang="en-US" dirty="0"/>
              <a:t>In the ISO-</a:t>
            </a:r>
            <a:r>
              <a:rPr lang="en-US" dirty="0" err="1"/>
              <a:t>OSI</a:t>
            </a:r>
            <a:r>
              <a:rPr lang="en-US" dirty="0"/>
              <a:t> reference model data link layer (layer 2), the basic transfer units, </a:t>
            </a:r>
            <a:r>
              <a:rPr lang="en-US" dirty="0" err="1">
                <a:hlinkClick r:id="rId2" tooltip="Datagram"/>
              </a:rPr>
              <a:t>datagrams</a:t>
            </a:r>
            <a:r>
              <a:rPr lang="en-US" dirty="0"/>
              <a:t>, are generically called </a:t>
            </a:r>
            <a:r>
              <a:rPr lang="en-US" dirty="0">
                <a:hlinkClick r:id="rId3" tooltip="Frame (networking)"/>
              </a:rPr>
              <a:t>frames</a:t>
            </a:r>
            <a:r>
              <a:rPr lang="en-US" dirty="0"/>
              <a:t>. </a:t>
            </a:r>
          </a:p>
          <a:p>
            <a:pPr algn="just"/>
            <a:r>
              <a:rPr lang="en-US" dirty="0"/>
              <a:t>In ATM these frames are of a fixed (53 </a:t>
            </a:r>
            <a:r>
              <a:rPr lang="en-US" dirty="0">
                <a:hlinkClick r:id="rId4" tooltip="Octet (computing)"/>
              </a:rPr>
              <a:t>octets</a:t>
            </a:r>
            <a:r>
              <a:rPr lang="en-US" dirty="0"/>
              <a:t> or </a:t>
            </a:r>
            <a:r>
              <a:rPr lang="en-US" dirty="0">
                <a:hlinkClick r:id="rId5" tooltip="Byte"/>
              </a:rPr>
              <a:t>bytes</a:t>
            </a:r>
            <a:r>
              <a:rPr lang="en-US" dirty="0"/>
              <a:t>) length and specifically called "cells".</a:t>
            </a:r>
          </a:p>
        </p:txBody>
      </p:sp>
      <p:sp>
        <p:nvSpPr>
          <p:cNvPr id="4" name="Rectangle 3"/>
          <p:cNvSpPr/>
          <p:nvPr/>
        </p:nvSpPr>
        <p:spPr>
          <a:xfrm>
            <a:off x="2438400" y="0"/>
            <a:ext cx="5867400" cy="369332"/>
          </a:xfrm>
          <a:prstGeom prst="rect">
            <a:avLst/>
          </a:prstGeom>
        </p:spPr>
        <p:txBody>
          <a:bodyPr wrap="square">
            <a:spAutoFit/>
          </a:bodyPr>
          <a:lstStyle/>
          <a:p>
            <a:r>
              <a:rPr lang="en-US" dirty="0" err="1"/>
              <a:t>http://en.wikipedia.org/wiki/Asynchronous_Transfer_Mode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structure of an ATM cell</a:t>
            </a:r>
            <a:endParaRPr lang="en-US" dirty="0"/>
          </a:p>
        </p:txBody>
      </p:sp>
      <p:sp>
        <p:nvSpPr>
          <p:cNvPr id="3" name="Content Placeholder 2"/>
          <p:cNvSpPr>
            <a:spLocks noGrp="1"/>
          </p:cNvSpPr>
          <p:nvPr>
            <p:ph idx="1"/>
          </p:nvPr>
        </p:nvSpPr>
        <p:spPr>
          <a:xfrm>
            <a:off x="457200" y="1600200"/>
            <a:ext cx="8458200" cy="4525963"/>
          </a:xfrm>
        </p:spPr>
        <p:txBody>
          <a:bodyPr>
            <a:normAutofit/>
          </a:bodyPr>
          <a:lstStyle/>
          <a:p>
            <a:pPr algn="just"/>
            <a:r>
              <a:rPr lang="en-US" dirty="0"/>
              <a:t>An ATM cell consists of a 5-byte header and a 48-byte payload. </a:t>
            </a:r>
          </a:p>
          <a:p>
            <a:pPr algn="just"/>
            <a:r>
              <a:rPr lang="en-US" dirty="0"/>
              <a:t>The choice of 48 bytes was political rather than technical </a:t>
            </a:r>
          </a:p>
          <a:p>
            <a:pPr algn="just"/>
            <a:r>
              <a:rPr lang="en-US" dirty="0"/>
              <a:t>ATM defines two different cell formats: </a:t>
            </a:r>
            <a:r>
              <a:rPr lang="en-US" dirty="0" err="1">
                <a:hlinkClick r:id="rId2" tooltip="User–network interface"/>
              </a:rPr>
              <a:t>UNI</a:t>
            </a:r>
            <a:r>
              <a:rPr lang="en-US" dirty="0"/>
              <a:t>  </a:t>
            </a:r>
          </a:p>
          <a:p>
            <a:pPr algn="just">
              <a:buNone/>
            </a:pPr>
            <a:r>
              <a:rPr lang="en-US" dirty="0"/>
              <a:t>	(User-Network Interface) and </a:t>
            </a:r>
            <a:r>
              <a:rPr lang="en-US" dirty="0" err="1">
                <a:hlinkClick r:id="rId3" tooltip="Network-to-network interface"/>
              </a:rPr>
              <a:t>NNI</a:t>
            </a:r>
            <a:r>
              <a:rPr lang="en-US" dirty="0"/>
              <a:t> (Network-Network Interface). </a:t>
            </a:r>
          </a:p>
          <a:p>
            <a:pPr algn="just"/>
            <a:r>
              <a:rPr lang="en-US" dirty="0"/>
              <a:t>Most ATM links use </a:t>
            </a:r>
            <a:r>
              <a:rPr lang="en-US" dirty="0" err="1"/>
              <a:t>UNI</a:t>
            </a:r>
            <a:r>
              <a:rPr lang="en-US" dirty="0"/>
              <a:t> cell format.</a:t>
            </a:r>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81000" y="152400"/>
            <a:ext cx="3962400" cy="3973986"/>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428788" y="228600"/>
            <a:ext cx="3943688" cy="3886200"/>
          </a:xfrm>
          <a:prstGeom prst="rect">
            <a:avLst/>
          </a:prstGeom>
          <a:noFill/>
          <a:ln w="9525">
            <a:noFill/>
            <a:miter lim="800000"/>
            <a:headEnd/>
            <a:tailEnd/>
          </a:ln>
        </p:spPr>
      </p:pic>
      <p:sp>
        <p:nvSpPr>
          <p:cNvPr id="1028" name="Rectangle 4"/>
          <p:cNvSpPr>
            <a:spLocks noChangeArrowheads="1"/>
          </p:cNvSpPr>
          <p:nvPr/>
        </p:nvSpPr>
        <p:spPr bwMode="auto">
          <a:xfrm>
            <a:off x="381000" y="4191000"/>
            <a:ext cx="7997301" cy="2555182"/>
          </a:xfrm>
          <a:prstGeom prst="rect">
            <a:avLst/>
          </a:prstGeom>
          <a:solidFill>
            <a:srgbClr val="FFFFFF"/>
          </a:solidFill>
          <a:ln w="9525">
            <a:noFill/>
            <a:miter lim="800000"/>
            <a:headEnd/>
            <a:tailEnd/>
          </a:ln>
          <a:effectLst/>
        </p:spPr>
        <p:txBody>
          <a:bodyPr vert="horz" wrap="none" lIns="253920" tIns="45720" rIns="0" bIns="15870" numCol="1" anchor="ctr" anchorCtr="0" compatLnSpc="1">
            <a:prstTxWarp prst="textNoShape">
              <a:avLst/>
            </a:prstTxWarp>
            <a:spAutoFit/>
          </a:bodyPr>
          <a:lstStyle/>
          <a:p>
            <a:pPr marL="457200" marR="0" lvl="1" indent="-45720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Arial" pitchFamily="34" charset="0"/>
                <a:cs typeface="Arial" pitchFamily="34" charset="0"/>
              </a:rPr>
              <a:t>GFC</a:t>
            </a:r>
            <a:r>
              <a:rPr kumimoji="0" lang="en-US" sz="2400" b="0" i="0" u="none" strike="noStrike" cap="none" normalizeH="0" baseline="0" dirty="0">
                <a:ln>
                  <a:noFill/>
                </a:ln>
                <a:solidFill>
                  <a:srgbClr val="000000"/>
                </a:solidFill>
                <a:effectLst/>
                <a:latin typeface="Arial" pitchFamily="34" charset="0"/>
                <a:cs typeface="Arial" pitchFamily="34" charset="0"/>
              </a:rPr>
              <a:t> = Generic Flow Control (4 bits) (default: 4-zero bits)</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Arial" pitchFamily="34" charset="0"/>
                <a:cs typeface="Arial" pitchFamily="34" charset="0"/>
              </a:rPr>
              <a:t>VPI</a:t>
            </a:r>
            <a:r>
              <a:rPr kumimoji="0" lang="en-US" sz="2400" b="0" i="0" u="none" strike="noStrike" cap="none" normalizeH="0" baseline="0" dirty="0">
                <a:ln>
                  <a:noFill/>
                </a:ln>
                <a:solidFill>
                  <a:srgbClr val="000000"/>
                </a:solidFill>
                <a:effectLst/>
                <a:latin typeface="Arial" pitchFamily="34" charset="0"/>
                <a:cs typeface="Arial" pitchFamily="34" charset="0"/>
              </a:rPr>
              <a:t> = </a:t>
            </a:r>
            <a:r>
              <a:rPr kumimoji="0" lang="en-US" sz="2400" b="0" i="0" u="none" strike="noStrike" cap="none" normalizeH="0" baseline="0" dirty="0">
                <a:ln>
                  <a:noFill/>
                </a:ln>
                <a:solidFill>
                  <a:srgbClr val="0B0080"/>
                </a:solidFill>
                <a:effectLst/>
                <a:latin typeface="Arial" pitchFamily="34" charset="0"/>
                <a:cs typeface="Arial" pitchFamily="34" charset="0"/>
                <a:hlinkClick r:id="rId4" tooltip="Virtual Path Identifier"/>
              </a:rPr>
              <a:t>Virtual Path Identifier</a:t>
            </a:r>
            <a:r>
              <a:rPr kumimoji="0" lang="en-US" sz="2400" b="0" i="0" u="none" strike="noStrike" cap="none" normalizeH="0" baseline="0" dirty="0">
                <a:ln>
                  <a:noFill/>
                </a:ln>
                <a:solidFill>
                  <a:srgbClr val="000000"/>
                </a:solidFill>
                <a:effectLst/>
                <a:latin typeface="Arial" pitchFamily="34" charset="0"/>
                <a:cs typeface="Arial" pitchFamily="34" charset="0"/>
              </a:rPr>
              <a:t> (8 bits </a:t>
            </a:r>
            <a:r>
              <a:rPr kumimoji="0" lang="en-US" sz="2400" b="0" i="0" u="none" strike="noStrike" cap="none" normalizeH="0" baseline="0" dirty="0" err="1">
                <a:ln>
                  <a:noFill/>
                </a:ln>
                <a:solidFill>
                  <a:srgbClr val="000000"/>
                </a:solidFill>
                <a:effectLst/>
                <a:latin typeface="Arial" pitchFamily="34" charset="0"/>
                <a:cs typeface="Arial" pitchFamily="34" charset="0"/>
              </a:rPr>
              <a:t>UNI</a:t>
            </a:r>
            <a:r>
              <a:rPr kumimoji="0" lang="en-US" sz="2400" b="0" i="0" u="none" strike="noStrike" cap="none" normalizeH="0" baseline="0" dirty="0">
                <a:ln>
                  <a:noFill/>
                </a:ln>
                <a:solidFill>
                  <a:srgbClr val="000000"/>
                </a:solidFill>
                <a:effectLst/>
                <a:latin typeface="Arial" pitchFamily="34" charset="0"/>
                <a:cs typeface="Arial" pitchFamily="34" charset="0"/>
              </a:rPr>
              <a:t>) or (12 bits </a:t>
            </a:r>
            <a:r>
              <a:rPr kumimoji="0" lang="en-US" sz="2400" b="0" i="0" u="none" strike="noStrike" cap="none" normalizeH="0" baseline="0" dirty="0" err="1">
                <a:ln>
                  <a:noFill/>
                </a:ln>
                <a:solidFill>
                  <a:srgbClr val="000000"/>
                </a:solidFill>
                <a:effectLst/>
                <a:latin typeface="Arial" pitchFamily="34" charset="0"/>
                <a:cs typeface="Arial" pitchFamily="34" charset="0"/>
              </a:rPr>
              <a:t>NNI</a:t>
            </a:r>
            <a:r>
              <a:rPr kumimoji="0" lang="en-US" sz="2400" b="0" i="0" u="none" strike="noStrike" cap="none" normalizeH="0" baseline="0" dirty="0">
                <a:ln>
                  <a:noFill/>
                </a:ln>
                <a:solidFill>
                  <a:srgbClr val="000000"/>
                </a:solidFill>
                <a:effectLst/>
                <a:latin typeface="Arial" pitchFamily="34" charset="0"/>
                <a:cs typeface="Arial" pitchFamily="34" charset="0"/>
              </a:rPr>
              <a:t>)</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Arial" pitchFamily="34" charset="0"/>
                <a:cs typeface="Arial" pitchFamily="34" charset="0"/>
              </a:rPr>
              <a:t>VCI</a:t>
            </a:r>
            <a:r>
              <a:rPr kumimoji="0" lang="en-US" sz="2400" b="0" i="0" u="none" strike="noStrike" cap="none" normalizeH="0" baseline="0" dirty="0">
                <a:ln>
                  <a:noFill/>
                </a:ln>
                <a:solidFill>
                  <a:srgbClr val="000000"/>
                </a:solidFill>
                <a:effectLst/>
                <a:latin typeface="Arial" pitchFamily="34" charset="0"/>
                <a:cs typeface="Arial" pitchFamily="34" charset="0"/>
              </a:rPr>
              <a:t> = </a:t>
            </a:r>
            <a:r>
              <a:rPr kumimoji="0" lang="en-US" sz="2400" b="0" i="0" u="none" strike="noStrike" cap="none" normalizeH="0" baseline="0" dirty="0">
                <a:ln>
                  <a:noFill/>
                </a:ln>
                <a:solidFill>
                  <a:srgbClr val="0B0080"/>
                </a:solidFill>
                <a:effectLst/>
                <a:latin typeface="Arial" pitchFamily="34" charset="0"/>
                <a:cs typeface="Arial" pitchFamily="34" charset="0"/>
                <a:hlinkClick r:id="rId5" tooltip="Virtual Channel identifier"/>
              </a:rPr>
              <a:t>Virtual Channel identifier</a:t>
            </a:r>
            <a:r>
              <a:rPr kumimoji="0" lang="en-US" sz="2400" b="0" i="0" u="none" strike="noStrike" cap="none" normalizeH="0" baseline="0" dirty="0">
                <a:ln>
                  <a:noFill/>
                </a:ln>
                <a:solidFill>
                  <a:srgbClr val="000000"/>
                </a:solidFill>
                <a:effectLst/>
                <a:latin typeface="Arial" pitchFamily="34" charset="0"/>
                <a:cs typeface="Arial" pitchFamily="34" charset="0"/>
              </a:rPr>
              <a:t> (16 bits)</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Arial" pitchFamily="34" charset="0"/>
                <a:cs typeface="Arial" pitchFamily="34" charset="0"/>
              </a:rPr>
              <a:t>PT = Payload Type (3 bits)</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Arial" pitchFamily="34" charset="0"/>
                <a:cs typeface="Arial" pitchFamily="34" charset="0"/>
              </a:rPr>
              <a:t>CLP</a:t>
            </a:r>
            <a:r>
              <a:rPr kumimoji="0" lang="en-US" sz="2400" b="0" i="0" u="none" strike="noStrike" cap="none" normalizeH="0" baseline="0" dirty="0">
                <a:ln>
                  <a:noFill/>
                </a:ln>
                <a:solidFill>
                  <a:srgbClr val="000000"/>
                </a:solidFill>
                <a:effectLst/>
                <a:latin typeface="Arial" pitchFamily="34" charset="0"/>
                <a:cs typeface="Arial" pitchFamily="34" charset="0"/>
              </a:rPr>
              <a:t> = Cell Loss Priority (1-bit)</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rgbClr val="000000"/>
                </a:solidFill>
                <a:effectLst/>
                <a:latin typeface="Arial" pitchFamily="34" charset="0"/>
                <a:cs typeface="Arial" pitchFamily="34" charset="0"/>
              </a:rPr>
              <a:t>HEC</a:t>
            </a:r>
            <a:r>
              <a:rPr kumimoji="0" lang="en-US" sz="2400" b="0" i="0" u="none" strike="noStrike" cap="none" normalizeH="0" baseline="0" dirty="0">
                <a:ln>
                  <a:noFill/>
                </a:ln>
                <a:solidFill>
                  <a:srgbClr val="000000"/>
                </a:solidFill>
                <a:effectLst/>
                <a:latin typeface="Arial" pitchFamily="34" charset="0"/>
                <a:cs typeface="Arial" pitchFamily="34" charset="0"/>
              </a:rPr>
              <a:t> = </a:t>
            </a:r>
            <a:r>
              <a:rPr kumimoji="0" lang="en-US" sz="2400" b="0" i="0" u="none" strike="noStrike" cap="none" normalizeH="0" baseline="0" dirty="0">
                <a:ln>
                  <a:noFill/>
                </a:ln>
                <a:solidFill>
                  <a:srgbClr val="0B0080"/>
                </a:solidFill>
                <a:effectLst/>
                <a:latin typeface="Arial" pitchFamily="34" charset="0"/>
                <a:cs typeface="Arial" pitchFamily="34" charset="0"/>
                <a:hlinkClick r:id="rId6" tooltip="CRC-based framing"/>
              </a:rPr>
              <a:t>Header Error Control</a:t>
            </a:r>
            <a:r>
              <a:rPr kumimoji="0" lang="en-US" sz="2400" b="0" i="0" u="none" strike="noStrike" cap="none" normalizeH="0" baseline="0" dirty="0">
                <a:ln>
                  <a:noFill/>
                </a:ln>
                <a:solidFill>
                  <a:srgbClr val="000000"/>
                </a:solidFill>
                <a:effectLst/>
                <a:latin typeface="Arial" pitchFamily="34" charset="0"/>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lgn="just"/>
            <a:r>
              <a:rPr lang="en-US" b="1" u="sng" dirty="0" err="1"/>
              <a:t>GFC</a:t>
            </a:r>
            <a:r>
              <a:rPr lang="en-US" b="1" u="sng" dirty="0"/>
              <a:t> : </a:t>
            </a:r>
            <a:r>
              <a:rPr lang="en-US" dirty="0"/>
              <a:t>A </a:t>
            </a:r>
            <a:r>
              <a:rPr lang="en-US" dirty="0" err="1"/>
              <a:t>UNI</a:t>
            </a:r>
            <a:r>
              <a:rPr lang="en-US" dirty="0"/>
              <a:t> cell reserves the </a:t>
            </a:r>
            <a:r>
              <a:rPr lang="en-US" dirty="0" err="1"/>
              <a:t>GFC</a:t>
            </a:r>
            <a:r>
              <a:rPr lang="en-US" dirty="0"/>
              <a:t> field for a local </a:t>
            </a:r>
            <a:r>
              <a:rPr lang="en-US" dirty="0">
                <a:hlinkClick r:id="rId2" tooltip="Flow control (data)"/>
              </a:rPr>
              <a:t>flow control</a:t>
            </a:r>
            <a:r>
              <a:rPr lang="en-US" dirty="0"/>
              <a:t>/</a:t>
            </a:r>
            <a:r>
              <a:rPr lang="en-US" dirty="0" err="1"/>
              <a:t>submultiplexing</a:t>
            </a:r>
            <a:r>
              <a:rPr lang="en-US" dirty="0"/>
              <a:t> system between users.</a:t>
            </a:r>
          </a:p>
          <a:p>
            <a:pPr algn="just"/>
            <a:r>
              <a:rPr lang="en-US" b="1" u="sng" dirty="0" err="1"/>
              <a:t>VCI</a:t>
            </a:r>
            <a:r>
              <a:rPr lang="en-US" b="1" u="sng" dirty="0"/>
              <a:t>  &amp; </a:t>
            </a:r>
            <a:r>
              <a:rPr lang="en-US" b="1" u="sng" dirty="0" err="1"/>
              <a:t>VPI</a:t>
            </a:r>
            <a:r>
              <a:rPr lang="en-US" b="1" u="sng" dirty="0"/>
              <a:t>: </a:t>
            </a:r>
            <a:r>
              <a:rPr lang="en-US" dirty="0"/>
              <a:t>The </a:t>
            </a:r>
            <a:r>
              <a:rPr lang="en-US" dirty="0" err="1"/>
              <a:t>VCI</a:t>
            </a:r>
            <a:r>
              <a:rPr lang="en-US" dirty="0"/>
              <a:t>, together with the </a:t>
            </a:r>
            <a:r>
              <a:rPr lang="en-US" dirty="0" err="1"/>
              <a:t>VPI</a:t>
            </a:r>
            <a:r>
              <a:rPr lang="en-US" dirty="0"/>
              <a:t>, is used to identify the next destination of a cell as it passes through a series of ATM switches on its way to its destination. </a:t>
            </a:r>
          </a:p>
          <a:p>
            <a:pPr algn="just"/>
            <a:r>
              <a:rPr lang="en-US" b="1" u="sng" dirty="0"/>
              <a:t>PT: </a:t>
            </a:r>
            <a:r>
              <a:rPr lang="en-US" dirty="0"/>
              <a:t>ATM uses the PT field to designate various special kinds of cells for </a:t>
            </a:r>
            <a:r>
              <a:rPr lang="en-US" dirty="0">
                <a:hlinkClick r:id="rId3" tooltip="Operations, administration and management"/>
              </a:rPr>
              <a:t>operations, administration and management</a:t>
            </a:r>
            <a:r>
              <a:rPr lang="en-US" dirty="0"/>
              <a:t> (</a:t>
            </a:r>
            <a:r>
              <a:rPr lang="en-US" dirty="0" err="1"/>
              <a:t>OAM</a:t>
            </a:r>
            <a:r>
              <a:rPr lang="en-US" dirty="0"/>
              <a:t>) purposes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b="1" u="sng" dirty="0" err="1"/>
              <a:t>CLP</a:t>
            </a:r>
            <a:r>
              <a:rPr lang="en-US" b="1" u="sng" dirty="0"/>
              <a:t> : </a:t>
            </a:r>
            <a:r>
              <a:rPr lang="en-US" dirty="0"/>
              <a:t>the network can either drop the cells or mark the </a:t>
            </a:r>
            <a:r>
              <a:rPr lang="en-US" dirty="0">
                <a:hlinkClick r:id="rId2" tooltip="Cell Loss Priority"/>
              </a:rPr>
              <a:t>Cell Loss Priority</a:t>
            </a:r>
            <a:r>
              <a:rPr lang="en-US" dirty="0"/>
              <a:t> (</a:t>
            </a:r>
            <a:r>
              <a:rPr lang="en-US" dirty="0" err="1"/>
              <a:t>CLP</a:t>
            </a:r>
            <a:r>
              <a:rPr lang="en-US" dirty="0"/>
              <a:t>) bit (to identify a cell as potentially redundant) upon some checksum.</a:t>
            </a:r>
          </a:p>
          <a:p>
            <a:r>
              <a:rPr lang="en-US" b="1" u="sng" dirty="0" err="1"/>
              <a:t>HEC</a:t>
            </a:r>
            <a:r>
              <a:rPr lang="en-US" b="1" u="sng" dirty="0"/>
              <a:t> : </a:t>
            </a:r>
            <a:r>
              <a:rPr lang="en-US" dirty="0"/>
              <a:t>ATM link protocols use the </a:t>
            </a:r>
            <a:r>
              <a:rPr lang="en-US" dirty="0" err="1"/>
              <a:t>HEC</a:t>
            </a:r>
            <a:r>
              <a:rPr lang="en-US" dirty="0"/>
              <a:t> field to drive a </a:t>
            </a:r>
            <a:r>
              <a:rPr lang="en-US" dirty="0" err="1">
                <a:hlinkClick r:id="rId3" tooltip="CRC-based framing"/>
              </a:rPr>
              <a:t>CRC</a:t>
            </a:r>
            <a:r>
              <a:rPr lang="en-US" dirty="0">
                <a:hlinkClick r:id="rId3" tooltip="CRC-based framing"/>
              </a:rPr>
              <a:t>-based framing</a:t>
            </a:r>
            <a:r>
              <a:rPr lang="en-US" dirty="0"/>
              <a:t> algorithm, which allows locating the ATM cells with no overhead</a:t>
            </a:r>
          </a:p>
          <a:p>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838200"/>
            <a:ext cx="7772400" cy="2246769"/>
          </a:xfrm>
          <a:prstGeom prst="rect">
            <a:avLst/>
          </a:prstGeom>
        </p:spPr>
        <p:txBody>
          <a:bodyPr wrap="square">
            <a:spAutoFit/>
          </a:bodyPr>
          <a:lstStyle/>
          <a:p>
            <a:r>
              <a:rPr lang="en-US" sz="2800" b="1" dirty="0"/>
              <a:t>Why Standardization</a:t>
            </a:r>
            <a:r>
              <a:rPr lang="en-US" sz="2800" dirty="0"/>
              <a:t>? </a:t>
            </a:r>
          </a:p>
          <a:p>
            <a:pPr algn="just"/>
            <a:r>
              <a:rPr lang="en-US" sz="2800" dirty="0"/>
              <a:t>every carrier devised its own system. This lack of standards meant that hardware and  software could not be mass produced, which kept prices high and  acceptance low.</a:t>
            </a:r>
          </a:p>
        </p:txBody>
      </p:sp>
      <p:sp>
        <p:nvSpPr>
          <p:cNvPr id="5" name="Rectangle 4"/>
          <p:cNvSpPr/>
          <p:nvPr/>
        </p:nvSpPr>
        <p:spPr>
          <a:xfrm>
            <a:off x="228600" y="3200400"/>
            <a:ext cx="8686800" cy="3539430"/>
          </a:xfrm>
          <a:prstGeom prst="rect">
            <a:avLst/>
          </a:prstGeom>
        </p:spPr>
        <p:txBody>
          <a:bodyPr wrap="square">
            <a:spAutoFit/>
          </a:bodyPr>
          <a:lstStyle/>
          <a:p>
            <a:r>
              <a:rPr lang="en-US" sz="2800" b="1" dirty="0"/>
              <a:t>For an example:</a:t>
            </a:r>
          </a:p>
          <a:p>
            <a:pPr algn="just"/>
            <a:r>
              <a:rPr lang="en-US" sz="2800" dirty="0"/>
              <a:t>Many people in the industry realized that having a broadband wireless standard was the key  element missing, so IEEE was asked to forma committee composed of people from key  companies and academia to draw up the standard. The next number available in the 802 numbering space was 802.16, so the standard got this number. Work was started in July 1999</a:t>
            </a:r>
          </a:p>
        </p:txBody>
      </p:sp>
      <p:sp>
        <p:nvSpPr>
          <p:cNvPr id="6" name="TextBox 5"/>
          <p:cNvSpPr txBox="1"/>
          <p:nvPr/>
        </p:nvSpPr>
        <p:spPr>
          <a:xfrm>
            <a:off x="1295401" y="304800"/>
            <a:ext cx="5867400" cy="523220"/>
          </a:xfrm>
          <a:prstGeom prst="rect">
            <a:avLst/>
          </a:prstGeom>
          <a:noFill/>
        </p:spPr>
        <p:txBody>
          <a:bodyPr wrap="square" rtlCol="0">
            <a:spAutoFit/>
          </a:bodyPr>
          <a:lstStyle/>
          <a:p>
            <a:r>
              <a:rPr lang="en-US" sz="2800" b="1" dirty="0" err="1"/>
              <a:t>Lan</a:t>
            </a:r>
            <a:r>
              <a:rPr lang="en-US" sz="2800" b="1" dirty="0"/>
              <a:t> </a:t>
            </a:r>
            <a:r>
              <a:rPr lang="en-US" sz="2800" b="1" dirty="0" err="1"/>
              <a:t>Procol</a:t>
            </a:r>
            <a:r>
              <a:rPr lang="en-US" sz="2800" b="1" dirty="0"/>
              <a:t>: Standards IEEE 802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5715000"/>
            <a:ext cx="9144000" cy="1143000"/>
          </a:xfrm>
        </p:spPr>
        <p:txBody>
          <a:bodyPr>
            <a:noAutofit/>
          </a:bodyPr>
          <a:lstStyle/>
          <a:p>
            <a:r>
              <a:rPr lang="en-US" sz="2000" b="1" dirty="0"/>
              <a:t>The 802 working groups. The important ones are marked with*. The ones marked with ↓ are hibernating. The one marked with </a:t>
            </a:r>
            <a:r>
              <a:rPr lang="en-US" sz="2000" b="1" dirty="0">
                <a:latin typeface="Times New Roman"/>
                <a:cs typeface="Times New Roman"/>
              </a:rPr>
              <a:t>†</a:t>
            </a:r>
            <a:r>
              <a:rPr lang="en-US" sz="2000" b="1" dirty="0"/>
              <a:t> </a:t>
            </a:r>
            <a:r>
              <a:rPr lang="en-US" sz="2000" b="1" dirty="0" err="1"/>
              <a:t>gaveup</a:t>
            </a:r>
            <a:r>
              <a:rPr lang="en-US" sz="2000" b="1" dirty="0"/>
              <a:t> and disbanded itself.</a:t>
            </a:r>
          </a:p>
        </p:txBody>
      </p:sp>
      <p:pic>
        <p:nvPicPr>
          <p:cNvPr id="239618" name="Picture 2"/>
          <p:cNvPicPr>
            <a:picLocks noChangeAspect="1" noChangeArrowheads="1"/>
          </p:cNvPicPr>
          <p:nvPr/>
        </p:nvPicPr>
        <p:blipFill>
          <a:blip r:embed="rId2" cstate="print"/>
          <a:srcRect/>
          <a:stretch>
            <a:fillRect/>
          </a:stretch>
        </p:blipFill>
        <p:spPr bwMode="auto">
          <a:xfrm>
            <a:off x="914400" y="0"/>
            <a:ext cx="7248799" cy="6005513"/>
          </a:xfrm>
          <a:prstGeom prst="rect">
            <a:avLst/>
          </a:prstGeom>
          <a:noFill/>
          <a:ln w="12700" cap="flat" cmpd="sng">
            <a:noFill/>
            <a:prstDash val="solid"/>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noFill/>
          <a:ln/>
        </p:spPr>
        <p:txBody>
          <a:bodyPr lIns="90488" tIns="44450" rIns="90488" bIns="44450" anchor="ctr">
            <a:normAutofit/>
          </a:bodyPr>
          <a:lstStyle/>
          <a:p>
            <a:r>
              <a:rPr lang="en-US"/>
              <a:t>IEEE 802 Subgroups and their  Responsibilities</a:t>
            </a:r>
          </a:p>
        </p:txBody>
      </p:sp>
      <p:sp>
        <p:nvSpPr>
          <p:cNvPr id="122883" name="Rectangle 3"/>
          <p:cNvSpPr>
            <a:spLocks noGrp="1" noChangeArrowheads="1"/>
          </p:cNvSpPr>
          <p:nvPr>
            <p:ph idx="1"/>
          </p:nvPr>
        </p:nvSpPr>
        <p:spPr>
          <a:noFill/>
          <a:ln/>
        </p:spPr>
        <p:txBody>
          <a:bodyPr lIns="90488" tIns="44450" rIns="90488" bIns="44450"/>
          <a:lstStyle/>
          <a:p>
            <a:r>
              <a:rPr lang="en-US" dirty="0"/>
              <a:t>802.1</a:t>
            </a:r>
          </a:p>
          <a:p>
            <a:pPr lvl="1"/>
            <a:r>
              <a:rPr lang="en-US" dirty="0"/>
              <a:t>Internetworking</a:t>
            </a:r>
          </a:p>
          <a:p>
            <a:r>
              <a:rPr lang="en-US" dirty="0"/>
              <a:t>802.2</a:t>
            </a:r>
          </a:p>
          <a:p>
            <a:pPr lvl="1"/>
            <a:r>
              <a:rPr lang="en-US" dirty="0"/>
              <a:t>Logical Link Control (LLC)</a:t>
            </a:r>
          </a:p>
          <a:p>
            <a:r>
              <a:rPr lang="en-US" b="1" dirty="0"/>
              <a:t>802.3</a:t>
            </a:r>
          </a:p>
          <a:p>
            <a:pPr lvl="1"/>
            <a:r>
              <a:rPr lang="en-US" dirty="0"/>
              <a:t>Ethernet</a:t>
            </a:r>
          </a:p>
          <a:p>
            <a:r>
              <a:rPr lang="en-US" dirty="0"/>
              <a:t>802.4</a:t>
            </a:r>
          </a:p>
          <a:p>
            <a:pPr lvl="1"/>
            <a:r>
              <a:rPr lang="en-US" dirty="0"/>
              <a:t>Token Bus LAN</a:t>
            </a:r>
          </a:p>
        </p:txBody>
      </p:sp>
      <p:sp>
        <p:nvSpPr>
          <p:cNvPr id="122884" name="Rectangle 4"/>
          <p:cNvSpPr>
            <a:spLocks noChangeArrowheads="1"/>
          </p:cNvSpPr>
          <p:nvPr/>
        </p:nvSpPr>
        <p:spPr bwMode="auto">
          <a:xfrm>
            <a:off x="7239000" y="6324600"/>
            <a:ext cx="1624013" cy="454025"/>
          </a:xfrm>
          <a:prstGeom prst="rect">
            <a:avLst/>
          </a:prstGeom>
          <a:noFill/>
          <a:ln w="12700">
            <a:noFill/>
            <a:miter lim="800000"/>
            <a:headEnd/>
            <a:tailEnd/>
          </a:ln>
          <a:effectLst/>
        </p:spPr>
        <p:txBody>
          <a:bodyPr wrap="none" lIns="90488" tIns="44450" rIns="90488" bIns="44450">
            <a:spAutoFit/>
          </a:bodyPr>
          <a:lstStyle/>
          <a:p>
            <a:pPr algn="l"/>
            <a:r>
              <a:rPr lang="en-US"/>
              <a:t>Continued</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noFill/>
          <a:ln/>
        </p:spPr>
        <p:txBody>
          <a:bodyPr lIns="90488" tIns="44450" rIns="90488" bIns="44450" anchor="ctr">
            <a:normAutofit/>
          </a:bodyPr>
          <a:lstStyle/>
          <a:p>
            <a:r>
              <a:rPr lang="en-US"/>
              <a:t>IEEE 802  Subgroups and their Responsibilities (Cont.)</a:t>
            </a:r>
          </a:p>
        </p:txBody>
      </p:sp>
      <p:sp>
        <p:nvSpPr>
          <p:cNvPr id="123907" name="Rectangle 3"/>
          <p:cNvSpPr>
            <a:spLocks noGrp="1" noChangeArrowheads="1"/>
          </p:cNvSpPr>
          <p:nvPr>
            <p:ph idx="1"/>
          </p:nvPr>
        </p:nvSpPr>
        <p:spPr>
          <a:noFill/>
          <a:ln/>
        </p:spPr>
        <p:txBody>
          <a:bodyPr lIns="90488" tIns="44450" rIns="90488" bIns="44450"/>
          <a:lstStyle/>
          <a:p>
            <a:r>
              <a:rPr lang="en-US"/>
              <a:t>802.5</a:t>
            </a:r>
          </a:p>
          <a:p>
            <a:pPr lvl="1"/>
            <a:r>
              <a:rPr lang="en-US"/>
              <a:t>Token Ring LAN</a:t>
            </a:r>
          </a:p>
          <a:p>
            <a:r>
              <a:rPr lang="en-US"/>
              <a:t>802.6</a:t>
            </a:r>
          </a:p>
          <a:p>
            <a:pPr lvl="1"/>
            <a:r>
              <a:rPr lang="en-US"/>
              <a:t>Metropolitan Area Network</a:t>
            </a:r>
          </a:p>
          <a:p>
            <a:r>
              <a:rPr lang="en-US"/>
              <a:t>802.7</a:t>
            </a:r>
          </a:p>
          <a:p>
            <a:pPr lvl="1"/>
            <a:r>
              <a:rPr lang="en-US"/>
              <a:t>Broadband Technical Advisory Group</a:t>
            </a:r>
          </a:p>
          <a:p>
            <a:r>
              <a:rPr lang="en-US"/>
              <a:t>802.8</a:t>
            </a:r>
          </a:p>
          <a:p>
            <a:pPr lvl="1"/>
            <a:r>
              <a:rPr lang="en-US"/>
              <a:t>Fiber-Optic Technical Advisory Group</a:t>
            </a:r>
          </a:p>
        </p:txBody>
      </p:sp>
      <p:sp>
        <p:nvSpPr>
          <p:cNvPr id="123908" name="Rectangle 4"/>
          <p:cNvSpPr>
            <a:spLocks noChangeArrowheads="1"/>
          </p:cNvSpPr>
          <p:nvPr/>
        </p:nvSpPr>
        <p:spPr bwMode="auto">
          <a:xfrm>
            <a:off x="7239000" y="6400800"/>
            <a:ext cx="1624013" cy="454025"/>
          </a:xfrm>
          <a:prstGeom prst="rect">
            <a:avLst/>
          </a:prstGeom>
          <a:noFill/>
          <a:ln w="12700">
            <a:noFill/>
            <a:miter lim="800000"/>
            <a:headEnd/>
            <a:tailEnd/>
          </a:ln>
          <a:effectLst/>
        </p:spPr>
        <p:txBody>
          <a:bodyPr wrap="none" lIns="90488" tIns="44450" rIns="90488" bIns="44450">
            <a:spAutoFit/>
          </a:bodyPr>
          <a:lstStyle/>
          <a:p>
            <a:pPr algn="l"/>
            <a:r>
              <a:rPr lang="en-US"/>
              <a:t>Continued</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noFill/>
          <a:ln/>
        </p:spPr>
        <p:txBody>
          <a:bodyPr lIns="90488" tIns="44450" rIns="90488" bIns="44450" anchor="ctr">
            <a:normAutofit/>
          </a:bodyPr>
          <a:lstStyle/>
          <a:p>
            <a:r>
              <a:rPr lang="en-US"/>
              <a:t>IEEE 802  Subgroups and their Responsibilities (Cont.)</a:t>
            </a:r>
          </a:p>
        </p:txBody>
      </p:sp>
      <p:sp>
        <p:nvSpPr>
          <p:cNvPr id="124931" name="Rectangle 3"/>
          <p:cNvSpPr>
            <a:spLocks noGrp="1" noChangeArrowheads="1"/>
          </p:cNvSpPr>
          <p:nvPr>
            <p:ph idx="1"/>
          </p:nvPr>
        </p:nvSpPr>
        <p:spPr>
          <a:noFill/>
          <a:ln/>
        </p:spPr>
        <p:txBody>
          <a:bodyPr lIns="90488" tIns="44450" rIns="90488" bIns="44450">
            <a:normAutofit/>
          </a:bodyPr>
          <a:lstStyle/>
          <a:p>
            <a:r>
              <a:rPr lang="en-US" dirty="0"/>
              <a:t>802.9</a:t>
            </a:r>
          </a:p>
          <a:p>
            <a:pPr lvl="1"/>
            <a:r>
              <a:rPr lang="en-US" dirty="0"/>
              <a:t>Integrated Voice/Data Networks</a:t>
            </a:r>
          </a:p>
          <a:p>
            <a:r>
              <a:rPr lang="en-US" dirty="0"/>
              <a:t>802.10</a:t>
            </a:r>
          </a:p>
          <a:p>
            <a:pPr lvl="1"/>
            <a:r>
              <a:rPr lang="en-US" dirty="0"/>
              <a:t>Network Security</a:t>
            </a:r>
          </a:p>
          <a:p>
            <a:r>
              <a:rPr lang="en-US" b="1" dirty="0"/>
              <a:t>802.11</a:t>
            </a:r>
          </a:p>
          <a:p>
            <a:pPr lvl="1"/>
            <a:r>
              <a:rPr lang="en-US" dirty="0"/>
              <a:t>Wireless Networks</a:t>
            </a:r>
          </a:p>
          <a:p>
            <a:r>
              <a:rPr lang="en-US" dirty="0"/>
              <a:t>802.12</a:t>
            </a:r>
          </a:p>
          <a:p>
            <a:pPr lvl="1"/>
            <a:r>
              <a:rPr lang="en-US" dirty="0"/>
              <a:t>Demand Priority Access LANs</a:t>
            </a:r>
          </a:p>
          <a:p>
            <a:pPr lvl="1"/>
            <a:r>
              <a:rPr lang="en-US" dirty="0"/>
              <a:t>Ex: </a:t>
            </a:r>
            <a:r>
              <a:rPr lang="en-US" dirty="0" err="1"/>
              <a:t>100BaseVG-AnyLAN</a:t>
            </a:r>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r>
              <a:rPr lang="en-US"/>
              <a:t>Wireless LAN Protocols</a:t>
            </a:r>
          </a:p>
        </p:txBody>
      </p:sp>
      <p:sp>
        <p:nvSpPr>
          <p:cNvPr id="188419" name="Rectangle 3"/>
          <p:cNvSpPr>
            <a:spLocks noGrp="1" noChangeArrowheads="1"/>
          </p:cNvSpPr>
          <p:nvPr>
            <p:ph idx="1"/>
          </p:nvPr>
        </p:nvSpPr>
        <p:spPr/>
        <p:txBody>
          <a:bodyPr>
            <a:normAutofit fontScale="92500" lnSpcReduction="20000"/>
          </a:bodyPr>
          <a:lstStyle/>
          <a:p>
            <a:pPr>
              <a:lnSpc>
                <a:spcPct val="80000"/>
              </a:lnSpc>
            </a:pPr>
            <a:r>
              <a:rPr lang="en-US" sz="2800" b="1" dirty="0"/>
              <a:t>802.11</a:t>
            </a:r>
            <a:r>
              <a:rPr lang="en-US" sz="2800" dirty="0"/>
              <a:t> </a:t>
            </a:r>
          </a:p>
          <a:p>
            <a:pPr lvl="1">
              <a:lnSpc>
                <a:spcPct val="80000"/>
              </a:lnSpc>
            </a:pPr>
            <a:r>
              <a:rPr lang="en-US" sz="2400" dirty="0"/>
              <a:t>1-2 Mbps, 2.4 GHz, </a:t>
            </a:r>
            <a:r>
              <a:rPr lang="en-US" sz="2400" dirty="0" err="1"/>
              <a:t>FHSS</a:t>
            </a:r>
            <a:r>
              <a:rPr lang="en-US" sz="2400" dirty="0"/>
              <a:t> and </a:t>
            </a:r>
            <a:r>
              <a:rPr lang="en-US" sz="2400" dirty="0" err="1"/>
              <a:t>DSSS</a:t>
            </a:r>
            <a:endParaRPr lang="en-US" sz="2400" dirty="0"/>
          </a:p>
          <a:p>
            <a:pPr>
              <a:lnSpc>
                <a:spcPct val="80000"/>
              </a:lnSpc>
            </a:pPr>
            <a:r>
              <a:rPr lang="en-US" sz="2800" dirty="0"/>
              <a:t>IEEE </a:t>
            </a:r>
            <a:r>
              <a:rPr lang="en-US" sz="2800" dirty="0" err="1"/>
              <a:t>802.11a</a:t>
            </a:r>
            <a:endParaRPr lang="en-US" sz="2800" dirty="0"/>
          </a:p>
          <a:p>
            <a:pPr lvl="1">
              <a:lnSpc>
                <a:spcPct val="80000"/>
              </a:lnSpc>
            </a:pPr>
            <a:r>
              <a:rPr lang="en-US" sz="2400" dirty="0"/>
              <a:t>54 Mbps, 5 GHz, Orthogonal Frequency Division Multiplexing</a:t>
            </a:r>
          </a:p>
          <a:p>
            <a:pPr>
              <a:lnSpc>
                <a:spcPct val="80000"/>
              </a:lnSpc>
            </a:pPr>
            <a:r>
              <a:rPr lang="en-US" sz="2800" dirty="0"/>
              <a:t>IEEE </a:t>
            </a:r>
            <a:r>
              <a:rPr lang="en-US" sz="2800" dirty="0" err="1"/>
              <a:t>802.11b</a:t>
            </a:r>
            <a:endParaRPr lang="en-US" sz="2800" dirty="0"/>
          </a:p>
          <a:p>
            <a:pPr lvl="1">
              <a:lnSpc>
                <a:spcPct val="80000"/>
              </a:lnSpc>
            </a:pPr>
            <a:r>
              <a:rPr lang="en-US" sz="2400" dirty="0"/>
              <a:t>11 Mbps, 2.4 GHz, </a:t>
            </a:r>
            <a:r>
              <a:rPr lang="en-US" sz="2400" dirty="0" err="1"/>
              <a:t>DSSS</a:t>
            </a:r>
            <a:endParaRPr lang="en-US" sz="2400" dirty="0"/>
          </a:p>
          <a:p>
            <a:pPr>
              <a:lnSpc>
                <a:spcPct val="80000"/>
              </a:lnSpc>
            </a:pPr>
            <a:r>
              <a:rPr lang="en-US" sz="2800" dirty="0"/>
              <a:t>IEEE </a:t>
            </a:r>
            <a:r>
              <a:rPr lang="en-US" sz="2800" dirty="0" err="1"/>
              <a:t>802.11g</a:t>
            </a:r>
            <a:endParaRPr lang="en-US" sz="2800" dirty="0"/>
          </a:p>
          <a:p>
            <a:pPr lvl="1">
              <a:lnSpc>
                <a:spcPct val="80000"/>
              </a:lnSpc>
            </a:pPr>
            <a:r>
              <a:rPr lang="en-US" sz="2400" dirty="0"/>
              <a:t>20+ Mbps, 2.4 GHZ </a:t>
            </a:r>
          </a:p>
          <a:p>
            <a:pPr lvl="1">
              <a:lnSpc>
                <a:spcPct val="80000"/>
              </a:lnSpc>
            </a:pPr>
            <a:r>
              <a:rPr lang="en-US" sz="2400" dirty="0"/>
              <a:t>108 Mbps, 2.4 GHz (Extreme G)</a:t>
            </a:r>
          </a:p>
          <a:p>
            <a:pPr>
              <a:lnSpc>
                <a:spcPct val="80000"/>
              </a:lnSpc>
            </a:pPr>
            <a:r>
              <a:rPr lang="en-US" dirty="0"/>
              <a:t>IEEE </a:t>
            </a:r>
            <a:r>
              <a:rPr lang="en-US" dirty="0" err="1"/>
              <a:t>802.11n</a:t>
            </a:r>
            <a:endParaRPr lang="en-US" dirty="0"/>
          </a:p>
          <a:p>
            <a:pPr>
              <a:lnSpc>
                <a:spcPct val="80000"/>
              </a:lnSpc>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Rectangle 3"/>
          <p:cNvSpPr>
            <a:spLocks noGrp="1" noChangeArrowheads="1"/>
          </p:cNvSpPr>
          <p:nvPr>
            <p:ph type="subTitle" idx="1"/>
          </p:nvPr>
        </p:nvSpPr>
        <p:spPr>
          <a:xfrm>
            <a:off x="1447800" y="762000"/>
            <a:ext cx="6400800" cy="1752600"/>
          </a:xfrm>
          <a:noFill/>
          <a:ln/>
        </p:spPr>
        <p:txBody>
          <a:bodyPr lIns="90488" tIns="44450" rIns="90488" bIns="44450">
            <a:normAutofit/>
          </a:bodyPr>
          <a:lstStyle/>
          <a:p>
            <a:pPr marL="342900" indent="-342900"/>
            <a:r>
              <a:rPr lang="en-US" dirty="0"/>
              <a:t>LAN Lower Layer Protocol: </a:t>
            </a:r>
          </a:p>
          <a:p>
            <a:pPr marL="342900" indent="-342900"/>
            <a:r>
              <a:rPr lang="en-US" dirty="0"/>
              <a:t>IEEE 802.3 Carrier Sense Multiple Access/ Collision Detection (</a:t>
            </a:r>
            <a:r>
              <a:rPr lang="en-US" dirty="0" err="1"/>
              <a:t>CSMA</a:t>
            </a:r>
            <a:r>
              <a:rPr lang="en-US" dirty="0"/>
              <a:t>/CD)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a:t>An Overview of CSMA/CD</a:t>
            </a:r>
          </a:p>
        </p:txBody>
      </p:sp>
      <p:sp>
        <p:nvSpPr>
          <p:cNvPr id="190467" name="Rectangle 3"/>
          <p:cNvSpPr>
            <a:spLocks noGrp="1" noChangeArrowheads="1"/>
          </p:cNvSpPr>
          <p:nvPr>
            <p:ph idx="1"/>
          </p:nvPr>
        </p:nvSpPr>
        <p:spPr/>
        <p:txBody>
          <a:bodyPr/>
          <a:lstStyle/>
          <a:p>
            <a:r>
              <a:rPr lang="en-US"/>
              <a:t>CSMA/CD has two components as mentioned</a:t>
            </a:r>
          </a:p>
          <a:p>
            <a:r>
              <a:rPr lang="en-US"/>
              <a:t>First is the Carrier Sense Multiple Access (CSMA) component</a:t>
            </a:r>
          </a:p>
          <a:p>
            <a:r>
              <a:rPr lang="en-US"/>
              <a:t> Second is the Collision Detection (CD) component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noFill/>
          <a:ln/>
        </p:spPr>
        <p:txBody>
          <a:bodyPr lIns="90488" tIns="44450" rIns="90488" bIns="44450" anchor="ctr"/>
          <a:lstStyle/>
          <a:p>
            <a:r>
              <a:rPr lang="en-US"/>
              <a:t>CSMA Component of CSMA/CD</a:t>
            </a:r>
          </a:p>
        </p:txBody>
      </p:sp>
      <p:sp>
        <p:nvSpPr>
          <p:cNvPr id="191491" name="Rectangle 3"/>
          <p:cNvSpPr>
            <a:spLocks noGrp="1" noChangeArrowheads="1"/>
          </p:cNvSpPr>
          <p:nvPr>
            <p:ph idx="1"/>
          </p:nvPr>
        </p:nvSpPr>
        <p:spPr>
          <a:noFill/>
          <a:ln/>
        </p:spPr>
        <p:txBody>
          <a:bodyPr lIns="90488" tIns="44450" rIns="90488" bIns="44450"/>
          <a:lstStyle/>
          <a:p>
            <a:r>
              <a:rPr lang="en-US"/>
              <a:t>CSMA (Carrier Sense Multiple Access)</a:t>
            </a:r>
          </a:p>
          <a:p>
            <a:pPr lvl="1"/>
            <a:r>
              <a:rPr lang="en-US"/>
              <a:t>Check the bus for traffic</a:t>
            </a:r>
          </a:p>
          <a:p>
            <a:pPr lvl="1"/>
            <a:r>
              <a:rPr lang="en-US"/>
              <a:t>If the bus is free, then transmit</a:t>
            </a:r>
          </a:p>
          <a:p>
            <a:pPr lvl="1"/>
            <a:r>
              <a:rPr lang="en-US"/>
              <a:t>If it is busy,  wait for a random period of time before attempting to transmit again</a:t>
            </a:r>
          </a:p>
        </p:txBody>
      </p:sp>
      <p:sp>
        <p:nvSpPr>
          <p:cNvPr id="191492" name="Rectangle 4"/>
          <p:cNvSpPr>
            <a:spLocks noChangeArrowheads="1"/>
          </p:cNvSpPr>
          <p:nvPr/>
        </p:nvSpPr>
        <p:spPr bwMode="auto">
          <a:xfrm>
            <a:off x="1066800" y="5257800"/>
            <a:ext cx="6705600" cy="76200"/>
          </a:xfrm>
          <a:prstGeom prst="rect">
            <a:avLst/>
          </a:prstGeom>
          <a:solidFill>
            <a:schemeClr val="accent1"/>
          </a:solidFill>
          <a:ln w="9525">
            <a:noFill/>
            <a:miter lim="800000"/>
            <a:headEnd/>
            <a:tailEnd/>
          </a:ln>
          <a:effectLst/>
        </p:spPr>
        <p:txBody>
          <a:bodyPr wrap="none" anchor="ctr"/>
          <a:lstStyle/>
          <a:p>
            <a:endParaRPr lang="en-US"/>
          </a:p>
        </p:txBody>
      </p:sp>
      <p:sp>
        <p:nvSpPr>
          <p:cNvPr id="191493" name="AutoShape 5"/>
          <p:cNvSpPr>
            <a:spLocks noChangeArrowheads="1"/>
          </p:cNvSpPr>
          <p:nvPr/>
        </p:nvSpPr>
        <p:spPr bwMode="auto">
          <a:xfrm>
            <a:off x="1828800" y="5791200"/>
            <a:ext cx="990600" cy="533400"/>
          </a:xfrm>
          <a:prstGeom prst="roundRect">
            <a:avLst>
              <a:gd name="adj" fmla="val 16667"/>
            </a:avLst>
          </a:prstGeom>
          <a:solidFill>
            <a:schemeClr val="tx1"/>
          </a:solidFill>
          <a:ln w="9525">
            <a:noFill/>
            <a:round/>
            <a:headEnd/>
            <a:tailEnd/>
          </a:ln>
          <a:effectLst/>
          <a:scene3d>
            <a:camera prst="legacyObliqueTopRight"/>
            <a:lightRig rig="legacyFlat3" dir="b"/>
          </a:scene3d>
          <a:sp3d extrusionH="430200" prstMaterial="legacyMatte">
            <a:bevelT w="13500" h="13500" prst="angle"/>
            <a:bevelB w="13500" h="13500" prst="angle"/>
            <a:extrusionClr>
              <a:schemeClr val="tx1"/>
            </a:extrusionClr>
          </a:sp3d>
        </p:spPr>
        <p:txBody>
          <a:bodyPr wrap="none" anchor="ctr">
            <a:flatTx/>
          </a:bodyPr>
          <a:lstStyle/>
          <a:p>
            <a:endParaRPr lang="en-US"/>
          </a:p>
        </p:txBody>
      </p:sp>
      <p:sp>
        <p:nvSpPr>
          <p:cNvPr id="191494" name="AutoShape 6"/>
          <p:cNvSpPr>
            <a:spLocks noChangeArrowheads="1"/>
          </p:cNvSpPr>
          <p:nvPr/>
        </p:nvSpPr>
        <p:spPr bwMode="auto">
          <a:xfrm>
            <a:off x="5638800" y="5791200"/>
            <a:ext cx="990600" cy="533400"/>
          </a:xfrm>
          <a:prstGeom prst="roundRect">
            <a:avLst>
              <a:gd name="adj" fmla="val 16667"/>
            </a:avLst>
          </a:prstGeom>
          <a:solidFill>
            <a:schemeClr val="tx1"/>
          </a:solidFill>
          <a:ln w="9525">
            <a:noFill/>
            <a:round/>
            <a:headEnd/>
            <a:tailEnd/>
          </a:ln>
          <a:effectLst/>
          <a:scene3d>
            <a:camera prst="legacyObliqueTopRight"/>
            <a:lightRig rig="legacyFlat3" dir="b"/>
          </a:scene3d>
          <a:sp3d extrusionH="430200" prstMaterial="legacyMatte">
            <a:bevelT w="13500" h="13500" prst="angle"/>
            <a:bevelB w="13500" h="13500" prst="angle"/>
            <a:extrusionClr>
              <a:schemeClr val="tx1"/>
            </a:extrusionClr>
          </a:sp3d>
        </p:spPr>
        <p:txBody>
          <a:bodyPr wrap="none" anchor="ctr">
            <a:flatTx/>
          </a:bodyPr>
          <a:lstStyle/>
          <a:p>
            <a:endParaRPr lang="en-US"/>
          </a:p>
        </p:txBody>
      </p:sp>
      <p:sp>
        <p:nvSpPr>
          <p:cNvPr id="191495" name="Line 7"/>
          <p:cNvSpPr>
            <a:spLocks noChangeShapeType="1"/>
          </p:cNvSpPr>
          <p:nvPr/>
        </p:nvSpPr>
        <p:spPr bwMode="auto">
          <a:xfrm>
            <a:off x="2286000" y="5257800"/>
            <a:ext cx="0" cy="533400"/>
          </a:xfrm>
          <a:prstGeom prst="line">
            <a:avLst/>
          </a:prstGeom>
          <a:noFill/>
          <a:ln w="9525">
            <a:solidFill>
              <a:schemeClr val="accent1"/>
            </a:solidFill>
            <a:round/>
            <a:headEnd/>
            <a:tailEnd/>
          </a:ln>
          <a:effectLst/>
        </p:spPr>
        <p:txBody>
          <a:bodyPr wrap="none" anchor="ctr"/>
          <a:lstStyle/>
          <a:p>
            <a:endParaRPr lang="en-US"/>
          </a:p>
        </p:txBody>
      </p:sp>
      <p:sp>
        <p:nvSpPr>
          <p:cNvPr id="191496" name="Line 8"/>
          <p:cNvSpPr>
            <a:spLocks noChangeShapeType="1"/>
          </p:cNvSpPr>
          <p:nvPr/>
        </p:nvSpPr>
        <p:spPr bwMode="auto">
          <a:xfrm>
            <a:off x="6096000" y="5257800"/>
            <a:ext cx="0" cy="533400"/>
          </a:xfrm>
          <a:prstGeom prst="line">
            <a:avLst/>
          </a:prstGeom>
          <a:noFill/>
          <a:ln w="9525">
            <a:solidFill>
              <a:schemeClr val="accent1"/>
            </a:solidFill>
            <a:round/>
            <a:headEnd/>
            <a:tailEnd/>
          </a:ln>
          <a:effectLst/>
        </p:spPr>
        <p:txBody>
          <a:bodyPr wrap="none" anchor="ct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noFill/>
          <a:ln/>
        </p:spPr>
        <p:txBody>
          <a:bodyPr lIns="90488" tIns="44450" rIns="90488" bIns="44450" anchor="ctr"/>
          <a:lstStyle/>
          <a:p>
            <a:r>
              <a:rPr lang="en-US"/>
              <a:t>CD Component of  CSMA/CD</a:t>
            </a:r>
          </a:p>
        </p:txBody>
      </p:sp>
      <p:sp>
        <p:nvSpPr>
          <p:cNvPr id="192515" name="Rectangle 3"/>
          <p:cNvSpPr>
            <a:spLocks noGrp="1" noChangeArrowheads="1"/>
          </p:cNvSpPr>
          <p:nvPr>
            <p:ph idx="1"/>
          </p:nvPr>
        </p:nvSpPr>
        <p:spPr>
          <a:xfrm>
            <a:off x="685800" y="1600200"/>
            <a:ext cx="7772400" cy="4114800"/>
          </a:xfrm>
          <a:noFill/>
          <a:ln/>
        </p:spPr>
        <p:txBody>
          <a:bodyPr lIns="90488" tIns="44450" rIns="90488" bIns="44450">
            <a:normAutofit lnSpcReduction="10000"/>
          </a:bodyPr>
          <a:lstStyle/>
          <a:p>
            <a:pPr>
              <a:lnSpc>
                <a:spcPct val="90000"/>
              </a:lnSpc>
            </a:pPr>
            <a:r>
              <a:rPr lang="en-US" sz="2800"/>
              <a:t>Two stations may check the data bus simultaneously</a:t>
            </a:r>
          </a:p>
          <a:p>
            <a:pPr>
              <a:lnSpc>
                <a:spcPct val="90000"/>
              </a:lnSpc>
            </a:pPr>
            <a:r>
              <a:rPr lang="en-US" sz="2800"/>
              <a:t>Both may find the line free and engage in the transmission of data</a:t>
            </a:r>
          </a:p>
          <a:p>
            <a:pPr>
              <a:lnSpc>
                <a:spcPct val="90000"/>
              </a:lnSpc>
            </a:pPr>
            <a:r>
              <a:rPr lang="en-US" sz="2800"/>
              <a:t>Both transmission will collide</a:t>
            </a:r>
          </a:p>
          <a:p>
            <a:pPr>
              <a:lnSpc>
                <a:spcPct val="90000"/>
              </a:lnSpc>
            </a:pPr>
            <a:r>
              <a:rPr lang="en-US" sz="2800"/>
              <a:t>CD component will detect this collision</a:t>
            </a:r>
          </a:p>
          <a:p>
            <a:pPr lvl="1">
              <a:lnSpc>
                <a:spcPct val="90000"/>
              </a:lnSpc>
            </a:pPr>
            <a:r>
              <a:rPr lang="en-US" sz="2400"/>
              <a:t>Inform the workstations of the collision</a:t>
            </a:r>
          </a:p>
          <a:p>
            <a:pPr>
              <a:lnSpc>
                <a:spcPct val="90000"/>
              </a:lnSpc>
            </a:pPr>
            <a:r>
              <a:rPr lang="en-US" sz="2800"/>
              <a:t>Each station will wait for a random period of time before attempting to transmit again</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noFill/>
          <a:ln/>
        </p:spPr>
        <p:txBody>
          <a:bodyPr lIns="90488" tIns="44450" rIns="90488" bIns="44450" anchor="ctr"/>
          <a:lstStyle/>
          <a:p>
            <a:r>
              <a:rPr lang="en-US"/>
              <a:t>CSMA/CD  Usage</a:t>
            </a:r>
          </a:p>
        </p:txBody>
      </p:sp>
      <p:sp>
        <p:nvSpPr>
          <p:cNvPr id="193539" name="Rectangle 3"/>
          <p:cNvSpPr>
            <a:spLocks noGrp="1" noChangeArrowheads="1"/>
          </p:cNvSpPr>
          <p:nvPr>
            <p:ph idx="1"/>
          </p:nvPr>
        </p:nvSpPr>
        <p:spPr>
          <a:noFill/>
          <a:ln/>
        </p:spPr>
        <p:txBody>
          <a:bodyPr lIns="90488" tIns="44450" rIns="90488" bIns="44450"/>
          <a:lstStyle/>
          <a:p>
            <a:r>
              <a:rPr lang="en-US"/>
              <a:t>Used extensively in bus LANs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noFill/>
          <a:ln/>
        </p:spPr>
        <p:txBody>
          <a:bodyPr lIns="90488" tIns="44450" rIns="90488" bIns="44450" anchor="ctr"/>
          <a:lstStyle/>
          <a:p>
            <a:r>
              <a:rPr lang="en-US"/>
              <a:t>CSMA/CD Standards</a:t>
            </a:r>
          </a:p>
        </p:txBody>
      </p:sp>
      <p:sp>
        <p:nvSpPr>
          <p:cNvPr id="194563" name="Rectangle 3"/>
          <p:cNvSpPr>
            <a:spLocks noGrp="1" noChangeArrowheads="1"/>
          </p:cNvSpPr>
          <p:nvPr>
            <p:ph idx="1"/>
          </p:nvPr>
        </p:nvSpPr>
        <p:spPr>
          <a:noFill/>
          <a:ln/>
        </p:spPr>
        <p:txBody>
          <a:bodyPr lIns="90488" tIns="44450" rIns="90488" bIns="44450"/>
          <a:lstStyle/>
          <a:p>
            <a:r>
              <a:rPr lang="en-US"/>
              <a:t>Highly standardized protocol</a:t>
            </a:r>
          </a:p>
          <a:p>
            <a:r>
              <a:rPr lang="en-US"/>
              <a:t>Different protocol standards for different speeds of communication</a:t>
            </a:r>
          </a:p>
          <a:p>
            <a:r>
              <a:rPr lang="en-US"/>
              <a:t>10 Mbps Ethernet standard</a:t>
            </a:r>
          </a:p>
          <a:p>
            <a:pPr lvl="1"/>
            <a:r>
              <a:rPr lang="en-US"/>
              <a:t>IEEE 802.3</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r>
              <a:rPr lang="en-US"/>
              <a:t>IEEE 802.3</a:t>
            </a:r>
          </a:p>
        </p:txBody>
      </p:sp>
      <p:sp>
        <p:nvSpPr>
          <p:cNvPr id="195587" name="Rectangle 3"/>
          <p:cNvSpPr>
            <a:spLocks noGrp="1" noChangeArrowheads="1"/>
          </p:cNvSpPr>
          <p:nvPr>
            <p:ph idx="1"/>
          </p:nvPr>
        </p:nvSpPr>
        <p:spPr/>
        <p:txBody>
          <a:bodyPr/>
          <a:lstStyle/>
          <a:p>
            <a:pPr>
              <a:lnSpc>
                <a:spcPct val="90000"/>
              </a:lnSpc>
            </a:pPr>
            <a:r>
              <a:rPr lang="en-US"/>
              <a:t>10G bps Ethernet</a:t>
            </a:r>
          </a:p>
          <a:p>
            <a:pPr lvl="1">
              <a:lnSpc>
                <a:spcPct val="90000"/>
              </a:lnSpc>
            </a:pPr>
            <a:r>
              <a:rPr lang="en-US"/>
              <a:t>IEEE 802.3z </a:t>
            </a:r>
          </a:p>
          <a:p>
            <a:pPr>
              <a:lnSpc>
                <a:spcPct val="90000"/>
              </a:lnSpc>
            </a:pPr>
            <a:r>
              <a:rPr lang="en-US"/>
              <a:t>1G bps Ethernet</a:t>
            </a:r>
          </a:p>
          <a:p>
            <a:pPr lvl="1">
              <a:lnSpc>
                <a:spcPct val="90000"/>
              </a:lnSpc>
            </a:pPr>
            <a:r>
              <a:rPr lang="en-US"/>
              <a:t>IEEE 802.3ab</a:t>
            </a:r>
          </a:p>
          <a:p>
            <a:pPr>
              <a:lnSpc>
                <a:spcPct val="90000"/>
              </a:lnSpc>
            </a:pPr>
            <a:r>
              <a:rPr lang="en-US"/>
              <a:t>100M bps Ethernet</a:t>
            </a:r>
          </a:p>
          <a:p>
            <a:pPr lvl="1">
              <a:lnSpc>
                <a:spcPct val="90000"/>
              </a:lnSpc>
            </a:pPr>
            <a:r>
              <a:rPr lang="en-US"/>
              <a:t>IEEE 802.3u</a:t>
            </a:r>
          </a:p>
          <a:p>
            <a:pPr>
              <a:lnSpc>
                <a:spcPct val="90000"/>
              </a:lnSpc>
            </a:pPr>
            <a:r>
              <a:rPr lang="en-US"/>
              <a:t>10M bps Ethernet</a:t>
            </a:r>
          </a:p>
          <a:p>
            <a:pPr lvl="1">
              <a:lnSpc>
                <a:spcPct val="90000"/>
              </a:lnSpc>
            </a:pPr>
            <a:r>
              <a:rPr lang="en-US"/>
              <a:t>IEEE 802.3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1026"/>
          <p:cNvSpPr>
            <a:spLocks noGrp="1" noChangeArrowheads="1"/>
          </p:cNvSpPr>
          <p:nvPr>
            <p:ph type="ctrTitle"/>
          </p:nvPr>
        </p:nvSpPr>
        <p:spPr>
          <a:noFill/>
          <a:ln/>
        </p:spPr>
        <p:txBody>
          <a:bodyPr lIns="90488" tIns="44450" rIns="90488" bIns="44450" anchor="ctr"/>
          <a:lstStyle/>
          <a:p>
            <a:r>
              <a:rPr lang="en-US"/>
              <a:t>MODULE</a:t>
            </a:r>
          </a:p>
        </p:txBody>
      </p:sp>
      <p:sp>
        <p:nvSpPr>
          <p:cNvPr id="229379" name="Rectangle 1027"/>
          <p:cNvSpPr>
            <a:spLocks noGrp="1" noChangeArrowheads="1"/>
          </p:cNvSpPr>
          <p:nvPr>
            <p:ph type="subTitle" idx="1"/>
          </p:nvPr>
        </p:nvSpPr>
        <p:spPr>
          <a:noFill/>
          <a:ln/>
        </p:spPr>
        <p:txBody>
          <a:bodyPr lIns="90488" tIns="44450" rIns="90488" bIns="44450"/>
          <a:lstStyle/>
          <a:p>
            <a:pPr marL="342900" indent="-342900"/>
            <a:r>
              <a:rPr lang="en-US"/>
              <a:t>LAN Lower Layer Protocol: </a:t>
            </a:r>
          </a:p>
          <a:p>
            <a:pPr marL="342900" indent="-342900"/>
            <a:r>
              <a:rPr lang="en-US"/>
              <a:t>IEEE 802.4 Token Bus Protocol</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1026"/>
          <p:cNvSpPr>
            <a:spLocks noGrp="1" noChangeArrowheads="1"/>
          </p:cNvSpPr>
          <p:nvPr>
            <p:ph type="title"/>
          </p:nvPr>
        </p:nvSpPr>
        <p:spPr>
          <a:noFill/>
          <a:ln/>
        </p:spPr>
        <p:txBody>
          <a:bodyPr lIns="90488" tIns="44450" rIns="90488" bIns="44450" anchor="ctr"/>
          <a:lstStyle/>
          <a:p>
            <a:r>
              <a:rPr lang="en-US"/>
              <a:t>Token Bus</a:t>
            </a:r>
          </a:p>
        </p:txBody>
      </p:sp>
      <p:sp>
        <p:nvSpPr>
          <p:cNvPr id="225283" name="Line 1027"/>
          <p:cNvSpPr>
            <a:spLocks noChangeShapeType="1"/>
          </p:cNvSpPr>
          <p:nvPr/>
        </p:nvSpPr>
        <p:spPr bwMode="auto">
          <a:xfrm>
            <a:off x="996950" y="3657600"/>
            <a:ext cx="6921500" cy="0"/>
          </a:xfrm>
          <a:prstGeom prst="line">
            <a:avLst/>
          </a:prstGeom>
          <a:noFill/>
          <a:ln w="12700">
            <a:solidFill>
              <a:schemeClr val="accent2"/>
            </a:solidFill>
            <a:round/>
            <a:headEnd/>
            <a:tailEnd/>
          </a:ln>
          <a:effectLst/>
        </p:spPr>
        <p:txBody>
          <a:bodyPr wrap="none" anchor="ctr"/>
          <a:lstStyle/>
          <a:p>
            <a:endParaRPr lang="en-US"/>
          </a:p>
        </p:txBody>
      </p:sp>
      <p:sp>
        <p:nvSpPr>
          <p:cNvPr id="225284" name="AutoShape 1028"/>
          <p:cNvSpPr>
            <a:spLocks noChangeArrowheads="1"/>
          </p:cNvSpPr>
          <p:nvPr/>
        </p:nvSpPr>
        <p:spPr bwMode="auto">
          <a:xfrm>
            <a:off x="3892550" y="2368550"/>
            <a:ext cx="1358900" cy="673100"/>
          </a:xfrm>
          <a:prstGeom prst="cube">
            <a:avLst>
              <a:gd name="adj" fmla="val 25000"/>
            </a:avLst>
          </a:prstGeom>
          <a:solidFill>
            <a:schemeClr val="accent2"/>
          </a:solidFill>
          <a:ln w="12700">
            <a:noFill/>
            <a:miter lim="800000"/>
            <a:headEnd/>
            <a:tailEnd/>
          </a:ln>
          <a:effectLst/>
        </p:spPr>
        <p:txBody>
          <a:bodyPr wrap="none" lIns="90488" tIns="44450" rIns="90488" bIns="44450" anchor="ctr"/>
          <a:lstStyle/>
          <a:p>
            <a:r>
              <a:rPr lang="en-US"/>
              <a:t>Server</a:t>
            </a:r>
          </a:p>
        </p:txBody>
      </p:sp>
      <p:sp>
        <p:nvSpPr>
          <p:cNvPr id="225285" name="AutoShape 1029"/>
          <p:cNvSpPr>
            <a:spLocks noChangeArrowheads="1"/>
          </p:cNvSpPr>
          <p:nvPr/>
        </p:nvSpPr>
        <p:spPr bwMode="auto">
          <a:xfrm>
            <a:off x="996950" y="4502150"/>
            <a:ext cx="1435100" cy="825500"/>
          </a:xfrm>
          <a:prstGeom prst="cube">
            <a:avLst>
              <a:gd name="adj" fmla="val 25000"/>
            </a:avLst>
          </a:prstGeom>
          <a:solidFill>
            <a:schemeClr val="accent2"/>
          </a:solidFill>
          <a:ln w="12700">
            <a:noFill/>
            <a:miter lim="800000"/>
            <a:headEnd/>
            <a:tailEnd/>
          </a:ln>
          <a:effectLst/>
        </p:spPr>
        <p:txBody>
          <a:bodyPr wrap="none" lIns="90488" tIns="44450" rIns="90488" bIns="44450" anchor="ctr"/>
          <a:lstStyle/>
          <a:p>
            <a:r>
              <a:rPr lang="en-US"/>
              <a:t>Client</a:t>
            </a:r>
          </a:p>
        </p:txBody>
      </p:sp>
      <p:sp>
        <p:nvSpPr>
          <p:cNvPr id="225286" name="AutoShape 1030"/>
          <p:cNvSpPr>
            <a:spLocks noChangeArrowheads="1"/>
          </p:cNvSpPr>
          <p:nvPr/>
        </p:nvSpPr>
        <p:spPr bwMode="auto">
          <a:xfrm>
            <a:off x="4044950" y="4502150"/>
            <a:ext cx="1435100" cy="825500"/>
          </a:xfrm>
          <a:prstGeom prst="cube">
            <a:avLst>
              <a:gd name="adj" fmla="val 25000"/>
            </a:avLst>
          </a:prstGeom>
          <a:solidFill>
            <a:schemeClr val="accent2"/>
          </a:solidFill>
          <a:ln w="12700">
            <a:noFill/>
            <a:miter lim="800000"/>
            <a:headEnd/>
            <a:tailEnd/>
          </a:ln>
          <a:effectLst/>
        </p:spPr>
        <p:txBody>
          <a:bodyPr wrap="none" lIns="90488" tIns="44450" rIns="90488" bIns="44450" anchor="ctr"/>
          <a:lstStyle/>
          <a:p>
            <a:r>
              <a:rPr lang="en-US"/>
              <a:t>Client</a:t>
            </a:r>
          </a:p>
        </p:txBody>
      </p:sp>
      <p:sp>
        <p:nvSpPr>
          <p:cNvPr id="225287" name="AutoShape 1031"/>
          <p:cNvSpPr>
            <a:spLocks noChangeArrowheads="1"/>
          </p:cNvSpPr>
          <p:nvPr/>
        </p:nvSpPr>
        <p:spPr bwMode="auto">
          <a:xfrm>
            <a:off x="6635750" y="4425950"/>
            <a:ext cx="1435100" cy="825500"/>
          </a:xfrm>
          <a:prstGeom prst="cube">
            <a:avLst>
              <a:gd name="adj" fmla="val 25000"/>
            </a:avLst>
          </a:prstGeom>
          <a:solidFill>
            <a:schemeClr val="accent2"/>
          </a:solidFill>
          <a:ln w="12700">
            <a:noFill/>
            <a:miter lim="800000"/>
            <a:headEnd/>
            <a:tailEnd/>
          </a:ln>
          <a:effectLst/>
        </p:spPr>
        <p:txBody>
          <a:bodyPr wrap="none" lIns="90488" tIns="44450" rIns="90488" bIns="44450" anchor="ctr"/>
          <a:lstStyle/>
          <a:p>
            <a:r>
              <a:rPr lang="en-US"/>
              <a:t>Client</a:t>
            </a:r>
          </a:p>
        </p:txBody>
      </p:sp>
      <p:sp>
        <p:nvSpPr>
          <p:cNvPr id="225288" name="Line 1032"/>
          <p:cNvSpPr>
            <a:spLocks noChangeShapeType="1"/>
          </p:cNvSpPr>
          <p:nvPr/>
        </p:nvSpPr>
        <p:spPr bwMode="auto">
          <a:xfrm>
            <a:off x="4572000" y="3054350"/>
            <a:ext cx="0" cy="1435100"/>
          </a:xfrm>
          <a:prstGeom prst="line">
            <a:avLst/>
          </a:prstGeom>
          <a:noFill/>
          <a:ln w="12700">
            <a:solidFill>
              <a:schemeClr val="accent2"/>
            </a:solidFill>
            <a:round/>
            <a:headEnd/>
            <a:tailEnd/>
          </a:ln>
          <a:effectLst/>
        </p:spPr>
        <p:txBody>
          <a:bodyPr wrap="none" anchor="ctr"/>
          <a:lstStyle/>
          <a:p>
            <a:endParaRPr lang="en-US"/>
          </a:p>
        </p:txBody>
      </p:sp>
      <p:sp>
        <p:nvSpPr>
          <p:cNvPr id="225289" name="Line 1033"/>
          <p:cNvSpPr>
            <a:spLocks noChangeShapeType="1"/>
          </p:cNvSpPr>
          <p:nvPr/>
        </p:nvSpPr>
        <p:spPr bwMode="auto">
          <a:xfrm flipV="1">
            <a:off x="1600200" y="3651250"/>
            <a:ext cx="0" cy="850900"/>
          </a:xfrm>
          <a:prstGeom prst="line">
            <a:avLst/>
          </a:prstGeom>
          <a:noFill/>
          <a:ln w="12700">
            <a:solidFill>
              <a:schemeClr val="accent2"/>
            </a:solidFill>
            <a:round/>
            <a:headEnd/>
            <a:tailEnd/>
          </a:ln>
          <a:effectLst/>
        </p:spPr>
        <p:txBody>
          <a:bodyPr wrap="none" anchor="ctr"/>
          <a:lstStyle/>
          <a:p>
            <a:endParaRPr lang="en-US"/>
          </a:p>
        </p:txBody>
      </p:sp>
      <p:sp>
        <p:nvSpPr>
          <p:cNvPr id="225290" name="Line 1034"/>
          <p:cNvSpPr>
            <a:spLocks noChangeShapeType="1"/>
          </p:cNvSpPr>
          <p:nvPr/>
        </p:nvSpPr>
        <p:spPr bwMode="auto">
          <a:xfrm>
            <a:off x="7239000" y="3663950"/>
            <a:ext cx="0" cy="749300"/>
          </a:xfrm>
          <a:prstGeom prst="line">
            <a:avLst/>
          </a:prstGeom>
          <a:noFill/>
          <a:ln w="12700">
            <a:solidFill>
              <a:schemeClr val="accent2"/>
            </a:solidFill>
            <a:round/>
            <a:headEnd/>
            <a:tailEnd/>
          </a:ln>
          <a:effectLst/>
        </p:spPr>
        <p:txBody>
          <a:bodyPr wrap="none" anchor="ctr"/>
          <a:lstStyle/>
          <a:p>
            <a:endParaRPr lang="en-US"/>
          </a:p>
        </p:txBody>
      </p:sp>
      <p:sp>
        <p:nvSpPr>
          <p:cNvPr id="225291" name="Oval 1035"/>
          <p:cNvSpPr>
            <a:spLocks noChangeArrowheads="1"/>
          </p:cNvSpPr>
          <p:nvPr/>
        </p:nvSpPr>
        <p:spPr bwMode="auto">
          <a:xfrm>
            <a:off x="2597150" y="3054350"/>
            <a:ext cx="292100" cy="368300"/>
          </a:xfrm>
          <a:prstGeom prst="ellipse">
            <a:avLst/>
          </a:prstGeom>
          <a:solidFill>
            <a:srgbClr val="FFCCCC"/>
          </a:solidFill>
          <a:ln w="12700">
            <a:noFill/>
            <a:round/>
            <a:headEnd/>
            <a:tailEnd/>
          </a:ln>
          <a:effectLst/>
          <a:scene3d>
            <a:camera prst="legacyPerspectiveFront">
              <a:rot lat="20099999" lon="20099999" rev="0"/>
            </a:camera>
            <a:lightRig rig="legacyFlat2" dir="t"/>
          </a:scene3d>
          <a:sp3d extrusionH="430200" prstMaterial="legacyMatte">
            <a:bevelT w="13500" h="13500" prst="angle"/>
            <a:bevelB w="13500" h="13500" prst="angle"/>
            <a:extrusionClr>
              <a:srgbClr val="FFCCCC"/>
            </a:extrusionClr>
          </a:sp3d>
        </p:spPr>
        <p:txBody>
          <a:bodyPr wrap="none" anchor="ctr">
            <a:flatTx/>
          </a:bodyPr>
          <a:lstStyle/>
          <a:p>
            <a:endParaRPr lang="en-US"/>
          </a:p>
        </p:txBody>
      </p:sp>
      <p:sp>
        <p:nvSpPr>
          <p:cNvPr id="225292" name="Rectangle 1036"/>
          <p:cNvSpPr>
            <a:spLocks noChangeArrowheads="1"/>
          </p:cNvSpPr>
          <p:nvPr/>
        </p:nvSpPr>
        <p:spPr bwMode="auto">
          <a:xfrm>
            <a:off x="1890713" y="2576513"/>
            <a:ext cx="1028700" cy="454025"/>
          </a:xfrm>
          <a:prstGeom prst="rect">
            <a:avLst/>
          </a:prstGeom>
          <a:noFill/>
          <a:ln w="12700">
            <a:noFill/>
            <a:miter lim="800000"/>
            <a:headEnd/>
            <a:tailEnd/>
          </a:ln>
          <a:effectLst/>
        </p:spPr>
        <p:txBody>
          <a:bodyPr wrap="none" lIns="90488" tIns="44450" rIns="90488" bIns="44450">
            <a:spAutoFit/>
          </a:bodyPr>
          <a:lstStyle/>
          <a:p>
            <a:pPr algn="l"/>
            <a:r>
              <a:rPr lang="en-US"/>
              <a:t>Token</a:t>
            </a:r>
          </a:p>
        </p:txBody>
      </p:sp>
      <p:sp>
        <p:nvSpPr>
          <p:cNvPr id="225293" name="Rectangle 1037"/>
          <p:cNvSpPr>
            <a:spLocks noChangeArrowheads="1"/>
          </p:cNvSpPr>
          <p:nvPr/>
        </p:nvSpPr>
        <p:spPr bwMode="auto">
          <a:xfrm>
            <a:off x="366713" y="5929313"/>
            <a:ext cx="6042025" cy="454025"/>
          </a:xfrm>
          <a:prstGeom prst="rect">
            <a:avLst/>
          </a:prstGeom>
          <a:noFill/>
          <a:ln w="12700">
            <a:noFill/>
            <a:miter lim="800000"/>
            <a:headEnd/>
            <a:tailEnd/>
          </a:ln>
          <a:effectLst/>
        </p:spPr>
        <p:txBody>
          <a:bodyPr wrap="none" lIns="90488" tIns="44450" rIns="90488" bIns="44450">
            <a:spAutoFit/>
          </a:bodyPr>
          <a:lstStyle/>
          <a:p>
            <a:pPr algn="l"/>
            <a:r>
              <a:rPr lang="en-US"/>
              <a:t>A token is distributed to each client in turn.</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1026"/>
          <p:cNvSpPr>
            <a:spLocks noGrp="1" noChangeArrowheads="1"/>
          </p:cNvSpPr>
          <p:nvPr>
            <p:ph type="title"/>
          </p:nvPr>
        </p:nvSpPr>
        <p:spPr>
          <a:noFill/>
          <a:ln/>
        </p:spPr>
        <p:txBody>
          <a:bodyPr lIns="90488" tIns="44450" rIns="90488" bIns="44450" anchor="ctr"/>
          <a:lstStyle/>
          <a:p>
            <a:r>
              <a:rPr lang="en-US"/>
              <a:t>Token Bus Data Pickup</a:t>
            </a:r>
          </a:p>
        </p:txBody>
      </p:sp>
      <p:sp>
        <p:nvSpPr>
          <p:cNvPr id="226307" name="Rectangle 1027"/>
          <p:cNvSpPr>
            <a:spLocks noGrp="1" noChangeArrowheads="1"/>
          </p:cNvSpPr>
          <p:nvPr>
            <p:ph idx="1"/>
          </p:nvPr>
        </p:nvSpPr>
        <p:spPr>
          <a:noFill/>
          <a:ln/>
        </p:spPr>
        <p:txBody>
          <a:bodyPr lIns="90488" tIns="44450" rIns="90488" bIns="44450"/>
          <a:lstStyle/>
          <a:p>
            <a:pPr>
              <a:lnSpc>
                <a:spcPct val="90000"/>
              </a:lnSpc>
            </a:pPr>
            <a:r>
              <a:rPr lang="en-US"/>
              <a:t>A token is sent from one node to the other</a:t>
            </a:r>
          </a:p>
          <a:p>
            <a:pPr>
              <a:lnSpc>
                <a:spcPct val="90000"/>
              </a:lnSpc>
            </a:pPr>
            <a:r>
              <a:rPr lang="en-US"/>
              <a:t>The client wanting to transmit grabs an empty token</a:t>
            </a:r>
          </a:p>
          <a:p>
            <a:pPr>
              <a:lnSpc>
                <a:spcPct val="90000"/>
              </a:lnSpc>
            </a:pPr>
            <a:r>
              <a:rPr lang="en-US"/>
              <a:t>Data is attached</a:t>
            </a:r>
          </a:p>
          <a:p>
            <a:pPr>
              <a:lnSpc>
                <a:spcPct val="90000"/>
              </a:lnSpc>
            </a:pPr>
            <a:r>
              <a:rPr lang="en-US"/>
              <a:t>Token leaves for the next node and its travel on the bus until it reaches the address to which the data is destined</a:t>
            </a:r>
          </a:p>
        </p:txBody>
      </p:sp>
      <p:sp>
        <p:nvSpPr>
          <p:cNvPr id="226308" name="Rectangle 1028"/>
          <p:cNvSpPr>
            <a:spLocks noChangeArrowheads="1"/>
          </p:cNvSpPr>
          <p:nvPr/>
        </p:nvSpPr>
        <p:spPr bwMode="auto">
          <a:xfrm>
            <a:off x="7300913" y="5167313"/>
            <a:ext cx="935037" cy="454025"/>
          </a:xfrm>
          <a:prstGeom prst="rect">
            <a:avLst/>
          </a:prstGeom>
          <a:noFill/>
          <a:ln w="12700">
            <a:noFill/>
            <a:miter lim="800000"/>
            <a:headEnd/>
            <a:tailEnd/>
          </a:ln>
          <a:effectLst/>
        </p:spPr>
        <p:txBody>
          <a:bodyPr wrap="none" lIns="90488" tIns="44450" rIns="90488" bIns="44450">
            <a:spAutoFit/>
          </a:bodyPr>
          <a:lstStyle/>
          <a:p>
            <a:pPr algn="l"/>
            <a:r>
              <a:rPr lang="en-US" b="1"/>
              <a:t>Cont.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1026"/>
          <p:cNvSpPr>
            <a:spLocks noGrp="1" noChangeArrowheads="1"/>
          </p:cNvSpPr>
          <p:nvPr>
            <p:ph type="title"/>
          </p:nvPr>
        </p:nvSpPr>
        <p:spPr>
          <a:noFill/>
          <a:ln/>
        </p:spPr>
        <p:txBody>
          <a:bodyPr lIns="90488" tIns="44450" rIns="90488" bIns="44450" anchor="ctr"/>
          <a:lstStyle/>
          <a:p>
            <a:r>
              <a:rPr lang="en-US"/>
              <a:t>Token Bus Data Delivery</a:t>
            </a:r>
          </a:p>
        </p:txBody>
      </p:sp>
      <p:sp>
        <p:nvSpPr>
          <p:cNvPr id="227331" name="Rectangle 1027"/>
          <p:cNvSpPr>
            <a:spLocks noGrp="1" noChangeArrowheads="1"/>
          </p:cNvSpPr>
          <p:nvPr>
            <p:ph idx="1"/>
          </p:nvPr>
        </p:nvSpPr>
        <p:spPr>
          <a:noFill/>
          <a:ln/>
        </p:spPr>
        <p:txBody>
          <a:bodyPr lIns="90488" tIns="44450" rIns="90488" bIns="44450">
            <a:normAutofit fontScale="92500" lnSpcReduction="20000"/>
          </a:bodyPr>
          <a:lstStyle/>
          <a:p>
            <a:r>
              <a:rPr lang="en-US" sz="2800"/>
              <a:t>Token delivers the data to the addressee</a:t>
            </a:r>
          </a:p>
          <a:p>
            <a:r>
              <a:rPr lang="en-US" sz="2800"/>
              <a:t>Acknowledgement is returned to the sender</a:t>
            </a:r>
          </a:p>
          <a:p>
            <a:r>
              <a:rPr lang="en-US" sz="2800"/>
              <a:t>Token is passed to the next node</a:t>
            </a:r>
          </a:p>
          <a:p>
            <a:r>
              <a:rPr lang="en-US" sz="2800"/>
              <a:t>The process continues</a:t>
            </a:r>
          </a:p>
          <a:p>
            <a:r>
              <a:rPr lang="en-US" sz="2800"/>
              <a:t>If there is an error in delivering the information, a request for retransmission attached to the token and it is sent to the sender</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p:cNvSpPr>
            <a:spLocks noGrp="1" noChangeArrowheads="1"/>
          </p:cNvSpPr>
          <p:nvPr>
            <p:ph type="subTitle" idx="1"/>
          </p:nvPr>
        </p:nvSpPr>
        <p:spPr>
          <a:xfrm>
            <a:off x="1447800" y="1219200"/>
            <a:ext cx="6400800" cy="1752600"/>
          </a:xfrm>
          <a:noFill/>
          <a:ln/>
        </p:spPr>
        <p:txBody>
          <a:bodyPr lIns="90488" tIns="44450" rIns="90488" bIns="44450"/>
          <a:lstStyle/>
          <a:p>
            <a:pPr marL="342900" indent="-342900"/>
            <a:r>
              <a:rPr lang="en-US" dirty="0"/>
              <a:t>LAN Lower Layer Protocol: </a:t>
            </a:r>
          </a:p>
          <a:p>
            <a:pPr marL="342900" indent="-342900"/>
            <a:r>
              <a:rPr lang="en-US" dirty="0"/>
              <a:t>IEEE 802.5 Token Passing Protocol</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noFill/>
          <a:ln/>
        </p:spPr>
        <p:txBody>
          <a:bodyPr lIns="90488" tIns="44450" rIns="90488" bIns="44450" anchor="ctr">
            <a:normAutofit/>
          </a:bodyPr>
          <a:lstStyle/>
          <a:p>
            <a:r>
              <a:rPr lang="en-US"/>
              <a:t>Token Passing Protocol in Operation</a:t>
            </a:r>
          </a:p>
        </p:txBody>
      </p:sp>
      <p:sp>
        <p:nvSpPr>
          <p:cNvPr id="199683" name="Oval 3"/>
          <p:cNvSpPr>
            <a:spLocks noChangeArrowheads="1"/>
          </p:cNvSpPr>
          <p:nvPr/>
        </p:nvSpPr>
        <p:spPr bwMode="auto">
          <a:xfrm>
            <a:off x="2209800" y="2819400"/>
            <a:ext cx="3644900" cy="3111500"/>
          </a:xfrm>
          <a:prstGeom prst="ellipse">
            <a:avLst/>
          </a:prstGeom>
          <a:noFill/>
          <a:ln w="19050">
            <a:solidFill>
              <a:schemeClr val="accent1"/>
            </a:solidFill>
            <a:round/>
            <a:headEnd/>
            <a:tailEnd/>
          </a:ln>
          <a:effectLst/>
        </p:spPr>
        <p:txBody>
          <a:bodyPr wrap="none" anchor="ctr"/>
          <a:lstStyle/>
          <a:p>
            <a:endParaRPr lang="en-US"/>
          </a:p>
        </p:txBody>
      </p:sp>
      <p:sp>
        <p:nvSpPr>
          <p:cNvPr id="199684" name="Rectangle 4"/>
          <p:cNvSpPr>
            <a:spLocks noChangeArrowheads="1"/>
          </p:cNvSpPr>
          <p:nvPr/>
        </p:nvSpPr>
        <p:spPr bwMode="auto">
          <a:xfrm>
            <a:off x="1752600" y="3962400"/>
            <a:ext cx="977900" cy="901700"/>
          </a:xfrm>
          <a:prstGeom prst="rect">
            <a:avLst/>
          </a:prstGeom>
          <a:solidFill>
            <a:schemeClr val="tx1"/>
          </a:solidFill>
          <a:ln w="12700">
            <a:noFill/>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sp3d>
        </p:spPr>
        <p:txBody>
          <a:bodyPr wrap="none" lIns="90488" tIns="44450" rIns="90488" bIns="44450" anchor="ctr">
            <a:flatTx/>
          </a:bodyPr>
          <a:lstStyle/>
          <a:p>
            <a:pPr marL="342900" indent="-342900">
              <a:spcBef>
                <a:spcPct val="20000"/>
              </a:spcBef>
            </a:pPr>
            <a:r>
              <a:rPr lang="en-US"/>
              <a:t>D</a:t>
            </a:r>
          </a:p>
        </p:txBody>
      </p:sp>
      <p:sp>
        <p:nvSpPr>
          <p:cNvPr id="199685" name="Rectangle 5"/>
          <p:cNvSpPr>
            <a:spLocks noChangeArrowheads="1"/>
          </p:cNvSpPr>
          <p:nvPr/>
        </p:nvSpPr>
        <p:spPr bwMode="auto">
          <a:xfrm>
            <a:off x="3657600" y="2590800"/>
            <a:ext cx="1130300" cy="749300"/>
          </a:xfrm>
          <a:prstGeom prst="rect">
            <a:avLst/>
          </a:prstGeom>
          <a:solidFill>
            <a:schemeClr val="tx1"/>
          </a:solidFill>
          <a:ln w="12700">
            <a:noFill/>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sp3d>
        </p:spPr>
        <p:txBody>
          <a:bodyPr wrap="none" lIns="90488" tIns="44450" rIns="90488" bIns="44450" anchor="ctr">
            <a:flatTx/>
          </a:bodyPr>
          <a:lstStyle/>
          <a:p>
            <a:pPr marL="342900" indent="-342900">
              <a:spcBef>
                <a:spcPct val="20000"/>
              </a:spcBef>
            </a:pPr>
            <a:r>
              <a:rPr lang="en-US"/>
              <a:t>A</a:t>
            </a:r>
          </a:p>
        </p:txBody>
      </p:sp>
      <p:sp>
        <p:nvSpPr>
          <p:cNvPr id="199686" name="Rectangle 6"/>
          <p:cNvSpPr>
            <a:spLocks noChangeArrowheads="1"/>
          </p:cNvSpPr>
          <p:nvPr/>
        </p:nvSpPr>
        <p:spPr bwMode="auto">
          <a:xfrm>
            <a:off x="5410200" y="4114800"/>
            <a:ext cx="1130300" cy="749300"/>
          </a:xfrm>
          <a:prstGeom prst="rect">
            <a:avLst/>
          </a:prstGeom>
          <a:solidFill>
            <a:schemeClr val="tx1"/>
          </a:solidFill>
          <a:ln w="12700">
            <a:noFill/>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sp3d>
        </p:spPr>
        <p:txBody>
          <a:bodyPr wrap="none" lIns="90488" tIns="44450" rIns="90488" bIns="44450" anchor="ctr">
            <a:flatTx/>
          </a:bodyPr>
          <a:lstStyle/>
          <a:p>
            <a:pPr marL="342900" indent="-342900">
              <a:spcBef>
                <a:spcPct val="20000"/>
              </a:spcBef>
            </a:pPr>
            <a:r>
              <a:rPr lang="en-US"/>
              <a:t>B</a:t>
            </a:r>
          </a:p>
        </p:txBody>
      </p:sp>
      <p:sp>
        <p:nvSpPr>
          <p:cNvPr id="199687" name="Rectangle 7"/>
          <p:cNvSpPr>
            <a:spLocks noChangeArrowheads="1"/>
          </p:cNvSpPr>
          <p:nvPr/>
        </p:nvSpPr>
        <p:spPr bwMode="auto">
          <a:xfrm>
            <a:off x="3581400" y="5638800"/>
            <a:ext cx="1130300" cy="749300"/>
          </a:xfrm>
          <a:prstGeom prst="rect">
            <a:avLst/>
          </a:prstGeom>
          <a:solidFill>
            <a:schemeClr val="tx1"/>
          </a:solidFill>
          <a:ln w="12700">
            <a:noFill/>
            <a:miter lim="800000"/>
            <a:headEnd/>
            <a:tailEnd/>
          </a:ln>
          <a:effectLst/>
          <a:scene3d>
            <a:camera prst="legacyObliqueTopRight"/>
            <a:lightRig rig="legacyFlat3" dir="b"/>
          </a:scene3d>
          <a:sp3d extrusionH="430200" prstMaterial="legacyMatte">
            <a:bevelT w="13500" h="13500" prst="angle"/>
            <a:bevelB w="13500" h="13500" prst="angle"/>
            <a:extrusionClr>
              <a:schemeClr val="tx1"/>
            </a:extrusionClr>
          </a:sp3d>
        </p:spPr>
        <p:txBody>
          <a:bodyPr wrap="none" lIns="90488" tIns="44450" rIns="90488" bIns="44450" anchor="ctr">
            <a:flatTx/>
          </a:bodyPr>
          <a:lstStyle/>
          <a:p>
            <a:pPr marL="342900" indent="-342900">
              <a:spcBef>
                <a:spcPct val="20000"/>
              </a:spcBef>
            </a:pPr>
            <a:r>
              <a:rPr lang="en-US"/>
              <a:t>C</a:t>
            </a:r>
          </a:p>
        </p:txBody>
      </p:sp>
      <p:sp>
        <p:nvSpPr>
          <p:cNvPr id="199688" name="AutoShape 8"/>
          <p:cNvSpPr>
            <a:spLocks noChangeArrowheads="1"/>
          </p:cNvSpPr>
          <p:nvPr/>
        </p:nvSpPr>
        <p:spPr bwMode="auto">
          <a:xfrm>
            <a:off x="6400800" y="3124200"/>
            <a:ext cx="520700" cy="2921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a:noFill/>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endParaRPr lang="en-US"/>
          </a:p>
        </p:txBody>
      </p:sp>
      <p:sp>
        <p:nvSpPr>
          <p:cNvPr id="199689" name="Rectangle 9"/>
          <p:cNvSpPr>
            <a:spLocks noChangeArrowheads="1"/>
          </p:cNvSpPr>
          <p:nvPr/>
        </p:nvSpPr>
        <p:spPr bwMode="auto">
          <a:xfrm>
            <a:off x="6242050" y="2051050"/>
            <a:ext cx="1779588" cy="892175"/>
          </a:xfrm>
          <a:prstGeom prst="rect">
            <a:avLst/>
          </a:prstGeom>
          <a:noFill/>
          <a:ln w="12700">
            <a:noFill/>
            <a:miter lim="800000"/>
            <a:headEnd/>
            <a:tailEnd/>
          </a:ln>
          <a:effectLst/>
        </p:spPr>
        <p:txBody>
          <a:bodyPr wrap="none" lIns="90488" tIns="44450" rIns="90488" bIns="44450">
            <a:spAutoFit/>
          </a:bodyPr>
          <a:lstStyle/>
          <a:p>
            <a:pPr marL="342900" indent="-342900" algn="l">
              <a:spcBef>
                <a:spcPct val="20000"/>
              </a:spcBef>
            </a:pPr>
            <a:r>
              <a:rPr lang="en-US"/>
              <a:t>Circulating </a:t>
            </a:r>
          </a:p>
          <a:p>
            <a:pPr marL="342900" indent="-342900" algn="l">
              <a:spcBef>
                <a:spcPct val="20000"/>
              </a:spcBef>
            </a:pPr>
            <a:r>
              <a:rPr lang="en-US"/>
              <a:t>Token</a:t>
            </a:r>
          </a:p>
        </p:txBody>
      </p:sp>
      <p:sp>
        <p:nvSpPr>
          <p:cNvPr id="199690" name="AutoShape 10"/>
          <p:cNvSpPr>
            <a:spLocks noChangeArrowheads="1"/>
          </p:cNvSpPr>
          <p:nvPr/>
        </p:nvSpPr>
        <p:spPr bwMode="auto">
          <a:xfrm>
            <a:off x="7239000" y="2667000"/>
            <a:ext cx="1524000" cy="3124200"/>
          </a:xfrm>
          <a:prstGeom prst="curvedLeftArrow">
            <a:avLst>
              <a:gd name="adj1" fmla="val 41000"/>
              <a:gd name="adj2" fmla="val 82000"/>
              <a:gd name="adj3" fmla="val 33333"/>
            </a:avLst>
          </a:prstGeom>
          <a:solidFill>
            <a:srgbClr val="E0F3A9"/>
          </a:solidFill>
          <a:ln w="12700">
            <a:noFill/>
            <a:miter lim="800000"/>
            <a:headEnd type="none" w="sm" len="sm"/>
            <a:tailEnd type="none" w="sm" len="sm"/>
          </a:ln>
          <a:effectLst/>
        </p:spPr>
        <p:txBody>
          <a:bodyPr wrap="none" anchor="ctr"/>
          <a:lstStyle/>
          <a:p>
            <a:endParaRPr lang="en-US"/>
          </a:p>
        </p:txBody>
      </p:sp>
      <p:sp>
        <p:nvSpPr>
          <p:cNvPr id="199691" name="Text Box 11"/>
          <p:cNvSpPr txBox="1">
            <a:spLocks noChangeArrowheads="1"/>
          </p:cNvSpPr>
          <p:nvPr/>
        </p:nvSpPr>
        <p:spPr bwMode="auto">
          <a:xfrm>
            <a:off x="1828800" y="4953000"/>
            <a:ext cx="1049338" cy="457200"/>
          </a:xfrm>
          <a:prstGeom prst="rect">
            <a:avLst/>
          </a:prstGeom>
          <a:noFill/>
          <a:ln w="12700">
            <a:noFill/>
            <a:miter lim="800000"/>
            <a:headEnd type="none" w="sm" len="sm"/>
            <a:tailEnd type="none" w="sm" len="sm"/>
          </a:ln>
          <a:effectLst/>
        </p:spPr>
        <p:txBody>
          <a:bodyPr wrap="none" anchor="ctr">
            <a:spAutoFit/>
          </a:bodyPr>
          <a:lstStyle/>
          <a:p>
            <a:r>
              <a:rPr lang="en-US"/>
              <a:t>Server</a:t>
            </a:r>
          </a:p>
        </p:txBody>
      </p:sp>
      <p:sp>
        <p:nvSpPr>
          <p:cNvPr id="199692" name="Text Box 12"/>
          <p:cNvSpPr txBox="1">
            <a:spLocks noChangeArrowheads="1"/>
          </p:cNvSpPr>
          <p:nvPr/>
        </p:nvSpPr>
        <p:spPr bwMode="auto">
          <a:xfrm>
            <a:off x="4876800" y="4876800"/>
            <a:ext cx="1860550" cy="457200"/>
          </a:xfrm>
          <a:prstGeom prst="rect">
            <a:avLst/>
          </a:prstGeom>
          <a:noFill/>
          <a:ln w="12700">
            <a:noFill/>
            <a:miter lim="800000"/>
            <a:headEnd/>
            <a:tailEnd/>
          </a:ln>
          <a:effectLst/>
        </p:spPr>
        <p:txBody>
          <a:bodyPr wrap="none" anchor="ctr">
            <a:spAutoFit/>
          </a:bodyPr>
          <a:lstStyle/>
          <a:p>
            <a:pPr>
              <a:spcBef>
                <a:spcPct val="50000"/>
              </a:spcBef>
            </a:pPr>
            <a:r>
              <a:rPr lang="en-US"/>
              <a:t>Workstation</a:t>
            </a:r>
          </a:p>
        </p:txBody>
      </p:sp>
      <p:sp>
        <p:nvSpPr>
          <p:cNvPr id="199693" name="Text Box 13"/>
          <p:cNvSpPr txBox="1">
            <a:spLocks noChangeArrowheads="1"/>
          </p:cNvSpPr>
          <p:nvPr/>
        </p:nvSpPr>
        <p:spPr bwMode="auto">
          <a:xfrm>
            <a:off x="3352800" y="6400800"/>
            <a:ext cx="1860550" cy="457200"/>
          </a:xfrm>
          <a:prstGeom prst="rect">
            <a:avLst/>
          </a:prstGeom>
          <a:noFill/>
          <a:ln w="12700">
            <a:noFill/>
            <a:miter lim="800000"/>
            <a:headEnd/>
            <a:tailEnd/>
          </a:ln>
          <a:effectLst/>
        </p:spPr>
        <p:txBody>
          <a:bodyPr wrap="none" anchor="ctr">
            <a:spAutoFit/>
          </a:bodyPr>
          <a:lstStyle/>
          <a:p>
            <a:pPr>
              <a:spcBef>
                <a:spcPct val="50000"/>
              </a:spcBef>
            </a:pPr>
            <a:r>
              <a:rPr lang="en-US"/>
              <a:t>Workstation</a:t>
            </a:r>
          </a:p>
        </p:txBody>
      </p:sp>
      <p:sp>
        <p:nvSpPr>
          <p:cNvPr id="199694" name="Text Box 14"/>
          <p:cNvSpPr txBox="1">
            <a:spLocks noChangeArrowheads="1"/>
          </p:cNvSpPr>
          <p:nvPr/>
        </p:nvSpPr>
        <p:spPr bwMode="auto">
          <a:xfrm>
            <a:off x="6537325" y="6096000"/>
            <a:ext cx="2124075" cy="457200"/>
          </a:xfrm>
          <a:prstGeom prst="rect">
            <a:avLst/>
          </a:prstGeom>
          <a:noFill/>
          <a:ln w="12700">
            <a:noFill/>
            <a:miter lim="800000"/>
            <a:headEnd/>
            <a:tailEnd/>
          </a:ln>
          <a:effectLst/>
        </p:spPr>
        <p:txBody>
          <a:bodyPr wrap="none" anchor="ctr">
            <a:spAutoFit/>
          </a:bodyPr>
          <a:lstStyle/>
          <a:p>
            <a:pPr>
              <a:buFontTx/>
              <a:buChar char="•"/>
            </a:pPr>
            <a:r>
              <a:rPr lang="en-US"/>
              <a:t>No collisions</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a:noFill/>
          <a:ln/>
        </p:spPr>
        <p:txBody>
          <a:bodyPr lIns="90488" tIns="44450" rIns="90488" bIns="44450" anchor="ctr"/>
          <a:lstStyle/>
          <a:p>
            <a:r>
              <a:rPr lang="en-US"/>
              <a:t>The Token</a:t>
            </a:r>
          </a:p>
        </p:txBody>
      </p:sp>
      <p:sp>
        <p:nvSpPr>
          <p:cNvPr id="202755" name="Rectangle 3"/>
          <p:cNvSpPr>
            <a:spLocks noGrp="1" noChangeArrowheads="1"/>
          </p:cNvSpPr>
          <p:nvPr>
            <p:ph idx="1"/>
          </p:nvPr>
        </p:nvSpPr>
        <p:spPr>
          <a:noFill/>
          <a:ln/>
        </p:spPr>
        <p:txBody>
          <a:bodyPr lIns="90488" tIns="44450" rIns="90488" bIns="44450"/>
          <a:lstStyle/>
          <a:p>
            <a:r>
              <a:rPr lang="en-US"/>
              <a:t>Token </a:t>
            </a:r>
          </a:p>
          <a:p>
            <a:pPr lvl="1"/>
            <a:r>
              <a:rPr lang="en-US"/>
              <a:t>Data packet that could carry data</a:t>
            </a:r>
          </a:p>
          <a:p>
            <a:pPr lvl="1"/>
            <a:r>
              <a:rPr lang="en-US"/>
              <a:t>Circulates around the ring</a:t>
            </a:r>
          </a:p>
          <a:p>
            <a:pPr lvl="1"/>
            <a:r>
              <a:rPr lang="en-US"/>
              <a:t>Offers an opportunity for each workstation and server to transmit data</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304800" y="381000"/>
            <a:ext cx="8839200" cy="1143000"/>
          </a:xfrm>
        </p:spPr>
        <p:txBody>
          <a:bodyPr/>
          <a:lstStyle/>
          <a:p>
            <a:r>
              <a:rPr lang="en-US"/>
              <a:t>The Transmitting Workstation</a:t>
            </a:r>
          </a:p>
        </p:txBody>
      </p:sp>
      <p:sp>
        <p:nvSpPr>
          <p:cNvPr id="203779" name="Rectangle 3"/>
          <p:cNvSpPr>
            <a:spLocks noGrp="1" noChangeArrowheads="1"/>
          </p:cNvSpPr>
          <p:nvPr>
            <p:ph idx="1"/>
          </p:nvPr>
        </p:nvSpPr>
        <p:spPr>
          <a:xfrm>
            <a:off x="762000" y="1676400"/>
            <a:ext cx="7772400" cy="4114800"/>
          </a:xfrm>
        </p:spPr>
        <p:txBody>
          <a:bodyPr>
            <a:normAutofit fontScale="92500"/>
          </a:bodyPr>
          <a:lstStyle/>
          <a:p>
            <a:r>
              <a:rPr lang="en-US" sz="2800"/>
              <a:t>Waits for a free token in order to be able to attach the data to be transmitted to the token</a:t>
            </a:r>
          </a:p>
          <a:p>
            <a:r>
              <a:rPr lang="en-US" sz="2800"/>
              <a:t>On finding a free token, attach the following:</a:t>
            </a:r>
          </a:p>
          <a:p>
            <a:pPr lvl="1"/>
            <a:r>
              <a:rPr lang="en-US" sz="2400"/>
              <a:t>Sender’s address</a:t>
            </a:r>
          </a:p>
          <a:p>
            <a:pPr lvl="1"/>
            <a:r>
              <a:rPr lang="en-US" sz="2400"/>
              <a:t>Receiver’s address</a:t>
            </a:r>
          </a:p>
          <a:p>
            <a:pPr lvl="1"/>
            <a:r>
              <a:rPr lang="en-US" sz="2400"/>
              <a:t>Data block to be transmitted</a:t>
            </a:r>
          </a:p>
          <a:p>
            <a:pPr lvl="1"/>
            <a:r>
              <a:rPr lang="en-US" sz="2400"/>
              <a:t>Error checking details </a:t>
            </a:r>
          </a:p>
          <a:p>
            <a:pPr lvl="1"/>
            <a:r>
              <a:rPr lang="en-US" sz="2400"/>
              <a:t>etc.</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en-US"/>
              <a:t>At the Receiving End</a:t>
            </a:r>
          </a:p>
        </p:txBody>
      </p:sp>
      <p:sp>
        <p:nvSpPr>
          <p:cNvPr id="204803" name="Rectangle 3"/>
          <p:cNvSpPr>
            <a:spLocks noGrp="1" noChangeArrowheads="1"/>
          </p:cNvSpPr>
          <p:nvPr>
            <p:ph idx="1"/>
          </p:nvPr>
        </p:nvSpPr>
        <p:spPr/>
        <p:txBody>
          <a:bodyPr/>
          <a:lstStyle/>
          <a:p>
            <a:r>
              <a:rPr lang="en-US"/>
              <a:t>Data is received and checked for errors</a:t>
            </a:r>
          </a:p>
          <a:p>
            <a:r>
              <a:rPr lang="en-US"/>
              <a:t>Outcomes at the receiving end</a:t>
            </a:r>
          </a:p>
          <a:p>
            <a:pPr lvl="1"/>
            <a:r>
              <a:rPr lang="en-US"/>
              <a:t>Data received without errors</a:t>
            </a:r>
          </a:p>
          <a:p>
            <a:pPr lvl="1"/>
            <a:r>
              <a:rPr lang="en-US"/>
              <a:t>Date received with errors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noFill/>
          <a:ln/>
        </p:spPr>
        <p:txBody>
          <a:bodyPr lIns="90488" tIns="44450" rIns="90488" bIns="44450" anchor="ctr"/>
          <a:lstStyle/>
          <a:p>
            <a:r>
              <a:rPr lang="en-US"/>
              <a:t>Usage of Token Passing</a:t>
            </a:r>
          </a:p>
        </p:txBody>
      </p:sp>
      <p:sp>
        <p:nvSpPr>
          <p:cNvPr id="208899" name="Rectangle 3"/>
          <p:cNvSpPr>
            <a:spLocks noGrp="1" noChangeArrowheads="1"/>
          </p:cNvSpPr>
          <p:nvPr>
            <p:ph idx="1"/>
          </p:nvPr>
        </p:nvSpPr>
        <p:spPr>
          <a:noFill/>
          <a:ln/>
        </p:spPr>
        <p:txBody>
          <a:bodyPr lIns="90488" tIns="44450" rIns="90488" bIns="44450"/>
          <a:lstStyle/>
          <a:p>
            <a:pPr>
              <a:lnSpc>
                <a:spcPct val="90000"/>
              </a:lnSpc>
            </a:pPr>
            <a:r>
              <a:rPr lang="en-US"/>
              <a:t>Used extensively in ring LANs</a:t>
            </a:r>
          </a:p>
          <a:p>
            <a:pPr lvl="1">
              <a:lnSpc>
                <a:spcPct val="90000"/>
              </a:lnSpc>
            </a:pPr>
            <a:r>
              <a:rPr lang="en-US"/>
              <a:t>Especially in the IBM token-ring LAN</a:t>
            </a:r>
          </a:p>
          <a:p>
            <a:pPr>
              <a:lnSpc>
                <a:spcPct val="90000"/>
              </a:lnSpc>
            </a:pPr>
            <a:r>
              <a:rPr lang="en-US"/>
              <a:t>A version of this protocol is also used on certain types of bus LANs</a:t>
            </a:r>
          </a:p>
          <a:p>
            <a:pPr lvl="1">
              <a:lnSpc>
                <a:spcPct val="90000"/>
              </a:lnSpc>
            </a:pPr>
            <a:r>
              <a:rPr lang="en-US"/>
              <a:t>Token-bus networks</a:t>
            </a:r>
          </a:p>
          <a:p>
            <a:pPr>
              <a:lnSpc>
                <a:spcPct val="90000"/>
              </a:lnSpc>
            </a:pPr>
            <a:r>
              <a:rPr lang="en-US"/>
              <a:t>Used in large fiber-optics backbones</a:t>
            </a:r>
          </a:p>
          <a:p>
            <a:pPr lvl="1">
              <a:lnSpc>
                <a:spcPct val="90000"/>
              </a:lnSpc>
            </a:pPr>
            <a:r>
              <a:rPr lang="en-US"/>
              <a:t>Used for the construction of very large networks </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noFill/>
          <a:ln/>
        </p:spPr>
        <p:txBody>
          <a:bodyPr lIns="90488" tIns="44450" rIns="90488" bIns="44450" anchor="ctr"/>
          <a:lstStyle/>
          <a:p>
            <a:r>
              <a:rPr lang="en-US"/>
              <a:t>Token Passing Standards</a:t>
            </a:r>
          </a:p>
        </p:txBody>
      </p:sp>
      <p:sp>
        <p:nvSpPr>
          <p:cNvPr id="211971" name="Rectangle 3"/>
          <p:cNvSpPr>
            <a:spLocks noGrp="1" noChangeArrowheads="1"/>
          </p:cNvSpPr>
          <p:nvPr>
            <p:ph idx="1"/>
          </p:nvPr>
        </p:nvSpPr>
        <p:spPr>
          <a:noFill/>
          <a:ln/>
        </p:spPr>
        <p:txBody>
          <a:bodyPr lIns="90488" tIns="44450" rIns="90488" bIns="44450"/>
          <a:lstStyle/>
          <a:p>
            <a:r>
              <a:rPr lang="en-US"/>
              <a:t>IEEE 802.5 </a:t>
            </a:r>
          </a:p>
          <a:p>
            <a:pPr lvl="1"/>
            <a:r>
              <a:rPr lang="en-US"/>
              <a:t>For the token-ring LANs</a:t>
            </a:r>
          </a:p>
          <a:p>
            <a:r>
              <a:rPr lang="en-US"/>
              <a:t>IEEE 802.4 </a:t>
            </a:r>
          </a:p>
          <a:p>
            <a:pPr lvl="1"/>
            <a:r>
              <a:rPr lang="en-US"/>
              <a:t>For the token-bus LANs</a:t>
            </a:r>
          </a:p>
          <a:p>
            <a:r>
              <a:rPr lang="en-US"/>
              <a:t>A FDDI protocol is used on large fiber-optic ring backbones</a:t>
            </a:r>
          </a:p>
        </p:txBody>
      </p:sp>
    </p:spTree>
  </p:cSld>
  <p:clrMapOvr>
    <a:masterClrMapping/>
  </p:clrMapOvr>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5423</TotalTime>
  <Words>2105</Words>
  <Application>Microsoft Office PowerPoint</Application>
  <PresentationFormat>On-screen Show (4:3)</PresentationFormat>
  <Paragraphs>234</Paragraphs>
  <Slides>38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Times New Roman</vt:lpstr>
      <vt:lpstr>Trebuchet MS</vt:lpstr>
      <vt:lpstr>Wingdings 3</vt:lpstr>
      <vt:lpstr>Facet</vt:lpstr>
      <vt:lpstr>Week-2</vt:lpstr>
      <vt:lpstr>PowerPoint Presentation</vt:lpstr>
      <vt:lpstr>The Data Link Layer in the Internet</vt:lpstr>
      <vt:lpstr>Point –to-point lines in the Internet</vt:lpstr>
      <vt:lpstr>The Data Link Layer in the Internet</vt:lpstr>
      <vt:lpstr>PPP - Point to Point Protocol (1)</vt:lpstr>
      <vt:lpstr>PPP – Point to Point Protocol (2)</vt:lpstr>
      <vt:lpstr>PPP – Point to Point Protocol (3)</vt:lpstr>
      <vt:lpstr>PPP – Point to Point Protocol (4)</vt:lpstr>
      <vt:lpstr>DLL in ATM</vt:lpstr>
      <vt:lpstr>The structure of an ATM cell</vt:lpstr>
      <vt:lpstr>PowerPoint Presentation</vt:lpstr>
      <vt:lpstr>PowerPoint Presentation</vt:lpstr>
      <vt:lpstr>PowerPoint Presentation</vt:lpstr>
      <vt:lpstr>PowerPoint Presentation</vt:lpstr>
      <vt:lpstr>The 802 working groups. The important ones are marked with*. The ones marked with ↓ are hibernating. The one marked with † gaveup and disbanded itself.</vt:lpstr>
      <vt:lpstr>IEEE 802 Subgroups and their  Responsibilities</vt:lpstr>
      <vt:lpstr>IEEE 802  Subgroups and their Responsibilities (Cont.)</vt:lpstr>
      <vt:lpstr>IEEE 802  Subgroups and their Responsibilities (Cont.)</vt:lpstr>
      <vt:lpstr>Wireless LAN Protocols</vt:lpstr>
      <vt:lpstr>PowerPoint Presentation</vt:lpstr>
      <vt:lpstr>An Overview of CSMA/CD</vt:lpstr>
      <vt:lpstr>CSMA Component of CSMA/CD</vt:lpstr>
      <vt:lpstr>CD Component of  CSMA/CD</vt:lpstr>
      <vt:lpstr>CSMA/CD  Usage</vt:lpstr>
      <vt:lpstr>CSMA/CD Standards</vt:lpstr>
      <vt:lpstr>IEEE 802.3</vt:lpstr>
      <vt:lpstr>MODULE</vt:lpstr>
      <vt:lpstr>Token Bus</vt:lpstr>
      <vt:lpstr>Token Bus Data Pickup</vt:lpstr>
      <vt:lpstr>Token Bus Data Delivery</vt:lpstr>
      <vt:lpstr>PowerPoint Presentation</vt:lpstr>
      <vt:lpstr>Token Passing Protocol in Operation</vt:lpstr>
      <vt:lpstr>The Token</vt:lpstr>
      <vt:lpstr>The Transmitting Workstation</vt:lpstr>
      <vt:lpstr>At the Receiving End</vt:lpstr>
      <vt:lpstr>Usage of Token Passing</vt:lpstr>
      <vt:lpstr>Token Passing Standards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Week-2</dc:title>
  <dc:creator>shahidul</dc:creator>
  <cp:lastModifiedBy>md islam</cp:lastModifiedBy>
  <cp:revision>105</cp:revision>
  <dcterms:created xsi:type="dcterms:W3CDTF">2014-02-01T05:38:40Z</dcterms:created>
  <dcterms:modified xsi:type="dcterms:W3CDTF">2023-01-27T03:39:32Z</dcterms:modified>
</cp:coreProperties>
</file>