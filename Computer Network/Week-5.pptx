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73"/>
  </p:notesMasterIdLst>
  <p:handoutMasterIdLst>
    <p:handoutMasterId r:id="rId74"/>
  </p:handoutMasterIdLst>
  <p:sldIdLst>
    <p:sldId id="256" r:id="rId2"/>
    <p:sldId id="419" r:id="rId3"/>
    <p:sldId id="493" r:id="rId4"/>
    <p:sldId id="500" r:id="rId5"/>
    <p:sldId id="489" r:id="rId6"/>
    <p:sldId id="494" r:id="rId7"/>
    <p:sldId id="495" r:id="rId8"/>
    <p:sldId id="458" r:id="rId9"/>
    <p:sldId id="501" r:id="rId10"/>
    <p:sldId id="459" r:id="rId11"/>
    <p:sldId id="460" r:id="rId12"/>
    <p:sldId id="461" r:id="rId13"/>
    <p:sldId id="484" r:id="rId14"/>
    <p:sldId id="488" r:id="rId15"/>
    <p:sldId id="553" r:id="rId16"/>
    <p:sldId id="462" r:id="rId17"/>
    <p:sldId id="496" r:id="rId18"/>
    <p:sldId id="497" r:id="rId19"/>
    <p:sldId id="498" r:id="rId20"/>
    <p:sldId id="521" r:id="rId21"/>
    <p:sldId id="520" r:id="rId22"/>
    <p:sldId id="522" r:id="rId23"/>
    <p:sldId id="518" r:id="rId24"/>
    <p:sldId id="519" r:id="rId25"/>
    <p:sldId id="490" r:id="rId26"/>
    <p:sldId id="502" r:id="rId27"/>
    <p:sldId id="503" r:id="rId28"/>
    <p:sldId id="463" r:id="rId29"/>
    <p:sldId id="552" r:id="rId30"/>
    <p:sldId id="485" r:id="rId31"/>
    <p:sldId id="504" r:id="rId32"/>
    <p:sldId id="464" r:id="rId33"/>
    <p:sldId id="505" r:id="rId34"/>
    <p:sldId id="465" r:id="rId35"/>
    <p:sldId id="466" r:id="rId36"/>
    <p:sldId id="506" r:id="rId37"/>
    <p:sldId id="467" r:id="rId38"/>
    <p:sldId id="492" r:id="rId39"/>
    <p:sldId id="514" r:id="rId40"/>
    <p:sldId id="515" r:id="rId41"/>
    <p:sldId id="471" r:id="rId42"/>
    <p:sldId id="516" r:id="rId43"/>
    <p:sldId id="475" r:id="rId44"/>
    <p:sldId id="517" r:id="rId45"/>
    <p:sldId id="476" r:id="rId46"/>
    <p:sldId id="477" r:id="rId47"/>
    <p:sldId id="478" r:id="rId48"/>
    <p:sldId id="479" r:id="rId49"/>
    <p:sldId id="480" r:id="rId50"/>
    <p:sldId id="526" r:id="rId51"/>
    <p:sldId id="528" r:id="rId52"/>
    <p:sldId id="529" r:id="rId53"/>
    <p:sldId id="530" r:id="rId54"/>
    <p:sldId id="531" r:id="rId55"/>
    <p:sldId id="533" r:id="rId56"/>
    <p:sldId id="534" r:id="rId57"/>
    <p:sldId id="535" r:id="rId58"/>
    <p:sldId id="537" r:id="rId59"/>
    <p:sldId id="538" r:id="rId60"/>
    <p:sldId id="539" r:id="rId61"/>
    <p:sldId id="540" r:id="rId62"/>
    <p:sldId id="541" r:id="rId63"/>
    <p:sldId id="542" r:id="rId64"/>
    <p:sldId id="543" r:id="rId65"/>
    <p:sldId id="544" r:id="rId66"/>
    <p:sldId id="545" r:id="rId67"/>
    <p:sldId id="546" r:id="rId68"/>
    <p:sldId id="547" r:id="rId69"/>
    <p:sldId id="548" r:id="rId70"/>
    <p:sldId id="550" r:id="rId71"/>
    <p:sldId id="551" r:id="rId72"/>
  </p:sldIdLst>
  <p:sldSz cx="9144000" cy="6858000" type="screen4x3"/>
  <p:notesSz cx="6761163" cy="9942513"/>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366FF"/>
    <a:srgbClr val="660066"/>
    <a:srgbClr val="00CC00"/>
    <a:srgbClr val="996633"/>
    <a:srgbClr val="6666FF"/>
    <a:srgbClr val="CCFF99"/>
    <a:srgbClr val="6AF4A5"/>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0" autoAdjust="0"/>
    <p:restoredTop sz="93961" autoAdjust="0"/>
  </p:normalViewPr>
  <p:slideViewPr>
    <p:cSldViewPr>
      <p:cViewPr>
        <p:scale>
          <a:sx n="50" d="100"/>
          <a:sy n="50" d="100"/>
        </p:scale>
        <p:origin x="-1267"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29838" cy="497125"/>
          </a:xfrm>
          <a:prstGeom prst="rect">
            <a:avLst/>
          </a:prstGeom>
        </p:spPr>
        <p:txBody>
          <a:bodyPr vert="horz" lIns="95939" tIns="47969" rIns="95939" bIns="47969" rtlCol="0"/>
          <a:lstStyle>
            <a:lvl1pPr algn="l">
              <a:defRPr sz="1300"/>
            </a:lvl1pPr>
          </a:lstStyle>
          <a:p>
            <a:endParaRPr lang="en-US"/>
          </a:p>
        </p:txBody>
      </p:sp>
      <p:sp>
        <p:nvSpPr>
          <p:cNvPr id="3" name="Date Placeholder 2"/>
          <p:cNvSpPr>
            <a:spLocks noGrp="1"/>
          </p:cNvSpPr>
          <p:nvPr>
            <p:ph type="dt" sz="quarter" idx="1"/>
          </p:nvPr>
        </p:nvSpPr>
        <p:spPr>
          <a:xfrm>
            <a:off x="3829761" y="1"/>
            <a:ext cx="2929838" cy="497125"/>
          </a:xfrm>
          <a:prstGeom prst="rect">
            <a:avLst/>
          </a:prstGeom>
        </p:spPr>
        <p:txBody>
          <a:bodyPr vert="horz" lIns="95939" tIns="47969" rIns="95939" bIns="47969" rtlCol="0"/>
          <a:lstStyle>
            <a:lvl1pPr algn="r">
              <a:defRPr sz="1300"/>
            </a:lvl1pPr>
          </a:lstStyle>
          <a:p>
            <a:fld id="{9FD5D080-ED6A-4835-BE9A-CB97CE838D30}" type="datetimeFigureOut">
              <a:rPr lang="en-US" smtClean="0"/>
              <a:pPr/>
              <a:t>10-Apr-15</a:t>
            </a:fld>
            <a:endParaRPr lang="en-US"/>
          </a:p>
        </p:txBody>
      </p:sp>
      <p:sp>
        <p:nvSpPr>
          <p:cNvPr id="4" name="Footer Placeholder 3"/>
          <p:cNvSpPr>
            <a:spLocks noGrp="1"/>
          </p:cNvSpPr>
          <p:nvPr>
            <p:ph type="ftr" sz="quarter" idx="2"/>
          </p:nvPr>
        </p:nvSpPr>
        <p:spPr>
          <a:xfrm>
            <a:off x="0" y="9443663"/>
            <a:ext cx="2929838" cy="497125"/>
          </a:xfrm>
          <a:prstGeom prst="rect">
            <a:avLst/>
          </a:prstGeom>
        </p:spPr>
        <p:txBody>
          <a:bodyPr vert="horz" lIns="95939" tIns="47969" rIns="95939" bIns="47969" rtlCol="0" anchor="b"/>
          <a:lstStyle>
            <a:lvl1pPr algn="l">
              <a:defRPr sz="1300"/>
            </a:lvl1pPr>
          </a:lstStyle>
          <a:p>
            <a:endParaRPr lang="en-US"/>
          </a:p>
        </p:txBody>
      </p:sp>
      <p:sp>
        <p:nvSpPr>
          <p:cNvPr id="5" name="Slide Number Placeholder 4"/>
          <p:cNvSpPr>
            <a:spLocks noGrp="1"/>
          </p:cNvSpPr>
          <p:nvPr>
            <p:ph type="sldNum" sz="quarter" idx="3"/>
          </p:nvPr>
        </p:nvSpPr>
        <p:spPr>
          <a:xfrm>
            <a:off x="3829761" y="9443663"/>
            <a:ext cx="2929838" cy="497125"/>
          </a:xfrm>
          <a:prstGeom prst="rect">
            <a:avLst/>
          </a:prstGeom>
        </p:spPr>
        <p:txBody>
          <a:bodyPr vert="horz" lIns="95939" tIns="47969" rIns="95939" bIns="47969" rtlCol="0" anchor="b"/>
          <a:lstStyle>
            <a:lvl1pPr algn="r">
              <a:defRPr sz="1300"/>
            </a:lvl1pPr>
          </a:lstStyle>
          <a:p>
            <a:fld id="{CB473E26-9ED5-4CCF-B830-B4AFFC5ADB71}"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30114" cy="497710"/>
          </a:xfrm>
          <a:prstGeom prst="rect">
            <a:avLst/>
          </a:prstGeom>
        </p:spPr>
        <p:txBody>
          <a:bodyPr vert="horz" lIns="95939" tIns="47969" rIns="95939" bIns="47969" rtlCol="0"/>
          <a:lstStyle>
            <a:lvl1pPr algn="l">
              <a:defRPr sz="1300"/>
            </a:lvl1pPr>
          </a:lstStyle>
          <a:p>
            <a:endParaRPr lang="en-US"/>
          </a:p>
        </p:txBody>
      </p:sp>
      <p:sp>
        <p:nvSpPr>
          <p:cNvPr id="3" name="Date Placeholder 2"/>
          <p:cNvSpPr>
            <a:spLocks noGrp="1"/>
          </p:cNvSpPr>
          <p:nvPr>
            <p:ph type="dt" idx="1"/>
          </p:nvPr>
        </p:nvSpPr>
        <p:spPr>
          <a:xfrm>
            <a:off x="3829390" y="1"/>
            <a:ext cx="2930114" cy="497710"/>
          </a:xfrm>
          <a:prstGeom prst="rect">
            <a:avLst/>
          </a:prstGeom>
        </p:spPr>
        <p:txBody>
          <a:bodyPr vert="horz" lIns="95939" tIns="47969" rIns="95939" bIns="47969" rtlCol="0"/>
          <a:lstStyle>
            <a:lvl1pPr algn="r">
              <a:defRPr sz="1300"/>
            </a:lvl1pPr>
          </a:lstStyle>
          <a:p>
            <a:fld id="{83C34350-90B2-47BE-9CE9-05754DF629C4}" type="datetimeFigureOut">
              <a:rPr lang="en-US" smtClean="0"/>
              <a:pPr/>
              <a:t>10-Apr-15</a:t>
            </a:fld>
            <a:endParaRPr lang="en-US"/>
          </a:p>
        </p:txBody>
      </p:sp>
      <p:sp>
        <p:nvSpPr>
          <p:cNvPr id="4" name="Slide Image Placeholder 3"/>
          <p:cNvSpPr>
            <a:spLocks noGrp="1" noRot="1" noChangeAspect="1"/>
          </p:cNvSpPr>
          <p:nvPr>
            <p:ph type="sldImg" idx="2"/>
          </p:nvPr>
        </p:nvSpPr>
        <p:spPr>
          <a:xfrm>
            <a:off x="893763" y="744538"/>
            <a:ext cx="4973637" cy="3730625"/>
          </a:xfrm>
          <a:prstGeom prst="rect">
            <a:avLst/>
          </a:prstGeom>
          <a:noFill/>
          <a:ln w="12700">
            <a:solidFill>
              <a:prstClr val="black"/>
            </a:solidFill>
          </a:ln>
        </p:spPr>
        <p:txBody>
          <a:bodyPr vert="horz" lIns="95939" tIns="47969" rIns="95939" bIns="47969" rtlCol="0" anchor="ctr"/>
          <a:lstStyle/>
          <a:p>
            <a:endParaRPr lang="en-US"/>
          </a:p>
        </p:txBody>
      </p:sp>
      <p:sp>
        <p:nvSpPr>
          <p:cNvPr id="5" name="Notes Placeholder 4"/>
          <p:cNvSpPr>
            <a:spLocks noGrp="1"/>
          </p:cNvSpPr>
          <p:nvPr>
            <p:ph type="body" sz="quarter" idx="3"/>
          </p:nvPr>
        </p:nvSpPr>
        <p:spPr>
          <a:xfrm>
            <a:off x="676946" y="4723237"/>
            <a:ext cx="5408930" cy="4474382"/>
          </a:xfrm>
          <a:prstGeom prst="rect">
            <a:avLst/>
          </a:prstGeom>
        </p:spPr>
        <p:txBody>
          <a:bodyPr vert="horz" lIns="95939" tIns="47969" rIns="95939" bIns="4796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3133"/>
            <a:ext cx="2930114" cy="497710"/>
          </a:xfrm>
          <a:prstGeom prst="rect">
            <a:avLst/>
          </a:prstGeom>
        </p:spPr>
        <p:txBody>
          <a:bodyPr vert="horz" lIns="95939" tIns="47969" rIns="95939" bIns="47969" rtlCol="0" anchor="b"/>
          <a:lstStyle>
            <a:lvl1pPr algn="l">
              <a:defRPr sz="1300"/>
            </a:lvl1pPr>
          </a:lstStyle>
          <a:p>
            <a:endParaRPr lang="en-US"/>
          </a:p>
        </p:txBody>
      </p:sp>
      <p:sp>
        <p:nvSpPr>
          <p:cNvPr id="7" name="Slide Number Placeholder 6"/>
          <p:cNvSpPr>
            <a:spLocks noGrp="1"/>
          </p:cNvSpPr>
          <p:nvPr>
            <p:ph type="sldNum" sz="quarter" idx="5"/>
          </p:nvPr>
        </p:nvSpPr>
        <p:spPr>
          <a:xfrm>
            <a:off x="3829390" y="9443133"/>
            <a:ext cx="2930114" cy="497710"/>
          </a:xfrm>
          <a:prstGeom prst="rect">
            <a:avLst/>
          </a:prstGeom>
        </p:spPr>
        <p:txBody>
          <a:bodyPr vert="horz" lIns="95939" tIns="47969" rIns="95939" bIns="47969" rtlCol="0" anchor="b"/>
          <a:lstStyle>
            <a:lvl1pPr algn="r">
              <a:defRPr sz="1300"/>
            </a:lvl1pPr>
          </a:lstStyle>
          <a:p>
            <a:fld id="{9852183F-44E5-4459-8A07-71D9C917134E}"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65F9F6-7FB7-4A7D-B4F1-D6760E605BE1}" type="slidenum">
              <a:rPr lang="en-US"/>
              <a:pPr/>
              <a:t>50</a:t>
            </a:fld>
            <a:endParaRPr lang="en-US"/>
          </a:p>
        </p:txBody>
      </p:sp>
      <p:sp>
        <p:nvSpPr>
          <p:cNvPr id="563202" name="Rectangle 2"/>
          <p:cNvSpPr>
            <a:spLocks noGrp="1" noRot="1" noChangeAspect="1" noChangeArrowheads="1" noTextEdit="1"/>
          </p:cNvSpPr>
          <p:nvPr>
            <p:ph type="sldImg"/>
          </p:nvPr>
        </p:nvSpPr>
        <p:spPr>
          <a:ln/>
        </p:spPr>
      </p:sp>
      <p:sp>
        <p:nvSpPr>
          <p:cNvPr id="5632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08BA78-FC26-4B77-9BAA-E29AFC4581FB}" type="slidenum">
              <a:rPr lang="en-US"/>
              <a:pPr/>
              <a:t>51</a:t>
            </a:fld>
            <a:endParaRPr lang="en-US"/>
          </a:p>
        </p:txBody>
      </p:sp>
      <p:sp>
        <p:nvSpPr>
          <p:cNvPr id="569346" name="Rectangle 2"/>
          <p:cNvSpPr>
            <a:spLocks noGrp="1" noRot="1" noChangeAspect="1" noChangeArrowheads="1" noTextEdit="1"/>
          </p:cNvSpPr>
          <p:nvPr>
            <p:ph type="sldImg"/>
          </p:nvPr>
        </p:nvSpPr>
        <p:spPr>
          <a:ln/>
        </p:spPr>
      </p:sp>
      <p:sp>
        <p:nvSpPr>
          <p:cNvPr id="569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B42291-D4AD-4E54-85C9-B3E7EA455CC0}" type="slidenum">
              <a:rPr lang="en-US"/>
              <a:pPr/>
              <a:t>52</a:t>
            </a:fld>
            <a:endParaRPr lang="en-US"/>
          </a:p>
        </p:txBody>
      </p:sp>
      <p:sp>
        <p:nvSpPr>
          <p:cNvPr id="567298" name="Rectangle 2"/>
          <p:cNvSpPr>
            <a:spLocks noGrp="1" noRot="1" noChangeAspect="1" noChangeArrowheads="1" noTextEdit="1"/>
          </p:cNvSpPr>
          <p:nvPr>
            <p:ph type="sldImg"/>
          </p:nvPr>
        </p:nvSpPr>
        <p:spPr>
          <a:ln/>
        </p:spPr>
      </p:sp>
      <p:sp>
        <p:nvSpPr>
          <p:cNvPr id="567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AA868B-1F0D-4A3F-80D2-DDF921BC3E4F}" type="slidenum">
              <a:rPr lang="en-US"/>
              <a:pPr/>
              <a:t>53</a:t>
            </a:fld>
            <a:endParaRPr lang="en-US"/>
          </a:p>
        </p:txBody>
      </p:sp>
      <p:sp>
        <p:nvSpPr>
          <p:cNvPr id="573442" name="Rectangle 2"/>
          <p:cNvSpPr>
            <a:spLocks noGrp="1" noRot="1" noChangeAspect="1" noChangeArrowheads="1" noTextEdit="1"/>
          </p:cNvSpPr>
          <p:nvPr>
            <p:ph type="sldImg"/>
          </p:nvPr>
        </p:nvSpPr>
        <p:spPr>
          <a:ln/>
        </p:spPr>
      </p:sp>
      <p:sp>
        <p:nvSpPr>
          <p:cNvPr id="573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2243BA-BDD9-4AF9-8BD4-53C8E83F5130}" type="slidenum">
              <a:rPr lang="en-US"/>
              <a:pPr/>
              <a:t>54</a:t>
            </a:fld>
            <a:endParaRPr lang="en-US"/>
          </a:p>
        </p:txBody>
      </p:sp>
      <p:sp>
        <p:nvSpPr>
          <p:cNvPr id="575490" name="Rectangle 2"/>
          <p:cNvSpPr>
            <a:spLocks noGrp="1" noRot="1" noChangeAspect="1" noChangeArrowheads="1" noTextEdit="1"/>
          </p:cNvSpPr>
          <p:nvPr>
            <p:ph type="sldImg"/>
          </p:nvPr>
        </p:nvSpPr>
        <p:spPr>
          <a:ln/>
        </p:spPr>
      </p:sp>
      <p:sp>
        <p:nvSpPr>
          <p:cNvPr id="575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713C28-C3D3-4275-B8A6-1CE185619386}" type="slidenum">
              <a:rPr lang="en-US"/>
              <a:pPr/>
              <a:t>55</a:t>
            </a:fld>
            <a:endParaRPr lang="en-US"/>
          </a:p>
        </p:txBody>
      </p:sp>
      <p:sp>
        <p:nvSpPr>
          <p:cNvPr id="524290" name="Rectangle 2"/>
          <p:cNvSpPr>
            <a:spLocks noGrp="1" noRot="1" noChangeAspect="1" noChangeArrowheads="1" noTextEdit="1"/>
          </p:cNvSpPr>
          <p:nvPr>
            <p:ph type="sldImg"/>
          </p:nvPr>
        </p:nvSpPr>
        <p:spPr>
          <a:ln/>
        </p:spPr>
      </p:sp>
      <p:sp>
        <p:nvSpPr>
          <p:cNvPr id="524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593B4D-7216-402C-AB34-57BF5476BE31}" type="slidenum">
              <a:rPr lang="en-US"/>
              <a:pPr/>
              <a:t>56</a:t>
            </a:fld>
            <a:endParaRPr lang="en-US"/>
          </a:p>
        </p:txBody>
      </p:sp>
      <p:sp>
        <p:nvSpPr>
          <p:cNvPr id="579586" name="Rectangle 2"/>
          <p:cNvSpPr>
            <a:spLocks noGrp="1" noRot="1" noChangeAspect="1" noChangeArrowheads="1" noTextEdit="1"/>
          </p:cNvSpPr>
          <p:nvPr>
            <p:ph type="sldImg"/>
          </p:nvPr>
        </p:nvSpPr>
        <p:spPr>
          <a:ln/>
        </p:spPr>
      </p:sp>
      <p:sp>
        <p:nvSpPr>
          <p:cNvPr id="579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41EC04-FFEF-4536-AF4D-9CBAD3DC8E5A}" type="slidenum">
              <a:rPr lang="en-US"/>
              <a:pPr/>
              <a:t>57</a:t>
            </a:fld>
            <a:endParaRPr lang="en-US"/>
          </a:p>
        </p:txBody>
      </p:sp>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82863B-AA27-44D9-ABE2-FD824DCC9145}" type="slidenum">
              <a:rPr lang="en-US"/>
              <a:pPr/>
              <a:t>58</a:t>
            </a:fld>
            <a:endParaRPr lang="en-US"/>
          </a:p>
        </p:txBody>
      </p:sp>
      <p:sp>
        <p:nvSpPr>
          <p:cNvPr id="526338" name="Rectangle 2"/>
          <p:cNvSpPr>
            <a:spLocks noGrp="1" noRot="1" noChangeAspect="1"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59560B-D42A-4902-A635-7336DE881C15}" type="slidenum">
              <a:rPr lang="en-US"/>
              <a:pPr/>
              <a:t>59</a:t>
            </a:fld>
            <a:endParaRPr lang="en-US"/>
          </a:p>
        </p:txBody>
      </p:sp>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276974-2023-4270-9DF3-F49A07DF90F9}" type="slidenum">
              <a:rPr lang="en-US"/>
              <a:pPr/>
              <a:t>60</a:t>
            </a:fld>
            <a:endParaRPr lang="en-US"/>
          </a:p>
        </p:txBody>
      </p:sp>
      <p:sp>
        <p:nvSpPr>
          <p:cNvPr id="528386" name="Rectangle 2"/>
          <p:cNvSpPr>
            <a:spLocks noGrp="1" noRot="1" noChangeAspect="1" noChangeArrowheads="1" noTextEdit="1"/>
          </p:cNvSpPr>
          <p:nvPr>
            <p:ph type="sldImg"/>
          </p:nvPr>
        </p:nvSpPr>
        <p:spPr>
          <a:ln/>
        </p:spPr>
      </p:sp>
      <p:sp>
        <p:nvSpPr>
          <p:cNvPr id="528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F6A268-248C-4D23-A17F-D28C6E21CB8D}" type="slidenum">
              <a:rPr lang="en-US"/>
              <a:pPr/>
              <a:t>61</a:t>
            </a:fld>
            <a:endParaRPr lang="en-US"/>
          </a:p>
        </p:txBody>
      </p:sp>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B42B57-6F8D-49AA-87DA-23A30403D228}" type="slidenum">
              <a:rPr lang="en-US"/>
              <a:pPr/>
              <a:t>62</a:t>
            </a:fld>
            <a:endParaRPr lang="en-US"/>
          </a:p>
        </p:txBody>
      </p:sp>
      <p:sp>
        <p:nvSpPr>
          <p:cNvPr id="589826" name="Rectangle 2"/>
          <p:cNvSpPr>
            <a:spLocks noGrp="1" noRot="1" noChangeAspect="1" noChangeArrowheads="1" noTextEdit="1"/>
          </p:cNvSpPr>
          <p:nvPr>
            <p:ph type="sldImg"/>
          </p:nvPr>
        </p:nvSpPr>
        <p:spPr>
          <a:ln/>
        </p:spPr>
      </p:sp>
      <p:sp>
        <p:nvSpPr>
          <p:cNvPr id="589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1EDEAE-AC10-4C1F-B2FB-26544AF04586}" type="slidenum">
              <a:rPr lang="en-US"/>
              <a:pPr/>
              <a:t>63</a:t>
            </a:fld>
            <a:endParaRPr lang="en-US"/>
          </a:p>
        </p:txBody>
      </p:sp>
      <p:sp>
        <p:nvSpPr>
          <p:cNvPr id="530434" name="Rectangle 2"/>
          <p:cNvSpPr>
            <a:spLocks noGrp="1" noRot="1" noChangeAspect="1" noChangeArrowheads="1" noTextEdit="1"/>
          </p:cNvSpPr>
          <p:nvPr>
            <p:ph type="sldImg"/>
          </p:nvPr>
        </p:nvSpPr>
        <p:spPr>
          <a:ln/>
        </p:spPr>
      </p:sp>
      <p:sp>
        <p:nvSpPr>
          <p:cNvPr id="530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B05CC7-8542-424F-A71E-D619FCA7EA24}" type="slidenum">
              <a:rPr lang="en-US"/>
              <a:pPr/>
              <a:t>64</a:t>
            </a:fld>
            <a:endParaRPr lang="en-US"/>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3F142C-EC82-49DC-A20E-24DAE99D96FC}" type="slidenum">
              <a:rPr lang="en-US"/>
              <a:pPr/>
              <a:t>65</a:t>
            </a:fld>
            <a:endParaRPr lang="en-US"/>
          </a:p>
        </p:txBody>
      </p:sp>
      <p:sp>
        <p:nvSpPr>
          <p:cNvPr id="532482" name="Rectangle 2"/>
          <p:cNvSpPr>
            <a:spLocks noGrp="1" noRot="1" noChangeAspect="1" noChangeArrowheads="1" noTextEdit="1"/>
          </p:cNvSpPr>
          <p:nvPr>
            <p:ph type="sldImg"/>
          </p:nvPr>
        </p:nvSpPr>
        <p:spPr>
          <a:ln/>
        </p:spPr>
      </p:sp>
      <p:sp>
        <p:nvSpPr>
          <p:cNvPr id="532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22052-B09E-44AF-9BBC-E8B3BD079D0A}" type="slidenum">
              <a:rPr lang="en-US"/>
              <a:pPr/>
              <a:t>66</a:t>
            </a:fld>
            <a:endParaRPr lang="en-US"/>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339A72-A403-4C3A-98E6-EFC0C64995F3}" type="slidenum">
              <a:rPr lang="en-US"/>
              <a:pPr/>
              <a:t>67</a:t>
            </a:fld>
            <a:endParaRPr lang="en-US"/>
          </a:p>
        </p:txBody>
      </p:sp>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AF80C-E2DE-4692-87AC-DCE7B4475E01}" type="slidenum">
              <a:rPr lang="en-US"/>
              <a:pPr/>
              <a:t>68</a:t>
            </a:fld>
            <a:endParaRPr lang="en-US"/>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830DA6-8722-4A57-8129-6F36FA641579}" type="slidenum">
              <a:rPr lang="en-US"/>
              <a:pPr/>
              <a:t>69</a:t>
            </a:fld>
            <a:endParaRPr lang="en-US"/>
          </a:p>
        </p:txBody>
      </p:sp>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778E95-CBAB-4035-8485-AFEB4FA03E84}" type="slidenum">
              <a:rPr lang="en-US"/>
              <a:pPr/>
              <a:t>70</a:t>
            </a:fld>
            <a:endParaRPr lang="en-US"/>
          </a:p>
        </p:txBody>
      </p:sp>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EEA0E2-887E-41A2-A4D0-523A7878F5CA}" type="slidenum">
              <a:rPr lang="en-US"/>
              <a:pPr/>
              <a:t>71</a:t>
            </a:fld>
            <a:endParaRPr lang="en-US"/>
          </a:p>
        </p:txBody>
      </p:sp>
      <p:sp>
        <p:nvSpPr>
          <p:cNvPr id="538626" name="Rectangle 2"/>
          <p:cNvSpPr>
            <a:spLocks noGrp="1" noRot="1" noChangeAspect="1" noChangeArrowheads="1" noTextEdit="1"/>
          </p:cNvSpPr>
          <p:nvPr>
            <p:ph type="sldImg"/>
          </p:nvPr>
        </p:nvSpPr>
        <p:spPr>
          <a:ln/>
        </p:spPr>
      </p:sp>
      <p:sp>
        <p:nvSpPr>
          <p:cNvPr id="53862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7485B54-C9A5-41A0-BF38-E795C59CD04F}" type="slidenum">
              <a:rPr lang="en-US" smtClean="0"/>
              <a:pPr>
                <a:defRPr/>
              </a:pPr>
              <a:t>‹#›</a:t>
            </a:fld>
            <a:endParaRPr lang="en-US"/>
          </a:p>
        </p:txBody>
      </p:sp>
      <p:sp>
        <p:nvSpPr>
          <p:cNvPr id="7" name="Text Box 158"/>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en-US" sz="1400">
                <a:latin typeface="McGrawHill-Italic" pitchFamily="2" charset="0"/>
              </a:rPr>
              <a:t>McGraw-Hill</a:t>
            </a:r>
            <a:endParaRPr lang="en-US" altLang="en-US" sz="2400">
              <a:latin typeface="Times New Roman" pitchFamily="18" charset="0"/>
            </a:endParaRPr>
          </a:p>
        </p:txBody>
      </p:sp>
      <p:sp>
        <p:nvSpPr>
          <p:cNvPr id="8" name="Text Box 159"/>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en-US" sz="1400">
                <a:latin typeface="McGrawHill-Italic" pitchFamily="2" charset="0"/>
              </a:rPr>
              <a:t>The McGraw-Hill Companies, Inc., 2000</a:t>
            </a:r>
            <a:endParaRPr lang="en-US" altLang="en-US" sz="240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B84B30C-80AB-47F0-AE89-913EA939A980}"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3DDCB2D-B27C-4B32-B743-FFDC3F94862B}"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D077CDF-00B5-4398-B684-E9327211B7D1}"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AA4D8CC-D937-469A-B3BC-03A70A210841}"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8E5AD2F-211D-4BD2-8A5C-2C06AAA6FDA3}"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8D51F359-4732-4AB7-8DD8-2F1DC4B37DD7}"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EB89782-668C-4CAA-AF49-DBDDBC7F4458}"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FEA4223-1E7A-4455-857B-7BE0199F6A88}"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D6E6EDE-088F-41A3-BBA8-0EDADBA36B02}"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1443306-B176-4426-8142-F1F6E657FF5E}"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a:prstGeom prst="rect">
            <a:avLst/>
          </a:prstGeom>
        </p:spPr>
        <p:txBody>
          <a:bodyPr/>
          <a:lstStyle/>
          <a:p>
            <a:endParaRPr lang="en-US"/>
          </a:p>
        </p:txBody>
      </p:sp>
      <p:sp>
        <p:nvSpPr>
          <p:cNvPr id="4" name="Footer Placeholder 3"/>
          <p:cNvSpPr>
            <a:spLocks noGrp="1"/>
          </p:cNvSpPr>
          <p:nvPr>
            <p:ph type="ftr" sz="quarter" idx="10"/>
          </p:nvPr>
        </p:nvSpPr>
        <p:spPr>
          <a:xfrm>
            <a:off x="76200" y="6248400"/>
            <a:ext cx="2895600" cy="457200"/>
          </a:xfrm>
        </p:spPr>
        <p:txBody>
          <a:bodyPr/>
          <a:lstStyle>
            <a:lvl1pPr>
              <a:defRPr/>
            </a:lvl1pPr>
          </a:lstStyle>
          <a:p>
            <a:endParaRPr lang="en-US"/>
          </a:p>
        </p:txBody>
      </p:sp>
      <p:sp>
        <p:nvSpPr>
          <p:cNvPr id="5" name="Slide Number Placeholder 4"/>
          <p:cNvSpPr>
            <a:spLocks noGrp="1"/>
          </p:cNvSpPr>
          <p:nvPr>
            <p:ph type="sldNum" sz="quarter" idx="11"/>
          </p:nvPr>
        </p:nvSpPr>
        <p:spPr>
          <a:xfrm>
            <a:off x="7042150" y="6243638"/>
            <a:ext cx="1905000" cy="457200"/>
          </a:xfrm>
        </p:spPr>
        <p:txBody>
          <a:bodyPr/>
          <a:lstStyle>
            <a:lvl1pPr>
              <a:defRPr/>
            </a:lvl1pPr>
          </a:lstStyle>
          <a:p>
            <a:fld id="{D8D82C5D-2DCF-40B7-9E22-D07522575FBB}"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1AB5C1A-6B67-44F9-8925-8F01C3B8C970}" type="slidenum">
              <a:rPr lang="en-US" smtClean="0"/>
              <a:pPr>
                <a:defRPr/>
              </a:pPr>
              <a:t>‹#›</a:t>
            </a:fld>
            <a:endParaRPr lang="en-US"/>
          </a:p>
        </p:txBody>
      </p:sp>
      <p:sp>
        <p:nvSpPr>
          <p:cNvPr id="7" name="Text Box 158"/>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en-US" sz="1400">
                <a:latin typeface="McGrawHill-Italic" pitchFamily="2" charset="0"/>
              </a:rPr>
              <a:t>McGraw-Hill</a:t>
            </a:r>
            <a:endParaRPr lang="en-US" altLang="en-US" sz="2400">
              <a:latin typeface="Times New Roman" pitchFamily="18" charset="0"/>
            </a:endParaRPr>
          </a:p>
        </p:txBody>
      </p:sp>
      <p:sp>
        <p:nvSpPr>
          <p:cNvPr id="8" name="Text Box 159"/>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en-US" sz="1400">
                <a:latin typeface="McGrawHill-Italic" pitchFamily="2" charset="0"/>
              </a:rPr>
              <a:t>The McGraw-Hill Companies, Inc., 2004</a:t>
            </a:r>
            <a:endParaRPr lang="en-US" alt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Frame_(networking)"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5.bin"/></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emf"/><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5.emf"/><Relationship Id="rId7" Type="http://schemas.openxmlformats.org/officeDocument/2006/relationships/image" Target="../media/image59.em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62.emf"/><Relationship Id="rId4" Type="http://schemas.openxmlformats.org/officeDocument/2006/relationships/image" Target="../media/image61.emf"/></Relationships>
</file>

<file path=ppt/slides/_rels/slide71.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Text Box 8"/>
          <p:cNvSpPr txBox="1">
            <a:spLocks noChangeArrowheads="1"/>
          </p:cNvSpPr>
          <p:nvPr/>
        </p:nvSpPr>
        <p:spPr bwMode="auto">
          <a:xfrm>
            <a:off x="685800" y="1676400"/>
            <a:ext cx="7848600" cy="2246769"/>
          </a:xfrm>
          <a:prstGeom prst="rect">
            <a:avLst/>
          </a:prstGeom>
          <a:noFill/>
          <a:ln w="9525">
            <a:noFill/>
            <a:miter lim="800000"/>
            <a:headEnd/>
            <a:tailEnd/>
          </a:ln>
        </p:spPr>
        <p:txBody>
          <a:bodyPr wrap="square">
            <a:spAutoFit/>
          </a:bodyPr>
          <a:lstStyle/>
          <a:p>
            <a:pPr algn="ctr" eaLnBrk="1" hangingPunct="1"/>
            <a:r>
              <a:rPr lang="en-US" altLang="en-US" sz="8000" b="1" i="1" dirty="0" smtClean="0">
                <a:solidFill>
                  <a:srgbClr val="000000"/>
                </a:solidFill>
                <a:latin typeface="Times New Roman" pitchFamily="18" charset="0"/>
              </a:rPr>
              <a:t>Week-5</a:t>
            </a:r>
            <a:endParaRPr lang="en-US" altLang="en-US" sz="8000" b="1" i="1" dirty="0">
              <a:solidFill>
                <a:srgbClr val="000000"/>
              </a:solidFill>
              <a:latin typeface="Times New Roman" pitchFamily="18" charset="0"/>
            </a:endParaRPr>
          </a:p>
          <a:p>
            <a:pPr algn="ctr" eaLnBrk="1" hangingPunct="1"/>
            <a:r>
              <a:rPr lang="en-US" altLang="en-US" sz="6000" b="1" i="1" dirty="0">
                <a:solidFill>
                  <a:srgbClr val="000000"/>
                </a:solidFill>
                <a:latin typeface="Times New Roman" pitchFamily="18" charset="0"/>
              </a:rPr>
              <a:t>ARP, </a:t>
            </a:r>
            <a:r>
              <a:rPr lang="en-US" altLang="en-US" sz="6000" b="1" i="1" dirty="0" err="1" smtClean="0">
                <a:solidFill>
                  <a:srgbClr val="000000"/>
                </a:solidFill>
                <a:latin typeface="Times New Roman" pitchFamily="18" charset="0"/>
              </a:rPr>
              <a:t>RARp</a:t>
            </a:r>
            <a:r>
              <a:rPr lang="en-US" altLang="en-US" sz="6000" b="1" i="1" dirty="0" smtClean="0">
                <a:solidFill>
                  <a:srgbClr val="000000"/>
                </a:solidFill>
                <a:latin typeface="Times New Roman" pitchFamily="18" charset="0"/>
              </a:rPr>
              <a:t>, </a:t>
            </a:r>
            <a:r>
              <a:rPr lang="en-US" altLang="en-US" sz="6000" b="1" i="1" dirty="0" err="1" smtClean="0">
                <a:solidFill>
                  <a:srgbClr val="000000"/>
                </a:solidFill>
                <a:latin typeface="Times New Roman" pitchFamily="18" charset="0"/>
              </a:rPr>
              <a:t>IPv4</a:t>
            </a:r>
            <a:r>
              <a:rPr lang="en-US" altLang="en-US" sz="6000" b="1" i="1" dirty="0" smtClean="0">
                <a:solidFill>
                  <a:srgbClr val="000000"/>
                </a:solidFill>
                <a:latin typeface="Times New Roman" pitchFamily="18" charset="0"/>
              </a:rPr>
              <a:t>, </a:t>
            </a:r>
            <a:r>
              <a:rPr lang="en-US" altLang="en-US" sz="6000" b="1" i="1" dirty="0" err="1" smtClean="0">
                <a:solidFill>
                  <a:srgbClr val="000000"/>
                </a:solidFill>
                <a:latin typeface="Times New Roman" pitchFamily="18" charset="0"/>
              </a:rPr>
              <a:t>IPv6</a:t>
            </a:r>
            <a:endParaRPr lang="en-US" altLang="en-US" sz="6000" b="1" i="1" dirty="0">
              <a:solidFill>
                <a:srgbClr val="000000"/>
              </a:solidFill>
              <a:latin typeface="Times New Roman" pitchFamily="18" charset="0"/>
            </a:endParaRPr>
          </a:p>
        </p:txBody>
      </p:sp>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1</a:t>
            </a:fld>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Protocols </a:t>
            </a:r>
            <a:r>
              <a:rPr lang="en-US" altLang="en-US" b="1" dirty="0">
                <a:solidFill>
                  <a:srgbClr val="000000"/>
                </a:solidFill>
                <a:latin typeface="Times New Roman" pitchFamily="18" charset="0"/>
              </a:rPr>
              <a:t>at network layer</a:t>
            </a:r>
          </a:p>
        </p:txBody>
      </p:sp>
      <p:sp>
        <p:nvSpPr>
          <p:cNvPr id="2150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0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0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1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1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1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solidFill>
                <a:srgbClr val="000000"/>
              </a:solidFill>
            </a:endParaRPr>
          </a:p>
        </p:txBody>
      </p:sp>
      <p:sp>
        <p:nvSpPr>
          <p:cNvPr id="2151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solidFill>
                <a:srgbClr val="000000"/>
              </a:solidFill>
            </a:endParaRPr>
          </a:p>
        </p:txBody>
      </p:sp>
      <p:pic>
        <p:nvPicPr>
          <p:cNvPr id="21514" name="Picture 12"/>
          <p:cNvPicPr>
            <a:picLocks noChangeAspect="1" noChangeArrowheads="1"/>
          </p:cNvPicPr>
          <p:nvPr/>
        </p:nvPicPr>
        <p:blipFill>
          <a:blip r:embed="rId2" cstate="print"/>
          <a:srcRect/>
          <a:stretch>
            <a:fillRect/>
          </a:stretch>
        </p:blipFill>
        <p:spPr bwMode="auto">
          <a:xfrm>
            <a:off x="381000" y="3810000"/>
            <a:ext cx="8369300" cy="1822450"/>
          </a:xfrm>
          <a:prstGeom prst="rect">
            <a:avLst/>
          </a:prstGeom>
          <a:noFill/>
          <a:ln w="9525">
            <a:noFill/>
            <a:miter lim="800000"/>
            <a:headEnd/>
            <a:tailEnd/>
          </a:ln>
        </p:spPr>
      </p:pic>
      <p:sp>
        <p:nvSpPr>
          <p:cNvPr id="21515" name="Rectangle 13"/>
          <p:cNvSpPr>
            <a:spLocks noChangeArrowheads="1"/>
          </p:cNvSpPr>
          <p:nvPr/>
        </p:nvSpPr>
        <p:spPr bwMode="auto">
          <a:xfrm>
            <a:off x="1447800" y="706954"/>
            <a:ext cx="5464701" cy="2092881"/>
          </a:xfrm>
          <a:prstGeom prst="rect">
            <a:avLst/>
          </a:prstGeom>
          <a:noFill/>
          <a:ln w="9525">
            <a:noFill/>
            <a:miter lim="800000"/>
            <a:headEnd/>
            <a:tailEnd/>
          </a:ln>
        </p:spPr>
        <p:txBody>
          <a:bodyPr wrap="none" anchor="ctr">
            <a:spAutoFit/>
          </a:bodyPr>
          <a:lstStyle/>
          <a:p>
            <a:pPr marL="457200" indent="-457200">
              <a:tabLst>
                <a:tab pos="457200" algn="l"/>
              </a:tabLst>
            </a:pPr>
            <a:r>
              <a:rPr lang="en-US" altLang="zh-CN" sz="2000" b="1" dirty="0">
                <a:solidFill>
                  <a:srgbClr val="000000"/>
                </a:solidFill>
                <a:ea typeface="宋体" pitchFamily="2" charset="-122"/>
              </a:rPr>
              <a:t>Network layer Protocols</a:t>
            </a:r>
          </a:p>
          <a:p>
            <a:pPr marL="457200" indent="-457200">
              <a:buFontTx/>
              <a:buAutoNum type="arabicPeriod"/>
              <a:tabLst>
                <a:tab pos="457200" algn="l"/>
              </a:tabLst>
            </a:pPr>
            <a:endParaRPr lang="en-US" altLang="zh-CN" sz="2000" b="1" dirty="0">
              <a:solidFill>
                <a:srgbClr val="000000"/>
              </a:solidFill>
              <a:ea typeface="宋体" pitchFamily="2" charset="-122"/>
            </a:endParaRPr>
          </a:p>
          <a:p>
            <a:pPr marL="457200" indent="-457200">
              <a:buFontTx/>
              <a:buAutoNum type="arabicPeriod"/>
              <a:tabLst>
                <a:tab pos="457200" algn="l"/>
              </a:tabLst>
            </a:pPr>
            <a:r>
              <a:rPr lang="en-US" altLang="zh-CN" b="1" dirty="0" err="1">
                <a:solidFill>
                  <a:srgbClr val="000000"/>
                </a:solidFill>
                <a:ea typeface="宋体" pitchFamily="2" charset="-122"/>
              </a:rPr>
              <a:t>IGMP</a:t>
            </a:r>
            <a:endParaRPr lang="en-US" altLang="zh-CN" b="1" dirty="0">
              <a:solidFill>
                <a:srgbClr val="000000"/>
              </a:solidFill>
              <a:ea typeface="宋体" pitchFamily="2" charset="-122"/>
            </a:endParaRPr>
          </a:p>
          <a:p>
            <a:pPr marL="457200" indent="-457200">
              <a:buFontTx/>
              <a:buAutoNum type="arabicPeriod"/>
              <a:tabLst>
                <a:tab pos="457200" algn="l"/>
              </a:tabLst>
            </a:pPr>
            <a:r>
              <a:rPr lang="en-US" altLang="zh-CN" b="1" dirty="0">
                <a:solidFill>
                  <a:srgbClr val="000000"/>
                </a:solidFill>
                <a:ea typeface="宋体" pitchFamily="2" charset="-122"/>
              </a:rPr>
              <a:t>IP (main protocol)</a:t>
            </a:r>
          </a:p>
          <a:p>
            <a:pPr marL="457200" indent="-457200">
              <a:buFontTx/>
              <a:buAutoNum type="arabicPeriod"/>
              <a:tabLst>
                <a:tab pos="457200" algn="l"/>
              </a:tabLst>
            </a:pPr>
            <a:r>
              <a:rPr lang="en-US" altLang="zh-CN" b="1" dirty="0">
                <a:solidFill>
                  <a:srgbClr val="000000"/>
                </a:solidFill>
                <a:ea typeface="宋体" pitchFamily="2" charset="-122"/>
              </a:rPr>
              <a:t>ARP</a:t>
            </a:r>
          </a:p>
          <a:p>
            <a:pPr marL="457200" indent="-457200">
              <a:buFontTx/>
              <a:buAutoNum type="arabicPeriod"/>
              <a:tabLst>
                <a:tab pos="457200" algn="l"/>
              </a:tabLst>
            </a:pPr>
            <a:r>
              <a:rPr lang="en-US" altLang="zh-CN" b="1" dirty="0" err="1">
                <a:solidFill>
                  <a:srgbClr val="000000"/>
                </a:solidFill>
                <a:ea typeface="宋体" pitchFamily="2" charset="-122"/>
              </a:rPr>
              <a:t>RARP</a:t>
            </a:r>
            <a:endParaRPr lang="en-US" altLang="zh-CN" b="1" dirty="0">
              <a:solidFill>
                <a:srgbClr val="000000"/>
              </a:solidFill>
              <a:ea typeface="宋体" pitchFamily="2" charset="-122"/>
            </a:endParaRPr>
          </a:p>
          <a:p>
            <a:pPr marL="457200" indent="-457200">
              <a:buFontTx/>
              <a:buAutoNum type="arabicPeriod"/>
              <a:tabLst>
                <a:tab pos="457200" algn="l"/>
              </a:tabLst>
            </a:pPr>
            <a:r>
              <a:rPr lang="en-US" altLang="zh-CN" b="1" dirty="0" err="1" smtClean="0">
                <a:solidFill>
                  <a:srgbClr val="000000"/>
                </a:solidFill>
                <a:ea typeface="宋体" pitchFamily="2" charset="-122"/>
              </a:rPr>
              <a:t>ICMP</a:t>
            </a:r>
            <a:r>
              <a:rPr lang="en-US" dirty="0" err="1" smtClean="0"/>
              <a:t>The</a:t>
            </a:r>
            <a:r>
              <a:rPr lang="en-US" dirty="0" smtClean="0"/>
              <a:t> Internet Control Message Protocol .</a:t>
            </a:r>
            <a:endParaRPr lang="en-US" altLang="zh-CN" b="1" dirty="0">
              <a:solidFill>
                <a:srgbClr val="000000"/>
              </a:solidFill>
              <a:ea typeface="宋体" pitchFamily="2" charset="-122"/>
            </a:endParaRP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2</a:t>
            </a:fld>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b="1" dirty="0" smtClean="0">
                <a:solidFill>
                  <a:srgbClr val="000000"/>
                </a:solidFill>
                <a:effectLst/>
                <a:ea typeface="宋体" pitchFamily="2" charset="-122"/>
              </a:rPr>
              <a:t>IP criteria:</a:t>
            </a:r>
            <a:endParaRPr lang="en-US" b="1" dirty="0" smtClean="0">
              <a:solidFill>
                <a:srgbClr val="000000"/>
              </a:solidFill>
              <a:effectLst/>
            </a:endParaRPr>
          </a:p>
        </p:txBody>
      </p:sp>
      <p:sp>
        <p:nvSpPr>
          <p:cNvPr id="22531" name="Rectangle 3"/>
          <p:cNvSpPr>
            <a:spLocks noGrp="1" noChangeArrowheads="1"/>
          </p:cNvSpPr>
          <p:nvPr>
            <p:ph idx="1"/>
          </p:nvPr>
        </p:nvSpPr>
        <p:spPr/>
        <p:txBody>
          <a:bodyPr/>
          <a:lstStyle/>
          <a:p>
            <a:pPr eaLnBrk="1" hangingPunct="1">
              <a:lnSpc>
                <a:spcPct val="90000"/>
              </a:lnSpc>
            </a:pPr>
            <a:r>
              <a:rPr lang="en-US" altLang="zh-CN" sz="2800" dirty="0" smtClean="0">
                <a:solidFill>
                  <a:srgbClr val="000000"/>
                </a:solidFill>
                <a:effectLst/>
                <a:ea typeface="宋体" pitchFamily="2" charset="-122"/>
              </a:rPr>
              <a:t>Responsible for host to host delivery of </a:t>
            </a:r>
            <a:r>
              <a:rPr lang="en-US" altLang="zh-CN" sz="2800" dirty="0" err="1" smtClean="0">
                <a:solidFill>
                  <a:srgbClr val="000000"/>
                </a:solidFill>
                <a:effectLst/>
                <a:ea typeface="宋体" pitchFamily="2" charset="-122"/>
              </a:rPr>
              <a:t>datagrams</a:t>
            </a:r>
            <a:r>
              <a:rPr lang="en-US" altLang="zh-CN" sz="2800" dirty="0" smtClean="0">
                <a:solidFill>
                  <a:srgbClr val="000000"/>
                </a:solidFill>
                <a:effectLst/>
                <a:ea typeface="宋体" pitchFamily="2" charset="-122"/>
              </a:rPr>
              <a:t> from a source to destination.</a:t>
            </a:r>
          </a:p>
          <a:p>
            <a:pPr eaLnBrk="1" hangingPunct="1">
              <a:lnSpc>
                <a:spcPct val="90000"/>
              </a:lnSpc>
            </a:pPr>
            <a:r>
              <a:rPr lang="en-US" altLang="zh-CN" sz="2800" dirty="0" smtClean="0">
                <a:solidFill>
                  <a:srgbClr val="000000"/>
                </a:solidFill>
                <a:effectLst/>
                <a:ea typeface="宋体" pitchFamily="2" charset="-122"/>
              </a:rPr>
              <a:t>Needs a protocol called ARP to find the MAC(Physical) address of the next hop.</a:t>
            </a:r>
          </a:p>
          <a:p>
            <a:pPr eaLnBrk="1" hangingPunct="1">
              <a:lnSpc>
                <a:spcPct val="90000"/>
              </a:lnSpc>
            </a:pPr>
            <a:r>
              <a:rPr lang="en-US" altLang="zh-CN" sz="2800" dirty="0" smtClean="0">
                <a:solidFill>
                  <a:srgbClr val="000000"/>
                </a:solidFill>
                <a:effectLst/>
                <a:ea typeface="宋体" pitchFamily="2" charset="-122"/>
              </a:rPr>
              <a:t>IP is designed for </a:t>
            </a:r>
            <a:r>
              <a:rPr lang="en-US" altLang="zh-CN" sz="2800" dirty="0" err="1" smtClean="0">
                <a:solidFill>
                  <a:srgbClr val="000000"/>
                </a:solidFill>
                <a:effectLst/>
                <a:ea typeface="宋体" pitchFamily="2" charset="-122"/>
              </a:rPr>
              <a:t>unicast</a:t>
            </a:r>
            <a:r>
              <a:rPr lang="en-US" altLang="zh-CN" sz="2800" dirty="0" smtClean="0">
                <a:solidFill>
                  <a:srgbClr val="000000"/>
                </a:solidFill>
                <a:effectLst/>
                <a:ea typeface="宋体" pitchFamily="2" charset="-122"/>
              </a:rPr>
              <a:t> delivery.</a:t>
            </a:r>
          </a:p>
          <a:p>
            <a:pPr eaLnBrk="1" hangingPunct="1">
              <a:lnSpc>
                <a:spcPct val="90000"/>
              </a:lnSpc>
            </a:pPr>
            <a:r>
              <a:rPr lang="en-US" altLang="zh-CN" sz="2800" dirty="0" smtClean="0">
                <a:solidFill>
                  <a:srgbClr val="000000"/>
                </a:solidFill>
                <a:effectLst/>
                <a:ea typeface="宋体" pitchFamily="2" charset="-122"/>
              </a:rPr>
              <a:t>For multicasting, IP uses the services of </a:t>
            </a:r>
            <a:r>
              <a:rPr lang="en-US" altLang="zh-CN" sz="2800" dirty="0" err="1" smtClean="0">
                <a:solidFill>
                  <a:srgbClr val="000000"/>
                </a:solidFill>
                <a:effectLst/>
                <a:ea typeface="宋体" pitchFamily="2" charset="-122"/>
              </a:rPr>
              <a:t>IGMP</a:t>
            </a:r>
            <a:r>
              <a:rPr lang="en-US" altLang="zh-CN" sz="2800" dirty="0" smtClean="0">
                <a:solidFill>
                  <a:srgbClr val="000000"/>
                </a:solidFill>
                <a:effectLst/>
                <a:ea typeface="宋体" pitchFamily="2" charset="-122"/>
              </a:rPr>
              <a:t>.</a:t>
            </a:r>
          </a:p>
          <a:p>
            <a:pPr eaLnBrk="1" hangingPunct="1">
              <a:lnSpc>
                <a:spcPct val="90000"/>
              </a:lnSpc>
            </a:pPr>
            <a:r>
              <a:rPr lang="en-US" altLang="zh-CN" sz="2800" dirty="0" smtClean="0">
                <a:solidFill>
                  <a:srgbClr val="000000"/>
                </a:solidFill>
                <a:effectLst/>
                <a:ea typeface="宋体" pitchFamily="2" charset="-122"/>
              </a:rPr>
              <a:t>During the datagram delivery, IP needs the services of </a:t>
            </a:r>
            <a:r>
              <a:rPr lang="en-US" altLang="zh-CN" sz="2800" dirty="0" err="1" smtClean="0">
                <a:solidFill>
                  <a:srgbClr val="000000"/>
                </a:solidFill>
                <a:effectLst/>
                <a:ea typeface="宋体" pitchFamily="2" charset="-122"/>
              </a:rPr>
              <a:t>ICMP</a:t>
            </a:r>
            <a:r>
              <a:rPr lang="en-US" altLang="zh-CN" sz="2800" dirty="0" smtClean="0">
                <a:solidFill>
                  <a:srgbClr val="000000"/>
                </a:solidFill>
                <a:effectLst/>
                <a:ea typeface="宋体" pitchFamily="2" charset="-122"/>
              </a:rPr>
              <a:t> to handle unusual situation (Error).</a:t>
            </a:r>
          </a:p>
          <a:p>
            <a:pPr eaLnBrk="1" hangingPunct="1">
              <a:lnSpc>
                <a:spcPct val="90000"/>
              </a:lnSpc>
            </a:pPr>
            <a:r>
              <a:rPr lang="en-US" altLang="zh-CN" sz="2800" dirty="0" smtClean="0">
                <a:solidFill>
                  <a:srgbClr val="000000"/>
                </a:solidFill>
                <a:effectLst/>
                <a:ea typeface="宋体" pitchFamily="2" charset="-122"/>
              </a:rPr>
              <a:t>The current version is </a:t>
            </a:r>
            <a:r>
              <a:rPr lang="en-US" altLang="zh-CN" sz="2800" dirty="0" err="1" smtClean="0">
                <a:solidFill>
                  <a:srgbClr val="000000"/>
                </a:solidFill>
                <a:effectLst/>
                <a:ea typeface="宋体" pitchFamily="2" charset="-122"/>
              </a:rPr>
              <a:t>IPV6</a:t>
            </a:r>
            <a:r>
              <a:rPr lang="en-US" altLang="zh-CN" sz="2800" dirty="0" smtClean="0">
                <a:solidFill>
                  <a:srgbClr val="000000"/>
                </a:solidFill>
                <a:effectLst/>
                <a:ea typeface="宋体" pitchFamily="2" charset="-122"/>
              </a:rPr>
              <a:t>.</a:t>
            </a:r>
            <a:endParaRPr lang="en-US" sz="2800" dirty="0" smtClean="0">
              <a:solidFill>
                <a:srgbClr val="000000"/>
              </a:solidFill>
              <a:effectLst/>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3</a:t>
            </a:fld>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cstate="print"/>
          <a:srcRect/>
          <a:stretch>
            <a:fillRect/>
          </a:stretch>
        </p:blipFill>
        <p:spPr bwMode="auto">
          <a:xfrm>
            <a:off x="106363" y="1539875"/>
            <a:ext cx="8931275" cy="377825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4</a:t>
            </a:fld>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578" name="Group 2"/>
          <p:cNvGrpSpPr>
            <a:grpSpLocks/>
          </p:cNvGrpSpPr>
          <p:nvPr/>
        </p:nvGrpSpPr>
        <p:grpSpPr bwMode="auto">
          <a:xfrm>
            <a:off x="0" y="0"/>
            <a:ext cx="8686800" cy="6553200"/>
            <a:chOff x="0" y="96"/>
            <a:chExt cx="5472" cy="3840"/>
          </a:xfrm>
        </p:grpSpPr>
        <p:sp>
          <p:nvSpPr>
            <p:cNvPr id="24584"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p:spPr>
          <p:txBody>
            <a:bodyPr wrap="none" anchor="ctr"/>
            <a:lstStyle/>
            <a:p>
              <a:pPr algn="ctr" eaLnBrk="1" hangingPunct="1"/>
              <a:endParaRPr lang="en-US" sz="2400" b="1">
                <a:solidFill>
                  <a:srgbClr val="000000"/>
                </a:solidFill>
                <a:latin typeface="Times New Roman" pitchFamily="18" charset="0"/>
              </a:endParaRPr>
            </a:p>
          </p:txBody>
        </p:sp>
        <p:sp>
          <p:nvSpPr>
            <p:cNvPr id="24585" name="AutoShape 4"/>
            <p:cNvSpPr>
              <a:spLocks noChangeArrowheads="1"/>
            </p:cNvSpPr>
            <p:nvPr/>
          </p:nvSpPr>
          <p:spPr bwMode="blackWhite">
            <a:xfrm>
              <a:off x="0" y="96"/>
              <a:ext cx="5376" cy="768"/>
            </a:xfrm>
            <a:custGeom>
              <a:avLst/>
              <a:gdLst>
                <a:gd name="T0" fmla="*/ 0 w 7000"/>
                <a:gd name="T1" fmla="*/ 0 h 1000"/>
                <a:gd name="T2" fmla="*/ 2721 w 7000"/>
                <a:gd name="T3" fmla="*/ 0 h 1000"/>
                <a:gd name="T4" fmla="*/ 2948 w 7000"/>
                <a:gd name="T5" fmla="*/ 227 h 1000"/>
                <a:gd name="T6" fmla="*/ 2722 w 7000"/>
                <a:gd name="T7" fmla="*/ 453 h 1000"/>
                <a:gd name="T8" fmla="*/ 0 w 7000"/>
                <a:gd name="T9" fmla="*/ 453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close/>
                </a:path>
              </a:pathLst>
            </a:custGeom>
            <a:solidFill>
              <a:schemeClr val="folHlink"/>
            </a:solidFill>
            <a:ln w="9525">
              <a:noFill/>
              <a:miter lim="800000"/>
              <a:headEnd/>
              <a:tailEnd/>
            </a:ln>
          </p:spPr>
          <p:txBody>
            <a:bodyPr/>
            <a:lstStyle/>
            <a:p>
              <a:endParaRPr lang="en-US"/>
            </a:p>
          </p:txBody>
        </p:sp>
        <p:sp>
          <p:nvSpPr>
            <p:cNvPr id="24586" name="Line 5"/>
            <p:cNvSpPr>
              <a:spLocks noChangeShapeType="1"/>
            </p:cNvSpPr>
            <p:nvPr/>
          </p:nvSpPr>
          <p:spPr bwMode="auto">
            <a:xfrm>
              <a:off x="0" y="768"/>
              <a:ext cx="5088" cy="0"/>
            </a:xfrm>
            <a:prstGeom prst="line">
              <a:avLst/>
            </a:prstGeom>
            <a:noFill/>
            <a:ln w="38100">
              <a:solidFill>
                <a:schemeClr val="bg1"/>
              </a:solidFill>
              <a:round/>
              <a:headEnd/>
              <a:tailEnd/>
            </a:ln>
          </p:spPr>
          <p:txBody>
            <a:bodyPr/>
            <a:lstStyle/>
            <a:p>
              <a:endParaRPr lang="en-US"/>
            </a:p>
          </p:txBody>
        </p:sp>
      </p:grpSp>
      <p:sp>
        <p:nvSpPr>
          <p:cNvPr id="514054" name="Text Box 6"/>
          <p:cNvSpPr txBox="1">
            <a:spLocks noChangeArrowheads="1"/>
          </p:cNvSpPr>
          <p:nvPr/>
        </p:nvSpPr>
        <p:spPr bwMode="auto">
          <a:xfrm>
            <a:off x="228600" y="304800"/>
            <a:ext cx="1266693" cy="707886"/>
          </a:xfrm>
          <a:prstGeom prst="rect">
            <a:avLst/>
          </a:prstGeom>
          <a:noFill/>
          <a:ln w="9525">
            <a:noFill/>
            <a:miter lim="800000"/>
            <a:headEnd/>
            <a:tailEnd/>
          </a:ln>
          <a:effectLst/>
        </p:spPr>
        <p:txBody>
          <a:bodyPr wrap="none">
            <a:spAutoFit/>
          </a:bodyPr>
          <a:lstStyle/>
          <a:p>
            <a:pPr>
              <a:defRPr/>
            </a:pPr>
            <a:r>
              <a:rPr lang="en-US" sz="4000" b="1" dirty="0" smtClean="0">
                <a:solidFill>
                  <a:srgbClr val="000000"/>
                </a:solidFill>
                <a:effectLst>
                  <a:outerShdw blurRad="38100" dist="38100" dir="2700000" algn="tl">
                    <a:srgbClr val="000000"/>
                  </a:outerShdw>
                </a:effectLst>
                <a:latin typeface="Arial" charset="0"/>
              </a:rPr>
              <a:t>ARP</a:t>
            </a:r>
            <a:endParaRPr lang="en-US" sz="4000" b="1" dirty="0">
              <a:solidFill>
                <a:srgbClr val="000000"/>
              </a:solidFill>
              <a:effectLst>
                <a:outerShdw blurRad="38100" dist="38100" dir="2700000" algn="tl">
                  <a:srgbClr val="000000"/>
                </a:outerShdw>
              </a:effectLst>
              <a:latin typeface="Arial" charset="0"/>
            </a:endParaRPr>
          </a:p>
        </p:txBody>
      </p:sp>
      <p:sp>
        <p:nvSpPr>
          <p:cNvPr id="514055" name="Text Box 7"/>
          <p:cNvSpPr txBox="1">
            <a:spLocks noChangeArrowheads="1"/>
          </p:cNvSpPr>
          <p:nvPr/>
        </p:nvSpPr>
        <p:spPr bwMode="auto">
          <a:xfrm>
            <a:off x="914400" y="1524000"/>
            <a:ext cx="1851025" cy="579438"/>
          </a:xfrm>
          <a:prstGeom prst="rect">
            <a:avLst/>
          </a:prstGeom>
          <a:noFill/>
          <a:ln w="9525">
            <a:noFill/>
            <a:miter lim="800000"/>
            <a:headEnd/>
            <a:tailEnd/>
          </a:ln>
        </p:spPr>
        <p:txBody>
          <a:bodyPr wrap="none">
            <a:spAutoFit/>
          </a:bodyPr>
          <a:lstStyle/>
          <a:p>
            <a:pPr marL="457200" indent="-457200"/>
            <a:r>
              <a:rPr lang="en-US" sz="3200" b="1" i="1" dirty="0">
                <a:solidFill>
                  <a:srgbClr val="000000"/>
                </a:solidFill>
                <a:latin typeface="Arial" charset="0"/>
              </a:rPr>
              <a:t>Mapping</a:t>
            </a:r>
          </a:p>
        </p:txBody>
      </p:sp>
      <p:sp>
        <p:nvSpPr>
          <p:cNvPr id="514056" name="Text Box 8"/>
          <p:cNvSpPr txBox="1">
            <a:spLocks noChangeArrowheads="1"/>
          </p:cNvSpPr>
          <p:nvPr/>
        </p:nvSpPr>
        <p:spPr bwMode="auto">
          <a:xfrm>
            <a:off x="914400" y="2574925"/>
            <a:ext cx="2981325" cy="579438"/>
          </a:xfrm>
          <a:prstGeom prst="rect">
            <a:avLst/>
          </a:prstGeom>
          <a:noFill/>
          <a:ln w="9525">
            <a:noFill/>
            <a:miter lim="800000"/>
            <a:headEnd/>
            <a:tailEnd/>
          </a:ln>
        </p:spPr>
        <p:txBody>
          <a:bodyPr wrap="none">
            <a:spAutoFit/>
          </a:bodyPr>
          <a:lstStyle/>
          <a:p>
            <a:pPr marL="457200" indent="-457200"/>
            <a:r>
              <a:rPr lang="en-US" sz="3200" b="1" i="1" dirty="0">
                <a:solidFill>
                  <a:srgbClr val="000000"/>
                </a:solidFill>
                <a:latin typeface="Arial" charset="0"/>
              </a:rPr>
              <a:t>Packet Format</a:t>
            </a:r>
          </a:p>
        </p:txBody>
      </p:sp>
      <p:sp>
        <p:nvSpPr>
          <p:cNvPr id="514057" name="Text Box 9"/>
          <p:cNvSpPr txBox="1">
            <a:spLocks noChangeArrowheads="1"/>
          </p:cNvSpPr>
          <p:nvPr/>
        </p:nvSpPr>
        <p:spPr bwMode="auto">
          <a:xfrm>
            <a:off x="914400" y="3625850"/>
            <a:ext cx="2955925" cy="579438"/>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Encapsulation</a:t>
            </a:r>
          </a:p>
        </p:txBody>
      </p:sp>
      <p:sp>
        <p:nvSpPr>
          <p:cNvPr id="514058" name="Text Box 10"/>
          <p:cNvSpPr txBox="1">
            <a:spLocks noChangeArrowheads="1"/>
          </p:cNvSpPr>
          <p:nvPr/>
        </p:nvSpPr>
        <p:spPr bwMode="auto">
          <a:xfrm>
            <a:off x="914400" y="4678363"/>
            <a:ext cx="2100263"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Operation</a:t>
            </a:r>
          </a:p>
        </p:txBody>
      </p:sp>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14055"/>
                                        </p:tgtEl>
                                        <p:attrNameLst>
                                          <p:attrName>style.visibility</p:attrName>
                                        </p:attrNameLst>
                                      </p:cBhvr>
                                      <p:to>
                                        <p:strVal val="visible"/>
                                      </p:to>
                                    </p:set>
                                    <p:animEffect transition="in" filter="diamond(in)">
                                      <p:cBhvr>
                                        <p:cTn id="7" dur="2000"/>
                                        <p:tgtEl>
                                          <p:spTgt spid="51405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14056"/>
                                        </p:tgtEl>
                                        <p:attrNameLst>
                                          <p:attrName>style.visibility</p:attrName>
                                        </p:attrNameLst>
                                      </p:cBhvr>
                                      <p:to>
                                        <p:strVal val="visible"/>
                                      </p:to>
                                    </p:set>
                                    <p:animEffect transition="in" filter="diamond(in)">
                                      <p:cBhvr>
                                        <p:cTn id="12" dur="2000"/>
                                        <p:tgtEl>
                                          <p:spTgt spid="514056"/>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14057"/>
                                        </p:tgtEl>
                                        <p:attrNameLst>
                                          <p:attrName>style.visibility</p:attrName>
                                        </p:attrNameLst>
                                      </p:cBhvr>
                                      <p:to>
                                        <p:strVal val="visible"/>
                                      </p:to>
                                    </p:set>
                                    <p:animEffect transition="in" filter="diamond(in)">
                                      <p:cBhvr>
                                        <p:cTn id="17" dur="2000"/>
                                        <p:tgtEl>
                                          <p:spTgt spid="514057"/>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514058"/>
                                        </p:tgtEl>
                                        <p:attrNameLst>
                                          <p:attrName>style.visibility</p:attrName>
                                        </p:attrNameLst>
                                      </p:cBhvr>
                                      <p:to>
                                        <p:strVal val="visible"/>
                                      </p:to>
                                    </p:set>
                                    <p:animEffect transition="in" filter="diamond(in)">
                                      <p:cBhvr>
                                        <p:cTn id="22" dur="2000"/>
                                        <p:tgtEl>
                                          <p:spTgt spid="514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5" grpId="0"/>
      <p:bldP spid="514056" grpId="0"/>
      <p:bldP spid="514057" grpId="0"/>
      <p:bldP spid="514058"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01625" y="228600"/>
            <a:ext cx="8540750" cy="792163"/>
          </a:xfrm>
        </p:spPr>
        <p:txBody>
          <a:bodyPr>
            <a:normAutofit fontScale="90000"/>
          </a:bodyPr>
          <a:lstStyle/>
          <a:p>
            <a:pPr eaLnBrk="1" hangingPunct="1"/>
            <a:r>
              <a:rPr lang="en-US" altLang="zh-CN" sz="3600" b="1" smtClean="0">
                <a:solidFill>
                  <a:srgbClr val="000000"/>
                </a:solidFill>
                <a:effectLst/>
                <a:ea typeface="宋体" pitchFamily="2" charset="-122"/>
              </a:rPr>
              <a:t>ARP (Address Resolution Protocol):</a:t>
            </a:r>
            <a:r>
              <a:rPr lang="en-US" altLang="zh-CN" sz="3600" smtClean="0">
                <a:solidFill>
                  <a:srgbClr val="000000"/>
                </a:solidFill>
                <a:effectLst/>
                <a:ea typeface="宋体" pitchFamily="2" charset="-122"/>
              </a:rPr>
              <a:t/>
            </a:r>
            <a:br>
              <a:rPr lang="en-US" altLang="zh-CN" sz="3600" smtClean="0">
                <a:solidFill>
                  <a:srgbClr val="000000"/>
                </a:solidFill>
                <a:effectLst/>
                <a:ea typeface="宋体" pitchFamily="2" charset="-122"/>
              </a:rPr>
            </a:br>
            <a:endParaRPr lang="en-US" sz="3600" smtClean="0">
              <a:solidFill>
                <a:srgbClr val="000000"/>
              </a:solidFill>
              <a:effectLst/>
            </a:endParaRPr>
          </a:p>
        </p:txBody>
      </p:sp>
      <p:sp>
        <p:nvSpPr>
          <p:cNvPr id="25603" name="Rectangle 3"/>
          <p:cNvSpPr>
            <a:spLocks noGrp="1" noChangeArrowheads="1"/>
          </p:cNvSpPr>
          <p:nvPr>
            <p:ph idx="1"/>
          </p:nvPr>
        </p:nvSpPr>
        <p:spPr>
          <a:xfrm>
            <a:off x="0" y="914400"/>
            <a:ext cx="8686800" cy="5715000"/>
          </a:xfrm>
          <a:noFill/>
        </p:spPr>
        <p:txBody>
          <a:bodyPr>
            <a:normAutofit/>
          </a:bodyPr>
          <a:lstStyle/>
          <a:p>
            <a:pPr algn="just" eaLnBrk="1" hangingPunct="1">
              <a:lnSpc>
                <a:spcPct val="80000"/>
              </a:lnSpc>
            </a:pPr>
            <a:r>
              <a:rPr lang="en-US" altLang="zh-CN" sz="2800" dirty="0" smtClean="0">
                <a:solidFill>
                  <a:srgbClr val="000000"/>
                </a:solidFill>
                <a:effectLst/>
                <a:ea typeface="宋体" pitchFamily="2" charset="-122"/>
              </a:rPr>
              <a:t>The hosts and routers are recognized at the </a:t>
            </a:r>
            <a:r>
              <a:rPr lang="en-US" altLang="zh-CN" sz="2800" b="1" dirty="0" smtClean="0">
                <a:solidFill>
                  <a:srgbClr val="000000"/>
                </a:solidFill>
                <a:effectLst/>
                <a:ea typeface="宋体" pitchFamily="2" charset="-122"/>
              </a:rPr>
              <a:t>network level </a:t>
            </a:r>
            <a:r>
              <a:rPr lang="en-US" altLang="zh-CN" sz="2800" dirty="0" smtClean="0">
                <a:solidFill>
                  <a:srgbClr val="000000"/>
                </a:solidFill>
                <a:effectLst/>
                <a:ea typeface="宋体" pitchFamily="2" charset="-122"/>
              </a:rPr>
              <a:t>by their IP addresses, which is universally unique</a:t>
            </a:r>
            <a:r>
              <a:rPr lang="en-US" altLang="zh-CN" sz="2800" dirty="0" smtClean="0">
                <a:solidFill>
                  <a:srgbClr val="000000"/>
                </a:solidFill>
                <a:effectLst/>
                <a:ea typeface="宋体" pitchFamily="2" charset="-122"/>
              </a:rPr>
              <a:t>.</a:t>
            </a:r>
            <a:endParaRPr lang="en-US" altLang="zh-CN" sz="2800" dirty="0" smtClean="0">
              <a:solidFill>
                <a:srgbClr val="000000"/>
              </a:solidFill>
              <a:effectLst/>
              <a:ea typeface="宋体" pitchFamily="2" charset="-122"/>
            </a:endParaRPr>
          </a:p>
          <a:p>
            <a:pPr algn="just" eaLnBrk="1" hangingPunct="1">
              <a:lnSpc>
                <a:spcPct val="80000"/>
              </a:lnSpc>
            </a:pPr>
            <a:r>
              <a:rPr lang="en-US" altLang="zh-CN" sz="2800" dirty="0" smtClean="0">
                <a:solidFill>
                  <a:srgbClr val="000000"/>
                </a:solidFill>
                <a:effectLst/>
                <a:ea typeface="宋体" pitchFamily="2" charset="-122"/>
              </a:rPr>
              <a:t>The hosts and routers are recognized at the </a:t>
            </a:r>
            <a:r>
              <a:rPr lang="en-US" altLang="zh-CN" sz="2800" b="1" dirty="0" smtClean="0">
                <a:solidFill>
                  <a:srgbClr val="000000"/>
                </a:solidFill>
                <a:effectLst/>
                <a:ea typeface="宋体" pitchFamily="2" charset="-122"/>
              </a:rPr>
              <a:t>physical network</a:t>
            </a:r>
            <a:r>
              <a:rPr lang="en-US" altLang="zh-CN" sz="2800" dirty="0" smtClean="0">
                <a:solidFill>
                  <a:srgbClr val="000000"/>
                </a:solidFill>
                <a:effectLst/>
                <a:ea typeface="宋体" pitchFamily="2" charset="-122"/>
              </a:rPr>
              <a:t> by their MAC addresses, which is local and it should be unique locally but not necessarily universally unique</a:t>
            </a:r>
            <a:r>
              <a:rPr lang="en-US" altLang="zh-CN" sz="2800" dirty="0" smtClean="0">
                <a:solidFill>
                  <a:srgbClr val="000000"/>
                </a:solidFill>
                <a:effectLst/>
                <a:ea typeface="宋体" pitchFamily="2" charset="-122"/>
              </a:rPr>
              <a:t>.</a:t>
            </a:r>
            <a:endParaRPr lang="en-US" altLang="zh-CN" sz="2800" dirty="0" smtClean="0">
              <a:solidFill>
                <a:srgbClr val="000000"/>
              </a:solidFill>
              <a:effectLst/>
              <a:ea typeface="宋体" pitchFamily="2" charset="-122"/>
            </a:endParaRPr>
          </a:p>
          <a:p>
            <a:pPr algn="just" eaLnBrk="1" hangingPunct="1">
              <a:lnSpc>
                <a:spcPct val="80000"/>
              </a:lnSpc>
            </a:pPr>
            <a:r>
              <a:rPr lang="en-US" altLang="zh-CN" sz="2800" dirty="0" smtClean="0">
                <a:solidFill>
                  <a:srgbClr val="000000"/>
                </a:solidFill>
                <a:effectLst/>
                <a:ea typeface="宋体" pitchFamily="2" charset="-122"/>
              </a:rPr>
              <a:t>The MAC address and IP address are </a:t>
            </a:r>
            <a:r>
              <a:rPr lang="en-US" altLang="zh-CN" sz="2800" b="1" dirty="0" smtClean="0">
                <a:solidFill>
                  <a:srgbClr val="000000"/>
                </a:solidFill>
                <a:effectLst/>
                <a:ea typeface="宋体" pitchFamily="2" charset="-122"/>
              </a:rPr>
              <a:t>two different identifiers</a:t>
            </a:r>
            <a:r>
              <a:rPr lang="en-US" altLang="zh-CN" sz="2800" dirty="0" smtClean="0">
                <a:solidFill>
                  <a:srgbClr val="000000"/>
                </a:solidFill>
                <a:effectLst/>
                <a:ea typeface="宋体" pitchFamily="2" charset="-122"/>
              </a:rPr>
              <a:t>, and </a:t>
            </a:r>
            <a:r>
              <a:rPr lang="en-US" altLang="zh-CN" sz="2800" b="1" dirty="0" smtClean="0">
                <a:solidFill>
                  <a:srgbClr val="000000"/>
                </a:solidFill>
                <a:effectLst/>
                <a:ea typeface="宋体" pitchFamily="2" charset="-122"/>
              </a:rPr>
              <a:t>both are equally </a:t>
            </a:r>
            <a:r>
              <a:rPr lang="en-US" altLang="zh-CN" sz="2800" dirty="0" smtClean="0">
                <a:solidFill>
                  <a:srgbClr val="000000"/>
                </a:solidFill>
                <a:effectLst/>
                <a:ea typeface="宋体" pitchFamily="2" charset="-122"/>
              </a:rPr>
              <a:t>necessary. Because a physical network (Ethernet) can have two different protocols (IP, </a:t>
            </a:r>
            <a:r>
              <a:rPr lang="en-US" altLang="zh-CN" sz="2800" dirty="0" err="1" smtClean="0">
                <a:solidFill>
                  <a:srgbClr val="000000"/>
                </a:solidFill>
                <a:effectLst/>
                <a:ea typeface="宋体" pitchFamily="2" charset="-122"/>
              </a:rPr>
              <a:t>IPX</a:t>
            </a:r>
            <a:r>
              <a:rPr lang="en-US" altLang="zh-CN" sz="2800" dirty="0" smtClean="0">
                <a:solidFill>
                  <a:srgbClr val="000000"/>
                </a:solidFill>
                <a:effectLst/>
                <a:ea typeface="宋体" pitchFamily="2" charset="-122"/>
              </a:rPr>
              <a:t>) at the network layer. In the same way a packet at network layer (IP) may pass through two different physical networks (</a:t>
            </a:r>
            <a:r>
              <a:rPr lang="en-US" altLang="zh-CN" sz="2800" b="1" dirty="0" smtClean="0">
                <a:solidFill>
                  <a:srgbClr val="000000"/>
                </a:solidFill>
                <a:effectLst/>
                <a:ea typeface="宋体" pitchFamily="2" charset="-122"/>
              </a:rPr>
              <a:t>Ethernet, Token Ring</a:t>
            </a:r>
            <a:r>
              <a:rPr lang="en-US" altLang="zh-CN" sz="2800" dirty="0" smtClean="0">
                <a:solidFill>
                  <a:srgbClr val="000000"/>
                </a:solidFill>
                <a:effectLst/>
                <a:ea typeface="宋体" pitchFamily="2" charset="-122"/>
              </a:rPr>
              <a:t>).</a:t>
            </a:r>
            <a:endParaRPr lang="en-US" altLang="zh-CN" sz="2800" dirty="0" smtClean="0">
              <a:solidFill>
                <a:srgbClr val="000000"/>
              </a:solidFill>
              <a:effectLst/>
              <a:ea typeface="宋体" pitchFamily="2" charset="-122"/>
            </a:endParaRPr>
          </a:p>
          <a:p>
            <a:pPr algn="just" eaLnBrk="1" hangingPunct="1">
              <a:lnSpc>
                <a:spcPct val="80000"/>
              </a:lnSpc>
            </a:pPr>
            <a:r>
              <a:rPr lang="en-US" altLang="zh-CN" sz="2800" dirty="0" smtClean="0">
                <a:solidFill>
                  <a:srgbClr val="000000"/>
                </a:solidFill>
                <a:effectLst/>
                <a:ea typeface="宋体" pitchFamily="2" charset="-122"/>
              </a:rPr>
              <a:t>So delivery of a packet </a:t>
            </a:r>
            <a:r>
              <a:rPr lang="en-US" altLang="zh-CN" sz="2800" b="1" dirty="0" smtClean="0">
                <a:solidFill>
                  <a:srgbClr val="000000"/>
                </a:solidFill>
                <a:effectLst/>
                <a:ea typeface="宋体" pitchFamily="2" charset="-122"/>
              </a:rPr>
              <a:t>needs two levels of addressing </a:t>
            </a:r>
            <a:r>
              <a:rPr lang="en-US" altLang="zh-CN" sz="2800" dirty="0" smtClean="0">
                <a:solidFill>
                  <a:srgbClr val="000000"/>
                </a:solidFill>
                <a:effectLst/>
                <a:ea typeface="宋体" pitchFamily="2" charset="-122"/>
              </a:rPr>
              <a:t>(IP and MAC). </a:t>
            </a:r>
            <a:r>
              <a:rPr lang="en-US" altLang="zh-CN" sz="2800" dirty="0" smtClean="0">
                <a:solidFill>
                  <a:srgbClr val="000000"/>
                </a:solidFill>
                <a:effectLst/>
                <a:ea typeface="宋体" pitchFamily="2" charset="-122"/>
              </a:rPr>
              <a:t>It </a:t>
            </a:r>
            <a:r>
              <a:rPr lang="en-US" altLang="zh-CN" sz="2800" dirty="0" smtClean="0">
                <a:solidFill>
                  <a:srgbClr val="000000"/>
                </a:solidFill>
                <a:effectLst/>
                <a:ea typeface="宋体" pitchFamily="2" charset="-122"/>
              </a:rPr>
              <a:t>is necessary to map an IP address to its corresponding MAC address.</a:t>
            </a:r>
            <a:endParaRPr lang="en-US" sz="2800" dirty="0" smtClean="0">
              <a:solidFill>
                <a:srgbClr val="000000"/>
              </a:solidFill>
              <a:effectLst/>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6</a:t>
            </a:fld>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04800" y="228600"/>
            <a:ext cx="8229600" cy="1143000"/>
          </a:xfrm>
        </p:spPr>
        <p:txBody>
          <a:bodyPr>
            <a:normAutofit fontScale="90000"/>
          </a:bodyPr>
          <a:lstStyle/>
          <a:p>
            <a:pPr eaLnBrk="1" hangingPunct="1"/>
            <a:r>
              <a:rPr lang="en-US" altLang="zh-CN" sz="4000" b="1" smtClean="0">
                <a:solidFill>
                  <a:srgbClr val="000000"/>
                </a:solidFill>
                <a:effectLst/>
                <a:ea typeface="宋体" pitchFamily="2" charset="-122"/>
              </a:rPr>
              <a:t>Mapping</a:t>
            </a:r>
            <a:br>
              <a:rPr lang="en-US" altLang="zh-CN" sz="4000" b="1" smtClean="0">
                <a:solidFill>
                  <a:srgbClr val="000000"/>
                </a:solidFill>
                <a:effectLst/>
                <a:ea typeface="宋体" pitchFamily="2" charset="-122"/>
              </a:rPr>
            </a:br>
            <a:endParaRPr lang="en-US" sz="4000" b="1" smtClean="0">
              <a:solidFill>
                <a:srgbClr val="000000"/>
              </a:solidFill>
              <a:effectLst/>
            </a:endParaRPr>
          </a:p>
        </p:txBody>
      </p:sp>
      <p:sp>
        <p:nvSpPr>
          <p:cNvPr id="26627" name="Rectangle 3"/>
          <p:cNvSpPr>
            <a:spLocks noGrp="1" noChangeArrowheads="1"/>
          </p:cNvSpPr>
          <p:nvPr>
            <p:ph idx="1"/>
          </p:nvPr>
        </p:nvSpPr>
        <p:spPr>
          <a:xfrm>
            <a:off x="0" y="990600"/>
            <a:ext cx="9144000" cy="5867400"/>
          </a:xfrm>
          <a:noFill/>
        </p:spPr>
        <p:txBody>
          <a:bodyPr>
            <a:noAutofit/>
          </a:bodyPr>
          <a:lstStyle/>
          <a:p>
            <a:pPr eaLnBrk="1" hangingPunct="1">
              <a:lnSpc>
                <a:spcPct val="80000"/>
              </a:lnSpc>
            </a:pPr>
            <a:r>
              <a:rPr lang="en-US" altLang="zh-CN" sz="1800" b="1" dirty="0" smtClean="0">
                <a:solidFill>
                  <a:srgbClr val="000000"/>
                </a:solidFill>
                <a:effectLst/>
                <a:ea typeface="宋体" pitchFamily="2" charset="-122"/>
              </a:rPr>
              <a:t>Static </a:t>
            </a:r>
            <a:r>
              <a:rPr lang="en-US" altLang="zh-CN" sz="1800" b="1" dirty="0" smtClean="0">
                <a:solidFill>
                  <a:srgbClr val="000000"/>
                </a:solidFill>
                <a:effectLst/>
                <a:ea typeface="宋体" pitchFamily="2" charset="-122"/>
              </a:rPr>
              <a:t>mapping and Dynamic </a:t>
            </a:r>
            <a:r>
              <a:rPr lang="en-US" altLang="zh-CN" sz="1800" b="1" dirty="0" smtClean="0">
                <a:solidFill>
                  <a:srgbClr val="000000"/>
                </a:solidFill>
                <a:effectLst/>
                <a:ea typeface="宋体" pitchFamily="2" charset="-122"/>
              </a:rPr>
              <a:t>mapping</a:t>
            </a:r>
          </a:p>
          <a:p>
            <a:pPr eaLnBrk="1" hangingPunct="1">
              <a:lnSpc>
                <a:spcPct val="80000"/>
              </a:lnSpc>
            </a:pPr>
            <a:endParaRPr lang="en-US" altLang="zh-CN" sz="1800" b="1" u="sng" dirty="0" smtClean="0">
              <a:solidFill>
                <a:srgbClr val="000000"/>
              </a:solidFill>
              <a:effectLst/>
              <a:ea typeface="宋体" pitchFamily="2" charset="-122"/>
            </a:endParaRPr>
          </a:p>
          <a:p>
            <a:pPr eaLnBrk="1" hangingPunct="1">
              <a:lnSpc>
                <a:spcPct val="80000"/>
              </a:lnSpc>
            </a:pPr>
            <a:r>
              <a:rPr lang="en-US" altLang="zh-CN" sz="1800" b="1" dirty="0" smtClean="0">
                <a:solidFill>
                  <a:srgbClr val="000000"/>
                </a:solidFill>
                <a:effectLst/>
                <a:ea typeface="宋体" pitchFamily="2" charset="-122"/>
              </a:rPr>
              <a:t>Static mapping:  </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Creates a table (in each machine of the network) that associates an IP address with a MAC address. </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The machine that knows the IP address of other machine but not MAC address, can look through this table.</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Static mapping table must be periodically updated.</a:t>
            </a:r>
          </a:p>
          <a:p>
            <a:pPr eaLnBrk="1" hangingPunct="1">
              <a:lnSpc>
                <a:spcPct val="80000"/>
              </a:lnSpc>
            </a:pPr>
            <a:endParaRPr lang="en-US" altLang="zh-CN" sz="1800" b="1" dirty="0" smtClean="0">
              <a:solidFill>
                <a:srgbClr val="000000"/>
              </a:solidFill>
              <a:effectLst/>
              <a:ea typeface="宋体" pitchFamily="2" charset="-122"/>
            </a:endParaRPr>
          </a:p>
          <a:p>
            <a:pPr eaLnBrk="1" hangingPunct="1">
              <a:lnSpc>
                <a:spcPct val="80000"/>
              </a:lnSpc>
            </a:pPr>
            <a:r>
              <a:rPr lang="en-US" altLang="zh-CN" sz="1800" b="1" dirty="0" smtClean="0">
                <a:solidFill>
                  <a:srgbClr val="000000"/>
                </a:solidFill>
                <a:effectLst/>
                <a:ea typeface="宋体" pitchFamily="2" charset="-122"/>
              </a:rPr>
              <a:t>Limitation:  </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A machine can change its network card, results in a new MAC address.</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In some LANs (Local talk (Apple)), the MAC address changes every time the computer is turned on.</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A mobile computer can move from one computer to another computer, results in a new MAC address.</a:t>
            </a:r>
          </a:p>
          <a:p>
            <a:pPr eaLnBrk="1" hangingPunct="1">
              <a:lnSpc>
                <a:spcPct val="80000"/>
              </a:lnSpc>
              <a:buFont typeface="Wingdings" pitchFamily="2" charset="2"/>
              <a:buAutoNum type="arabicPeriod"/>
            </a:pPr>
            <a:endParaRPr lang="en-US" altLang="zh-CN" sz="1800" b="1" u="sng" dirty="0" smtClean="0">
              <a:solidFill>
                <a:srgbClr val="000000"/>
              </a:solidFill>
              <a:effectLst/>
              <a:ea typeface="宋体" pitchFamily="2" charset="-122"/>
            </a:endParaRPr>
          </a:p>
          <a:p>
            <a:pPr eaLnBrk="1" hangingPunct="1">
              <a:lnSpc>
                <a:spcPct val="80000"/>
              </a:lnSpc>
            </a:pPr>
            <a:r>
              <a:rPr lang="en-US" altLang="zh-CN" sz="1800" b="1" dirty="0" smtClean="0">
                <a:solidFill>
                  <a:srgbClr val="000000"/>
                </a:solidFill>
                <a:effectLst/>
                <a:ea typeface="宋体" pitchFamily="2" charset="-122"/>
              </a:rPr>
              <a:t>Dynamic mapping (ARP, </a:t>
            </a:r>
            <a:r>
              <a:rPr lang="en-US" altLang="zh-CN" sz="1800" b="1" dirty="0" err="1" smtClean="0">
                <a:solidFill>
                  <a:srgbClr val="000000"/>
                </a:solidFill>
                <a:effectLst/>
                <a:ea typeface="宋体" pitchFamily="2" charset="-122"/>
              </a:rPr>
              <a:t>RARP</a:t>
            </a:r>
            <a:r>
              <a:rPr lang="en-US" altLang="zh-CN" sz="1800" b="1" dirty="0" smtClean="0">
                <a:solidFill>
                  <a:srgbClr val="000000"/>
                </a:solidFill>
                <a:effectLst/>
                <a:ea typeface="宋体" pitchFamily="2" charset="-122"/>
              </a:rPr>
              <a:t>)</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Each time a machine knows one of the two addresses, it can use a protocol to find the other.</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2 protocols (ARP and </a:t>
            </a:r>
            <a:r>
              <a:rPr lang="en-US" altLang="zh-CN" sz="1800" b="1" dirty="0" err="1" smtClean="0">
                <a:solidFill>
                  <a:srgbClr val="000000"/>
                </a:solidFill>
                <a:effectLst/>
                <a:ea typeface="宋体" pitchFamily="2" charset="-122"/>
              </a:rPr>
              <a:t>RARP</a:t>
            </a:r>
            <a:r>
              <a:rPr lang="en-US" altLang="zh-CN" sz="1800" b="1" dirty="0" smtClean="0">
                <a:solidFill>
                  <a:srgbClr val="000000"/>
                </a:solidFill>
                <a:effectLst/>
                <a:ea typeface="宋体" pitchFamily="2" charset="-122"/>
              </a:rPr>
              <a:t>) have been designed for dynamic mapping.</a:t>
            </a:r>
          </a:p>
          <a:p>
            <a:pPr eaLnBrk="1" hangingPunct="1">
              <a:lnSpc>
                <a:spcPct val="80000"/>
              </a:lnSpc>
              <a:buFont typeface="Wingdings" pitchFamily="2" charset="2"/>
              <a:buAutoNum type="arabicPeriod"/>
            </a:pPr>
            <a:r>
              <a:rPr lang="en-US" altLang="zh-CN" sz="1800" b="1" dirty="0" smtClean="0">
                <a:solidFill>
                  <a:srgbClr val="000000"/>
                </a:solidFill>
                <a:effectLst/>
                <a:ea typeface="宋体" pitchFamily="2" charset="-122"/>
              </a:rPr>
              <a:t>ARP maps an IP address to a MAC address.</a:t>
            </a:r>
          </a:p>
          <a:p>
            <a:pPr eaLnBrk="1" hangingPunct="1">
              <a:lnSpc>
                <a:spcPct val="80000"/>
              </a:lnSpc>
              <a:buFont typeface="Wingdings" pitchFamily="2" charset="2"/>
              <a:buAutoNum type="arabicPeriod"/>
            </a:pPr>
            <a:r>
              <a:rPr lang="en-US" altLang="zh-CN" sz="1800" b="1" dirty="0" err="1" smtClean="0">
                <a:solidFill>
                  <a:srgbClr val="000000"/>
                </a:solidFill>
                <a:effectLst/>
                <a:ea typeface="宋体" pitchFamily="2" charset="-122"/>
              </a:rPr>
              <a:t>RARP</a:t>
            </a:r>
            <a:r>
              <a:rPr lang="en-US" altLang="zh-CN" sz="1800" b="1" dirty="0" smtClean="0">
                <a:solidFill>
                  <a:srgbClr val="000000"/>
                </a:solidFill>
                <a:effectLst/>
                <a:ea typeface="宋体" pitchFamily="2" charset="-122"/>
              </a:rPr>
              <a:t>/</a:t>
            </a:r>
            <a:r>
              <a:rPr lang="en-US" altLang="zh-CN" sz="1800" b="1" dirty="0" err="1" smtClean="0">
                <a:solidFill>
                  <a:srgbClr val="000000"/>
                </a:solidFill>
                <a:effectLst/>
                <a:ea typeface="宋体" pitchFamily="2" charset="-122"/>
              </a:rPr>
              <a:t>DHCP</a:t>
            </a:r>
            <a:r>
              <a:rPr lang="en-US" altLang="zh-CN" sz="1800" b="1" dirty="0" smtClean="0">
                <a:solidFill>
                  <a:srgbClr val="000000"/>
                </a:solidFill>
                <a:effectLst/>
                <a:ea typeface="宋体" pitchFamily="2" charset="-122"/>
              </a:rPr>
              <a:t> maps a MAC address to an IP address.</a:t>
            </a:r>
            <a:endParaRPr lang="en-US" sz="1800" b="1" dirty="0" smtClean="0">
              <a:solidFill>
                <a:srgbClr val="000000"/>
              </a:solidFill>
              <a:effectLst/>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7</a:t>
            </a:fld>
            <a:endParaRPr 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ARP </a:t>
            </a:r>
            <a:r>
              <a:rPr lang="en-US" altLang="en-US" b="1" dirty="0">
                <a:solidFill>
                  <a:srgbClr val="000000"/>
                </a:solidFill>
                <a:latin typeface="Times New Roman" pitchFamily="18" charset="0"/>
              </a:rPr>
              <a:t>operation</a:t>
            </a:r>
          </a:p>
        </p:txBody>
      </p:sp>
      <p:sp>
        <p:nvSpPr>
          <p:cNvPr id="2765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2765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2765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2765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2765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2765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2765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27658" name="Picture 11"/>
          <p:cNvPicPr>
            <a:picLocks noChangeAspect="1" noChangeArrowheads="1"/>
          </p:cNvPicPr>
          <p:nvPr/>
        </p:nvPicPr>
        <p:blipFill>
          <a:blip r:embed="rId2" cstate="print"/>
          <a:srcRect/>
          <a:stretch>
            <a:fillRect/>
          </a:stretch>
        </p:blipFill>
        <p:spPr bwMode="auto">
          <a:xfrm>
            <a:off x="1254125" y="1524000"/>
            <a:ext cx="5832475" cy="4191000"/>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8</a:t>
            </a:fld>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146050" y="1871663"/>
            <a:ext cx="8693150" cy="3767137"/>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9</a:t>
            </a:fld>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ARP </a:t>
            </a:r>
            <a:r>
              <a:rPr lang="en-US" altLang="en-US" b="1" dirty="0">
                <a:solidFill>
                  <a:srgbClr val="000000"/>
                </a:solidFill>
                <a:latin typeface="Times New Roman" pitchFamily="18" charset="0"/>
              </a:rPr>
              <a:t>packet</a:t>
            </a:r>
          </a:p>
        </p:txBody>
      </p:sp>
      <p:sp>
        <p:nvSpPr>
          <p:cNvPr id="2969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2970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2970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2970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2970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2970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2970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29706" name="Picture 10"/>
          <p:cNvPicPr>
            <a:picLocks noChangeAspect="1" noChangeArrowheads="1"/>
          </p:cNvPicPr>
          <p:nvPr/>
        </p:nvPicPr>
        <p:blipFill>
          <a:blip r:embed="rId2" cstate="print"/>
          <a:srcRect/>
          <a:stretch>
            <a:fillRect/>
          </a:stretch>
        </p:blipFill>
        <p:spPr bwMode="auto">
          <a:xfrm>
            <a:off x="482600" y="1211263"/>
            <a:ext cx="8280400" cy="5037137"/>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10</a:t>
            </a:fld>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Encapsulation </a:t>
            </a:r>
            <a:r>
              <a:rPr lang="en-US" altLang="en-US" b="1" dirty="0">
                <a:solidFill>
                  <a:srgbClr val="000000"/>
                </a:solidFill>
                <a:latin typeface="Times New Roman" pitchFamily="18" charset="0"/>
              </a:rPr>
              <a:t>of ARP packet</a:t>
            </a:r>
          </a:p>
        </p:txBody>
      </p:sp>
      <p:sp>
        <p:nvSpPr>
          <p:cNvPr id="3072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3072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072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3072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072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3072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3072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30730" name="Picture 10"/>
          <p:cNvPicPr>
            <a:picLocks noChangeAspect="1" noChangeArrowheads="1"/>
          </p:cNvPicPr>
          <p:nvPr/>
        </p:nvPicPr>
        <p:blipFill>
          <a:blip r:embed="rId2" cstate="print"/>
          <a:srcRect/>
          <a:stretch>
            <a:fillRect/>
          </a:stretch>
        </p:blipFill>
        <p:spPr bwMode="auto">
          <a:xfrm>
            <a:off x="609600" y="2595563"/>
            <a:ext cx="7843838" cy="1747837"/>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11</a:t>
            </a:fld>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990600" y="90488"/>
            <a:ext cx="5715000" cy="641350"/>
          </a:xfrm>
          <a:prstGeom prst="rect">
            <a:avLst/>
          </a:prstGeom>
          <a:noFill/>
          <a:ln w="9525">
            <a:noFill/>
            <a:miter lim="800000"/>
            <a:headEnd/>
            <a:tailEnd/>
          </a:ln>
        </p:spPr>
        <p:txBody>
          <a:bodyPr>
            <a:spAutoFit/>
          </a:bodyPr>
          <a:lstStyle/>
          <a:p>
            <a:r>
              <a:rPr lang="en-US" altLang="en-US" b="1" dirty="0" smtClean="0">
                <a:solidFill>
                  <a:srgbClr val="000000"/>
                </a:solidFill>
                <a:latin typeface="Times" pitchFamily="18" charset="0"/>
              </a:rPr>
              <a:t>Four </a:t>
            </a:r>
            <a:r>
              <a:rPr lang="en-US" altLang="en-US" b="1" dirty="0">
                <a:solidFill>
                  <a:srgbClr val="000000"/>
                </a:solidFill>
                <a:latin typeface="Times" pitchFamily="18" charset="0"/>
              </a:rPr>
              <a:t>cases using ARP</a:t>
            </a:r>
          </a:p>
          <a:p>
            <a:endParaRPr lang="en-US" altLang="en-US" b="1" dirty="0">
              <a:latin typeface="Times" pitchFamily="18" charset="0"/>
            </a:endParaRPr>
          </a:p>
        </p:txBody>
      </p:sp>
      <p:sp>
        <p:nvSpPr>
          <p:cNvPr id="3174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3174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174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3175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175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3175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3175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31754" name="Picture 10"/>
          <p:cNvPicPr>
            <a:picLocks noChangeAspect="1" noChangeArrowheads="1"/>
          </p:cNvPicPr>
          <p:nvPr/>
        </p:nvPicPr>
        <p:blipFill>
          <a:blip r:embed="rId2" cstate="print"/>
          <a:srcRect/>
          <a:stretch>
            <a:fillRect/>
          </a:stretch>
        </p:blipFill>
        <p:spPr bwMode="auto">
          <a:xfrm>
            <a:off x="203200" y="1330325"/>
            <a:ext cx="8940800" cy="4537075"/>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12</a:t>
            </a:fld>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8930" name="Rectangle 2"/>
          <p:cNvSpPr>
            <a:spLocks noChangeArrowheads="1"/>
          </p:cNvSpPr>
          <p:nvPr/>
        </p:nvSpPr>
        <p:spPr bwMode="auto">
          <a:xfrm>
            <a:off x="838200" y="2195513"/>
            <a:ext cx="7543800" cy="1247775"/>
          </a:xfrm>
          <a:prstGeom prst="rect">
            <a:avLst/>
          </a:prstGeom>
          <a:solidFill>
            <a:schemeClr val="bg1"/>
          </a:solidFill>
          <a:ln w="57150">
            <a:solidFill>
              <a:srgbClr val="FF0066"/>
            </a:solidFill>
            <a:miter lim="800000"/>
            <a:headEnd/>
            <a:tailEnd/>
          </a:ln>
        </p:spPr>
        <p:txBody>
          <a:bodyPr>
            <a:spAutoFit/>
          </a:bodyPr>
          <a:lstStyle/>
          <a:p>
            <a:pPr algn="ctr" eaLnBrk="1" hangingPunct="1">
              <a:spcBef>
                <a:spcPts val="1200"/>
              </a:spcBef>
              <a:spcAft>
                <a:spcPts val="1000"/>
              </a:spcAft>
            </a:pPr>
            <a:r>
              <a:rPr lang="en-US" sz="3600" b="1" i="1">
                <a:latin typeface="Times New Roman" pitchFamily="18" charset="0"/>
              </a:rPr>
              <a:t>An ARP request is broadcast; an ARP reply is unicast.</a:t>
            </a:r>
          </a:p>
        </p:txBody>
      </p:sp>
      <p:sp>
        <p:nvSpPr>
          <p:cNvPr id="508931" name="PubRRectCallout"/>
          <p:cNvSpPr>
            <a:spLocks noEditPoints="1" noChangeArrowheads="1"/>
          </p:cNvSpPr>
          <p:nvPr/>
        </p:nvSpPr>
        <p:spPr bwMode="auto">
          <a:xfrm>
            <a:off x="838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pic>
        <p:nvPicPr>
          <p:cNvPr id="32772" name="Picture 4"/>
          <p:cNvPicPr>
            <a:picLocks noChangeAspect="1" noChangeArrowheads="1"/>
          </p:cNvPicPr>
          <p:nvPr/>
        </p:nvPicPr>
        <p:blipFill>
          <a:blip r:embed="rId2" cstate="print"/>
          <a:srcRect/>
          <a:stretch>
            <a:fillRect/>
          </a:stretch>
        </p:blipFill>
        <p:spPr bwMode="auto">
          <a:xfrm>
            <a:off x="914400" y="990600"/>
            <a:ext cx="782638" cy="914400"/>
          </a:xfrm>
          <a:prstGeom prst="rect">
            <a:avLst/>
          </a:prstGeom>
          <a:noFill/>
          <a:ln w="9525">
            <a:noFill/>
            <a:miter lim="800000"/>
            <a:headEnd/>
            <a:tailEnd/>
          </a:ln>
        </p:spPr>
      </p:pic>
      <p:sp>
        <p:nvSpPr>
          <p:cNvPr id="508933" name="Text Box 5"/>
          <p:cNvSpPr txBox="1">
            <a:spLocks noChangeArrowheads="1"/>
          </p:cNvSpPr>
          <p:nvPr/>
        </p:nvSpPr>
        <p:spPr bwMode="auto">
          <a:xfrm>
            <a:off x="2133600" y="1143000"/>
            <a:ext cx="1225550" cy="641350"/>
          </a:xfrm>
          <a:prstGeom prst="rect">
            <a:avLst/>
          </a:prstGeom>
          <a:noFill/>
          <a:ln w="9525">
            <a:noFill/>
            <a:miter lim="800000"/>
            <a:headEnd/>
            <a:tailEnd/>
          </a:ln>
          <a:effectLst/>
        </p:spPr>
        <p:txBody>
          <a:bodyPr wrap="none">
            <a:spAutoFit/>
          </a:bodyPr>
          <a:lstStyle/>
          <a:p>
            <a:pPr eaLnBrk="1" hangingPunct="1">
              <a:defRPr/>
            </a:pPr>
            <a:r>
              <a:rPr lang="en-US" sz="3600" b="1" dirty="0">
                <a:solidFill>
                  <a:srgbClr val="000000"/>
                </a:solidFill>
                <a:effectLst>
                  <a:outerShdw blurRad="38100" dist="38100" dir="2700000" algn="tl">
                    <a:srgbClr val="000000"/>
                  </a:outerShdw>
                </a:effectLst>
                <a:latin typeface="Times New Roman" pitchFamily="18" charset="0"/>
              </a:rPr>
              <a:t>Note</a:t>
            </a:r>
            <a:r>
              <a:rPr lang="en-US" sz="3600" dirty="0">
                <a:solidFill>
                  <a:srgbClr val="000000"/>
                </a:solidFill>
                <a:effectLst>
                  <a:outerShdw blurRad="38100" dist="38100" dir="2700000" algn="tl">
                    <a:srgbClr val="000000"/>
                  </a:outerShdw>
                </a:effectLst>
                <a:latin typeface="Times New Roman" pitchFamily="18" charset="0"/>
              </a:rPr>
              <a:t>:</a:t>
            </a:r>
          </a:p>
        </p:txBody>
      </p:sp>
      <p:sp>
        <p:nvSpPr>
          <p:cNvPr id="6" name="Slide Number Placeholder 5"/>
          <p:cNvSpPr>
            <a:spLocks noGrp="1"/>
          </p:cNvSpPr>
          <p:nvPr>
            <p:ph type="sldNum" sz="quarter" idx="12"/>
          </p:nvPr>
        </p:nvSpPr>
        <p:spPr/>
        <p:txBody>
          <a:bodyPr/>
          <a:lstStyle/>
          <a:p>
            <a:pPr>
              <a:defRPr/>
            </a:pPr>
            <a:fld id="{8D51F359-4732-4AB7-8DD8-2F1DC4B37DD7}" type="slidenum">
              <a:rPr lang="en-US" smtClean="0"/>
              <a:pPr>
                <a:defRPr/>
              </a:pPr>
              <a:t>13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08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3026" name="Text Box 2"/>
          <p:cNvSpPr txBox="1">
            <a:spLocks noChangeArrowheads="1"/>
          </p:cNvSpPr>
          <p:nvPr/>
        </p:nvSpPr>
        <p:spPr bwMode="auto">
          <a:xfrm>
            <a:off x="144463" y="249238"/>
            <a:ext cx="1997663" cy="584775"/>
          </a:xfrm>
          <a:prstGeom prst="rect">
            <a:avLst/>
          </a:prstGeom>
          <a:noFill/>
          <a:ln w="38100">
            <a:noFill/>
            <a:miter lim="800000"/>
            <a:headEnd/>
            <a:tailEnd/>
          </a:ln>
          <a:effectLst/>
        </p:spPr>
        <p:txBody>
          <a:bodyPr wrap="none">
            <a:spAutoFit/>
          </a:bodyPr>
          <a:lstStyle/>
          <a:p>
            <a:pPr eaLnBrk="1" hangingPunct="1">
              <a:defRPr/>
            </a:pPr>
            <a:r>
              <a:rPr lang="en-US" sz="3200" b="1" i="1" dirty="0">
                <a:solidFill>
                  <a:srgbClr val="000000"/>
                </a:solidFill>
                <a:effectLst>
                  <a:outerShdw blurRad="38100" dist="38100" dir="2700000" algn="tl">
                    <a:srgbClr val="000000"/>
                  </a:outerShdw>
                </a:effectLst>
                <a:latin typeface="Times New Roman" pitchFamily="18" charset="0"/>
              </a:rPr>
              <a:t>Example 1</a:t>
            </a:r>
          </a:p>
        </p:txBody>
      </p:sp>
      <p:sp>
        <p:nvSpPr>
          <p:cNvPr id="33795" name="Rectangle 3"/>
          <p:cNvSpPr>
            <a:spLocks noChangeArrowheads="1"/>
          </p:cNvSpPr>
          <p:nvPr/>
        </p:nvSpPr>
        <p:spPr bwMode="auto">
          <a:xfrm>
            <a:off x="228600" y="1095375"/>
            <a:ext cx="8458200" cy="1938338"/>
          </a:xfrm>
          <a:prstGeom prst="rect">
            <a:avLst/>
          </a:prstGeom>
          <a:noFill/>
          <a:ln w="9525">
            <a:noFill/>
            <a:miter lim="800000"/>
            <a:headEnd/>
            <a:tailEnd/>
          </a:ln>
        </p:spPr>
        <p:txBody>
          <a:bodyPr>
            <a:spAutoFit/>
          </a:bodyPr>
          <a:lstStyle/>
          <a:p>
            <a:pPr eaLnBrk="1" hangingPunct="1">
              <a:spcBef>
                <a:spcPct val="50000"/>
              </a:spcBef>
            </a:pPr>
            <a:r>
              <a:rPr lang="en-US" sz="2400" dirty="0">
                <a:solidFill>
                  <a:srgbClr val="000000"/>
                </a:solidFill>
                <a:latin typeface="Times New Roman" pitchFamily="18" charset="0"/>
              </a:rPr>
              <a:t>A host with IP address 130.23.3.20 and physical address </a:t>
            </a:r>
            <a:r>
              <a:rPr lang="en-US" sz="2400" dirty="0" err="1">
                <a:solidFill>
                  <a:srgbClr val="000000"/>
                </a:solidFill>
                <a:latin typeface="Times New Roman" pitchFamily="18" charset="0"/>
              </a:rPr>
              <a:t>B23455102210</a:t>
            </a:r>
            <a:r>
              <a:rPr lang="en-US" sz="2400" dirty="0">
                <a:solidFill>
                  <a:srgbClr val="000000"/>
                </a:solidFill>
                <a:latin typeface="Times New Roman" pitchFamily="18" charset="0"/>
              </a:rPr>
              <a:t> has a packet to send to another host with IP address 130.23.43.25 and physical address </a:t>
            </a:r>
            <a:r>
              <a:rPr lang="en-US" sz="2400" dirty="0" err="1">
                <a:solidFill>
                  <a:srgbClr val="000000"/>
                </a:solidFill>
                <a:latin typeface="Times New Roman" pitchFamily="18" charset="0"/>
              </a:rPr>
              <a:t>A46EF45983AB</a:t>
            </a:r>
            <a:r>
              <a:rPr lang="en-US" sz="2400" dirty="0">
                <a:solidFill>
                  <a:srgbClr val="000000"/>
                </a:solidFill>
                <a:latin typeface="Times New Roman" pitchFamily="18" charset="0"/>
              </a:rPr>
              <a:t>. The two hosts are on the same Ethernet network. Show the ARP request and reply packets encapsulated in Ethernet frames. </a:t>
            </a:r>
          </a:p>
        </p:txBody>
      </p:sp>
      <p:sp>
        <p:nvSpPr>
          <p:cNvPr id="33796" name="Text Box 4"/>
          <p:cNvSpPr txBox="1">
            <a:spLocks noChangeArrowheads="1"/>
          </p:cNvSpPr>
          <p:nvPr/>
        </p:nvSpPr>
        <p:spPr bwMode="auto">
          <a:xfrm>
            <a:off x="228600" y="3200400"/>
            <a:ext cx="1619250" cy="584200"/>
          </a:xfrm>
          <a:prstGeom prst="rect">
            <a:avLst/>
          </a:prstGeom>
          <a:solidFill>
            <a:schemeClr val="bg2"/>
          </a:solidFill>
          <a:ln w="38100">
            <a:solidFill>
              <a:srgbClr val="FF3300"/>
            </a:solidFill>
            <a:miter lim="800000"/>
            <a:headEnd/>
            <a:tailEnd/>
          </a:ln>
        </p:spPr>
        <p:txBody>
          <a:bodyPr wrap="none">
            <a:spAutoFit/>
          </a:bodyPr>
          <a:lstStyle/>
          <a:p>
            <a:pPr eaLnBrk="1" hangingPunct="1"/>
            <a:r>
              <a:rPr lang="en-US" sz="3200" b="1" i="1">
                <a:latin typeface="Times New Roman" pitchFamily="18" charset="0"/>
              </a:rPr>
              <a:t>Solution</a:t>
            </a:r>
          </a:p>
        </p:txBody>
      </p:sp>
      <p:sp>
        <p:nvSpPr>
          <p:cNvPr id="33797" name="Rectangle 5"/>
          <p:cNvSpPr>
            <a:spLocks noChangeArrowheads="1"/>
          </p:cNvSpPr>
          <p:nvPr/>
        </p:nvSpPr>
        <p:spPr bwMode="auto">
          <a:xfrm>
            <a:off x="228600" y="4191000"/>
            <a:ext cx="8382000" cy="1631216"/>
          </a:xfrm>
          <a:prstGeom prst="rect">
            <a:avLst/>
          </a:prstGeom>
          <a:solidFill>
            <a:schemeClr val="bg1"/>
          </a:solidFill>
          <a:ln w="9525">
            <a:noFill/>
            <a:miter lim="800000"/>
            <a:headEnd/>
            <a:tailEnd/>
          </a:ln>
        </p:spPr>
        <p:txBody>
          <a:bodyPr>
            <a:spAutoFit/>
          </a:bodyPr>
          <a:lstStyle/>
          <a:p>
            <a:r>
              <a:rPr lang="en-US" sz="2000" dirty="0">
                <a:latin typeface="Times New Roman" pitchFamily="18" charset="0"/>
              </a:rPr>
              <a:t>Figure </a:t>
            </a:r>
            <a:r>
              <a:rPr lang="en-US" sz="2000" dirty="0" smtClean="0">
                <a:latin typeface="Times New Roman" pitchFamily="18" charset="0"/>
              </a:rPr>
              <a:t>shows </a:t>
            </a:r>
            <a:r>
              <a:rPr lang="en-US" sz="2000" dirty="0">
                <a:latin typeface="Times New Roman" pitchFamily="18" charset="0"/>
              </a:rPr>
              <a:t>the ARP request and reply packets. Note that the ARP data field in this case is 28 bytes, and that the individual addresses do not fit in the 4-byte boundary. That is why we do not show the regular 4-byte boundaries for these addresses. Note that we use hexadecimal for every field except the IP addresses.</a:t>
            </a:r>
          </a:p>
          <a:p>
            <a:r>
              <a:rPr lang="en-US" sz="2000" dirty="0">
                <a:latin typeface="Times New Roman" pitchFamily="18" charset="0"/>
              </a:rPr>
              <a:t> </a:t>
            </a:r>
          </a:p>
        </p:txBody>
      </p:sp>
      <p:sp>
        <p:nvSpPr>
          <p:cNvPr id="6" name="Slide Number Placeholder 5"/>
          <p:cNvSpPr>
            <a:spLocks noGrp="1"/>
          </p:cNvSpPr>
          <p:nvPr>
            <p:ph type="sldNum" sz="quarter" idx="12"/>
          </p:nvPr>
        </p:nvSpPr>
        <p:spPr/>
        <p:txBody>
          <a:bodyPr/>
          <a:lstStyle/>
          <a:p>
            <a:pPr>
              <a:defRPr/>
            </a:pPr>
            <a:fld id="{8D51F359-4732-4AB7-8DD8-2F1DC4B37DD7}" type="slidenum">
              <a:rPr lang="en-US" smtClean="0"/>
              <a:pPr>
                <a:defRPr/>
              </a:pPr>
              <a:t>14</a:t>
            </a:fld>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8D51F359-4732-4AB7-8DD8-2F1DC4B37DD7}" type="slidenum">
              <a:rPr lang="en-US" smtClean="0"/>
              <a:pPr>
                <a:defRPr/>
              </a:pPr>
              <a:t>15</a:t>
            </a:fld>
            <a:endParaRPr lang="en-US"/>
          </a:p>
        </p:txBody>
      </p:sp>
      <p:pic>
        <p:nvPicPr>
          <p:cNvPr id="49154" name="Picture 2" descr="http://upload.wikimedia.org/wikipedia/commons/thumb/4/42/Ethernet_frame.svg/570px-Ethernet_frame.svg.png"/>
          <p:cNvPicPr>
            <a:picLocks noChangeAspect="1" noChangeArrowheads="1"/>
          </p:cNvPicPr>
          <p:nvPr/>
        </p:nvPicPr>
        <p:blipFill>
          <a:blip r:embed="rId2" cstate="print"/>
          <a:srcRect/>
          <a:stretch>
            <a:fillRect/>
          </a:stretch>
        </p:blipFill>
        <p:spPr bwMode="auto">
          <a:xfrm>
            <a:off x="1828800" y="2667000"/>
            <a:ext cx="5429250" cy="666751"/>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Example </a:t>
            </a:r>
            <a:r>
              <a:rPr lang="en-US" altLang="en-US" b="1" dirty="0">
                <a:solidFill>
                  <a:srgbClr val="000000"/>
                </a:solidFill>
                <a:latin typeface="Times New Roman" pitchFamily="18" charset="0"/>
              </a:rPr>
              <a:t>1</a:t>
            </a:r>
          </a:p>
        </p:txBody>
      </p:sp>
      <p:sp>
        <p:nvSpPr>
          <p:cNvPr id="3481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3482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482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3482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482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3482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3482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34826" name="Picture 10"/>
          <p:cNvPicPr>
            <a:picLocks noChangeAspect="1" noChangeArrowheads="1"/>
          </p:cNvPicPr>
          <p:nvPr/>
        </p:nvPicPr>
        <p:blipFill>
          <a:blip r:embed="rId2" cstate="print"/>
          <a:srcRect/>
          <a:stretch>
            <a:fillRect/>
          </a:stretch>
        </p:blipFill>
        <p:spPr bwMode="auto">
          <a:xfrm>
            <a:off x="1620838" y="685800"/>
            <a:ext cx="6608762" cy="5881688"/>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16</a:t>
            </a:fld>
            <a:endParaRPr lang="en-US"/>
          </a:p>
        </p:txBody>
      </p:sp>
      <p:sp>
        <p:nvSpPr>
          <p:cNvPr id="12" name="Rectangle 11"/>
          <p:cNvSpPr/>
          <p:nvPr/>
        </p:nvSpPr>
        <p:spPr>
          <a:xfrm>
            <a:off x="228600" y="4419600"/>
            <a:ext cx="3248005" cy="369332"/>
          </a:xfrm>
          <a:prstGeom prst="rect">
            <a:avLst/>
          </a:prstGeom>
        </p:spPr>
        <p:txBody>
          <a:bodyPr wrap="none">
            <a:spAutoFit/>
          </a:bodyPr>
          <a:lstStyle/>
          <a:p>
            <a:r>
              <a:rPr lang="en-US" b="1" dirty="0" smtClean="0"/>
              <a:t>start frame delimiter</a:t>
            </a:r>
            <a:r>
              <a:rPr lang="en-US" dirty="0" smtClean="0"/>
              <a:t> (</a:t>
            </a:r>
            <a:r>
              <a:rPr lang="en-US" dirty="0" err="1" smtClean="0"/>
              <a:t>SFD</a:t>
            </a:r>
            <a:r>
              <a:rPr lang="en-US" dirty="0" smtClean="0"/>
              <a:t>)</a:t>
            </a:r>
            <a:endParaRPr lang="en-US" dirty="0"/>
          </a:p>
        </p:txBody>
      </p:sp>
      <p:sp>
        <p:nvSpPr>
          <p:cNvPr id="13" name="Rectangle 12"/>
          <p:cNvSpPr/>
          <p:nvPr/>
        </p:nvSpPr>
        <p:spPr>
          <a:xfrm>
            <a:off x="228600" y="4191000"/>
            <a:ext cx="3355919" cy="369332"/>
          </a:xfrm>
          <a:prstGeom prst="rect">
            <a:avLst/>
          </a:prstGeom>
        </p:spPr>
        <p:txBody>
          <a:bodyPr wrap="none">
            <a:spAutoFit/>
          </a:bodyPr>
          <a:lstStyle/>
          <a:p>
            <a:r>
              <a:rPr lang="en-US" dirty="0" smtClean="0"/>
              <a:t>cyclic redundancy check (</a:t>
            </a:r>
            <a:r>
              <a:rPr lang="en-US" b="1" dirty="0" err="1" smtClean="0"/>
              <a:t>CRC</a:t>
            </a:r>
            <a:r>
              <a:rPr lang="en-US" dirty="0" smtClean="0"/>
              <a:t>)</a:t>
            </a:r>
            <a:endParaRPr lang="en-US" dirty="0"/>
          </a:p>
        </p:txBody>
      </p:sp>
      <p:sp>
        <p:nvSpPr>
          <p:cNvPr id="14" name="Rectangle 13"/>
          <p:cNvSpPr/>
          <p:nvPr/>
        </p:nvSpPr>
        <p:spPr>
          <a:xfrm>
            <a:off x="3657600" y="6488668"/>
            <a:ext cx="2051844" cy="369332"/>
          </a:xfrm>
          <a:prstGeom prst="rect">
            <a:avLst/>
          </a:prstGeom>
        </p:spPr>
        <p:txBody>
          <a:bodyPr wrap="none">
            <a:spAutoFit/>
          </a:bodyPr>
          <a:lstStyle/>
          <a:p>
            <a:r>
              <a:rPr lang="en-US" dirty="0" smtClean="0"/>
              <a:t>An Ethernet </a:t>
            </a:r>
            <a:r>
              <a:rPr lang="en-US" dirty="0" smtClean="0">
                <a:hlinkClick r:id="rId3" tooltip="Frame (networking)"/>
              </a:rPr>
              <a:t>frame</a:t>
            </a:r>
            <a:endParaRPr lang="en-US" dirty="0"/>
          </a:p>
        </p:txBody>
      </p:sp>
      <p:sp>
        <p:nvSpPr>
          <p:cNvPr id="15" name="Left Brace 14"/>
          <p:cNvSpPr/>
          <p:nvPr/>
        </p:nvSpPr>
        <p:spPr>
          <a:xfrm rot="16200000">
            <a:off x="4876800" y="3276600"/>
            <a:ext cx="381000" cy="6324600"/>
          </a:xfrm>
          <a:prstGeom prst="leftBrace">
            <a:avLst>
              <a:gd name="adj1" fmla="val 8333"/>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838200" y="677863"/>
            <a:ext cx="6629400" cy="5722937"/>
          </a:xfrm>
          <a:prstGeom prst="rect">
            <a:avLst/>
          </a:prstGeom>
          <a:noFill/>
          <a:ln w="9525">
            <a:noFill/>
            <a:miter lim="800000"/>
            <a:headEnd/>
            <a:tailEnd/>
          </a:ln>
        </p:spPr>
      </p:pic>
      <p:sp>
        <p:nvSpPr>
          <p:cNvPr id="4" name="TextBox 3"/>
          <p:cNvSpPr txBox="1"/>
          <p:nvPr/>
        </p:nvSpPr>
        <p:spPr>
          <a:xfrm>
            <a:off x="304800" y="457200"/>
            <a:ext cx="734496" cy="369332"/>
          </a:xfrm>
          <a:prstGeom prst="rect">
            <a:avLst/>
          </a:prstGeom>
          <a:noFill/>
        </p:spPr>
        <p:txBody>
          <a:bodyPr wrap="none" rtlCol="0">
            <a:spAutoFit/>
          </a:bodyPr>
          <a:lstStyle/>
          <a:p>
            <a:r>
              <a:rPr lang="en-US" dirty="0" err="1" smtClean="0"/>
              <a:t>RARP</a:t>
            </a:r>
            <a:endParaRPr lang="en-US" dirty="0"/>
          </a:p>
        </p:txBody>
      </p:sp>
      <p:sp>
        <p:nvSpPr>
          <p:cNvPr id="5" name="Slide Number Placeholder 4"/>
          <p:cNvSpPr>
            <a:spLocks noGrp="1"/>
          </p:cNvSpPr>
          <p:nvPr>
            <p:ph type="sldNum" sz="quarter" idx="12"/>
          </p:nvPr>
        </p:nvSpPr>
        <p:spPr/>
        <p:txBody>
          <a:bodyPr/>
          <a:lstStyle/>
          <a:p>
            <a:pPr>
              <a:defRPr/>
            </a:pPr>
            <a:fld id="{8D51F359-4732-4AB7-8DD8-2F1DC4B37DD7}" type="slidenum">
              <a:rPr lang="en-US" smtClean="0"/>
              <a:pPr>
                <a:defRPr/>
              </a:pPr>
              <a:t>17</a:t>
            </a:fld>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srcRect/>
          <a:stretch>
            <a:fillRect/>
          </a:stretch>
        </p:blipFill>
        <p:spPr bwMode="auto">
          <a:xfrm>
            <a:off x="387350" y="1033463"/>
            <a:ext cx="8299450" cy="4529137"/>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18</a:t>
            </a:fld>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265113" y="2209800"/>
            <a:ext cx="8574087" cy="1855788"/>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19</a:t>
            </a:fld>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52400" y="274638"/>
            <a:ext cx="8991600" cy="868362"/>
          </a:xfrm>
        </p:spPr>
        <p:txBody>
          <a:bodyPr>
            <a:normAutofit fontScale="90000"/>
          </a:bodyPr>
          <a:lstStyle/>
          <a:p>
            <a:pPr eaLnBrk="1" hangingPunct="1"/>
            <a:r>
              <a:rPr lang="en-US" sz="3200" b="1" smtClean="0">
                <a:solidFill>
                  <a:srgbClr val="000000"/>
                </a:solidFill>
                <a:effectLst/>
              </a:rPr>
              <a:t>DHCP </a:t>
            </a:r>
            <a:r>
              <a:rPr lang="en-US" sz="2800" b="1" smtClean="0">
                <a:solidFill>
                  <a:srgbClr val="000000"/>
                </a:solidFill>
                <a:effectLst/>
              </a:rPr>
              <a:t>(Dynamic Host Configuration Protocol):</a:t>
            </a:r>
            <a:r>
              <a:rPr lang="en-US" sz="2800" smtClean="0">
                <a:solidFill>
                  <a:srgbClr val="000000"/>
                </a:solidFill>
                <a:effectLst/>
              </a:rPr>
              <a:t/>
            </a:r>
            <a:br>
              <a:rPr lang="en-US" sz="2800" smtClean="0">
                <a:solidFill>
                  <a:srgbClr val="000000"/>
                </a:solidFill>
                <a:effectLst/>
              </a:rPr>
            </a:br>
            <a:endParaRPr lang="en-US" sz="2800" smtClean="0">
              <a:solidFill>
                <a:srgbClr val="000000"/>
              </a:solidFill>
              <a:effectLst/>
            </a:endParaRPr>
          </a:p>
        </p:txBody>
      </p:sp>
      <p:sp>
        <p:nvSpPr>
          <p:cNvPr id="38915" name="Rectangle 3"/>
          <p:cNvSpPr>
            <a:spLocks noGrp="1" noChangeArrowheads="1"/>
          </p:cNvSpPr>
          <p:nvPr>
            <p:ph idx="1"/>
          </p:nvPr>
        </p:nvSpPr>
        <p:spPr>
          <a:xfrm>
            <a:off x="381000" y="838200"/>
            <a:ext cx="8534400" cy="6019800"/>
          </a:xfrm>
        </p:spPr>
        <p:txBody>
          <a:bodyPr/>
          <a:lstStyle/>
          <a:p>
            <a:pPr marL="381000" indent="-381000" eaLnBrk="1" hangingPunct="1">
              <a:lnSpc>
                <a:spcPct val="80000"/>
              </a:lnSpc>
              <a:buFont typeface="Wingdings" pitchFamily="2" charset="2"/>
              <a:buAutoNum type="arabicPeriod"/>
            </a:pPr>
            <a:r>
              <a:rPr lang="en-US" sz="2000" dirty="0" err="1" smtClean="0">
                <a:solidFill>
                  <a:srgbClr val="000000"/>
                </a:solidFill>
                <a:effectLst/>
              </a:rPr>
              <a:t>RARP</a:t>
            </a:r>
            <a:r>
              <a:rPr lang="en-US" sz="2000" dirty="0" smtClean="0">
                <a:solidFill>
                  <a:srgbClr val="000000"/>
                </a:solidFill>
                <a:effectLst/>
              </a:rPr>
              <a:t> (now obsolete) has been replaced by </a:t>
            </a:r>
            <a:r>
              <a:rPr lang="en-US" sz="2000" dirty="0" err="1" smtClean="0">
                <a:solidFill>
                  <a:srgbClr val="000000"/>
                </a:solidFill>
                <a:effectLst/>
              </a:rPr>
              <a:t>DHCP</a:t>
            </a:r>
            <a:r>
              <a:rPr lang="en-US" sz="2000" dirty="0" smtClean="0">
                <a:solidFill>
                  <a:srgbClr val="000000"/>
                </a:solidFill>
                <a:effectLst/>
              </a:rPr>
              <a:t>.</a:t>
            </a:r>
          </a:p>
          <a:p>
            <a:pPr marL="381000" indent="-381000" eaLnBrk="1" hangingPunct="1">
              <a:lnSpc>
                <a:spcPct val="80000"/>
              </a:lnSpc>
              <a:buFont typeface="Wingdings" pitchFamily="2" charset="2"/>
              <a:buAutoNum type="arabicPeriod"/>
            </a:pPr>
            <a:r>
              <a:rPr lang="en-US" sz="2000" dirty="0" err="1" smtClean="0">
                <a:solidFill>
                  <a:srgbClr val="000000"/>
                </a:solidFill>
                <a:effectLst/>
              </a:rPr>
              <a:t>DHCP</a:t>
            </a:r>
            <a:r>
              <a:rPr lang="en-US" sz="2000" dirty="0" smtClean="0">
                <a:solidFill>
                  <a:srgbClr val="000000"/>
                </a:solidFill>
                <a:effectLst/>
              </a:rPr>
              <a:t> maps a MAC address to an IP address.</a:t>
            </a:r>
          </a:p>
          <a:p>
            <a:pPr marL="381000" indent="-381000" eaLnBrk="1" hangingPunct="1">
              <a:lnSpc>
                <a:spcPct val="80000"/>
              </a:lnSpc>
              <a:buFont typeface="Wingdings" pitchFamily="2" charset="2"/>
              <a:buAutoNum type="arabicPeriod"/>
            </a:pPr>
            <a:r>
              <a:rPr lang="en-US" sz="2000" dirty="0" smtClean="0">
                <a:solidFill>
                  <a:srgbClr val="000000"/>
                </a:solidFill>
                <a:effectLst/>
              </a:rPr>
              <a:t>It provides the information dynamically based on demand.</a:t>
            </a:r>
          </a:p>
          <a:p>
            <a:pPr marL="381000" indent="-381000" eaLnBrk="1" hangingPunct="1">
              <a:lnSpc>
                <a:spcPct val="80000"/>
              </a:lnSpc>
              <a:buFont typeface="Wingdings" pitchFamily="2" charset="2"/>
              <a:buAutoNum type="arabicPeriod"/>
            </a:pPr>
            <a:r>
              <a:rPr lang="en-US" sz="2000" dirty="0" smtClean="0">
                <a:solidFill>
                  <a:srgbClr val="000000"/>
                </a:solidFill>
                <a:effectLst/>
              </a:rPr>
              <a:t>It is used to assign addresses to a host dynamically.</a:t>
            </a:r>
          </a:p>
          <a:p>
            <a:pPr marL="381000" indent="-381000" eaLnBrk="1" hangingPunct="1">
              <a:lnSpc>
                <a:spcPct val="80000"/>
              </a:lnSpc>
            </a:pPr>
            <a:endParaRPr lang="en-US" sz="2000" b="1" dirty="0" smtClean="0">
              <a:solidFill>
                <a:srgbClr val="000000"/>
              </a:solidFill>
              <a:effectLst/>
            </a:endParaRPr>
          </a:p>
          <a:p>
            <a:pPr marL="381000" indent="-381000" eaLnBrk="1" hangingPunct="1">
              <a:lnSpc>
                <a:spcPct val="80000"/>
              </a:lnSpc>
            </a:pPr>
            <a:r>
              <a:rPr lang="en-US" sz="2000" b="1" dirty="0" smtClean="0">
                <a:solidFill>
                  <a:srgbClr val="000000"/>
                </a:solidFill>
                <a:effectLst/>
              </a:rPr>
              <a:t>Operation:</a:t>
            </a:r>
            <a:endParaRPr lang="en-US" sz="2000" dirty="0" smtClean="0">
              <a:solidFill>
                <a:srgbClr val="000000"/>
              </a:solidFill>
              <a:effectLst/>
            </a:endParaRPr>
          </a:p>
          <a:p>
            <a:pPr marL="381000" indent="-381000" eaLnBrk="1" hangingPunct="1">
              <a:lnSpc>
                <a:spcPct val="80000"/>
              </a:lnSpc>
              <a:buFont typeface="Wingdings" pitchFamily="2" charset="2"/>
              <a:buAutoNum type="arabicPeriod"/>
            </a:pPr>
            <a:r>
              <a:rPr lang="en-US" sz="2000" dirty="0" err="1" smtClean="0">
                <a:solidFill>
                  <a:srgbClr val="000000"/>
                </a:solidFill>
                <a:effectLst/>
              </a:rPr>
              <a:t>DHCP</a:t>
            </a:r>
            <a:r>
              <a:rPr lang="en-US" sz="2000" dirty="0" smtClean="0">
                <a:solidFill>
                  <a:srgbClr val="000000"/>
                </a:solidFill>
                <a:effectLst/>
              </a:rPr>
              <a:t> is a </a:t>
            </a:r>
            <a:r>
              <a:rPr lang="en-US" sz="2000" b="1" dirty="0" smtClean="0">
                <a:solidFill>
                  <a:srgbClr val="000000"/>
                </a:solidFill>
                <a:effectLst/>
              </a:rPr>
              <a:t>client server </a:t>
            </a:r>
            <a:r>
              <a:rPr lang="en-US" sz="2000" dirty="0" smtClean="0">
                <a:solidFill>
                  <a:srgbClr val="000000"/>
                </a:solidFill>
                <a:effectLst/>
              </a:rPr>
              <a:t>program.</a:t>
            </a:r>
          </a:p>
          <a:p>
            <a:pPr marL="381000" indent="-381000" eaLnBrk="1" hangingPunct="1">
              <a:lnSpc>
                <a:spcPct val="80000"/>
              </a:lnSpc>
              <a:buFont typeface="Wingdings" pitchFamily="2" charset="2"/>
              <a:buAutoNum type="arabicPeriod"/>
            </a:pPr>
            <a:r>
              <a:rPr lang="en-US" sz="2000" dirty="0" err="1" smtClean="0">
                <a:solidFill>
                  <a:srgbClr val="000000"/>
                </a:solidFill>
                <a:effectLst/>
              </a:rPr>
              <a:t>DHCP</a:t>
            </a:r>
            <a:r>
              <a:rPr lang="en-US" sz="2000" dirty="0" smtClean="0">
                <a:solidFill>
                  <a:srgbClr val="000000"/>
                </a:solidFill>
                <a:effectLst/>
              </a:rPr>
              <a:t> server has </a:t>
            </a:r>
            <a:r>
              <a:rPr lang="en-US" sz="2000" b="1" dirty="0" smtClean="0">
                <a:solidFill>
                  <a:srgbClr val="000000"/>
                </a:solidFill>
                <a:effectLst/>
              </a:rPr>
              <a:t>two databases</a:t>
            </a:r>
            <a:r>
              <a:rPr lang="en-US" sz="2000" dirty="0" smtClean="0">
                <a:solidFill>
                  <a:srgbClr val="000000"/>
                </a:solidFill>
                <a:effectLst/>
              </a:rPr>
              <a:t>. The first database statically binds physical addresses to IP addresses. The second database makes </a:t>
            </a:r>
            <a:r>
              <a:rPr lang="en-US" sz="2000" dirty="0" err="1" smtClean="0">
                <a:solidFill>
                  <a:srgbClr val="000000"/>
                </a:solidFill>
                <a:effectLst/>
              </a:rPr>
              <a:t>DHCP</a:t>
            </a:r>
            <a:r>
              <a:rPr lang="en-US" sz="2000" dirty="0" smtClean="0">
                <a:solidFill>
                  <a:srgbClr val="000000"/>
                </a:solidFill>
                <a:effectLst/>
              </a:rPr>
              <a:t> dynamic.</a:t>
            </a:r>
          </a:p>
          <a:p>
            <a:pPr marL="381000" indent="-381000" eaLnBrk="1" hangingPunct="1">
              <a:lnSpc>
                <a:spcPct val="80000"/>
              </a:lnSpc>
              <a:buFont typeface="Wingdings" pitchFamily="2" charset="2"/>
              <a:buAutoNum type="arabicPeriod"/>
            </a:pPr>
            <a:r>
              <a:rPr lang="en-US" sz="2000" dirty="0" smtClean="0">
                <a:solidFill>
                  <a:srgbClr val="000000"/>
                </a:solidFill>
                <a:effectLst/>
              </a:rPr>
              <a:t>When a </a:t>
            </a:r>
            <a:r>
              <a:rPr lang="en-US" sz="2000" dirty="0" err="1" smtClean="0">
                <a:solidFill>
                  <a:srgbClr val="000000"/>
                </a:solidFill>
                <a:effectLst/>
              </a:rPr>
              <a:t>DHCP</a:t>
            </a:r>
            <a:r>
              <a:rPr lang="en-US" sz="2000" dirty="0" smtClean="0">
                <a:solidFill>
                  <a:srgbClr val="000000"/>
                </a:solidFill>
                <a:effectLst/>
              </a:rPr>
              <a:t> client requests for a temporary, </a:t>
            </a:r>
            <a:r>
              <a:rPr lang="en-US" sz="2000" dirty="0" err="1" smtClean="0">
                <a:solidFill>
                  <a:srgbClr val="000000"/>
                </a:solidFill>
                <a:effectLst/>
              </a:rPr>
              <a:t>DHCP</a:t>
            </a:r>
            <a:r>
              <a:rPr lang="en-US" sz="2000" dirty="0" smtClean="0">
                <a:solidFill>
                  <a:srgbClr val="000000"/>
                </a:solidFill>
                <a:effectLst/>
              </a:rPr>
              <a:t> server goes to the pool of available IP addresses and assigns an IP address for a negotiable period of time.</a:t>
            </a:r>
          </a:p>
          <a:p>
            <a:pPr marL="381000" indent="-381000" eaLnBrk="1" hangingPunct="1">
              <a:lnSpc>
                <a:spcPct val="80000"/>
              </a:lnSpc>
              <a:buFont typeface="Wingdings" pitchFamily="2" charset="2"/>
              <a:buAutoNum type="arabicPeriod"/>
            </a:pPr>
            <a:r>
              <a:rPr lang="en-US" sz="2000" dirty="0" smtClean="0">
                <a:solidFill>
                  <a:srgbClr val="000000"/>
                </a:solidFill>
                <a:effectLst/>
              </a:rPr>
              <a:t> When a </a:t>
            </a:r>
            <a:r>
              <a:rPr lang="en-US" sz="2000" dirty="0" err="1" smtClean="0">
                <a:solidFill>
                  <a:srgbClr val="000000"/>
                </a:solidFill>
                <a:effectLst/>
              </a:rPr>
              <a:t>DHCP</a:t>
            </a:r>
            <a:r>
              <a:rPr lang="en-US" sz="2000" dirty="0" smtClean="0">
                <a:solidFill>
                  <a:srgbClr val="000000"/>
                </a:solidFill>
                <a:effectLst/>
              </a:rPr>
              <a:t> client sends a request to a </a:t>
            </a:r>
            <a:r>
              <a:rPr lang="en-US" sz="2000" dirty="0" err="1" smtClean="0">
                <a:solidFill>
                  <a:srgbClr val="000000"/>
                </a:solidFill>
                <a:effectLst/>
              </a:rPr>
              <a:t>DHCP</a:t>
            </a:r>
            <a:r>
              <a:rPr lang="en-US" sz="2000" dirty="0" smtClean="0">
                <a:solidFill>
                  <a:srgbClr val="000000"/>
                </a:solidFill>
                <a:effectLst/>
              </a:rPr>
              <a:t> server, the server first checks its static database. If an entry with the requested physical address exists in the static database, the permanent IP address of the client is returned. </a:t>
            </a:r>
          </a:p>
          <a:p>
            <a:pPr marL="381000" indent="-381000" eaLnBrk="1" hangingPunct="1">
              <a:lnSpc>
                <a:spcPct val="80000"/>
              </a:lnSpc>
              <a:buFont typeface="Wingdings" pitchFamily="2" charset="2"/>
              <a:buAutoNum type="arabicPeriod"/>
            </a:pPr>
            <a:r>
              <a:rPr lang="en-US" sz="2000" dirty="0" smtClean="0">
                <a:solidFill>
                  <a:srgbClr val="000000"/>
                </a:solidFill>
                <a:effectLst/>
              </a:rPr>
              <a:t>On the other hand, if the entry does not exist in the static database, the server selects an IP address from the available pool, assigns the address to the client, and adds the entry to the dynamic database.</a:t>
            </a: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20</a:t>
            </a:fld>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4"/>
          <p:cNvSpPr>
            <a:spLocks noGrp="1" noChangeArrowheads="1"/>
          </p:cNvSpPr>
          <p:nvPr>
            <p:ph type="title"/>
          </p:nvPr>
        </p:nvSpPr>
        <p:spPr>
          <a:xfrm>
            <a:off x="0" y="0"/>
            <a:ext cx="8686800" cy="792163"/>
          </a:xfrm>
        </p:spPr>
        <p:txBody>
          <a:bodyPr>
            <a:normAutofit fontScale="90000"/>
          </a:bodyPr>
          <a:lstStyle/>
          <a:p>
            <a:pPr algn="l" eaLnBrk="1" hangingPunct="1"/>
            <a:r>
              <a:rPr lang="en-US" sz="3600" b="1" dirty="0" err="1" smtClean="0">
                <a:solidFill>
                  <a:srgbClr val="000000"/>
                </a:solidFill>
                <a:effectLst/>
              </a:rPr>
              <a:t>DHCP</a:t>
            </a:r>
            <a:r>
              <a:rPr lang="en-US" sz="3600" b="1" dirty="0" smtClean="0">
                <a:solidFill>
                  <a:srgbClr val="000000"/>
                </a:solidFill>
                <a:effectLst/>
              </a:rPr>
              <a:t> </a:t>
            </a:r>
            <a:br>
              <a:rPr lang="en-US" sz="3600" b="1" dirty="0" smtClean="0">
                <a:solidFill>
                  <a:srgbClr val="000000"/>
                </a:solidFill>
                <a:effectLst/>
              </a:rPr>
            </a:br>
            <a:r>
              <a:rPr lang="en-US" sz="3600" b="1" dirty="0" smtClean="0">
                <a:solidFill>
                  <a:srgbClr val="000000"/>
                </a:solidFill>
                <a:effectLst/>
              </a:rPr>
              <a:t>Transition:</a:t>
            </a:r>
          </a:p>
        </p:txBody>
      </p:sp>
      <p:graphicFrame>
        <p:nvGraphicFramePr>
          <p:cNvPr id="1026" name="Object 3"/>
          <p:cNvGraphicFramePr>
            <a:graphicFrameLocks noGrp="1" noChangeAspect="1"/>
          </p:cNvGraphicFramePr>
          <p:nvPr>
            <p:ph idx="1"/>
          </p:nvPr>
        </p:nvGraphicFramePr>
        <p:xfrm>
          <a:off x="3175000" y="0"/>
          <a:ext cx="5916613" cy="6858000"/>
        </p:xfrm>
        <a:graphic>
          <a:graphicData uri="http://schemas.openxmlformats.org/presentationml/2006/ole">
            <p:oleObj spid="_x0000_s1026" name="Bitmap Image" r:id="rId3" imgW="3505504" imgH="4061812" progId="PBrush">
              <p:embed/>
            </p:oleObj>
          </a:graphicData>
        </a:graphic>
      </p:graphicFrame>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21</a:t>
            </a:fld>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228600" y="304800"/>
            <a:ext cx="8763000" cy="6553200"/>
          </a:xfrm>
        </p:spPr>
        <p:txBody>
          <a:bodyPr/>
          <a:lstStyle/>
          <a:p>
            <a:pPr eaLnBrk="1" hangingPunct="1">
              <a:lnSpc>
                <a:spcPct val="80000"/>
              </a:lnSpc>
              <a:buFont typeface="Arial" charset="0"/>
              <a:buNone/>
            </a:pPr>
            <a:r>
              <a:rPr lang="en-US" sz="1600" b="1" smtClean="0">
                <a:solidFill>
                  <a:srgbClr val="000000"/>
                </a:solidFill>
                <a:effectLst/>
                <a:latin typeface="Times New Roman" pitchFamily="18" charset="0"/>
              </a:rPr>
              <a:t>DHCP Transition states:</a:t>
            </a:r>
          </a:p>
          <a:p>
            <a:pPr eaLnBrk="1" hangingPunct="1">
              <a:lnSpc>
                <a:spcPct val="80000"/>
              </a:lnSpc>
              <a:buFont typeface="Arial" charset="0"/>
              <a:buNone/>
            </a:pPr>
            <a:endParaRPr lang="en-US" sz="16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(1) Initialization state:</a:t>
            </a:r>
          </a:p>
          <a:p>
            <a:pPr eaLnBrk="1" hangingPunct="1">
              <a:lnSpc>
                <a:spcPct val="80000"/>
              </a:lnSpc>
              <a:buFont typeface="Arial" charset="0"/>
              <a:buNone/>
            </a:pPr>
            <a:r>
              <a:rPr lang="en-US" sz="1400" b="1" smtClean="0">
                <a:solidFill>
                  <a:srgbClr val="000000"/>
                </a:solidFill>
                <a:effectLst/>
                <a:latin typeface="Times New Roman" pitchFamily="18" charset="0"/>
              </a:rPr>
              <a:t>The DHCP client broadcasts a DHCP DISCOVER message.</a:t>
            </a:r>
          </a:p>
          <a:p>
            <a:pPr eaLnBrk="1" hangingPunct="1">
              <a:lnSpc>
                <a:spcPct val="80000"/>
              </a:lnSpc>
              <a:buFont typeface="Arial" charset="0"/>
              <a:buNone/>
            </a:pPr>
            <a:endParaRPr lang="en-US" sz="5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(2) Selecting state:</a:t>
            </a:r>
          </a:p>
          <a:p>
            <a:pPr eaLnBrk="1" hangingPunct="1">
              <a:lnSpc>
                <a:spcPct val="80000"/>
              </a:lnSpc>
              <a:buFont typeface="Arial" charset="0"/>
              <a:buNone/>
            </a:pPr>
            <a:r>
              <a:rPr lang="en-US" sz="1400" b="1" smtClean="0">
                <a:solidFill>
                  <a:srgbClr val="000000"/>
                </a:solidFill>
                <a:effectLst/>
                <a:latin typeface="Times New Roman" pitchFamily="18" charset="0"/>
              </a:rPr>
              <a:t>The servers that provide this type of service respond with a DHCP OFFER message. </a:t>
            </a:r>
          </a:p>
          <a:p>
            <a:pPr eaLnBrk="1" hangingPunct="1">
              <a:lnSpc>
                <a:spcPct val="80000"/>
              </a:lnSpc>
              <a:buFont typeface="Arial" charset="0"/>
              <a:buNone/>
            </a:pPr>
            <a:r>
              <a:rPr lang="en-US" sz="1400" b="1" smtClean="0">
                <a:solidFill>
                  <a:srgbClr val="000000"/>
                </a:solidFill>
                <a:effectLst/>
                <a:latin typeface="Times New Roman" pitchFamily="18" charset="0"/>
              </a:rPr>
              <a:t>DHCP OFFER message includes IP address and lease duration.</a:t>
            </a:r>
          </a:p>
          <a:p>
            <a:pPr eaLnBrk="1" hangingPunct="1">
              <a:lnSpc>
                <a:spcPct val="80000"/>
              </a:lnSpc>
              <a:buFont typeface="Arial" charset="0"/>
              <a:buNone/>
            </a:pPr>
            <a:r>
              <a:rPr lang="en-US" sz="1400" b="1" smtClean="0">
                <a:solidFill>
                  <a:srgbClr val="000000"/>
                </a:solidFill>
                <a:effectLst/>
                <a:latin typeface="Times New Roman" pitchFamily="18" charset="0"/>
              </a:rPr>
              <a:t>The server that sends DHCP OFFER message, locks the IP address, so other clients cannot use it.</a:t>
            </a:r>
          </a:p>
          <a:p>
            <a:pPr eaLnBrk="1" hangingPunct="1">
              <a:lnSpc>
                <a:spcPct val="80000"/>
              </a:lnSpc>
              <a:buFont typeface="Arial" charset="0"/>
              <a:buNone/>
            </a:pPr>
            <a:r>
              <a:rPr lang="en-US" sz="1400" b="1" smtClean="0">
                <a:solidFill>
                  <a:srgbClr val="000000"/>
                </a:solidFill>
                <a:effectLst/>
                <a:latin typeface="Times New Roman" pitchFamily="18" charset="0"/>
              </a:rPr>
              <a:t>If the clients receive no DHCP OFFER message, it tries 4 times, after every 2 seconds. Finally if fails the clients </a:t>
            </a:r>
          </a:p>
          <a:p>
            <a:pPr eaLnBrk="1" hangingPunct="1">
              <a:lnSpc>
                <a:spcPct val="80000"/>
              </a:lnSpc>
              <a:buFont typeface="Arial" charset="0"/>
              <a:buNone/>
            </a:pPr>
            <a:r>
              <a:rPr lang="en-US" sz="1400" b="1" smtClean="0">
                <a:solidFill>
                  <a:srgbClr val="000000"/>
                </a:solidFill>
                <a:effectLst/>
                <a:latin typeface="Times New Roman" pitchFamily="18" charset="0"/>
              </a:rPr>
              <a:t>sleeps for 5 minutes, before trying again. </a:t>
            </a:r>
          </a:p>
          <a:p>
            <a:pPr eaLnBrk="1" hangingPunct="1">
              <a:lnSpc>
                <a:spcPct val="80000"/>
              </a:lnSpc>
              <a:buFont typeface="Arial" charset="0"/>
              <a:buNone/>
            </a:pPr>
            <a:r>
              <a:rPr lang="en-US" sz="1400" b="1" smtClean="0">
                <a:solidFill>
                  <a:srgbClr val="000000"/>
                </a:solidFill>
                <a:effectLst/>
                <a:latin typeface="Times New Roman" pitchFamily="18" charset="0"/>
              </a:rPr>
              <a:t>On the other hand, if the client receives the DHCP OFFER message, it sends a DHCP REQUEST message to the </a:t>
            </a:r>
          </a:p>
          <a:p>
            <a:pPr eaLnBrk="1" hangingPunct="1">
              <a:lnSpc>
                <a:spcPct val="80000"/>
              </a:lnSpc>
              <a:buFont typeface="Arial" charset="0"/>
              <a:buNone/>
            </a:pPr>
            <a:r>
              <a:rPr lang="en-US" sz="1400" b="1" smtClean="0">
                <a:solidFill>
                  <a:srgbClr val="000000"/>
                </a:solidFill>
                <a:effectLst/>
                <a:latin typeface="Times New Roman" pitchFamily="18" charset="0"/>
              </a:rPr>
              <a:t>selected server.</a:t>
            </a:r>
          </a:p>
          <a:p>
            <a:pPr eaLnBrk="1" hangingPunct="1">
              <a:lnSpc>
                <a:spcPct val="80000"/>
              </a:lnSpc>
              <a:buFont typeface="Arial" charset="0"/>
              <a:buNone/>
            </a:pPr>
            <a:endParaRPr lang="en-US" sz="7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(3) Requesting state:</a:t>
            </a:r>
          </a:p>
          <a:p>
            <a:pPr eaLnBrk="1" hangingPunct="1">
              <a:lnSpc>
                <a:spcPct val="80000"/>
              </a:lnSpc>
              <a:buFont typeface="Arial" charset="0"/>
              <a:buNone/>
            </a:pPr>
            <a:r>
              <a:rPr lang="en-US" sz="1400" b="1" smtClean="0">
                <a:solidFill>
                  <a:srgbClr val="000000"/>
                </a:solidFill>
                <a:effectLst/>
                <a:latin typeface="Times New Roman" pitchFamily="18" charset="0"/>
              </a:rPr>
              <a:t>Here client waits until it receives DHCP ACK message from the server, which binds the client’s physical address </a:t>
            </a:r>
          </a:p>
          <a:p>
            <a:pPr eaLnBrk="1" hangingPunct="1">
              <a:lnSpc>
                <a:spcPct val="80000"/>
              </a:lnSpc>
              <a:buFont typeface="Arial" charset="0"/>
              <a:buNone/>
            </a:pPr>
            <a:r>
              <a:rPr lang="en-US" sz="1400" b="1" smtClean="0">
                <a:solidFill>
                  <a:srgbClr val="000000"/>
                </a:solidFill>
                <a:effectLst/>
                <a:latin typeface="Times New Roman" pitchFamily="18" charset="0"/>
              </a:rPr>
              <a:t>and its IP address.</a:t>
            </a:r>
          </a:p>
          <a:p>
            <a:pPr eaLnBrk="1" hangingPunct="1">
              <a:lnSpc>
                <a:spcPct val="80000"/>
              </a:lnSpc>
              <a:buFont typeface="Arial" charset="0"/>
              <a:buNone/>
            </a:pPr>
            <a:endParaRPr lang="en-US" sz="5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(4) Bound state:</a:t>
            </a:r>
          </a:p>
          <a:p>
            <a:pPr eaLnBrk="1" hangingPunct="1">
              <a:lnSpc>
                <a:spcPct val="80000"/>
              </a:lnSpc>
              <a:buFont typeface="Arial" charset="0"/>
              <a:buNone/>
            </a:pPr>
            <a:r>
              <a:rPr lang="en-US" sz="1400" b="1" smtClean="0">
                <a:solidFill>
                  <a:srgbClr val="000000"/>
                </a:solidFill>
                <a:effectLst/>
                <a:latin typeface="Times New Roman" pitchFamily="18" charset="0"/>
              </a:rPr>
              <a:t>In this state client can use the IP address until the lease expires. If the lease expires it goes to the initial state.</a:t>
            </a:r>
          </a:p>
          <a:p>
            <a:pPr eaLnBrk="1" hangingPunct="1">
              <a:lnSpc>
                <a:spcPct val="80000"/>
              </a:lnSpc>
              <a:buFont typeface="Arial" charset="0"/>
              <a:buNone/>
            </a:pPr>
            <a:r>
              <a:rPr lang="en-US" sz="1400" b="1" smtClean="0">
                <a:solidFill>
                  <a:srgbClr val="000000"/>
                </a:solidFill>
                <a:effectLst/>
                <a:latin typeface="Times New Roman" pitchFamily="18" charset="0"/>
              </a:rPr>
              <a:t>If 50% of the lease period expires, the client sends DHCP REQUEST for renewal. If the server agrees, it sends </a:t>
            </a:r>
          </a:p>
          <a:p>
            <a:pPr eaLnBrk="1" hangingPunct="1">
              <a:lnSpc>
                <a:spcPct val="80000"/>
              </a:lnSpc>
              <a:buFont typeface="Arial" charset="0"/>
              <a:buNone/>
            </a:pPr>
            <a:r>
              <a:rPr lang="en-US" sz="1400" b="1" smtClean="0">
                <a:solidFill>
                  <a:srgbClr val="000000"/>
                </a:solidFill>
                <a:effectLst/>
                <a:latin typeface="Times New Roman" pitchFamily="18" charset="0"/>
              </a:rPr>
              <a:t>DHCP ACK message to the client</a:t>
            </a:r>
          </a:p>
          <a:p>
            <a:pPr eaLnBrk="1" hangingPunct="1">
              <a:lnSpc>
                <a:spcPct val="80000"/>
              </a:lnSpc>
              <a:buFont typeface="Arial" charset="0"/>
              <a:buNone/>
            </a:pPr>
            <a:endParaRPr lang="en-US" sz="8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(5) Renewing state:</a:t>
            </a:r>
          </a:p>
          <a:p>
            <a:pPr eaLnBrk="1" hangingPunct="1">
              <a:lnSpc>
                <a:spcPct val="80000"/>
              </a:lnSpc>
              <a:buFont typeface="Arial" charset="0"/>
              <a:buNone/>
            </a:pPr>
            <a:r>
              <a:rPr lang="en-US" sz="1400" b="1" smtClean="0">
                <a:solidFill>
                  <a:srgbClr val="000000"/>
                </a:solidFill>
                <a:effectLst/>
                <a:latin typeface="Times New Roman" pitchFamily="18" charset="0"/>
              </a:rPr>
              <a:t>If client receives DHCP ACK message from the server, it renews the lease agreement. </a:t>
            </a:r>
          </a:p>
          <a:p>
            <a:pPr eaLnBrk="1" hangingPunct="1">
              <a:lnSpc>
                <a:spcPct val="80000"/>
              </a:lnSpc>
              <a:buFont typeface="Arial" charset="0"/>
              <a:buNone/>
            </a:pPr>
            <a:r>
              <a:rPr lang="en-US" sz="1400" b="1" smtClean="0">
                <a:solidFill>
                  <a:srgbClr val="000000"/>
                </a:solidFill>
                <a:effectLst/>
                <a:latin typeface="Times New Roman" pitchFamily="18" charset="0"/>
              </a:rPr>
              <a:t>If the lease time 87.5% expires and the DHCP client does not receive the DHCP ACK message, it sends the </a:t>
            </a:r>
          </a:p>
          <a:p>
            <a:pPr eaLnBrk="1" hangingPunct="1">
              <a:lnSpc>
                <a:spcPct val="80000"/>
              </a:lnSpc>
              <a:buFont typeface="Arial" charset="0"/>
              <a:buNone/>
            </a:pPr>
            <a:r>
              <a:rPr lang="en-US" sz="1400" b="1" smtClean="0">
                <a:solidFill>
                  <a:srgbClr val="000000"/>
                </a:solidFill>
                <a:effectLst/>
                <a:latin typeface="Times New Roman" pitchFamily="18" charset="0"/>
              </a:rPr>
              <a:t>DHCP REQUEST to the server and goes to the Rebinding state.</a:t>
            </a:r>
          </a:p>
          <a:p>
            <a:pPr eaLnBrk="1" hangingPunct="1">
              <a:lnSpc>
                <a:spcPct val="80000"/>
              </a:lnSpc>
              <a:buFont typeface="Arial" charset="0"/>
              <a:buNone/>
            </a:pPr>
            <a:endParaRPr lang="en-US" sz="900" b="1" smtClean="0">
              <a:solidFill>
                <a:srgbClr val="000000"/>
              </a:solidFill>
              <a:effectLst/>
              <a:latin typeface="Times New Roman" pitchFamily="18" charset="0"/>
            </a:endParaRPr>
          </a:p>
          <a:p>
            <a:pPr eaLnBrk="1" hangingPunct="1">
              <a:lnSpc>
                <a:spcPct val="80000"/>
              </a:lnSpc>
              <a:buFont typeface="Arial" charset="0"/>
              <a:buNone/>
            </a:pPr>
            <a:r>
              <a:rPr lang="en-US" sz="1400" b="1" smtClean="0">
                <a:solidFill>
                  <a:srgbClr val="000000"/>
                </a:solidFill>
                <a:effectLst/>
                <a:latin typeface="Times New Roman" pitchFamily="18" charset="0"/>
              </a:rPr>
              <a:t>(6) Rebinding state:</a:t>
            </a:r>
          </a:p>
          <a:p>
            <a:pPr eaLnBrk="1" hangingPunct="1">
              <a:lnSpc>
                <a:spcPct val="80000"/>
              </a:lnSpc>
              <a:buFont typeface="Arial" charset="0"/>
              <a:buNone/>
            </a:pPr>
            <a:r>
              <a:rPr lang="en-US" sz="1400" b="1" smtClean="0">
                <a:solidFill>
                  <a:srgbClr val="000000"/>
                </a:solidFill>
                <a:effectLst/>
                <a:latin typeface="Times New Roman" pitchFamily="18" charset="0"/>
              </a:rPr>
              <a:t>If client receives DHCP ACK message from the server, it renews the lease agreement. </a:t>
            </a:r>
          </a:p>
          <a:p>
            <a:pPr eaLnBrk="1" hangingPunct="1">
              <a:lnSpc>
                <a:spcPct val="80000"/>
              </a:lnSpc>
              <a:buFont typeface="Arial" charset="0"/>
              <a:buNone/>
            </a:pPr>
            <a:r>
              <a:rPr lang="en-US" sz="1400" b="1" smtClean="0">
                <a:solidFill>
                  <a:srgbClr val="000000"/>
                </a:solidFill>
                <a:effectLst/>
                <a:latin typeface="Times New Roman" pitchFamily="18" charset="0"/>
              </a:rPr>
              <a:t>If the lease time expires or the client receives a DHCP N ACK message from the server, it goes to the </a:t>
            </a:r>
          </a:p>
          <a:p>
            <a:pPr eaLnBrk="1" hangingPunct="1">
              <a:lnSpc>
                <a:spcPct val="80000"/>
              </a:lnSpc>
              <a:buFont typeface="Arial" charset="0"/>
              <a:buNone/>
            </a:pPr>
            <a:r>
              <a:rPr lang="en-US" sz="1400" b="1" smtClean="0">
                <a:solidFill>
                  <a:srgbClr val="000000"/>
                </a:solidFill>
                <a:effectLst/>
                <a:latin typeface="Times New Roman" pitchFamily="18" charset="0"/>
              </a:rPr>
              <a:t>initialization state.</a:t>
            </a:r>
          </a:p>
        </p:txBody>
      </p:sp>
      <p:sp>
        <p:nvSpPr>
          <p:cNvPr id="3" name="Slide Number Placeholder 2"/>
          <p:cNvSpPr>
            <a:spLocks noGrp="1"/>
          </p:cNvSpPr>
          <p:nvPr>
            <p:ph type="sldNum" sz="quarter" idx="12"/>
          </p:nvPr>
        </p:nvSpPr>
        <p:spPr/>
        <p:txBody>
          <a:bodyPr/>
          <a:lstStyle/>
          <a:p>
            <a:pPr>
              <a:defRPr/>
            </a:pPr>
            <a:fld id="{4B84B30C-80AB-47F0-AE89-913EA939A980}" type="slidenum">
              <a:rPr lang="en-US" smtClean="0"/>
              <a:pPr>
                <a:defRPr/>
              </a:pPr>
              <a:t>22</a:t>
            </a:fld>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1913" y="0"/>
            <a:ext cx="7862887" cy="579438"/>
          </a:xfrm>
          <a:prstGeom prst="rect">
            <a:avLst/>
          </a:prstGeom>
          <a:noFill/>
          <a:ln w="9525">
            <a:noFill/>
            <a:miter lim="800000"/>
            <a:headEnd/>
            <a:tailEnd/>
          </a:ln>
        </p:spPr>
        <p:txBody>
          <a:bodyPr>
            <a:spAutoFit/>
          </a:bodyPr>
          <a:lstStyle/>
          <a:p>
            <a:r>
              <a:rPr lang="en-US" sz="3200" b="1" dirty="0" smtClean="0">
                <a:solidFill>
                  <a:srgbClr val="000000"/>
                </a:solidFill>
                <a:latin typeface="Times New Roman" pitchFamily="18" charset="0"/>
              </a:rPr>
              <a:t>(</a:t>
            </a:r>
            <a:r>
              <a:rPr lang="en-US" sz="3200" b="1" dirty="0">
                <a:solidFill>
                  <a:srgbClr val="000000"/>
                </a:solidFill>
                <a:latin typeface="Times New Roman" pitchFamily="18" charset="0"/>
              </a:rPr>
              <a:t>Exchanging messages)</a:t>
            </a:r>
          </a:p>
        </p:txBody>
      </p:sp>
      <p:pic>
        <p:nvPicPr>
          <p:cNvPr id="40963" name="Picture 3"/>
          <p:cNvPicPr>
            <a:picLocks noChangeAspect="1" noChangeArrowheads="1"/>
          </p:cNvPicPr>
          <p:nvPr/>
        </p:nvPicPr>
        <p:blipFill>
          <a:blip r:embed="rId2" cstate="print"/>
          <a:srcRect/>
          <a:stretch>
            <a:fillRect/>
          </a:stretch>
        </p:blipFill>
        <p:spPr bwMode="auto">
          <a:xfrm>
            <a:off x="328613" y="901700"/>
            <a:ext cx="8485187" cy="505301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8D51F359-4732-4AB7-8DD8-2F1DC4B37DD7}" type="slidenum">
              <a:rPr lang="en-US" smtClean="0"/>
              <a:pPr>
                <a:defRPr/>
              </a:pPr>
              <a:t>23</a:t>
            </a:fld>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987" name="Picture 3"/>
          <p:cNvPicPr>
            <a:picLocks noChangeAspect="1" noChangeArrowheads="1"/>
          </p:cNvPicPr>
          <p:nvPr/>
        </p:nvPicPr>
        <p:blipFill>
          <a:blip r:embed="rId2" cstate="print"/>
          <a:srcRect/>
          <a:stretch>
            <a:fillRect/>
          </a:stretch>
        </p:blipFill>
        <p:spPr bwMode="auto">
          <a:xfrm>
            <a:off x="328613" y="911225"/>
            <a:ext cx="8485187" cy="5033963"/>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a:defRPr/>
            </a:pPr>
            <a:fld id="{8D51F359-4732-4AB7-8DD8-2F1DC4B37DD7}" type="slidenum">
              <a:rPr lang="en-US" smtClean="0"/>
              <a:pPr>
                <a:defRPr/>
              </a:pPr>
              <a:t>24</a:t>
            </a:fld>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0" y="0"/>
            <a:ext cx="8686800" cy="6553200"/>
            <a:chOff x="0" y="96"/>
            <a:chExt cx="5472" cy="3840"/>
          </a:xfrm>
        </p:grpSpPr>
        <p:sp>
          <p:nvSpPr>
            <p:cNvPr id="43014"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p:spPr>
          <p:txBody>
            <a:bodyPr wrap="none" anchor="ctr"/>
            <a:lstStyle/>
            <a:p>
              <a:pPr algn="ctr" eaLnBrk="1" hangingPunct="1"/>
              <a:endParaRPr lang="en-US" sz="2400" b="1">
                <a:latin typeface="Times New Roman" pitchFamily="18" charset="0"/>
              </a:endParaRPr>
            </a:p>
          </p:txBody>
        </p:sp>
        <p:sp>
          <p:nvSpPr>
            <p:cNvPr id="43015" name="AutoShape 4"/>
            <p:cNvSpPr>
              <a:spLocks noChangeArrowheads="1"/>
            </p:cNvSpPr>
            <p:nvPr/>
          </p:nvSpPr>
          <p:spPr bwMode="blackWhite">
            <a:xfrm>
              <a:off x="0" y="96"/>
              <a:ext cx="5376" cy="768"/>
            </a:xfrm>
            <a:custGeom>
              <a:avLst/>
              <a:gdLst>
                <a:gd name="T0" fmla="*/ 0 w 7000"/>
                <a:gd name="T1" fmla="*/ 0 h 1000"/>
                <a:gd name="T2" fmla="*/ 2721 w 7000"/>
                <a:gd name="T3" fmla="*/ 0 h 1000"/>
                <a:gd name="T4" fmla="*/ 2948 w 7000"/>
                <a:gd name="T5" fmla="*/ 227 h 1000"/>
                <a:gd name="T6" fmla="*/ 2722 w 7000"/>
                <a:gd name="T7" fmla="*/ 453 h 1000"/>
                <a:gd name="T8" fmla="*/ 0 w 7000"/>
                <a:gd name="T9" fmla="*/ 453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close/>
                </a:path>
              </a:pathLst>
            </a:custGeom>
            <a:solidFill>
              <a:schemeClr val="folHlink"/>
            </a:solidFill>
            <a:ln w="9525">
              <a:noFill/>
              <a:miter lim="800000"/>
              <a:headEnd/>
              <a:tailEnd/>
            </a:ln>
          </p:spPr>
          <p:txBody>
            <a:bodyPr/>
            <a:lstStyle/>
            <a:p>
              <a:endParaRPr lang="en-US"/>
            </a:p>
          </p:txBody>
        </p:sp>
        <p:sp>
          <p:nvSpPr>
            <p:cNvPr id="43016" name="Line 5"/>
            <p:cNvSpPr>
              <a:spLocks noChangeShapeType="1"/>
            </p:cNvSpPr>
            <p:nvPr/>
          </p:nvSpPr>
          <p:spPr bwMode="auto">
            <a:xfrm>
              <a:off x="0" y="768"/>
              <a:ext cx="5088" cy="0"/>
            </a:xfrm>
            <a:prstGeom prst="line">
              <a:avLst/>
            </a:prstGeom>
            <a:noFill/>
            <a:ln w="38100">
              <a:solidFill>
                <a:schemeClr val="bg1"/>
              </a:solidFill>
              <a:round/>
              <a:headEnd/>
              <a:tailEnd/>
            </a:ln>
          </p:spPr>
          <p:txBody>
            <a:bodyPr/>
            <a:lstStyle/>
            <a:p>
              <a:endParaRPr lang="en-US"/>
            </a:p>
          </p:txBody>
        </p:sp>
      </p:grpSp>
      <p:sp>
        <p:nvSpPr>
          <p:cNvPr id="43011" name="Text Box 6"/>
          <p:cNvSpPr txBox="1">
            <a:spLocks noChangeArrowheads="1"/>
          </p:cNvSpPr>
          <p:nvPr/>
        </p:nvSpPr>
        <p:spPr bwMode="auto">
          <a:xfrm>
            <a:off x="228600" y="304800"/>
            <a:ext cx="2076450" cy="701675"/>
          </a:xfrm>
          <a:prstGeom prst="rect">
            <a:avLst/>
          </a:prstGeom>
          <a:noFill/>
          <a:ln w="9525">
            <a:noFill/>
            <a:miter lim="800000"/>
            <a:headEnd/>
            <a:tailEnd/>
          </a:ln>
        </p:spPr>
        <p:txBody>
          <a:bodyPr wrap="none">
            <a:spAutoFit/>
          </a:bodyPr>
          <a:lstStyle/>
          <a:p>
            <a:r>
              <a:rPr lang="en-US" sz="4000" b="1">
                <a:solidFill>
                  <a:srgbClr val="000000"/>
                </a:solidFill>
                <a:latin typeface="Arial" charset="0"/>
              </a:rPr>
              <a:t>20.2   IP</a:t>
            </a:r>
          </a:p>
        </p:txBody>
      </p:sp>
      <p:sp>
        <p:nvSpPr>
          <p:cNvPr id="515079" name="Text Box 7"/>
          <p:cNvSpPr txBox="1">
            <a:spLocks noChangeArrowheads="1"/>
          </p:cNvSpPr>
          <p:nvPr/>
        </p:nvSpPr>
        <p:spPr bwMode="auto">
          <a:xfrm>
            <a:off x="914400" y="1524000"/>
            <a:ext cx="2057400" cy="579438"/>
          </a:xfrm>
          <a:prstGeom prst="rect">
            <a:avLst/>
          </a:prstGeom>
          <a:noFill/>
          <a:ln w="9525">
            <a:noFill/>
            <a:miter lim="800000"/>
            <a:headEnd/>
            <a:tailEnd/>
          </a:ln>
        </p:spPr>
        <p:txBody>
          <a:bodyPr wrap="none">
            <a:spAutoFit/>
          </a:bodyPr>
          <a:lstStyle/>
          <a:p>
            <a:pPr marL="457200" indent="-457200"/>
            <a:r>
              <a:rPr lang="en-US" sz="3200" b="1" i="1">
                <a:solidFill>
                  <a:srgbClr val="3366FF"/>
                </a:solidFill>
                <a:latin typeface="Arial" charset="0"/>
              </a:rPr>
              <a:t>Datagram</a:t>
            </a:r>
          </a:p>
        </p:txBody>
      </p:sp>
      <p:sp>
        <p:nvSpPr>
          <p:cNvPr id="515080" name="Text Box 8"/>
          <p:cNvSpPr txBox="1">
            <a:spLocks noChangeArrowheads="1"/>
          </p:cNvSpPr>
          <p:nvPr/>
        </p:nvSpPr>
        <p:spPr bwMode="auto">
          <a:xfrm>
            <a:off x="914400" y="2400300"/>
            <a:ext cx="3001963" cy="579438"/>
          </a:xfrm>
          <a:prstGeom prst="rect">
            <a:avLst/>
          </a:prstGeom>
          <a:noFill/>
          <a:ln w="9525">
            <a:noFill/>
            <a:miter lim="800000"/>
            <a:headEnd/>
            <a:tailEnd/>
          </a:ln>
        </p:spPr>
        <p:txBody>
          <a:bodyPr wrap="none">
            <a:spAutoFit/>
          </a:bodyPr>
          <a:lstStyle/>
          <a:p>
            <a:pPr marL="457200" indent="-457200"/>
            <a:r>
              <a:rPr lang="en-US" sz="3200" b="1" i="1">
                <a:solidFill>
                  <a:srgbClr val="3366FF"/>
                </a:solidFill>
                <a:latin typeface="Arial" charset="0"/>
              </a:rPr>
              <a:t>Fragmentation</a:t>
            </a:r>
          </a:p>
        </p:txBody>
      </p:sp>
      <p:sp>
        <p:nvSpPr>
          <p:cNvPr id="9" name="Slide Number Placeholder 8"/>
          <p:cNvSpPr>
            <a:spLocks noGrp="1"/>
          </p:cNvSpPr>
          <p:nvPr>
            <p:ph type="sldNum" sz="quarter" idx="12"/>
          </p:nvPr>
        </p:nvSpPr>
        <p:spPr/>
        <p:txBody>
          <a:bodyPr/>
          <a:lstStyle/>
          <a:p>
            <a:pPr>
              <a:defRPr/>
            </a:pPr>
            <a:fld id="{8D51F359-4732-4AB7-8DD8-2F1DC4B37DD7}" type="slidenum">
              <a:rPr lang="en-US" smtClean="0"/>
              <a:pPr>
                <a:defRPr/>
              </a:pPr>
              <a:t>25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15079"/>
                                        </p:tgtEl>
                                        <p:attrNameLst>
                                          <p:attrName>style.visibility</p:attrName>
                                        </p:attrNameLst>
                                      </p:cBhvr>
                                      <p:to>
                                        <p:strVal val="visible"/>
                                      </p:to>
                                    </p:set>
                                    <p:animEffect transition="in" filter="diamond(in)">
                                      <p:cBhvr>
                                        <p:cTn id="7" dur="2000"/>
                                        <p:tgtEl>
                                          <p:spTgt spid="51507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15080"/>
                                        </p:tgtEl>
                                        <p:attrNameLst>
                                          <p:attrName>style.visibility</p:attrName>
                                        </p:attrNameLst>
                                      </p:cBhvr>
                                      <p:to>
                                        <p:strVal val="visible"/>
                                      </p:to>
                                    </p:set>
                                    <p:animEffect transition="in" filter="diamond(in)">
                                      <p:cBhvr>
                                        <p:cTn id="12" dur="2000"/>
                                        <p:tgtEl>
                                          <p:spTgt spid="515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9" grpId="0"/>
      <p:bldP spid="515080"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zh-CN" b="1" smtClean="0">
                <a:solidFill>
                  <a:srgbClr val="000000"/>
                </a:solidFill>
                <a:effectLst/>
                <a:ea typeface="宋体" pitchFamily="2" charset="-122"/>
              </a:rPr>
              <a:t>Characteristics:</a:t>
            </a:r>
            <a:endParaRPr lang="en-US" smtClean="0">
              <a:solidFill>
                <a:srgbClr val="000000"/>
              </a:solidFill>
              <a:effectLst/>
            </a:endParaRPr>
          </a:p>
        </p:txBody>
      </p:sp>
      <p:sp>
        <p:nvSpPr>
          <p:cNvPr id="44035" name="Rectangle 3"/>
          <p:cNvSpPr>
            <a:spLocks noGrp="1" noChangeArrowheads="1"/>
          </p:cNvSpPr>
          <p:nvPr>
            <p:ph idx="1"/>
          </p:nvPr>
        </p:nvSpPr>
        <p:spPr/>
        <p:txBody>
          <a:bodyPr/>
          <a:lstStyle/>
          <a:p>
            <a:pPr eaLnBrk="1" hangingPunct="1"/>
            <a:r>
              <a:rPr lang="en-US" altLang="zh-CN" sz="2800" smtClean="0">
                <a:solidFill>
                  <a:srgbClr val="000000"/>
                </a:solidFill>
                <a:effectLst/>
                <a:ea typeface="宋体" pitchFamily="2" charset="-122"/>
              </a:rPr>
              <a:t>Host to host delivery protocol for the internet.</a:t>
            </a:r>
          </a:p>
          <a:p>
            <a:pPr eaLnBrk="1" hangingPunct="1"/>
            <a:r>
              <a:rPr lang="en-US" altLang="zh-CN" sz="2800" smtClean="0">
                <a:solidFill>
                  <a:srgbClr val="000000"/>
                </a:solidFill>
                <a:effectLst/>
                <a:ea typeface="宋体" pitchFamily="2" charset="-122"/>
              </a:rPr>
              <a:t>Unreliable and connectionless datagram protocol (best effort delivery service) and also applicable for packet switching network.</a:t>
            </a:r>
          </a:p>
          <a:p>
            <a:pPr eaLnBrk="1" hangingPunct="1"/>
            <a:r>
              <a:rPr lang="en-US" altLang="zh-CN" sz="2800" smtClean="0">
                <a:solidFill>
                  <a:srgbClr val="000000"/>
                </a:solidFill>
                <a:effectLst/>
                <a:ea typeface="宋体" pitchFamily="2" charset="-122"/>
              </a:rPr>
              <a:t>IP provides no error and flow control mechanism.</a:t>
            </a:r>
          </a:p>
          <a:p>
            <a:pPr eaLnBrk="1" hangingPunct="1"/>
            <a:r>
              <a:rPr lang="en-US" altLang="zh-CN" sz="2800" smtClean="0">
                <a:solidFill>
                  <a:srgbClr val="000000"/>
                </a:solidFill>
                <a:effectLst/>
                <a:ea typeface="宋体" pitchFamily="2" charset="-122"/>
              </a:rPr>
              <a:t>IP provides only error detection mechanism and discards the packet if it is corrupted.</a:t>
            </a:r>
          </a:p>
          <a:p>
            <a:pPr eaLnBrk="1" hangingPunct="1"/>
            <a:r>
              <a:rPr lang="en-US" altLang="zh-CN" sz="2800" smtClean="0">
                <a:solidFill>
                  <a:srgbClr val="000000"/>
                </a:solidFill>
                <a:effectLst/>
                <a:ea typeface="宋体" pitchFamily="2" charset="-122"/>
              </a:rPr>
              <a:t>For reliability, IP is paired with TCP.</a:t>
            </a:r>
            <a:endParaRPr lang="en-US" sz="2800" smtClean="0">
              <a:solidFill>
                <a:srgbClr val="000000"/>
              </a:solidFill>
              <a:effectLst/>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26</a:t>
            </a:fld>
            <a:endParaRPr lang="en-US"/>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4"/>
          <p:cNvSpPr>
            <a:spLocks noGrp="1" noChangeArrowheads="1"/>
          </p:cNvSpPr>
          <p:nvPr>
            <p:ph type="title"/>
          </p:nvPr>
        </p:nvSpPr>
        <p:spPr/>
        <p:txBody>
          <a:bodyPr/>
          <a:lstStyle/>
          <a:p>
            <a:pPr eaLnBrk="1" hangingPunct="1"/>
            <a:r>
              <a:rPr lang="en-US" smtClean="0">
                <a:solidFill>
                  <a:srgbClr val="000000"/>
                </a:solidFill>
                <a:effectLst/>
              </a:rPr>
              <a:t>Continue……</a:t>
            </a:r>
          </a:p>
        </p:txBody>
      </p:sp>
      <p:graphicFrame>
        <p:nvGraphicFramePr>
          <p:cNvPr id="2050" name="Object 3"/>
          <p:cNvGraphicFramePr>
            <a:graphicFrameLocks noGrp="1" noChangeAspect="1"/>
          </p:cNvGraphicFramePr>
          <p:nvPr>
            <p:ph idx="1"/>
          </p:nvPr>
        </p:nvGraphicFramePr>
        <p:xfrm>
          <a:off x="533400" y="1371600"/>
          <a:ext cx="6170613" cy="2346325"/>
        </p:xfrm>
        <a:graphic>
          <a:graphicData uri="http://schemas.openxmlformats.org/presentationml/2006/ole">
            <p:oleObj spid="_x0000_s2050" name="Bitmap Image" r:id="rId3" imgW="5485714" imgH="2085714" progId="PBrush">
              <p:embed/>
            </p:oleObj>
          </a:graphicData>
        </a:graphic>
      </p:graphicFrame>
      <p:sp>
        <p:nvSpPr>
          <p:cNvPr id="6" name="Slide Number Placeholder 5"/>
          <p:cNvSpPr>
            <a:spLocks noGrp="1"/>
          </p:cNvSpPr>
          <p:nvPr>
            <p:ph type="sldNum" sz="quarter" idx="12"/>
          </p:nvPr>
        </p:nvSpPr>
        <p:spPr/>
        <p:txBody>
          <a:bodyPr/>
          <a:lstStyle/>
          <a:p>
            <a:pPr>
              <a:defRPr/>
            </a:pPr>
            <a:fld id="{4B84B30C-80AB-47F0-AE89-913EA939A980}" type="slidenum">
              <a:rPr lang="en-US" smtClean="0"/>
              <a:pPr>
                <a:defRPr/>
              </a:pPr>
              <a:t>27</a:t>
            </a:fld>
            <a:endParaRPr lang="en-US"/>
          </a:p>
        </p:txBody>
      </p:sp>
      <p:sp>
        <p:nvSpPr>
          <p:cNvPr id="2052" name="Rectangle 6"/>
          <p:cNvSpPr>
            <a:spLocks noChangeArrowheads="1"/>
          </p:cNvSpPr>
          <p:nvPr/>
        </p:nvSpPr>
        <p:spPr bwMode="auto">
          <a:xfrm>
            <a:off x="533400" y="3917950"/>
            <a:ext cx="7732713" cy="1447800"/>
          </a:xfrm>
          <a:prstGeom prst="rect">
            <a:avLst/>
          </a:prstGeom>
          <a:noFill/>
          <a:ln w="9525">
            <a:noFill/>
            <a:miter lim="800000"/>
            <a:headEnd/>
            <a:tailEnd/>
          </a:ln>
        </p:spPr>
        <p:txBody>
          <a:bodyPr wrap="none" anchor="ctr">
            <a:spAutoFit/>
          </a:bodyPr>
          <a:lstStyle/>
          <a:p>
            <a:pPr eaLnBrk="1" hangingPunct="1">
              <a:tabLst>
                <a:tab pos="685800" algn="l"/>
              </a:tabLst>
            </a:pPr>
            <a:r>
              <a:rPr lang="en-US" altLang="zh-CN" sz="2900" b="1">
                <a:latin typeface="Times New Roman" pitchFamily="18" charset="0"/>
                <a:ea typeface="宋体" pitchFamily="2" charset="-122"/>
                <a:cs typeface="Times New Roman" pitchFamily="18" charset="0"/>
              </a:rPr>
              <a:t>Datagram:</a:t>
            </a:r>
            <a:endParaRPr lang="en-US" altLang="zh-CN" sz="1900" b="1">
              <a:ea typeface="宋体" pitchFamily="2" charset="-122"/>
              <a:cs typeface="Times New Roman" pitchFamily="18" charset="0"/>
            </a:endParaRPr>
          </a:p>
          <a:p>
            <a:pPr>
              <a:buFont typeface="Wingdings" pitchFamily="2" charset="2"/>
              <a:buChar char=""/>
              <a:tabLst>
                <a:tab pos="685800" algn="l"/>
              </a:tabLst>
            </a:pPr>
            <a:r>
              <a:rPr lang="en-US" altLang="zh-CN" sz="2000" b="1">
                <a:solidFill>
                  <a:srgbClr val="000000"/>
                </a:solidFill>
                <a:latin typeface="Times New Roman" pitchFamily="18" charset="0"/>
                <a:ea typeface="宋体" pitchFamily="2" charset="-122"/>
                <a:cs typeface="Times New Roman" pitchFamily="18" charset="0"/>
              </a:rPr>
              <a:t>A datagram variable length packet has two parts. Header and Data.</a:t>
            </a:r>
            <a:endParaRPr lang="en-US" altLang="zh-CN" sz="1900" b="1">
              <a:solidFill>
                <a:srgbClr val="000000"/>
              </a:solidFill>
              <a:ea typeface="宋体" pitchFamily="2" charset="-122"/>
              <a:cs typeface="Times New Roman" pitchFamily="18" charset="0"/>
            </a:endParaRPr>
          </a:p>
          <a:p>
            <a:pPr>
              <a:tabLst>
                <a:tab pos="685800" algn="l"/>
              </a:tabLst>
            </a:pPr>
            <a:endParaRPr lang="en-US" altLang="zh-CN" sz="4000" b="1">
              <a:solidFill>
                <a:srgbClr val="000000"/>
              </a:solidFill>
              <a:latin typeface="Times New Roman" pitchFamily="18" charset="0"/>
              <a:ea typeface="宋体" pitchFamily="2" charset="-122"/>
              <a:cs typeface="Times New Roman" pitchFamily="18" charset="0"/>
            </a:endParaRPr>
          </a:p>
        </p:txBody>
      </p:sp>
      <p:graphicFrame>
        <p:nvGraphicFramePr>
          <p:cNvPr id="528405" name="Group 21"/>
          <p:cNvGraphicFramePr>
            <a:graphicFrameLocks noGrp="1"/>
          </p:cNvGraphicFramePr>
          <p:nvPr/>
        </p:nvGraphicFramePr>
        <p:xfrm>
          <a:off x="533400" y="5257800"/>
          <a:ext cx="4419600" cy="914400"/>
        </p:xfrm>
        <a:graphic>
          <a:graphicData uri="http://schemas.openxmlformats.org/drawingml/2006/table">
            <a:tbl>
              <a:tblPr/>
              <a:tblGrid>
                <a:gridCol w="1736725"/>
                <a:gridCol w="2682875"/>
              </a:tblGrid>
              <a:tr h="914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Header</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20 -60 bytes</a:t>
                      </a:r>
                      <a:endParaRPr kumimoji="0" lang="en-US" altLang="zh-CN" sz="3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Data</a:t>
                      </a:r>
                      <a:endParaRPr kumimoji="0" lang="en-US" altLang="zh-CN" sz="1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(65536-20)</a:t>
                      </a: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sym typeface="Wingdings" pitchFamily="2" charset="2"/>
                        </a:rPr>
                        <a:t></a:t>
                      </a:r>
                      <a:r>
                        <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 ((65536-60) bytes</a:t>
                      </a:r>
                      <a:endParaRPr kumimoji="0" lang="en-US" altLang="zh-CN" sz="16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sym typeface="Wingdings" pitchFamily="2"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latin typeface="Times New Roman" pitchFamily="18" charset="0"/>
              </a:rPr>
              <a:t>IP </a:t>
            </a:r>
            <a:r>
              <a:rPr lang="en-US" altLang="en-US" b="1" dirty="0">
                <a:solidFill>
                  <a:srgbClr val="000000"/>
                </a:solidFill>
                <a:latin typeface="Times New Roman" pitchFamily="18" charset="0"/>
              </a:rPr>
              <a:t>datagram</a:t>
            </a:r>
          </a:p>
        </p:txBody>
      </p:sp>
      <p:sp>
        <p:nvSpPr>
          <p:cNvPr id="4505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4506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4506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4506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4506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4506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4506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45066" name="Picture 10"/>
          <p:cNvPicPr>
            <a:picLocks noChangeAspect="1" noChangeArrowheads="1"/>
          </p:cNvPicPr>
          <p:nvPr/>
        </p:nvPicPr>
        <p:blipFill>
          <a:blip r:embed="rId2" cstate="print"/>
          <a:srcRect/>
          <a:stretch>
            <a:fillRect/>
          </a:stretch>
        </p:blipFill>
        <p:spPr bwMode="auto">
          <a:xfrm>
            <a:off x="1166813" y="1252538"/>
            <a:ext cx="6681787" cy="4919662"/>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28</a:t>
            </a:fld>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8D51F359-4732-4AB7-8DD8-2F1DC4B37DD7}" type="slidenum">
              <a:rPr lang="en-US" smtClean="0"/>
              <a:pPr>
                <a:defRPr/>
              </a:pPr>
              <a:t>29</a:t>
            </a:fld>
            <a:endParaRPr lang="en-US"/>
          </a:p>
        </p:txBody>
      </p:sp>
      <p:pic>
        <p:nvPicPr>
          <p:cNvPr id="48130" name="Picture 2" descr="http://www.erg.abdn.ac.uk/~gorry/eg3567/images/ip-header.gif"/>
          <p:cNvPicPr>
            <a:picLocks noChangeAspect="1" noChangeArrowheads="1"/>
          </p:cNvPicPr>
          <p:nvPr/>
        </p:nvPicPr>
        <p:blipFill>
          <a:blip r:embed="rId2" cstate="print"/>
          <a:srcRect/>
          <a:stretch>
            <a:fillRect/>
          </a:stretch>
        </p:blipFill>
        <p:spPr bwMode="auto">
          <a:xfrm>
            <a:off x="0" y="1143000"/>
            <a:ext cx="9144000" cy="3435317"/>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9954" name="Rectangle 2"/>
          <p:cNvSpPr>
            <a:spLocks noChangeArrowheads="1"/>
          </p:cNvSpPr>
          <p:nvPr/>
        </p:nvSpPr>
        <p:spPr bwMode="auto">
          <a:xfrm>
            <a:off x="838200" y="2195513"/>
            <a:ext cx="7543800" cy="1797050"/>
          </a:xfrm>
          <a:prstGeom prst="rect">
            <a:avLst/>
          </a:prstGeom>
          <a:solidFill>
            <a:schemeClr val="bg1"/>
          </a:solidFill>
          <a:ln w="57150">
            <a:solidFill>
              <a:srgbClr val="FF0066"/>
            </a:solidFill>
            <a:miter lim="800000"/>
            <a:headEnd/>
            <a:tailEnd/>
          </a:ln>
        </p:spPr>
        <p:txBody>
          <a:bodyPr>
            <a:spAutoFit/>
          </a:bodyPr>
          <a:lstStyle/>
          <a:p>
            <a:pPr algn="ctr" eaLnBrk="1" hangingPunct="1">
              <a:spcBef>
                <a:spcPts val="1200"/>
              </a:spcBef>
              <a:spcAft>
                <a:spcPts val="1000"/>
              </a:spcAft>
            </a:pPr>
            <a:r>
              <a:rPr lang="en-US" sz="3600" b="1" i="1">
                <a:latin typeface="Times New Roman" pitchFamily="18" charset="0"/>
              </a:rPr>
              <a:t>The total length field defines the total length of the datagram including the header.</a:t>
            </a:r>
          </a:p>
        </p:txBody>
      </p:sp>
      <p:sp>
        <p:nvSpPr>
          <p:cNvPr id="509955" name="PubRRectCallout"/>
          <p:cNvSpPr>
            <a:spLocks noEditPoints="1" noChangeArrowheads="1"/>
          </p:cNvSpPr>
          <p:nvPr/>
        </p:nvSpPr>
        <p:spPr bwMode="auto">
          <a:xfrm>
            <a:off x="838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pic>
        <p:nvPicPr>
          <p:cNvPr id="46084" name="Picture 4"/>
          <p:cNvPicPr>
            <a:picLocks noChangeAspect="1" noChangeArrowheads="1"/>
          </p:cNvPicPr>
          <p:nvPr/>
        </p:nvPicPr>
        <p:blipFill>
          <a:blip r:embed="rId2" cstate="print"/>
          <a:srcRect/>
          <a:stretch>
            <a:fillRect/>
          </a:stretch>
        </p:blipFill>
        <p:spPr bwMode="auto">
          <a:xfrm>
            <a:off x="914400" y="990600"/>
            <a:ext cx="782638" cy="914400"/>
          </a:xfrm>
          <a:prstGeom prst="rect">
            <a:avLst/>
          </a:prstGeom>
          <a:noFill/>
          <a:ln w="9525">
            <a:noFill/>
            <a:miter lim="800000"/>
            <a:headEnd/>
            <a:tailEnd/>
          </a:ln>
        </p:spPr>
      </p:pic>
      <p:sp>
        <p:nvSpPr>
          <p:cNvPr id="46085" name="Text Box 5"/>
          <p:cNvSpPr txBox="1">
            <a:spLocks noChangeArrowheads="1"/>
          </p:cNvSpPr>
          <p:nvPr/>
        </p:nvSpPr>
        <p:spPr bwMode="auto">
          <a:xfrm>
            <a:off x="2133600" y="1143000"/>
            <a:ext cx="1225550" cy="641350"/>
          </a:xfrm>
          <a:prstGeom prst="rect">
            <a:avLst/>
          </a:prstGeom>
          <a:noFill/>
          <a:ln w="9525">
            <a:noFill/>
            <a:miter lim="800000"/>
            <a:headEnd/>
            <a:tailEnd/>
          </a:ln>
        </p:spPr>
        <p:txBody>
          <a:bodyPr wrap="none">
            <a:spAutoFit/>
          </a:bodyPr>
          <a:lstStyle/>
          <a:p>
            <a:pPr eaLnBrk="1" hangingPunct="1"/>
            <a:r>
              <a:rPr lang="en-US" sz="3600" b="1">
                <a:solidFill>
                  <a:srgbClr val="000000"/>
                </a:solidFill>
                <a:latin typeface="Times New Roman" pitchFamily="18" charset="0"/>
              </a:rPr>
              <a:t>Note</a:t>
            </a:r>
            <a:r>
              <a:rPr lang="en-US" sz="3600">
                <a:solidFill>
                  <a:srgbClr val="000000"/>
                </a:solidFill>
                <a:latin typeface="Times New Roman" pitchFamily="18" charset="0"/>
              </a:rPr>
              <a:t>:</a:t>
            </a:r>
          </a:p>
        </p:txBody>
      </p:sp>
      <p:sp>
        <p:nvSpPr>
          <p:cNvPr id="6" name="Slide Number Placeholder 5"/>
          <p:cNvSpPr>
            <a:spLocks noGrp="1"/>
          </p:cNvSpPr>
          <p:nvPr>
            <p:ph type="sldNum" sz="quarter" idx="12"/>
          </p:nvPr>
        </p:nvSpPr>
        <p:spPr/>
        <p:txBody>
          <a:bodyPr/>
          <a:lstStyle/>
          <a:p>
            <a:pPr>
              <a:defRPr/>
            </a:pPr>
            <a:fld id="{8D51F359-4732-4AB7-8DD8-2F1DC4B37DD7}" type="slidenum">
              <a:rPr lang="en-US" smtClean="0"/>
              <a:pPr>
                <a:defRPr/>
              </a:pPr>
              <a:t>30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099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a:xfrm>
            <a:off x="381000" y="152400"/>
            <a:ext cx="8229600" cy="715963"/>
          </a:xfrm>
        </p:spPr>
        <p:txBody>
          <a:bodyPr/>
          <a:lstStyle/>
          <a:p>
            <a:pPr eaLnBrk="1" hangingPunct="1">
              <a:defRPr/>
            </a:pPr>
            <a:r>
              <a:rPr lang="en-US" altLang="zh-CN" sz="4000" b="1" dirty="0" smtClean="0">
                <a:solidFill>
                  <a:srgbClr val="3366FF"/>
                </a:solidFill>
                <a:ea typeface="宋体" pitchFamily="2" charset="-122"/>
              </a:rPr>
              <a:t>Version:  </a:t>
            </a:r>
            <a:r>
              <a:rPr lang="en-US" altLang="zh-CN" sz="3600" b="1" dirty="0" err="1" smtClean="0">
                <a:solidFill>
                  <a:srgbClr val="3366FF"/>
                </a:solidFill>
                <a:ea typeface="宋体" pitchFamily="2" charset="-122"/>
              </a:rPr>
              <a:t>IPV4</a:t>
            </a:r>
            <a:endParaRPr lang="en-US" dirty="0" smtClean="0"/>
          </a:p>
        </p:txBody>
      </p:sp>
      <p:sp>
        <p:nvSpPr>
          <p:cNvPr id="530435" name="Rectangle 3"/>
          <p:cNvSpPr>
            <a:spLocks noGrp="1" noChangeArrowheads="1"/>
          </p:cNvSpPr>
          <p:nvPr>
            <p:ph idx="1"/>
          </p:nvPr>
        </p:nvSpPr>
        <p:spPr>
          <a:xfrm>
            <a:off x="304800" y="990600"/>
            <a:ext cx="8839200" cy="5867400"/>
          </a:xfrm>
        </p:spPr>
        <p:txBody>
          <a:bodyPr/>
          <a:lstStyle/>
          <a:p>
            <a:pPr eaLnBrk="1" hangingPunct="1">
              <a:lnSpc>
                <a:spcPct val="80000"/>
              </a:lnSpc>
              <a:defRPr/>
            </a:pPr>
            <a:r>
              <a:rPr lang="en-US" altLang="zh-CN" sz="2000" b="1" dirty="0" smtClean="0">
                <a:solidFill>
                  <a:srgbClr val="3366FF"/>
                </a:solidFill>
                <a:ea typeface="宋体" pitchFamily="2" charset="-122"/>
              </a:rPr>
              <a:t>Header length:</a:t>
            </a:r>
            <a:r>
              <a:rPr lang="en-US" altLang="zh-CN" sz="1600" b="1" dirty="0" smtClean="0">
                <a:solidFill>
                  <a:srgbClr val="3366FF"/>
                </a:solidFill>
                <a:ea typeface="宋体" pitchFamily="2" charset="-122"/>
              </a:rPr>
              <a:t>  </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Length of the header is variable.</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Length of the datagram is 4 byte words.</a:t>
            </a:r>
          </a:p>
          <a:p>
            <a:pPr eaLnBrk="1" hangingPunct="1">
              <a:lnSpc>
                <a:spcPct val="80000"/>
              </a:lnSpc>
              <a:buFont typeface="Wingdings" pitchFamily="2" charset="2"/>
              <a:buAutoNum type="arabicPeriod"/>
              <a:defRPr/>
            </a:pPr>
            <a:endParaRPr lang="en-US" altLang="zh-CN" sz="1600" b="1" dirty="0" smtClean="0">
              <a:solidFill>
                <a:srgbClr val="3366FF"/>
              </a:solidFill>
              <a:ea typeface="宋体" pitchFamily="2" charset="-122"/>
            </a:endParaRPr>
          </a:p>
          <a:p>
            <a:pPr eaLnBrk="1" hangingPunct="1">
              <a:lnSpc>
                <a:spcPct val="80000"/>
              </a:lnSpc>
              <a:defRPr/>
            </a:pPr>
            <a:r>
              <a:rPr lang="en-US" altLang="zh-CN" sz="2000" b="1" dirty="0" smtClean="0">
                <a:solidFill>
                  <a:srgbClr val="3366FF"/>
                </a:solidFill>
                <a:ea typeface="宋体" pitchFamily="2" charset="-122"/>
              </a:rPr>
              <a:t>Differentiated services:</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This is necessary for quality of service purposes.</a:t>
            </a:r>
          </a:p>
          <a:p>
            <a:pPr eaLnBrk="1" hangingPunct="1">
              <a:lnSpc>
                <a:spcPct val="80000"/>
              </a:lnSpc>
              <a:buFont typeface="Wingdings" pitchFamily="2" charset="2"/>
              <a:buAutoNum type="arabicPeriod"/>
              <a:defRPr/>
            </a:pPr>
            <a:endParaRPr lang="en-US" altLang="zh-CN" sz="1600" b="1" dirty="0" smtClean="0">
              <a:ea typeface="宋体" pitchFamily="2" charset="-122"/>
            </a:endParaRPr>
          </a:p>
          <a:p>
            <a:pPr eaLnBrk="1" hangingPunct="1">
              <a:lnSpc>
                <a:spcPct val="80000"/>
              </a:lnSpc>
              <a:defRPr/>
            </a:pPr>
            <a:r>
              <a:rPr lang="en-US" altLang="zh-CN" sz="2000" b="1" dirty="0" smtClean="0">
                <a:solidFill>
                  <a:srgbClr val="3366FF"/>
                </a:solidFill>
                <a:ea typeface="宋体" pitchFamily="2" charset="-122"/>
              </a:rPr>
              <a:t>Total length:</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Length of data = total length-header length</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Total length of the IP datagram = (2</a:t>
            </a:r>
            <a:r>
              <a:rPr lang="en-US" altLang="zh-CN" sz="1600" b="1" baseline="-25000" dirty="0" smtClean="0">
                <a:solidFill>
                  <a:srgbClr val="000000"/>
                </a:solidFill>
                <a:effectLst/>
                <a:ea typeface="宋体" pitchFamily="2" charset="-122"/>
              </a:rPr>
              <a:t>16</a:t>
            </a:r>
            <a:r>
              <a:rPr lang="en-US" altLang="zh-CN" sz="1600" b="1" dirty="0" smtClean="0">
                <a:solidFill>
                  <a:srgbClr val="000000"/>
                </a:solidFill>
                <a:effectLst/>
                <a:ea typeface="宋体" pitchFamily="2" charset="-122"/>
              </a:rPr>
              <a:t>-1) bytes = 65535 bytes. [16 bits]</a:t>
            </a:r>
          </a:p>
          <a:p>
            <a:pPr eaLnBrk="1" hangingPunct="1">
              <a:lnSpc>
                <a:spcPct val="80000"/>
              </a:lnSpc>
              <a:buFont typeface="Wingdings" pitchFamily="2" charset="2"/>
              <a:buAutoNum type="arabicPeriod"/>
              <a:defRPr/>
            </a:pPr>
            <a:endParaRPr lang="en-US" altLang="zh-CN" sz="1600" b="1" dirty="0" smtClean="0">
              <a:ea typeface="宋体" pitchFamily="2" charset="-122"/>
            </a:endParaRPr>
          </a:p>
          <a:p>
            <a:pPr eaLnBrk="1" hangingPunct="1">
              <a:lnSpc>
                <a:spcPct val="80000"/>
              </a:lnSpc>
              <a:defRPr/>
            </a:pPr>
            <a:r>
              <a:rPr lang="en-US" altLang="zh-CN" sz="2000" b="1" dirty="0" smtClean="0">
                <a:solidFill>
                  <a:srgbClr val="3366FF"/>
                </a:solidFill>
                <a:ea typeface="宋体" pitchFamily="2" charset="-122"/>
              </a:rPr>
              <a:t>Time to live:</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Controls the maximum number of hops (routers) visited by the datagram.</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When a source node sends a datagram, stores a number approximately 2 times the maximum number of routes between any two hosts. Each router that process the datagram decrements this number by 1. If the value is 0, the router decrements the datagram.</a:t>
            </a:r>
          </a:p>
          <a:p>
            <a:pPr eaLnBrk="1" hangingPunct="1">
              <a:lnSpc>
                <a:spcPct val="80000"/>
              </a:lnSpc>
              <a:buFont typeface="Wingdings" pitchFamily="2" charset="2"/>
              <a:buAutoNum type="arabicPeriod"/>
              <a:defRPr/>
            </a:pPr>
            <a:endParaRPr lang="en-US" altLang="zh-CN" sz="1600" b="1" dirty="0" smtClean="0">
              <a:ea typeface="宋体" pitchFamily="2" charset="-122"/>
            </a:endParaRPr>
          </a:p>
          <a:p>
            <a:pPr eaLnBrk="1" hangingPunct="1">
              <a:lnSpc>
                <a:spcPct val="80000"/>
              </a:lnSpc>
              <a:defRPr/>
            </a:pPr>
            <a:r>
              <a:rPr lang="en-US" altLang="zh-CN" sz="2000" b="1" dirty="0" smtClean="0">
                <a:solidFill>
                  <a:srgbClr val="3366FF"/>
                </a:solidFill>
                <a:ea typeface="宋体" pitchFamily="2" charset="-122"/>
              </a:rPr>
              <a:t>Protocol:</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An IP datagram encapsulates data from several higher-level protocols, such as TCP, UDP, ICMP and IGMP.</a:t>
            </a:r>
          </a:p>
          <a:p>
            <a:pPr eaLnBrk="1" hangingPunct="1">
              <a:lnSpc>
                <a:spcPct val="80000"/>
              </a:lnSpc>
              <a:buFont typeface="Wingdings" pitchFamily="2" charset="2"/>
              <a:buAutoNum type="arabicPeriod"/>
              <a:defRPr/>
            </a:pPr>
            <a:r>
              <a:rPr lang="en-US" altLang="zh-CN" sz="1600" b="1" dirty="0" smtClean="0">
                <a:solidFill>
                  <a:srgbClr val="000000"/>
                </a:solidFill>
                <a:effectLst/>
                <a:ea typeface="宋体" pitchFamily="2" charset="-122"/>
              </a:rPr>
              <a:t>This field specifies the final destination protocol, to which the IP datagram should be delivered.</a:t>
            </a:r>
            <a:endParaRPr lang="en-US" sz="1600" b="1" dirty="0" smtClean="0">
              <a:solidFill>
                <a:srgbClr val="000000"/>
              </a:solidFill>
              <a:effectLst/>
            </a:endParaRPr>
          </a:p>
        </p:txBody>
      </p:sp>
      <p:sp>
        <p:nvSpPr>
          <p:cNvPr id="5" name="Slide Number Placeholder 4"/>
          <p:cNvSpPr>
            <a:spLocks noGrp="1"/>
          </p:cNvSpPr>
          <p:nvPr>
            <p:ph type="sldNum" sz="quarter" idx="12"/>
          </p:nvPr>
        </p:nvSpPr>
        <p:spPr/>
        <p:txBody>
          <a:bodyPr/>
          <a:lstStyle/>
          <a:p>
            <a:pPr>
              <a:defRPr/>
            </a:pPr>
            <a:fld id="{4B84B30C-80AB-47F0-AE89-913EA939A980}" type="slidenum">
              <a:rPr lang="en-US" smtClean="0"/>
              <a:pPr>
                <a:defRPr/>
              </a:pPr>
              <a:t>31</a:t>
            </a:fld>
            <a:endParaRPr lang="en-US"/>
          </a:p>
        </p:txBody>
      </p:sp>
      <p:sp>
        <p:nvSpPr>
          <p:cNvPr id="4" name="TextBox 3"/>
          <p:cNvSpPr txBox="1"/>
          <p:nvPr/>
        </p:nvSpPr>
        <p:spPr>
          <a:xfrm>
            <a:off x="1905000" y="5181600"/>
            <a:ext cx="1386918" cy="369332"/>
          </a:xfrm>
          <a:prstGeom prst="rect">
            <a:avLst/>
          </a:prstGeom>
          <a:noFill/>
        </p:spPr>
        <p:txBody>
          <a:bodyPr wrap="none" rtlCol="0">
            <a:spAutoFit/>
          </a:bodyPr>
          <a:lstStyle/>
          <a:p>
            <a:r>
              <a:rPr lang="en-US" dirty="0" smtClean="0"/>
              <a:t>DHL to DHL</a:t>
            </a:r>
            <a:endParaRPr lang="en-US" dirty="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Multiplexing</a:t>
            </a:r>
            <a:endParaRPr lang="en-US" altLang="en-US" b="1" dirty="0">
              <a:solidFill>
                <a:srgbClr val="000000"/>
              </a:solidFill>
              <a:latin typeface="Times New Roman" pitchFamily="18" charset="0"/>
            </a:endParaRPr>
          </a:p>
        </p:txBody>
      </p:sp>
      <p:sp>
        <p:nvSpPr>
          <p:cNvPr id="3076"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3077"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078"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3079"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3080"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3081"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3082"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3083" name="Picture 10"/>
          <p:cNvPicPr>
            <a:picLocks noChangeAspect="1" noChangeArrowheads="1"/>
          </p:cNvPicPr>
          <p:nvPr/>
        </p:nvPicPr>
        <p:blipFill>
          <a:blip r:embed="rId3" cstate="print"/>
          <a:srcRect/>
          <a:stretch>
            <a:fillRect/>
          </a:stretch>
        </p:blipFill>
        <p:spPr bwMode="auto">
          <a:xfrm>
            <a:off x="554038" y="1436688"/>
            <a:ext cx="8208962" cy="1687512"/>
          </a:xfrm>
          <a:prstGeom prst="rect">
            <a:avLst/>
          </a:prstGeom>
          <a:noFill/>
          <a:ln w="9525">
            <a:noFill/>
            <a:miter lim="800000"/>
            <a:headEnd/>
            <a:tailEnd/>
          </a:ln>
        </p:spPr>
      </p:pic>
      <p:sp>
        <p:nvSpPr>
          <p:cNvPr id="3084" name="Rectangle 11"/>
          <p:cNvSpPr>
            <a:spLocks noChangeArrowheads="1"/>
          </p:cNvSpPr>
          <p:nvPr/>
        </p:nvSpPr>
        <p:spPr bwMode="auto">
          <a:xfrm>
            <a:off x="609600" y="3581400"/>
            <a:ext cx="1935163" cy="366713"/>
          </a:xfrm>
          <a:prstGeom prst="rect">
            <a:avLst/>
          </a:prstGeom>
          <a:noFill/>
          <a:ln w="9525">
            <a:noFill/>
            <a:miter lim="800000"/>
            <a:headEnd/>
            <a:tailEnd/>
          </a:ln>
        </p:spPr>
        <p:txBody>
          <a:bodyPr wrap="none">
            <a:spAutoFit/>
          </a:bodyPr>
          <a:lstStyle/>
          <a:p>
            <a:r>
              <a:rPr lang="en-US" altLang="en-US" b="1"/>
              <a:t>Demultiplexing</a:t>
            </a:r>
          </a:p>
        </p:txBody>
      </p:sp>
      <p:graphicFrame>
        <p:nvGraphicFramePr>
          <p:cNvPr id="3074" name="Object 12"/>
          <p:cNvGraphicFramePr>
            <a:graphicFrameLocks noChangeAspect="1"/>
          </p:cNvGraphicFramePr>
          <p:nvPr/>
        </p:nvGraphicFramePr>
        <p:xfrm>
          <a:off x="533400" y="3886200"/>
          <a:ext cx="8153400" cy="2671763"/>
        </p:xfrm>
        <a:graphic>
          <a:graphicData uri="http://schemas.openxmlformats.org/presentationml/2006/ole">
            <p:oleObj spid="_x0000_s3074" name="Bitmap Image" r:id="rId4" imgW="5847619" imgH="2180952" progId="PBrush">
              <p:embed/>
            </p:oleObj>
          </a:graphicData>
        </a:graphic>
      </p:graphicFrame>
      <p:sp>
        <p:nvSpPr>
          <p:cNvPr id="13" name="Slide Number Placeholder 12"/>
          <p:cNvSpPr>
            <a:spLocks noGrp="1"/>
          </p:cNvSpPr>
          <p:nvPr>
            <p:ph type="sldNum" sz="quarter" idx="12"/>
          </p:nvPr>
        </p:nvSpPr>
        <p:spPr/>
        <p:txBody>
          <a:bodyPr/>
          <a:lstStyle/>
          <a:p>
            <a:pPr>
              <a:defRPr/>
            </a:pPr>
            <a:fld id="{8D51F359-4732-4AB7-8DD8-2F1DC4B37DD7}" type="slidenum">
              <a:rPr lang="en-US" smtClean="0"/>
              <a:pPr>
                <a:defRPr/>
              </a:pPr>
              <a:t>32</a:t>
            </a:fld>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a:xfrm>
            <a:off x="301625" y="228600"/>
            <a:ext cx="8540750" cy="868363"/>
          </a:xfrm>
        </p:spPr>
        <p:txBody>
          <a:bodyPr/>
          <a:lstStyle/>
          <a:p>
            <a:pPr eaLnBrk="1" hangingPunct="1"/>
            <a:r>
              <a:rPr lang="en-US" smtClean="0">
                <a:solidFill>
                  <a:srgbClr val="000000"/>
                </a:solidFill>
                <a:effectLst/>
              </a:rPr>
              <a:t>Protocols</a:t>
            </a:r>
          </a:p>
        </p:txBody>
      </p:sp>
      <p:graphicFrame>
        <p:nvGraphicFramePr>
          <p:cNvPr id="4098" name="Object 3"/>
          <p:cNvGraphicFramePr>
            <a:graphicFrameLocks noGrp="1" noChangeAspect="1"/>
          </p:cNvGraphicFramePr>
          <p:nvPr>
            <p:ph idx="1"/>
          </p:nvPr>
        </p:nvGraphicFramePr>
        <p:xfrm>
          <a:off x="304800" y="914400"/>
          <a:ext cx="7848600" cy="1708150"/>
        </p:xfrm>
        <a:graphic>
          <a:graphicData uri="http://schemas.openxmlformats.org/presentationml/2006/ole">
            <p:oleObj spid="_x0000_s4098" name="Bitmap Image" r:id="rId3" imgW="6039693" imgH="1314286" progId="PBrush">
              <p:embed/>
            </p:oleObj>
          </a:graphicData>
        </a:graphic>
      </p:graphicFrame>
      <p:sp>
        <p:nvSpPr>
          <p:cNvPr id="5" name="Slide Number Placeholder 4"/>
          <p:cNvSpPr>
            <a:spLocks noGrp="1"/>
          </p:cNvSpPr>
          <p:nvPr>
            <p:ph type="sldNum" sz="quarter" idx="12"/>
          </p:nvPr>
        </p:nvSpPr>
        <p:spPr/>
        <p:txBody>
          <a:bodyPr/>
          <a:lstStyle/>
          <a:p>
            <a:pPr>
              <a:defRPr/>
            </a:pPr>
            <a:fld id="{4B84B30C-80AB-47F0-AE89-913EA939A980}" type="slidenum">
              <a:rPr lang="en-US" smtClean="0"/>
              <a:pPr>
                <a:defRPr/>
              </a:pPr>
              <a:t>33</a:t>
            </a:fld>
            <a:endParaRPr lang="en-US"/>
          </a:p>
        </p:txBody>
      </p:sp>
      <p:sp>
        <p:nvSpPr>
          <p:cNvPr id="4100" name="Rectangle 6"/>
          <p:cNvSpPr>
            <a:spLocks noChangeArrowheads="1"/>
          </p:cNvSpPr>
          <p:nvPr/>
        </p:nvSpPr>
        <p:spPr bwMode="auto">
          <a:xfrm>
            <a:off x="457200" y="3125461"/>
            <a:ext cx="8686800" cy="3231654"/>
          </a:xfrm>
          <a:prstGeom prst="rect">
            <a:avLst/>
          </a:prstGeom>
          <a:noFill/>
          <a:ln w="9525">
            <a:noFill/>
            <a:miter lim="800000"/>
            <a:headEnd/>
            <a:tailEnd/>
          </a:ln>
        </p:spPr>
        <p:txBody>
          <a:bodyPr wrap="square" anchor="ctr">
            <a:spAutoFit/>
          </a:bodyPr>
          <a:lstStyle/>
          <a:p>
            <a:pPr>
              <a:tabLst>
                <a:tab pos="914400" algn="l"/>
              </a:tabLst>
            </a:pPr>
            <a:r>
              <a:rPr lang="en-US" altLang="zh-CN" sz="3600" b="1" dirty="0">
                <a:solidFill>
                  <a:srgbClr val="3366FF"/>
                </a:solidFill>
                <a:latin typeface="Times New Roman" pitchFamily="18" charset="0"/>
                <a:ea typeface="宋体" pitchFamily="2" charset="-122"/>
              </a:rPr>
              <a:t>Checksum:</a:t>
            </a:r>
          </a:p>
          <a:p>
            <a:pPr>
              <a:tabLst>
                <a:tab pos="914400" algn="l"/>
              </a:tabLst>
            </a:pPr>
            <a:r>
              <a:rPr lang="en-US" altLang="zh-CN" sz="2800" b="1" dirty="0">
                <a:solidFill>
                  <a:srgbClr val="000000"/>
                </a:solidFill>
                <a:latin typeface="Times New Roman" pitchFamily="18" charset="0"/>
                <a:ea typeface="宋体" pitchFamily="2" charset="-122"/>
              </a:rPr>
              <a:t>The checksum in the IP packet covers only the header, but not the data. The reasons are:</a:t>
            </a:r>
          </a:p>
          <a:p>
            <a:pPr lvl="1">
              <a:buFontTx/>
              <a:buChar char="•"/>
              <a:tabLst>
                <a:tab pos="914400" algn="l"/>
              </a:tabLst>
            </a:pPr>
            <a:r>
              <a:rPr lang="en-US" altLang="zh-CN" sz="2800" b="1" dirty="0">
                <a:solidFill>
                  <a:srgbClr val="000000"/>
                </a:solidFill>
                <a:latin typeface="Times New Roman" pitchFamily="18" charset="0"/>
                <a:ea typeface="宋体" pitchFamily="2" charset="-122"/>
              </a:rPr>
              <a:t>The checksum for the IP datagram doesn’t have to check the </a:t>
            </a:r>
            <a:r>
              <a:rPr lang="en-US" altLang="zh-CN" sz="2800" b="1" dirty="0" smtClean="0">
                <a:solidFill>
                  <a:srgbClr val="000000"/>
                </a:solidFill>
                <a:latin typeface="Times New Roman" pitchFamily="18" charset="0"/>
                <a:ea typeface="宋体" pitchFamily="2" charset="-122"/>
              </a:rPr>
              <a:t>encapsulated </a:t>
            </a:r>
            <a:r>
              <a:rPr lang="en-US" altLang="zh-CN" sz="2800" b="1" dirty="0">
                <a:solidFill>
                  <a:srgbClr val="000000"/>
                </a:solidFill>
                <a:latin typeface="Times New Roman" pitchFamily="18" charset="0"/>
                <a:ea typeface="宋体" pitchFamily="2" charset="-122"/>
              </a:rPr>
              <a:t>data.</a:t>
            </a:r>
          </a:p>
          <a:p>
            <a:pPr lvl="1">
              <a:buFontTx/>
              <a:buChar char="•"/>
              <a:tabLst>
                <a:tab pos="914400" algn="l"/>
              </a:tabLst>
            </a:pPr>
            <a:r>
              <a:rPr lang="en-US" altLang="zh-CN" sz="2800" b="1" dirty="0">
                <a:solidFill>
                  <a:srgbClr val="000000"/>
                </a:solidFill>
                <a:latin typeface="Times New Roman" pitchFamily="18" charset="0"/>
                <a:ea typeface="宋体" pitchFamily="2" charset="-122"/>
              </a:rPr>
              <a:t>The header of the IP packet changes with each visited router, </a:t>
            </a:r>
            <a:r>
              <a:rPr lang="en-US" altLang="zh-CN" sz="2800" b="1" dirty="0" smtClean="0">
                <a:solidFill>
                  <a:srgbClr val="000000"/>
                </a:solidFill>
                <a:latin typeface="Times New Roman" pitchFamily="18" charset="0"/>
                <a:ea typeface="宋体" pitchFamily="2" charset="-122"/>
              </a:rPr>
              <a:t>but </a:t>
            </a:r>
            <a:r>
              <a:rPr lang="en-US" altLang="zh-CN" sz="2800" b="1" dirty="0">
                <a:solidFill>
                  <a:srgbClr val="000000"/>
                </a:solidFill>
                <a:latin typeface="Times New Roman" pitchFamily="18" charset="0"/>
                <a:ea typeface="宋体" pitchFamily="2" charset="-122"/>
              </a:rPr>
              <a:t>the data do not.</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latin typeface="Times New Roman" pitchFamily="18" charset="0"/>
              </a:rPr>
              <a:t>Example </a:t>
            </a:r>
            <a:r>
              <a:rPr lang="en-US" altLang="en-US" b="1" dirty="0">
                <a:latin typeface="Times New Roman" pitchFamily="18" charset="0"/>
              </a:rPr>
              <a:t>of checksum calculation</a:t>
            </a:r>
          </a:p>
        </p:txBody>
      </p:sp>
      <p:sp>
        <p:nvSpPr>
          <p:cNvPr id="5124"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512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5126"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512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512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5129"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513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5131" name="Picture 10"/>
          <p:cNvPicPr>
            <a:picLocks noChangeAspect="1" noChangeArrowheads="1"/>
          </p:cNvPicPr>
          <p:nvPr/>
        </p:nvPicPr>
        <p:blipFill>
          <a:blip r:embed="rId3" cstate="print"/>
          <a:srcRect/>
          <a:stretch>
            <a:fillRect/>
          </a:stretch>
        </p:blipFill>
        <p:spPr bwMode="auto">
          <a:xfrm>
            <a:off x="1447800" y="2271713"/>
            <a:ext cx="4267200" cy="4586287"/>
          </a:xfrm>
          <a:prstGeom prst="rect">
            <a:avLst/>
          </a:prstGeom>
          <a:noFill/>
          <a:ln w="9525">
            <a:noFill/>
            <a:miter lim="800000"/>
            <a:headEnd/>
            <a:tailEnd/>
          </a:ln>
        </p:spPr>
      </p:pic>
      <p:graphicFrame>
        <p:nvGraphicFramePr>
          <p:cNvPr id="5122" name="Object 11"/>
          <p:cNvGraphicFramePr>
            <a:graphicFrameLocks noChangeAspect="1"/>
          </p:cNvGraphicFramePr>
          <p:nvPr/>
        </p:nvGraphicFramePr>
        <p:xfrm>
          <a:off x="1371600" y="685800"/>
          <a:ext cx="7010400" cy="1447800"/>
        </p:xfrm>
        <a:graphic>
          <a:graphicData uri="http://schemas.openxmlformats.org/presentationml/2006/ole">
            <p:oleObj spid="_x0000_s5122" name="Bitmap Image" r:id="rId4" imgW="5772956" imgH="1085714" progId="PBrush">
              <p:embed/>
            </p:oleObj>
          </a:graphicData>
        </a:graphic>
      </p:graphicFrame>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34</a:t>
            </a:fld>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err="1" smtClean="0">
                <a:solidFill>
                  <a:srgbClr val="000000"/>
                </a:solidFill>
                <a:latin typeface="Times New Roman" pitchFamily="18" charset="0"/>
              </a:rPr>
              <a:t>MTU</a:t>
            </a:r>
            <a:endParaRPr lang="en-US" altLang="en-US" b="1" dirty="0">
              <a:solidFill>
                <a:srgbClr val="000000"/>
              </a:solidFill>
              <a:latin typeface="Times New Roman" pitchFamily="18" charset="0"/>
            </a:endParaRPr>
          </a:p>
        </p:txBody>
      </p:sp>
      <p:sp>
        <p:nvSpPr>
          <p:cNvPr id="4813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481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4813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481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481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4813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481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48138" name="Picture 10"/>
          <p:cNvPicPr>
            <a:picLocks noChangeAspect="1" noChangeArrowheads="1"/>
          </p:cNvPicPr>
          <p:nvPr/>
        </p:nvPicPr>
        <p:blipFill>
          <a:blip r:embed="rId2" cstate="print"/>
          <a:srcRect/>
          <a:stretch>
            <a:fillRect/>
          </a:stretch>
        </p:blipFill>
        <p:spPr bwMode="auto">
          <a:xfrm>
            <a:off x="477838" y="3998913"/>
            <a:ext cx="8208962" cy="2173287"/>
          </a:xfrm>
          <a:prstGeom prst="rect">
            <a:avLst/>
          </a:prstGeom>
          <a:noFill/>
          <a:ln w="9525">
            <a:noFill/>
            <a:miter lim="800000"/>
            <a:headEnd/>
            <a:tailEnd/>
          </a:ln>
        </p:spPr>
      </p:pic>
      <p:sp>
        <p:nvSpPr>
          <p:cNvPr id="48139" name="Rectangle 11"/>
          <p:cNvSpPr>
            <a:spLocks noChangeArrowheads="1"/>
          </p:cNvSpPr>
          <p:nvPr/>
        </p:nvSpPr>
        <p:spPr bwMode="auto">
          <a:xfrm>
            <a:off x="228600" y="822325"/>
            <a:ext cx="8961438" cy="2835275"/>
          </a:xfrm>
          <a:prstGeom prst="rect">
            <a:avLst/>
          </a:prstGeom>
          <a:noFill/>
          <a:ln w="9525">
            <a:noFill/>
            <a:miter lim="800000"/>
            <a:headEnd/>
            <a:tailEnd/>
          </a:ln>
        </p:spPr>
        <p:txBody>
          <a:bodyPr wrap="none" anchor="ctr">
            <a:spAutoFit/>
          </a:bodyPr>
          <a:lstStyle/>
          <a:p>
            <a:pPr>
              <a:tabLst>
                <a:tab pos="457200" algn="l"/>
              </a:tabLst>
            </a:pPr>
            <a:r>
              <a:rPr lang="en-US" altLang="zh-CN" sz="2000" b="1" dirty="0">
                <a:solidFill>
                  <a:srgbClr val="000000"/>
                </a:solidFill>
                <a:latin typeface="Times New Roman" pitchFamily="18" charset="0"/>
                <a:ea typeface="宋体" pitchFamily="2" charset="-122"/>
              </a:rPr>
              <a:t>Maximum transfer unit: (</a:t>
            </a:r>
            <a:r>
              <a:rPr lang="en-US" altLang="zh-CN" sz="2000" b="1" dirty="0" err="1">
                <a:solidFill>
                  <a:srgbClr val="000000"/>
                </a:solidFill>
                <a:latin typeface="Times New Roman" pitchFamily="18" charset="0"/>
                <a:ea typeface="宋体" pitchFamily="2" charset="-122"/>
              </a:rPr>
              <a:t>MTU</a:t>
            </a:r>
            <a:r>
              <a:rPr lang="en-US" altLang="zh-CN" sz="2000" b="1" dirty="0">
                <a:solidFill>
                  <a:srgbClr val="000000"/>
                </a:solidFill>
                <a:latin typeface="Times New Roman" pitchFamily="18" charset="0"/>
                <a:ea typeface="宋体" pitchFamily="2" charset="-122"/>
              </a:rPr>
              <a:t>)</a:t>
            </a:r>
          </a:p>
          <a:p>
            <a:pPr>
              <a:tabLst>
                <a:tab pos="457200" algn="l"/>
              </a:tabLst>
            </a:pPr>
            <a:r>
              <a:rPr lang="en-US" altLang="zh-CN" sz="2000" b="1" dirty="0">
                <a:solidFill>
                  <a:srgbClr val="000000"/>
                </a:solidFill>
                <a:latin typeface="Times New Roman" pitchFamily="18" charset="0"/>
                <a:ea typeface="宋体" pitchFamily="2" charset="-122"/>
              </a:rPr>
              <a:t>When a datagram is encapsulated in a frame, the total size of the </a:t>
            </a:r>
          </a:p>
          <a:p>
            <a:pPr>
              <a:tabLst>
                <a:tab pos="457200" algn="l"/>
              </a:tabLst>
            </a:pPr>
            <a:r>
              <a:rPr lang="en-US" altLang="zh-CN" sz="2000" b="1" dirty="0">
                <a:solidFill>
                  <a:srgbClr val="000000"/>
                </a:solidFill>
                <a:latin typeface="Times New Roman" pitchFamily="18" charset="0"/>
                <a:ea typeface="宋体" pitchFamily="2" charset="-122"/>
              </a:rPr>
              <a:t>datagram &lt;= maximum size (depends on hardware and software of the network).</a:t>
            </a:r>
          </a:p>
          <a:p>
            <a:pPr>
              <a:tabLst>
                <a:tab pos="457200" algn="l"/>
              </a:tabLst>
            </a:pPr>
            <a:r>
              <a:rPr lang="en-US" altLang="zh-CN" sz="2000" b="1" dirty="0">
                <a:solidFill>
                  <a:srgbClr val="000000"/>
                </a:solidFill>
                <a:latin typeface="Times New Roman" pitchFamily="18" charset="0"/>
                <a:ea typeface="宋体" pitchFamily="2" charset="-122"/>
              </a:rPr>
              <a:t>The maximum length of the IP datagram = the largest maximum transfer</a:t>
            </a:r>
          </a:p>
          <a:p>
            <a:pPr>
              <a:tabLst>
                <a:tab pos="457200" algn="l"/>
              </a:tabLst>
            </a:pPr>
            <a:r>
              <a:rPr lang="en-US" altLang="zh-CN" sz="2000" b="1" dirty="0">
                <a:solidFill>
                  <a:srgbClr val="000000"/>
                </a:solidFill>
                <a:latin typeface="Times New Roman" pitchFamily="18" charset="0"/>
                <a:ea typeface="宋体" pitchFamily="2" charset="-122"/>
              </a:rPr>
              <a:t> unit (</a:t>
            </a:r>
            <a:r>
              <a:rPr lang="en-US" altLang="zh-CN" sz="2000" b="1" dirty="0" err="1">
                <a:solidFill>
                  <a:srgbClr val="000000"/>
                </a:solidFill>
                <a:latin typeface="Times New Roman" pitchFamily="18" charset="0"/>
                <a:ea typeface="宋体" pitchFamily="2" charset="-122"/>
              </a:rPr>
              <a:t>MTU</a:t>
            </a:r>
            <a:r>
              <a:rPr lang="en-US" altLang="zh-CN" sz="2000" b="1" dirty="0">
                <a:solidFill>
                  <a:srgbClr val="000000"/>
                </a:solidFill>
                <a:latin typeface="Times New Roman" pitchFamily="18" charset="0"/>
                <a:ea typeface="宋体" pitchFamily="2" charset="-122"/>
              </a:rPr>
              <a:t>) = 65535 bytes.</a:t>
            </a:r>
          </a:p>
          <a:p>
            <a:pPr>
              <a:tabLst>
                <a:tab pos="457200" algn="l"/>
              </a:tabLst>
            </a:pPr>
            <a:r>
              <a:rPr lang="en-US" altLang="zh-CN" sz="2000" b="1" dirty="0">
                <a:solidFill>
                  <a:srgbClr val="000000"/>
                </a:solidFill>
                <a:latin typeface="Times New Roman" pitchFamily="18" charset="0"/>
                <a:ea typeface="宋体" pitchFamily="2" charset="-122"/>
              </a:rPr>
              <a:t>For other physical networks, we must divide the datagram to make it possible </a:t>
            </a:r>
          </a:p>
          <a:p>
            <a:pPr>
              <a:tabLst>
                <a:tab pos="457200" algn="l"/>
              </a:tabLst>
            </a:pPr>
            <a:r>
              <a:rPr lang="en-US" altLang="zh-CN" sz="2000" b="1" dirty="0">
                <a:solidFill>
                  <a:srgbClr val="000000"/>
                </a:solidFill>
                <a:latin typeface="Times New Roman" pitchFamily="18" charset="0"/>
                <a:ea typeface="宋体" pitchFamily="2" charset="-122"/>
              </a:rPr>
              <a:t>to pass through these networks.</a:t>
            </a:r>
          </a:p>
          <a:p>
            <a:pPr>
              <a:tabLst>
                <a:tab pos="457200" algn="l"/>
              </a:tabLst>
            </a:pPr>
            <a:r>
              <a:rPr lang="en-US" altLang="zh-CN" sz="2000" b="1" dirty="0">
                <a:solidFill>
                  <a:srgbClr val="000000"/>
                </a:solidFill>
                <a:latin typeface="Times New Roman" pitchFamily="18" charset="0"/>
                <a:ea typeface="宋体" pitchFamily="2" charset="-122"/>
              </a:rPr>
              <a:t>A datagram can be fragmented by the source host or any router in the path.</a:t>
            </a:r>
          </a:p>
          <a:p>
            <a:pPr>
              <a:tabLst>
                <a:tab pos="457200" algn="l"/>
              </a:tabLst>
            </a:pPr>
            <a:r>
              <a:rPr lang="en-US" altLang="zh-CN" sz="2000" b="1" dirty="0">
                <a:solidFill>
                  <a:srgbClr val="000000"/>
                </a:solidFill>
                <a:latin typeface="Times New Roman" pitchFamily="18" charset="0"/>
                <a:ea typeface="宋体" pitchFamily="2" charset="-122"/>
              </a:rPr>
              <a:t>Reassembly will be done at the destination. </a:t>
            </a: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35</a:t>
            </a:fld>
            <a:endParaRPr 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1625" y="228600"/>
            <a:ext cx="8540750" cy="639763"/>
          </a:xfrm>
        </p:spPr>
        <p:txBody>
          <a:bodyPr>
            <a:normAutofit fontScale="90000"/>
          </a:bodyPr>
          <a:lstStyle/>
          <a:p>
            <a:pPr eaLnBrk="1" hangingPunct="1"/>
            <a:r>
              <a:rPr lang="en-US" altLang="zh-CN" sz="3600" b="1" smtClean="0">
                <a:solidFill>
                  <a:srgbClr val="000000"/>
                </a:solidFill>
                <a:effectLst/>
                <a:ea typeface="宋体" pitchFamily="2" charset="-122"/>
              </a:rPr>
              <a:t>Fields related to fragmentation:</a:t>
            </a:r>
            <a:r>
              <a:rPr lang="en-US" altLang="zh-CN" sz="3600" smtClean="0">
                <a:solidFill>
                  <a:srgbClr val="000000"/>
                </a:solidFill>
                <a:effectLst/>
                <a:ea typeface="宋体" pitchFamily="2" charset="-122"/>
              </a:rPr>
              <a:t> </a:t>
            </a:r>
            <a:endParaRPr lang="en-US" sz="3600" smtClean="0">
              <a:solidFill>
                <a:srgbClr val="000000"/>
              </a:solidFill>
              <a:effectLst/>
            </a:endParaRPr>
          </a:p>
        </p:txBody>
      </p:sp>
      <p:sp>
        <p:nvSpPr>
          <p:cNvPr id="533507" name="Rectangle 3"/>
          <p:cNvSpPr>
            <a:spLocks noGrp="1" noChangeArrowheads="1"/>
          </p:cNvSpPr>
          <p:nvPr>
            <p:ph idx="1"/>
          </p:nvPr>
        </p:nvSpPr>
        <p:spPr>
          <a:xfrm>
            <a:off x="457200" y="990600"/>
            <a:ext cx="8458200" cy="5867400"/>
          </a:xfrm>
        </p:spPr>
        <p:txBody>
          <a:bodyPr/>
          <a:lstStyle/>
          <a:p>
            <a:pPr marL="533400" indent="-533400" eaLnBrk="1" hangingPunct="1">
              <a:defRPr/>
            </a:pPr>
            <a:r>
              <a:rPr lang="en-US" altLang="zh-CN" b="1" dirty="0" smtClean="0">
                <a:solidFill>
                  <a:srgbClr val="3366FF"/>
                </a:solidFill>
                <a:ea typeface="宋体" pitchFamily="2" charset="-122"/>
              </a:rPr>
              <a:t>Flags:</a:t>
            </a:r>
            <a:endParaRPr lang="en-US" altLang="zh-CN" dirty="0" smtClean="0">
              <a:solidFill>
                <a:srgbClr val="3366FF"/>
              </a:solidFill>
              <a:ea typeface="宋体" pitchFamily="2" charset="-122"/>
            </a:endParaRPr>
          </a:p>
          <a:p>
            <a:pPr marL="533400" indent="-533400" eaLnBrk="1" hangingPunct="1">
              <a:buFont typeface="Wingdings" pitchFamily="2" charset="2"/>
              <a:buAutoNum type="arabicPeriod"/>
              <a:defRPr/>
            </a:pPr>
            <a:r>
              <a:rPr lang="en-US" altLang="zh-CN" sz="2400" b="1" dirty="0" smtClean="0">
                <a:solidFill>
                  <a:srgbClr val="000000"/>
                </a:solidFill>
                <a:effectLst/>
                <a:ea typeface="宋体" pitchFamily="2" charset="-122"/>
              </a:rPr>
              <a:t>This is a 3-bit field.</a:t>
            </a:r>
          </a:p>
          <a:p>
            <a:pPr marL="533400" indent="-533400" eaLnBrk="1" hangingPunct="1">
              <a:buFont typeface="Wingdings" pitchFamily="2" charset="2"/>
              <a:buAutoNum type="arabicPeriod"/>
              <a:defRPr/>
            </a:pPr>
            <a:r>
              <a:rPr lang="en-US" altLang="zh-CN" sz="2400" b="1" dirty="0" smtClean="0">
                <a:solidFill>
                  <a:srgbClr val="000000"/>
                </a:solidFill>
                <a:effectLst/>
                <a:ea typeface="宋体" pitchFamily="2" charset="-122"/>
              </a:rPr>
              <a:t>The first bit is reserved.</a:t>
            </a:r>
          </a:p>
          <a:p>
            <a:pPr marL="533400" indent="-533400" eaLnBrk="1" hangingPunct="1">
              <a:buFont typeface="Wingdings" pitchFamily="2" charset="2"/>
              <a:buAutoNum type="arabicPeriod"/>
              <a:defRPr/>
            </a:pPr>
            <a:r>
              <a:rPr lang="en-US" altLang="zh-CN" sz="2400" b="1" dirty="0" smtClean="0">
                <a:solidFill>
                  <a:srgbClr val="000000"/>
                </a:solidFill>
                <a:effectLst/>
                <a:ea typeface="宋体" pitchFamily="2" charset="-122"/>
              </a:rPr>
              <a:t>The second bit is “Do not fragment bit”. If its value is 0, the datagram can be fragmented. If the value is 1, the machine must not fragment the datagram.</a:t>
            </a:r>
          </a:p>
          <a:p>
            <a:pPr marL="533400" indent="-533400" eaLnBrk="1" hangingPunct="1">
              <a:buFont typeface="Wingdings" pitchFamily="2" charset="2"/>
              <a:buAutoNum type="arabicPeriod"/>
              <a:defRPr/>
            </a:pPr>
            <a:r>
              <a:rPr lang="en-US" altLang="zh-CN" sz="2400" b="1" dirty="0" smtClean="0">
                <a:solidFill>
                  <a:srgbClr val="000000"/>
                </a:solidFill>
                <a:effectLst/>
                <a:ea typeface="宋体" pitchFamily="2" charset="-122"/>
              </a:rPr>
              <a:t>The third bit is called “The more fragment bit”. If the value is 1, it means the more datagram exit after the current fragment.  If the value is 0, it means this is the last or only fragment.</a:t>
            </a:r>
          </a:p>
          <a:p>
            <a:pPr marL="533400" indent="-533400" eaLnBrk="1" hangingPunct="1">
              <a:buFont typeface="Wingdings" pitchFamily="2" charset="2"/>
              <a:buAutoNum type="arabicPeriod"/>
              <a:defRPr/>
            </a:pPr>
            <a:endParaRPr lang="en-US" altLang="zh-CN" sz="2400" b="1" dirty="0" smtClean="0">
              <a:ea typeface="宋体" pitchFamily="2" charset="-122"/>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36</a:t>
            </a:fld>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Fragmentation </a:t>
            </a:r>
            <a:r>
              <a:rPr lang="en-US" altLang="en-US" b="1" dirty="0">
                <a:solidFill>
                  <a:srgbClr val="000000"/>
                </a:solidFill>
                <a:latin typeface="Times New Roman" pitchFamily="18" charset="0"/>
              </a:rPr>
              <a:t>example	</a:t>
            </a:r>
          </a:p>
        </p:txBody>
      </p:sp>
      <p:sp>
        <p:nvSpPr>
          <p:cNvPr id="5017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5018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5018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5018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5018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5018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5018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50186" name="Picture 10"/>
          <p:cNvPicPr>
            <a:picLocks noChangeAspect="1" noChangeArrowheads="1"/>
          </p:cNvPicPr>
          <p:nvPr/>
        </p:nvPicPr>
        <p:blipFill>
          <a:blip r:embed="rId2" cstate="print"/>
          <a:srcRect/>
          <a:stretch>
            <a:fillRect/>
          </a:stretch>
        </p:blipFill>
        <p:spPr bwMode="auto">
          <a:xfrm>
            <a:off x="914400" y="2039938"/>
            <a:ext cx="7450138" cy="3217862"/>
          </a:xfrm>
          <a:prstGeom prst="rect">
            <a:avLst/>
          </a:prstGeom>
          <a:noFill/>
          <a:ln w="9525">
            <a:noFill/>
            <a:miter lim="800000"/>
            <a:headEnd/>
            <a:tailEnd/>
          </a:ln>
        </p:spPr>
      </p:pic>
      <p:sp>
        <p:nvSpPr>
          <p:cNvPr id="50187" name="Rectangle 11"/>
          <p:cNvSpPr>
            <a:spLocks noChangeArrowheads="1"/>
          </p:cNvSpPr>
          <p:nvPr/>
        </p:nvSpPr>
        <p:spPr bwMode="auto">
          <a:xfrm>
            <a:off x="1143000" y="609600"/>
            <a:ext cx="7391400" cy="1006475"/>
          </a:xfrm>
          <a:prstGeom prst="rect">
            <a:avLst/>
          </a:prstGeom>
          <a:noFill/>
          <a:ln w="9525">
            <a:noFill/>
            <a:miter lim="800000"/>
            <a:headEnd/>
            <a:tailEnd/>
          </a:ln>
        </p:spPr>
        <p:txBody>
          <a:bodyPr>
            <a:spAutoFit/>
          </a:bodyPr>
          <a:lstStyle/>
          <a:p>
            <a:r>
              <a:rPr lang="en-US" altLang="zh-CN" sz="2000" b="1">
                <a:solidFill>
                  <a:srgbClr val="3366FF"/>
                </a:solidFill>
                <a:ea typeface="宋体" pitchFamily="2" charset="-122"/>
              </a:rPr>
              <a:t>Fragmentation offset:</a:t>
            </a:r>
          </a:p>
          <a:p>
            <a:r>
              <a:rPr lang="en-US" altLang="zh-CN" sz="2000" b="1">
                <a:solidFill>
                  <a:srgbClr val="000000"/>
                </a:solidFill>
                <a:ea typeface="宋体" pitchFamily="2" charset="-122"/>
              </a:rPr>
              <a:t>This 13 bit field shows the relative position of this fragment with respect to the whole datagram.</a:t>
            </a:r>
            <a:endParaRPr lang="en-US" sz="2000" b="1">
              <a:solidFill>
                <a:srgbClr val="000000"/>
              </a:solidFill>
            </a:endParaRP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37</a:t>
            </a:fld>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3490" name="Group 2"/>
          <p:cNvGrpSpPr>
            <a:grpSpLocks/>
          </p:cNvGrpSpPr>
          <p:nvPr/>
        </p:nvGrpSpPr>
        <p:grpSpPr bwMode="auto">
          <a:xfrm>
            <a:off x="0" y="0"/>
            <a:ext cx="8686800" cy="6553200"/>
            <a:chOff x="0" y="96"/>
            <a:chExt cx="5472" cy="3840"/>
          </a:xfrm>
        </p:grpSpPr>
        <p:sp>
          <p:nvSpPr>
            <p:cNvPr id="63498"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p:spPr>
          <p:txBody>
            <a:bodyPr wrap="none" anchor="ctr"/>
            <a:lstStyle/>
            <a:p>
              <a:pPr algn="ctr" eaLnBrk="1" hangingPunct="1"/>
              <a:endParaRPr lang="en-US" sz="2400" b="1">
                <a:latin typeface="Times New Roman" pitchFamily="18" charset="0"/>
              </a:endParaRPr>
            </a:p>
          </p:txBody>
        </p:sp>
        <p:sp>
          <p:nvSpPr>
            <p:cNvPr id="63499" name="AutoShape 4"/>
            <p:cNvSpPr>
              <a:spLocks noChangeArrowheads="1"/>
            </p:cNvSpPr>
            <p:nvPr/>
          </p:nvSpPr>
          <p:spPr bwMode="blackWhite">
            <a:xfrm>
              <a:off x="0" y="96"/>
              <a:ext cx="5376" cy="768"/>
            </a:xfrm>
            <a:custGeom>
              <a:avLst/>
              <a:gdLst>
                <a:gd name="T0" fmla="*/ 0 w 7000"/>
                <a:gd name="T1" fmla="*/ 0 h 1000"/>
                <a:gd name="T2" fmla="*/ 2721 w 7000"/>
                <a:gd name="T3" fmla="*/ 0 h 1000"/>
                <a:gd name="T4" fmla="*/ 2948 w 7000"/>
                <a:gd name="T5" fmla="*/ 227 h 1000"/>
                <a:gd name="T6" fmla="*/ 2722 w 7000"/>
                <a:gd name="T7" fmla="*/ 453 h 1000"/>
                <a:gd name="T8" fmla="*/ 0 w 7000"/>
                <a:gd name="T9" fmla="*/ 453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close/>
                </a:path>
              </a:pathLst>
            </a:custGeom>
            <a:solidFill>
              <a:schemeClr val="folHlink"/>
            </a:solidFill>
            <a:ln w="9525">
              <a:noFill/>
              <a:miter lim="800000"/>
              <a:headEnd/>
              <a:tailEnd/>
            </a:ln>
          </p:spPr>
          <p:txBody>
            <a:bodyPr/>
            <a:lstStyle/>
            <a:p>
              <a:endParaRPr lang="en-US"/>
            </a:p>
          </p:txBody>
        </p:sp>
        <p:sp>
          <p:nvSpPr>
            <p:cNvPr id="63500" name="Line 5"/>
            <p:cNvSpPr>
              <a:spLocks noChangeShapeType="1"/>
            </p:cNvSpPr>
            <p:nvPr/>
          </p:nvSpPr>
          <p:spPr bwMode="auto">
            <a:xfrm>
              <a:off x="0" y="768"/>
              <a:ext cx="5088" cy="0"/>
            </a:xfrm>
            <a:prstGeom prst="line">
              <a:avLst/>
            </a:prstGeom>
            <a:noFill/>
            <a:ln w="38100">
              <a:solidFill>
                <a:schemeClr val="bg1"/>
              </a:solidFill>
              <a:round/>
              <a:headEnd/>
              <a:tailEnd/>
            </a:ln>
          </p:spPr>
          <p:txBody>
            <a:bodyPr/>
            <a:lstStyle/>
            <a:p>
              <a:endParaRPr lang="en-US"/>
            </a:p>
          </p:txBody>
        </p:sp>
      </p:grpSp>
      <p:sp>
        <p:nvSpPr>
          <p:cNvPr id="63491" name="Text Box 6"/>
          <p:cNvSpPr txBox="1">
            <a:spLocks noChangeArrowheads="1"/>
          </p:cNvSpPr>
          <p:nvPr/>
        </p:nvSpPr>
        <p:spPr bwMode="auto">
          <a:xfrm>
            <a:off x="228600" y="304800"/>
            <a:ext cx="1239442" cy="707886"/>
          </a:xfrm>
          <a:prstGeom prst="rect">
            <a:avLst/>
          </a:prstGeom>
          <a:noFill/>
          <a:ln w="9525">
            <a:noFill/>
            <a:miter lim="800000"/>
            <a:headEnd/>
            <a:tailEnd/>
          </a:ln>
        </p:spPr>
        <p:txBody>
          <a:bodyPr wrap="none">
            <a:spAutoFit/>
          </a:bodyPr>
          <a:lstStyle/>
          <a:p>
            <a:r>
              <a:rPr lang="en-US" sz="4000" b="1" dirty="0" err="1" smtClean="0">
                <a:solidFill>
                  <a:srgbClr val="000000"/>
                </a:solidFill>
                <a:latin typeface="Arial" charset="0"/>
              </a:rPr>
              <a:t>IPv6</a:t>
            </a:r>
            <a:endParaRPr lang="en-US" sz="4000" b="1" dirty="0">
              <a:solidFill>
                <a:srgbClr val="000000"/>
              </a:solidFill>
              <a:latin typeface="Arial" charset="0"/>
            </a:endParaRPr>
          </a:p>
        </p:txBody>
      </p:sp>
      <p:sp>
        <p:nvSpPr>
          <p:cNvPr id="517127" name="Text Box 7"/>
          <p:cNvSpPr txBox="1">
            <a:spLocks noChangeArrowheads="1"/>
          </p:cNvSpPr>
          <p:nvPr/>
        </p:nvSpPr>
        <p:spPr bwMode="auto">
          <a:xfrm>
            <a:off x="914400" y="1858963"/>
            <a:ext cx="3206750"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IPv6 Addresses</a:t>
            </a:r>
          </a:p>
        </p:txBody>
      </p:sp>
      <p:sp>
        <p:nvSpPr>
          <p:cNvPr id="517128" name="Text Box 8"/>
          <p:cNvSpPr txBox="1">
            <a:spLocks noChangeArrowheads="1"/>
          </p:cNvSpPr>
          <p:nvPr/>
        </p:nvSpPr>
        <p:spPr bwMode="auto">
          <a:xfrm>
            <a:off x="914400" y="2544763"/>
            <a:ext cx="4964113"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Categories of Addresses</a:t>
            </a:r>
          </a:p>
        </p:txBody>
      </p:sp>
      <p:sp>
        <p:nvSpPr>
          <p:cNvPr id="517129" name="Text Box 9"/>
          <p:cNvSpPr txBox="1">
            <a:spLocks noChangeArrowheads="1"/>
          </p:cNvSpPr>
          <p:nvPr/>
        </p:nvSpPr>
        <p:spPr bwMode="auto">
          <a:xfrm>
            <a:off x="914400" y="3230563"/>
            <a:ext cx="3929063"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IPv6 Packet Format</a:t>
            </a:r>
          </a:p>
        </p:txBody>
      </p:sp>
      <p:sp>
        <p:nvSpPr>
          <p:cNvPr id="517130" name="Text Box 10"/>
          <p:cNvSpPr txBox="1">
            <a:spLocks noChangeArrowheads="1"/>
          </p:cNvSpPr>
          <p:nvPr/>
        </p:nvSpPr>
        <p:spPr bwMode="auto">
          <a:xfrm>
            <a:off x="914400" y="3916363"/>
            <a:ext cx="3001963"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Fragmentation</a:t>
            </a:r>
          </a:p>
        </p:txBody>
      </p:sp>
      <p:sp>
        <p:nvSpPr>
          <p:cNvPr id="517131" name="Text Box 11"/>
          <p:cNvSpPr txBox="1">
            <a:spLocks noChangeArrowheads="1"/>
          </p:cNvSpPr>
          <p:nvPr/>
        </p:nvSpPr>
        <p:spPr bwMode="auto">
          <a:xfrm>
            <a:off x="914400" y="4602163"/>
            <a:ext cx="1651000"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ICMPv6</a:t>
            </a:r>
          </a:p>
        </p:txBody>
      </p:sp>
      <p:sp>
        <p:nvSpPr>
          <p:cNvPr id="517132" name="Text Box 12"/>
          <p:cNvSpPr txBox="1">
            <a:spLocks noChangeArrowheads="1"/>
          </p:cNvSpPr>
          <p:nvPr/>
        </p:nvSpPr>
        <p:spPr bwMode="auto">
          <a:xfrm>
            <a:off x="914400" y="5287963"/>
            <a:ext cx="2144713" cy="579437"/>
          </a:xfrm>
          <a:prstGeom prst="rect">
            <a:avLst/>
          </a:prstGeom>
          <a:noFill/>
          <a:ln w="9525">
            <a:noFill/>
            <a:miter lim="800000"/>
            <a:headEnd/>
            <a:tailEnd/>
          </a:ln>
        </p:spPr>
        <p:txBody>
          <a:bodyPr wrap="none">
            <a:spAutoFit/>
          </a:bodyPr>
          <a:lstStyle/>
          <a:p>
            <a:pPr marL="457200" indent="-457200"/>
            <a:r>
              <a:rPr lang="en-US" sz="3200" b="1" i="1">
                <a:solidFill>
                  <a:srgbClr val="000000"/>
                </a:solidFill>
                <a:latin typeface="Arial" charset="0"/>
              </a:rPr>
              <a:t>Transition</a:t>
            </a:r>
          </a:p>
        </p:txBody>
      </p:sp>
      <p:sp>
        <p:nvSpPr>
          <p:cNvPr id="13" name="Slide Number Placeholder 12"/>
          <p:cNvSpPr>
            <a:spLocks noGrp="1"/>
          </p:cNvSpPr>
          <p:nvPr>
            <p:ph type="sldNum" sz="quarter" idx="12"/>
          </p:nvPr>
        </p:nvSpPr>
        <p:spPr/>
        <p:txBody>
          <a:bodyPr/>
          <a:lstStyle/>
          <a:p>
            <a:pPr>
              <a:defRPr/>
            </a:pPr>
            <a:fld id="{8D51F359-4732-4AB7-8DD8-2F1DC4B37DD7}" type="slidenum">
              <a:rPr lang="en-US" smtClean="0"/>
              <a:pPr>
                <a:defRPr/>
              </a:pPr>
              <a:t>38</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17127"/>
                                        </p:tgtEl>
                                        <p:attrNameLst>
                                          <p:attrName>style.visibility</p:attrName>
                                        </p:attrNameLst>
                                      </p:cBhvr>
                                      <p:to>
                                        <p:strVal val="visible"/>
                                      </p:to>
                                    </p:set>
                                    <p:animEffect transition="in" filter="diamond(in)">
                                      <p:cBhvr>
                                        <p:cTn id="7" dur="1000"/>
                                        <p:tgtEl>
                                          <p:spTgt spid="51712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17128"/>
                                        </p:tgtEl>
                                        <p:attrNameLst>
                                          <p:attrName>style.visibility</p:attrName>
                                        </p:attrNameLst>
                                      </p:cBhvr>
                                      <p:to>
                                        <p:strVal val="visible"/>
                                      </p:to>
                                    </p:set>
                                    <p:animEffect transition="in" filter="diamond(in)">
                                      <p:cBhvr>
                                        <p:cTn id="12" dur="1000"/>
                                        <p:tgtEl>
                                          <p:spTgt spid="517128"/>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17129"/>
                                        </p:tgtEl>
                                        <p:attrNameLst>
                                          <p:attrName>style.visibility</p:attrName>
                                        </p:attrNameLst>
                                      </p:cBhvr>
                                      <p:to>
                                        <p:strVal val="visible"/>
                                      </p:to>
                                    </p:set>
                                    <p:animEffect transition="in" filter="diamond(in)">
                                      <p:cBhvr>
                                        <p:cTn id="17" dur="1000"/>
                                        <p:tgtEl>
                                          <p:spTgt spid="517129"/>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517130"/>
                                        </p:tgtEl>
                                        <p:attrNameLst>
                                          <p:attrName>style.visibility</p:attrName>
                                        </p:attrNameLst>
                                      </p:cBhvr>
                                      <p:to>
                                        <p:strVal val="visible"/>
                                      </p:to>
                                    </p:set>
                                    <p:animEffect transition="in" filter="diamond(in)">
                                      <p:cBhvr>
                                        <p:cTn id="22" dur="1000"/>
                                        <p:tgtEl>
                                          <p:spTgt spid="517130"/>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517131"/>
                                        </p:tgtEl>
                                        <p:attrNameLst>
                                          <p:attrName>style.visibility</p:attrName>
                                        </p:attrNameLst>
                                      </p:cBhvr>
                                      <p:to>
                                        <p:strVal val="visible"/>
                                      </p:to>
                                    </p:set>
                                    <p:animEffect transition="in" filter="diamond(in)">
                                      <p:cBhvr>
                                        <p:cTn id="27" dur="1000"/>
                                        <p:tgtEl>
                                          <p:spTgt spid="517131"/>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517132"/>
                                        </p:tgtEl>
                                        <p:attrNameLst>
                                          <p:attrName>style.visibility</p:attrName>
                                        </p:attrNameLst>
                                      </p:cBhvr>
                                      <p:to>
                                        <p:strVal val="visible"/>
                                      </p:to>
                                    </p:set>
                                    <p:animEffect transition="in" filter="diamond(in)">
                                      <p:cBhvr>
                                        <p:cTn id="32" dur="1000"/>
                                        <p:tgtEl>
                                          <p:spTgt spid="517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7" grpId="0"/>
      <p:bldP spid="517128" grpId="0"/>
      <p:bldP spid="517129" grpId="0"/>
      <p:bldP spid="517130" grpId="0"/>
      <p:bldP spid="517131" grpId="0"/>
      <p:bldP spid="517132"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b="1" smtClean="0">
                <a:solidFill>
                  <a:srgbClr val="000000"/>
                </a:solidFill>
                <a:effectLst/>
              </a:rPr>
              <a:t>Demerit of IPV4:</a:t>
            </a:r>
            <a:endParaRPr lang="en-US" smtClean="0">
              <a:solidFill>
                <a:srgbClr val="000000"/>
              </a:solidFill>
              <a:effectLst/>
            </a:endParaRPr>
          </a:p>
        </p:txBody>
      </p:sp>
      <p:sp>
        <p:nvSpPr>
          <p:cNvPr id="64515" name="Rectangle 3"/>
          <p:cNvSpPr>
            <a:spLocks noGrp="1" noChangeArrowheads="1"/>
          </p:cNvSpPr>
          <p:nvPr>
            <p:ph idx="1"/>
          </p:nvPr>
        </p:nvSpPr>
        <p:spPr>
          <a:xfrm>
            <a:off x="304800" y="1143000"/>
            <a:ext cx="8610600" cy="5105400"/>
          </a:xfrm>
        </p:spPr>
        <p:txBody>
          <a:bodyPr>
            <a:noAutofit/>
          </a:bodyPr>
          <a:lstStyle/>
          <a:p>
            <a:pPr eaLnBrk="1" hangingPunct="1"/>
            <a:r>
              <a:rPr lang="en-US" sz="2800" dirty="0" err="1" smtClean="0">
                <a:solidFill>
                  <a:srgbClr val="000000"/>
                </a:solidFill>
                <a:effectLst/>
                <a:latin typeface="Times New Roman" pitchFamily="18" charset="0"/>
              </a:rPr>
              <a:t>IPV4</a:t>
            </a:r>
            <a:r>
              <a:rPr lang="en-US" sz="2800" dirty="0" smtClean="0">
                <a:solidFill>
                  <a:srgbClr val="000000"/>
                </a:solidFill>
                <a:effectLst/>
                <a:latin typeface="Times New Roman" pitchFamily="18" charset="0"/>
              </a:rPr>
              <a:t> has a two-level address structure (net ID and host ID) categorized into five classes. The </a:t>
            </a:r>
            <a:r>
              <a:rPr lang="en-US" sz="2800" b="1" dirty="0" smtClean="0">
                <a:solidFill>
                  <a:srgbClr val="000000"/>
                </a:solidFill>
                <a:effectLst/>
                <a:latin typeface="Times New Roman" pitchFamily="18" charset="0"/>
              </a:rPr>
              <a:t>address space is insufficient.</a:t>
            </a:r>
          </a:p>
          <a:p>
            <a:pPr eaLnBrk="1" hangingPunct="1"/>
            <a:endParaRPr lang="en-US" sz="2800" dirty="0" smtClean="0">
              <a:solidFill>
                <a:srgbClr val="000000"/>
              </a:solidFill>
              <a:effectLst/>
              <a:latin typeface="Times New Roman" pitchFamily="18" charset="0"/>
            </a:endParaRPr>
          </a:p>
          <a:p>
            <a:pPr eaLnBrk="1" hangingPunct="1"/>
            <a:r>
              <a:rPr lang="en-US" sz="2800" dirty="0" smtClean="0">
                <a:solidFill>
                  <a:srgbClr val="000000"/>
                </a:solidFill>
                <a:effectLst/>
                <a:latin typeface="Times New Roman" pitchFamily="18" charset="0"/>
              </a:rPr>
              <a:t>Internet must accommodate encryption and authentication of data for some applications. Originally </a:t>
            </a:r>
            <a:r>
              <a:rPr lang="en-US" sz="2800" b="1" dirty="0" smtClean="0">
                <a:solidFill>
                  <a:srgbClr val="000000"/>
                </a:solidFill>
                <a:effectLst/>
                <a:latin typeface="Times New Roman" pitchFamily="18" charset="0"/>
              </a:rPr>
              <a:t>no security mechanism was provided in </a:t>
            </a:r>
            <a:r>
              <a:rPr lang="en-US" sz="2800" b="1" dirty="0" err="1" smtClean="0">
                <a:solidFill>
                  <a:srgbClr val="000000"/>
                </a:solidFill>
                <a:effectLst/>
                <a:latin typeface="Times New Roman" pitchFamily="18" charset="0"/>
              </a:rPr>
              <a:t>IPV4</a:t>
            </a:r>
            <a:r>
              <a:rPr lang="en-US" sz="2800" dirty="0" smtClean="0">
                <a:solidFill>
                  <a:srgbClr val="000000"/>
                </a:solidFill>
                <a:effectLst/>
                <a:latin typeface="Times New Roman" pitchFamily="18" charset="0"/>
              </a:rPr>
              <a:t>.</a:t>
            </a:r>
          </a:p>
          <a:p>
            <a:pPr eaLnBrk="1" hangingPunct="1"/>
            <a:endParaRPr lang="en-US" sz="2800" dirty="0" smtClean="0">
              <a:solidFill>
                <a:srgbClr val="000000"/>
              </a:solidFill>
              <a:effectLst/>
              <a:latin typeface="Times New Roman" pitchFamily="18" charset="0"/>
            </a:endParaRPr>
          </a:p>
          <a:p>
            <a:pPr eaLnBrk="1" hangingPunct="1"/>
            <a:r>
              <a:rPr lang="en-US" sz="2800" dirty="0" smtClean="0">
                <a:solidFill>
                  <a:srgbClr val="000000"/>
                </a:solidFill>
                <a:effectLst/>
                <a:latin typeface="Times New Roman" pitchFamily="18" charset="0"/>
              </a:rPr>
              <a:t>Internet must accommodate </a:t>
            </a:r>
            <a:r>
              <a:rPr lang="en-US" sz="2800" b="1" dirty="0" smtClean="0">
                <a:solidFill>
                  <a:srgbClr val="000000"/>
                </a:solidFill>
                <a:effectLst/>
                <a:latin typeface="Times New Roman" pitchFamily="18" charset="0"/>
              </a:rPr>
              <a:t>real time audio and video transmission</a:t>
            </a:r>
            <a:r>
              <a:rPr lang="en-US" sz="2800" dirty="0" smtClean="0">
                <a:solidFill>
                  <a:srgbClr val="000000"/>
                </a:solidFill>
                <a:effectLst/>
                <a:latin typeface="Times New Roman" pitchFamily="18" charset="0"/>
              </a:rPr>
              <a:t>. This requires minimum delay strategies and </a:t>
            </a:r>
            <a:r>
              <a:rPr lang="en-US" sz="2800" b="1" dirty="0" smtClean="0">
                <a:solidFill>
                  <a:srgbClr val="000000"/>
                </a:solidFill>
                <a:effectLst/>
                <a:latin typeface="Times New Roman" pitchFamily="18" charset="0"/>
              </a:rPr>
              <a:t>reservation of resources</a:t>
            </a:r>
            <a:r>
              <a:rPr lang="en-US" sz="2800" dirty="0" smtClean="0">
                <a:solidFill>
                  <a:srgbClr val="000000"/>
                </a:solidFill>
                <a:effectLst/>
                <a:latin typeface="Times New Roman" pitchFamily="18" charset="0"/>
              </a:rPr>
              <a:t>. This is not provided in </a:t>
            </a:r>
            <a:r>
              <a:rPr lang="en-US" sz="2800" dirty="0" err="1" smtClean="0">
                <a:solidFill>
                  <a:srgbClr val="000000"/>
                </a:solidFill>
                <a:effectLst/>
                <a:latin typeface="Times New Roman" pitchFamily="18" charset="0"/>
              </a:rPr>
              <a:t>IPV4</a:t>
            </a:r>
            <a:r>
              <a:rPr lang="en-US" sz="2800" dirty="0" smtClean="0">
                <a:solidFill>
                  <a:srgbClr val="000000"/>
                </a:solidFill>
                <a:effectLst/>
                <a:latin typeface="Times New Roman" pitchFamily="18" charset="0"/>
              </a:rPr>
              <a:t>.</a:t>
            </a: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39</a:t>
            </a:fld>
            <a:endParaRPr lang="en-US"/>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01625" y="228600"/>
            <a:ext cx="8540750" cy="792163"/>
          </a:xfrm>
        </p:spPr>
        <p:txBody>
          <a:bodyPr/>
          <a:lstStyle/>
          <a:p>
            <a:pPr eaLnBrk="1" hangingPunct="1"/>
            <a:r>
              <a:rPr lang="en-US" sz="3200" b="1" smtClean="0">
                <a:solidFill>
                  <a:srgbClr val="000000"/>
                </a:solidFill>
                <a:effectLst/>
              </a:rPr>
              <a:t>Merit of IPV6 over IPV4:</a:t>
            </a:r>
            <a:endParaRPr lang="en-US" sz="3200" smtClean="0">
              <a:solidFill>
                <a:srgbClr val="000000"/>
              </a:solidFill>
              <a:effectLst/>
            </a:endParaRPr>
          </a:p>
        </p:txBody>
      </p:sp>
      <p:sp>
        <p:nvSpPr>
          <p:cNvPr id="543747" name="Rectangle 3"/>
          <p:cNvSpPr>
            <a:spLocks noGrp="1" noChangeArrowheads="1"/>
          </p:cNvSpPr>
          <p:nvPr>
            <p:ph idx="1"/>
          </p:nvPr>
        </p:nvSpPr>
        <p:spPr>
          <a:xfrm>
            <a:off x="0" y="914400"/>
            <a:ext cx="9144000" cy="5943600"/>
          </a:xfrm>
        </p:spPr>
        <p:txBody>
          <a:bodyPr>
            <a:noAutofit/>
          </a:bodyPr>
          <a:lstStyle/>
          <a:p>
            <a:pPr eaLnBrk="1" hangingPunct="1">
              <a:lnSpc>
                <a:spcPct val="90000"/>
              </a:lnSpc>
              <a:defRPr/>
            </a:pPr>
            <a:r>
              <a:rPr lang="en-US" sz="2800" dirty="0" smtClean="0">
                <a:solidFill>
                  <a:srgbClr val="3366FF"/>
                </a:solidFill>
                <a:latin typeface="Times New Roman" pitchFamily="18" charset="0"/>
              </a:rPr>
              <a:t>Larger address space:</a:t>
            </a:r>
            <a:r>
              <a:rPr lang="en-US" sz="2800" dirty="0" smtClean="0">
                <a:latin typeface="Times New Roman" pitchFamily="18" charset="0"/>
              </a:rPr>
              <a:t> </a:t>
            </a:r>
            <a:r>
              <a:rPr lang="en-US" sz="2800" dirty="0" smtClean="0">
                <a:solidFill>
                  <a:srgbClr val="000000"/>
                </a:solidFill>
                <a:effectLst/>
                <a:latin typeface="Times New Roman" pitchFamily="18" charset="0"/>
              </a:rPr>
              <a:t>An IPV6 address is 128 bits long, while IPV4 has 32 bits.</a:t>
            </a:r>
          </a:p>
          <a:p>
            <a:pPr eaLnBrk="1" hangingPunct="1">
              <a:lnSpc>
                <a:spcPct val="90000"/>
              </a:lnSpc>
              <a:defRPr/>
            </a:pPr>
            <a:r>
              <a:rPr lang="en-US" sz="2800" dirty="0" smtClean="0">
                <a:solidFill>
                  <a:srgbClr val="3366FF"/>
                </a:solidFill>
                <a:latin typeface="Times New Roman" pitchFamily="18" charset="0"/>
              </a:rPr>
              <a:t>Better header format:</a:t>
            </a:r>
            <a:r>
              <a:rPr lang="en-US" sz="2800" dirty="0" smtClean="0">
                <a:latin typeface="Times New Roman" pitchFamily="18" charset="0"/>
              </a:rPr>
              <a:t>  </a:t>
            </a:r>
            <a:r>
              <a:rPr lang="en-US" sz="2800" dirty="0" smtClean="0">
                <a:solidFill>
                  <a:srgbClr val="000000"/>
                </a:solidFill>
                <a:effectLst/>
                <a:latin typeface="Times New Roman" pitchFamily="18" charset="0"/>
              </a:rPr>
              <a:t>Here options are separated from the base header and the upper layer data.</a:t>
            </a:r>
          </a:p>
          <a:p>
            <a:pPr eaLnBrk="1" hangingPunct="1">
              <a:lnSpc>
                <a:spcPct val="90000"/>
              </a:lnSpc>
              <a:defRPr/>
            </a:pPr>
            <a:r>
              <a:rPr lang="en-US" sz="2800" dirty="0" smtClean="0">
                <a:solidFill>
                  <a:srgbClr val="3366FF"/>
                </a:solidFill>
                <a:latin typeface="Times New Roman" pitchFamily="18" charset="0"/>
              </a:rPr>
              <a:t>New options:</a:t>
            </a:r>
            <a:r>
              <a:rPr lang="en-US" sz="2800" dirty="0" smtClean="0">
                <a:latin typeface="Times New Roman" pitchFamily="18" charset="0"/>
              </a:rPr>
              <a:t> </a:t>
            </a:r>
            <a:r>
              <a:rPr lang="en-US" sz="2800" dirty="0" smtClean="0">
                <a:solidFill>
                  <a:srgbClr val="000000"/>
                </a:solidFill>
                <a:effectLst/>
                <a:latin typeface="Times New Roman" pitchFamily="18" charset="0"/>
              </a:rPr>
              <a:t>Allow options for additional functionalities.</a:t>
            </a:r>
          </a:p>
          <a:p>
            <a:pPr eaLnBrk="1" hangingPunct="1">
              <a:lnSpc>
                <a:spcPct val="90000"/>
              </a:lnSpc>
              <a:defRPr/>
            </a:pPr>
            <a:r>
              <a:rPr lang="en-US" sz="2800" dirty="0" smtClean="0">
                <a:solidFill>
                  <a:srgbClr val="3366FF"/>
                </a:solidFill>
                <a:latin typeface="Times New Roman" pitchFamily="18" charset="0"/>
              </a:rPr>
              <a:t>Allowance for extension:</a:t>
            </a:r>
            <a:r>
              <a:rPr lang="en-US" sz="2800" dirty="0" smtClean="0">
                <a:latin typeface="Times New Roman" pitchFamily="18" charset="0"/>
              </a:rPr>
              <a:t> </a:t>
            </a:r>
            <a:r>
              <a:rPr lang="en-US" sz="2800" dirty="0" smtClean="0">
                <a:solidFill>
                  <a:srgbClr val="000000"/>
                </a:solidFill>
                <a:effectLst/>
                <a:latin typeface="Times New Roman" pitchFamily="18" charset="0"/>
              </a:rPr>
              <a:t>Allow the extension of the protocol, if required by new technologies or applications. </a:t>
            </a:r>
          </a:p>
          <a:p>
            <a:pPr eaLnBrk="1" hangingPunct="1">
              <a:lnSpc>
                <a:spcPct val="90000"/>
              </a:lnSpc>
              <a:defRPr/>
            </a:pPr>
            <a:r>
              <a:rPr lang="en-US" sz="2800" dirty="0" smtClean="0">
                <a:solidFill>
                  <a:srgbClr val="3366FF"/>
                </a:solidFill>
                <a:latin typeface="Times New Roman" pitchFamily="18" charset="0"/>
              </a:rPr>
              <a:t>Support for resource allocation:</a:t>
            </a:r>
            <a:r>
              <a:rPr lang="en-US" sz="2800" dirty="0" smtClean="0">
                <a:latin typeface="Times New Roman" pitchFamily="18" charset="0"/>
              </a:rPr>
              <a:t> </a:t>
            </a:r>
            <a:r>
              <a:rPr lang="en-US" sz="2800" dirty="0" smtClean="0">
                <a:solidFill>
                  <a:srgbClr val="000000"/>
                </a:solidFill>
                <a:effectLst/>
                <a:latin typeface="Times New Roman" pitchFamily="18" charset="0"/>
              </a:rPr>
              <a:t>Flow level has been added to enable the source to request special handling of the packet and to support traffic (real time audio and video). </a:t>
            </a:r>
          </a:p>
          <a:p>
            <a:pPr eaLnBrk="1" hangingPunct="1">
              <a:lnSpc>
                <a:spcPct val="90000"/>
              </a:lnSpc>
              <a:defRPr/>
            </a:pPr>
            <a:r>
              <a:rPr lang="en-US" sz="2800" dirty="0" smtClean="0">
                <a:solidFill>
                  <a:srgbClr val="3366FF"/>
                </a:solidFill>
                <a:latin typeface="Times New Roman" pitchFamily="18" charset="0"/>
              </a:rPr>
              <a:t>Support for more security:</a:t>
            </a:r>
            <a:r>
              <a:rPr lang="en-US" sz="2800" dirty="0" smtClean="0">
                <a:latin typeface="Times New Roman" pitchFamily="18" charset="0"/>
              </a:rPr>
              <a:t> </a:t>
            </a:r>
            <a:r>
              <a:rPr lang="en-US" sz="2800" dirty="0" smtClean="0">
                <a:solidFill>
                  <a:srgbClr val="000000"/>
                </a:solidFill>
                <a:effectLst/>
                <a:latin typeface="Times New Roman" pitchFamily="18" charset="0"/>
              </a:rPr>
              <a:t>The encryption and authentication options in IPV6 provide confidentiality and integrity of the packet.</a:t>
            </a: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40</a:t>
            </a:fld>
            <a:endParaRPr 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err="1" smtClean="0">
                <a:solidFill>
                  <a:srgbClr val="000000"/>
                </a:solidFill>
                <a:latin typeface="Times New Roman" pitchFamily="18" charset="0"/>
              </a:rPr>
              <a:t>IPv6</a:t>
            </a:r>
            <a:r>
              <a:rPr lang="en-US" altLang="en-US" b="1" dirty="0" smtClean="0">
                <a:solidFill>
                  <a:srgbClr val="000000"/>
                </a:solidFill>
                <a:latin typeface="Times New Roman" pitchFamily="18" charset="0"/>
              </a:rPr>
              <a:t> </a:t>
            </a:r>
            <a:r>
              <a:rPr lang="en-US" altLang="en-US" b="1" dirty="0">
                <a:solidFill>
                  <a:srgbClr val="000000"/>
                </a:solidFill>
                <a:latin typeface="Times New Roman" pitchFamily="18" charset="0"/>
              </a:rPr>
              <a:t>address</a:t>
            </a:r>
          </a:p>
        </p:txBody>
      </p:sp>
      <p:sp>
        <p:nvSpPr>
          <p:cNvPr id="6656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665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6656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665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665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6656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665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66570" name="Picture 10"/>
          <p:cNvPicPr>
            <a:picLocks noChangeAspect="1" noChangeArrowheads="1"/>
          </p:cNvPicPr>
          <p:nvPr/>
        </p:nvPicPr>
        <p:blipFill>
          <a:blip r:embed="rId2" cstate="print"/>
          <a:srcRect t="10448"/>
          <a:stretch>
            <a:fillRect/>
          </a:stretch>
        </p:blipFill>
        <p:spPr bwMode="auto">
          <a:xfrm>
            <a:off x="609600" y="2514600"/>
            <a:ext cx="7815263" cy="1905000"/>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41</a:t>
            </a:fld>
            <a:endParaRPr lang="en-US"/>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1625" y="228600"/>
            <a:ext cx="8540750" cy="715963"/>
          </a:xfrm>
        </p:spPr>
        <p:txBody>
          <a:bodyPr>
            <a:normAutofit fontScale="90000"/>
          </a:bodyPr>
          <a:lstStyle/>
          <a:p>
            <a:pPr eaLnBrk="1" hangingPunct="1"/>
            <a:r>
              <a:rPr lang="en-US" sz="4000" smtClean="0">
                <a:solidFill>
                  <a:srgbClr val="000000"/>
                </a:solidFill>
                <a:effectLst/>
              </a:rPr>
              <a:t>IPv6 </a:t>
            </a:r>
            <a:r>
              <a:rPr lang="en-US" sz="3600" smtClean="0">
                <a:solidFill>
                  <a:srgbClr val="000000"/>
                </a:solidFill>
                <a:effectLst/>
              </a:rPr>
              <a:t>Categories of addresses:</a:t>
            </a:r>
            <a:r>
              <a:rPr lang="en-US" sz="4000" smtClean="0">
                <a:solidFill>
                  <a:srgbClr val="000000"/>
                </a:solidFill>
                <a:effectLst/>
              </a:rPr>
              <a:t/>
            </a:r>
            <a:br>
              <a:rPr lang="en-US" sz="4000" smtClean="0">
                <a:solidFill>
                  <a:srgbClr val="000000"/>
                </a:solidFill>
                <a:effectLst/>
              </a:rPr>
            </a:br>
            <a:endParaRPr lang="en-US" sz="4000" smtClean="0">
              <a:solidFill>
                <a:srgbClr val="000000"/>
              </a:solidFill>
              <a:effectLst/>
            </a:endParaRPr>
          </a:p>
        </p:txBody>
      </p:sp>
      <p:sp>
        <p:nvSpPr>
          <p:cNvPr id="544771" name="Rectangle 3"/>
          <p:cNvSpPr>
            <a:spLocks noGrp="1" noChangeArrowheads="1"/>
          </p:cNvSpPr>
          <p:nvPr>
            <p:ph idx="1"/>
          </p:nvPr>
        </p:nvSpPr>
        <p:spPr>
          <a:xfrm>
            <a:off x="304800" y="1066800"/>
            <a:ext cx="8839200" cy="5562600"/>
          </a:xfrm>
        </p:spPr>
        <p:txBody>
          <a:bodyPr/>
          <a:lstStyle/>
          <a:p>
            <a:pPr marL="381000" indent="-381000" eaLnBrk="1" hangingPunct="1">
              <a:lnSpc>
                <a:spcPct val="80000"/>
              </a:lnSpc>
              <a:defRPr/>
            </a:pPr>
            <a:r>
              <a:rPr lang="en-US" sz="2000" dirty="0" smtClean="0">
                <a:solidFill>
                  <a:srgbClr val="3366FF"/>
                </a:solidFill>
              </a:rPr>
              <a:t>IPV6 defines three types of addresses:</a:t>
            </a:r>
          </a:p>
          <a:p>
            <a:pPr marL="381000" indent="-381000" eaLnBrk="1" hangingPunct="1">
              <a:lnSpc>
                <a:spcPct val="80000"/>
              </a:lnSpc>
              <a:buFont typeface="Wingdings" pitchFamily="2" charset="2"/>
              <a:buAutoNum type="arabicPeriod"/>
              <a:defRPr/>
            </a:pPr>
            <a:r>
              <a:rPr lang="en-US" sz="2000" b="1" dirty="0" err="1" smtClean="0">
                <a:solidFill>
                  <a:srgbClr val="000000"/>
                </a:solidFill>
                <a:effectLst/>
              </a:rPr>
              <a:t>Unicast</a:t>
            </a:r>
            <a:r>
              <a:rPr lang="en-US" sz="2000" b="1" dirty="0" smtClean="0">
                <a:solidFill>
                  <a:srgbClr val="000000"/>
                </a:solidFill>
                <a:effectLst/>
              </a:rPr>
              <a:t> address</a:t>
            </a:r>
          </a:p>
          <a:p>
            <a:pPr marL="381000" indent="-381000" eaLnBrk="1" hangingPunct="1">
              <a:lnSpc>
                <a:spcPct val="80000"/>
              </a:lnSpc>
              <a:buFont typeface="Wingdings" pitchFamily="2" charset="2"/>
              <a:buAutoNum type="arabicPeriod"/>
              <a:defRPr/>
            </a:pPr>
            <a:r>
              <a:rPr lang="en-US" sz="2000" b="1" dirty="0" err="1" smtClean="0">
                <a:solidFill>
                  <a:srgbClr val="000000"/>
                </a:solidFill>
                <a:effectLst/>
              </a:rPr>
              <a:t>Anycast</a:t>
            </a:r>
            <a:r>
              <a:rPr lang="en-US" sz="2000" b="1" dirty="0" smtClean="0">
                <a:solidFill>
                  <a:srgbClr val="000000"/>
                </a:solidFill>
                <a:effectLst/>
              </a:rPr>
              <a:t> address</a:t>
            </a:r>
          </a:p>
          <a:p>
            <a:pPr marL="381000" indent="-381000" eaLnBrk="1" hangingPunct="1">
              <a:lnSpc>
                <a:spcPct val="80000"/>
              </a:lnSpc>
              <a:buFont typeface="Wingdings" pitchFamily="2" charset="2"/>
              <a:buAutoNum type="arabicPeriod"/>
              <a:defRPr/>
            </a:pPr>
            <a:r>
              <a:rPr lang="en-US" sz="2000" b="1" dirty="0" smtClean="0">
                <a:solidFill>
                  <a:srgbClr val="000000"/>
                </a:solidFill>
                <a:effectLst/>
              </a:rPr>
              <a:t>Multicast address</a:t>
            </a:r>
          </a:p>
          <a:p>
            <a:pPr marL="381000" indent="-381000" eaLnBrk="1" hangingPunct="1">
              <a:lnSpc>
                <a:spcPct val="80000"/>
              </a:lnSpc>
              <a:buFont typeface="Wingdings" pitchFamily="2" charset="2"/>
              <a:buAutoNum type="arabicPeriod"/>
              <a:defRPr/>
            </a:pPr>
            <a:endParaRPr lang="en-US" sz="2000" b="1" dirty="0" smtClean="0"/>
          </a:p>
          <a:p>
            <a:pPr marL="381000" indent="-381000" eaLnBrk="1" hangingPunct="1">
              <a:lnSpc>
                <a:spcPct val="80000"/>
              </a:lnSpc>
              <a:defRPr/>
            </a:pPr>
            <a:r>
              <a:rPr lang="en-US" sz="2000" b="1" dirty="0" err="1" smtClean="0">
                <a:solidFill>
                  <a:srgbClr val="3366FF"/>
                </a:solidFill>
              </a:rPr>
              <a:t>Unicast</a:t>
            </a:r>
            <a:r>
              <a:rPr lang="en-US" sz="2000" b="1" dirty="0" smtClean="0">
                <a:solidFill>
                  <a:srgbClr val="3366FF"/>
                </a:solidFill>
              </a:rPr>
              <a:t> address</a:t>
            </a:r>
            <a:endParaRPr lang="en-US" sz="2000" dirty="0" smtClean="0">
              <a:solidFill>
                <a:srgbClr val="3366FF"/>
              </a:solidFill>
            </a:endParaRPr>
          </a:p>
          <a:p>
            <a:pPr marL="381000" indent="-381000" eaLnBrk="1" hangingPunct="1">
              <a:lnSpc>
                <a:spcPct val="80000"/>
              </a:lnSpc>
              <a:buFont typeface="Arial" charset="0"/>
              <a:buNone/>
              <a:defRPr/>
            </a:pPr>
            <a:r>
              <a:rPr lang="en-US" sz="2000" dirty="0" smtClean="0"/>
              <a:t>     </a:t>
            </a:r>
            <a:r>
              <a:rPr lang="en-US" sz="2000" b="1" dirty="0" smtClean="0">
                <a:solidFill>
                  <a:srgbClr val="000000"/>
                </a:solidFill>
                <a:effectLst/>
              </a:rPr>
              <a:t>Defines a single computer</a:t>
            </a:r>
          </a:p>
          <a:p>
            <a:pPr marL="381000" indent="-381000" eaLnBrk="1" hangingPunct="1">
              <a:lnSpc>
                <a:spcPct val="80000"/>
              </a:lnSpc>
              <a:defRPr/>
            </a:pPr>
            <a:endParaRPr lang="en-US" sz="2000" b="1" dirty="0" smtClean="0"/>
          </a:p>
          <a:p>
            <a:pPr marL="381000" indent="-381000" eaLnBrk="1" hangingPunct="1">
              <a:lnSpc>
                <a:spcPct val="80000"/>
              </a:lnSpc>
              <a:defRPr/>
            </a:pPr>
            <a:r>
              <a:rPr lang="en-US" sz="2000" b="1" dirty="0" err="1" smtClean="0">
                <a:solidFill>
                  <a:srgbClr val="3366FF"/>
                </a:solidFill>
              </a:rPr>
              <a:t>Anycast</a:t>
            </a:r>
            <a:r>
              <a:rPr lang="en-US" sz="2000" b="1" dirty="0" smtClean="0">
                <a:solidFill>
                  <a:srgbClr val="3366FF"/>
                </a:solidFill>
              </a:rPr>
              <a:t> address</a:t>
            </a:r>
            <a:endParaRPr lang="en-US" altLang="ja-JP" sz="2000" dirty="0" smtClean="0">
              <a:solidFill>
                <a:srgbClr val="3366FF"/>
              </a:solidFill>
              <a:ea typeface="MS PGothic" pitchFamily="34" charset="-128"/>
            </a:endParaRPr>
          </a:p>
          <a:p>
            <a:pPr marL="381000" indent="-381000" eaLnBrk="1" hangingPunct="1">
              <a:lnSpc>
                <a:spcPct val="80000"/>
              </a:lnSpc>
              <a:buFont typeface="Wingdings" pitchFamily="2" charset="2"/>
              <a:buAutoNum type="arabicPeriod"/>
              <a:defRPr/>
            </a:pPr>
            <a:r>
              <a:rPr lang="en-US" altLang="ja-JP" sz="2000" b="1" dirty="0" err="1" smtClean="0">
                <a:solidFill>
                  <a:srgbClr val="000000"/>
                </a:solidFill>
                <a:effectLst/>
                <a:ea typeface="MS PGothic" pitchFamily="34" charset="-128"/>
              </a:rPr>
              <a:t>Anycast</a:t>
            </a:r>
            <a:r>
              <a:rPr lang="en-US" altLang="ja-JP" sz="2000" b="1" dirty="0" smtClean="0">
                <a:solidFill>
                  <a:srgbClr val="000000"/>
                </a:solidFill>
                <a:effectLst/>
                <a:ea typeface="MS PGothic" pitchFamily="34" charset="-128"/>
              </a:rPr>
              <a:t> address is a new type of address incorporated in IPv6. </a:t>
            </a:r>
          </a:p>
          <a:p>
            <a:pPr marL="381000" indent="-381000" eaLnBrk="1" hangingPunct="1">
              <a:lnSpc>
                <a:spcPct val="80000"/>
              </a:lnSpc>
              <a:buFont typeface="Wingdings" pitchFamily="2" charset="2"/>
              <a:buAutoNum type="arabicPeriod"/>
              <a:defRPr/>
            </a:pPr>
            <a:r>
              <a:rPr lang="en-US" altLang="ja-JP" sz="2000" b="1" dirty="0" smtClean="0">
                <a:solidFill>
                  <a:srgbClr val="000000"/>
                </a:solidFill>
                <a:effectLst/>
                <a:ea typeface="MS PGothic" pitchFamily="34" charset="-128"/>
              </a:rPr>
              <a:t>It defines a group of computers with addresses that have the same prefix.</a:t>
            </a:r>
          </a:p>
          <a:p>
            <a:pPr marL="381000" indent="-381000" eaLnBrk="1" hangingPunct="1">
              <a:lnSpc>
                <a:spcPct val="80000"/>
              </a:lnSpc>
              <a:buFont typeface="Wingdings" pitchFamily="2" charset="2"/>
              <a:buAutoNum type="arabicPeriod"/>
              <a:defRPr/>
            </a:pPr>
            <a:r>
              <a:rPr lang="en-US" altLang="ja-JP" sz="2000" b="1" dirty="0" smtClean="0">
                <a:solidFill>
                  <a:srgbClr val="000000"/>
                </a:solidFill>
                <a:effectLst/>
                <a:ea typeface="MS PGothic" pitchFamily="34" charset="-128"/>
              </a:rPr>
              <a:t>In contrast to conducting transmission to all nodes in a group as in multicast, </a:t>
            </a:r>
            <a:r>
              <a:rPr lang="en-US" altLang="ja-JP" sz="2000" b="1" dirty="0" err="1" smtClean="0">
                <a:solidFill>
                  <a:srgbClr val="000000"/>
                </a:solidFill>
                <a:effectLst/>
                <a:ea typeface="MS PGothic" pitchFamily="34" charset="-128"/>
              </a:rPr>
              <a:t>anycast</a:t>
            </a:r>
            <a:r>
              <a:rPr lang="en-US" altLang="ja-JP" sz="2000" b="1" dirty="0" smtClean="0">
                <a:solidFill>
                  <a:srgbClr val="000000"/>
                </a:solidFill>
                <a:effectLst/>
                <a:ea typeface="MS PGothic" pitchFamily="34" charset="-128"/>
              </a:rPr>
              <a:t> sends the packet only to the nearest node in the group.</a:t>
            </a:r>
          </a:p>
          <a:p>
            <a:pPr marL="381000" indent="-381000" eaLnBrk="1" hangingPunct="1">
              <a:lnSpc>
                <a:spcPct val="80000"/>
              </a:lnSpc>
              <a:buFont typeface="Wingdings" pitchFamily="2" charset="2"/>
              <a:buAutoNum type="arabicPeriod"/>
              <a:defRPr/>
            </a:pPr>
            <a:endParaRPr lang="en-US" altLang="ja-JP" sz="2000" b="1" dirty="0" smtClean="0">
              <a:ea typeface="MS PGothic" pitchFamily="34" charset="-128"/>
            </a:endParaRPr>
          </a:p>
          <a:p>
            <a:pPr marL="381000" indent="-381000" eaLnBrk="1" hangingPunct="1">
              <a:lnSpc>
                <a:spcPct val="80000"/>
              </a:lnSpc>
              <a:defRPr/>
            </a:pPr>
            <a:r>
              <a:rPr lang="en-US" altLang="ja-JP" sz="2000" b="1" dirty="0" smtClean="0">
                <a:solidFill>
                  <a:srgbClr val="3366FF"/>
                </a:solidFill>
                <a:ea typeface="MS PGothic" pitchFamily="34" charset="-128"/>
              </a:rPr>
              <a:t>Multicast address:</a:t>
            </a:r>
            <a:endParaRPr lang="en-US" altLang="ja-JP" sz="2000" dirty="0" smtClean="0">
              <a:solidFill>
                <a:srgbClr val="3366FF"/>
              </a:solidFill>
              <a:ea typeface="MS PGothic" pitchFamily="34" charset="-128"/>
            </a:endParaRPr>
          </a:p>
          <a:p>
            <a:pPr marL="381000" indent="-381000" eaLnBrk="1" hangingPunct="1">
              <a:lnSpc>
                <a:spcPct val="80000"/>
              </a:lnSpc>
              <a:buFont typeface="Arial" charset="0"/>
              <a:buNone/>
              <a:defRPr/>
            </a:pPr>
            <a:r>
              <a:rPr lang="en-US" altLang="ja-JP" sz="2000" dirty="0" smtClean="0">
                <a:ea typeface="MS PGothic" pitchFamily="34" charset="-128"/>
              </a:rPr>
              <a:t>     </a:t>
            </a:r>
            <a:r>
              <a:rPr lang="en-US" altLang="ja-JP" sz="2000" b="1" dirty="0" smtClean="0">
                <a:solidFill>
                  <a:srgbClr val="000000"/>
                </a:solidFill>
                <a:effectLst/>
                <a:ea typeface="MS PGothic" pitchFamily="34" charset="-128"/>
              </a:rPr>
              <a:t>A packet sent to a multicast address must be delivered to each member of the set.</a:t>
            </a:r>
            <a:endParaRPr lang="en-US" sz="2000" b="1" dirty="0" smtClean="0">
              <a:solidFill>
                <a:srgbClr val="000000"/>
              </a:solidFill>
              <a:effectLst/>
            </a:endParaRP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42</a:t>
            </a:fld>
            <a:endParaRPr lang="en-US"/>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990600" y="90488"/>
            <a:ext cx="5715000" cy="369332"/>
          </a:xfrm>
          <a:prstGeom prst="rect">
            <a:avLst/>
          </a:prstGeom>
          <a:noFill/>
          <a:ln w="9525">
            <a:noFill/>
            <a:miter lim="800000"/>
            <a:headEnd/>
            <a:tailEnd/>
          </a:ln>
        </p:spPr>
        <p:txBody>
          <a:bodyPr wrap="square">
            <a:spAutoFit/>
          </a:bodyPr>
          <a:lstStyle/>
          <a:p>
            <a:r>
              <a:rPr lang="en-US" altLang="en-US" b="1" dirty="0" smtClean="0">
                <a:solidFill>
                  <a:srgbClr val="000000"/>
                </a:solidFill>
                <a:latin typeface="Times New Roman" pitchFamily="18" charset="0"/>
              </a:rPr>
              <a:t>Format </a:t>
            </a:r>
            <a:r>
              <a:rPr lang="en-US" altLang="en-US" b="1" dirty="0">
                <a:solidFill>
                  <a:srgbClr val="000000"/>
                </a:solidFill>
                <a:latin typeface="Times New Roman" pitchFamily="18" charset="0"/>
              </a:rPr>
              <a:t>of an </a:t>
            </a:r>
            <a:r>
              <a:rPr lang="en-US" altLang="en-US" b="1" dirty="0" err="1">
                <a:solidFill>
                  <a:srgbClr val="000000"/>
                </a:solidFill>
                <a:latin typeface="Times New Roman" pitchFamily="18" charset="0"/>
              </a:rPr>
              <a:t>IPv6</a:t>
            </a:r>
            <a:r>
              <a:rPr lang="en-US" altLang="en-US" b="1" dirty="0">
                <a:solidFill>
                  <a:srgbClr val="000000"/>
                </a:solidFill>
                <a:latin typeface="Times New Roman" pitchFamily="18" charset="0"/>
              </a:rPr>
              <a:t> datagram</a:t>
            </a:r>
          </a:p>
        </p:txBody>
      </p:sp>
      <p:sp>
        <p:nvSpPr>
          <p:cNvPr id="7168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168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168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168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168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168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168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1690" name="Picture 10"/>
          <p:cNvPicPr>
            <a:picLocks noChangeAspect="1" noChangeArrowheads="1"/>
          </p:cNvPicPr>
          <p:nvPr/>
        </p:nvPicPr>
        <p:blipFill>
          <a:blip r:embed="rId2" cstate="print"/>
          <a:srcRect/>
          <a:stretch>
            <a:fillRect/>
          </a:stretch>
        </p:blipFill>
        <p:spPr bwMode="auto">
          <a:xfrm>
            <a:off x="238125" y="1828800"/>
            <a:ext cx="8667750" cy="4083050"/>
          </a:xfrm>
          <a:prstGeom prst="rect">
            <a:avLst/>
          </a:prstGeom>
          <a:noFill/>
          <a:ln w="9525">
            <a:noFill/>
            <a:miter lim="800000"/>
            <a:headEnd/>
            <a:tailEnd/>
          </a:ln>
        </p:spPr>
      </p:pic>
      <p:sp>
        <p:nvSpPr>
          <p:cNvPr id="11" name="TextBox 10"/>
          <p:cNvSpPr txBox="1"/>
          <p:nvPr/>
        </p:nvSpPr>
        <p:spPr>
          <a:xfrm>
            <a:off x="1981200" y="1295400"/>
            <a:ext cx="1622187" cy="369332"/>
          </a:xfrm>
          <a:prstGeom prst="rect">
            <a:avLst/>
          </a:prstGeom>
          <a:noFill/>
        </p:spPr>
        <p:txBody>
          <a:bodyPr wrap="square" rtlCol="0">
            <a:spAutoFit/>
          </a:bodyPr>
          <a:lstStyle/>
          <a:p>
            <a:r>
              <a:rPr lang="en-US" dirty="0" smtClean="0"/>
              <a:t>Traffic Class</a:t>
            </a:r>
            <a:endParaRPr lang="en-US" dirty="0"/>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43</a:t>
            </a:fld>
            <a:endParaRPr lang="en-US"/>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b="1" smtClean="0">
                <a:solidFill>
                  <a:srgbClr val="000000"/>
                </a:solidFill>
                <a:effectLst/>
              </a:rPr>
              <a:t>Fragmentation in IPv6:</a:t>
            </a:r>
            <a:endParaRPr lang="en-US" smtClean="0">
              <a:solidFill>
                <a:srgbClr val="000000"/>
              </a:solidFill>
              <a:effectLst/>
            </a:endParaRPr>
          </a:p>
        </p:txBody>
      </p:sp>
      <p:sp>
        <p:nvSpPr>
          <p:cNvPr id="72707" name="Rectangle 3"/>
          <p:cNvSpPr>
            <a:spLocks noGrp="1" noChangeArrowheads="1"/>
          </p:cNvSpPr>
          <p:nvPr>
            <p:ph idx="1"/>
          </p:nvPr>
        </p:nvSpPr>
        <p:spPr>
          <a:xfrm>
            <a:off x="457200" y="1295400"/>
            <a:ext cx="8458200" cy="4876800"/>
          </a:xfrm>
        </p:spPr>
        <p:txBody>
          <a:bodyPr/>
          <a:lstStyle/>
          <a:p>
            <a:pPr eaLnBrk="1" hangingPunct="1">
              <a:lnSpc>
                <a:spcPct val="80000"/>
              </a:lnSpc>
            </a:pPr>
            <a:r>
              <a:rPr lang="en-US" sz="2800" b="1" dirty="0" smtClean="0">
                <a:solidFill>
                  <a:srgbClr val="000000"/>
                </a:solidFill>
                <a:effectLst/>
                <a:latin typeface="Times New Roman" pitchFamily="18" charset="0"/>
              </a:rPr>
              <a:t>The policy is same as that of </a:t>
            </a:r>
            <a:r>
              <a:rPr lang="en-US" sz="2800" b="1" dirty="0" err="1" smtClean="0">
                <a:solidFill>
                  <a:srgbClr val="000000"/>
                </a:solidFill>
                <a:effectLst/>
                <a:latin typeface="Times New Roman" pitchFamily="18" charset="0"/>
              </a:rPr>
              <a:t>IPV4</a:t>
            </a:r>
            <a:r>
              <a:rPr lang="en-US" sz="2800" b="1" dirty="0" smtClean="0">
                <a:solidFill>
                  <a:srgbClr val="000000"/>
                </a:solidFill>
                <a:effectLst/>
                <a:latin typeface="Times New Roman" pitchFamily="18" charset="0"/>
              </a:rPr>
              <a:t>.</a:t>
            </a:r>
          </a:p>
          <a:p>
            <a:pPr eaLnBrk="1" hangingPunct="1">
              <a:lnSpc>
                <a:spcPct val="80000"/>
              </a:lnSpc>
            </a:pPr>
            <a:endParaRPr lang="en-US" sz="1000" b="1" dirty="0" smtClean="0">
              <a:solidFill>
                <a:srgbClr val="000000"/>
              </a:solidFill>
              <a:effectLst/>
              <a:latin typeface="Times New Roman" pitchFamily="18" charset="0"/>
            </a:endParaRPr>
          </a:p>
          <a:p>
            <a:pPr eaLnBrk="1" hangingPunct="1">
              <a:lnSpc>
                <a:spcPct val="80000"/>
              </a:lnSpc>
            </a:pPr>
            <a:r>
              <a:rPr lang="en-US" sz="2800" b="1" dirty="0" smtClean="0">
                <a:solidFill>
                  <a:srgbClr val="000000"/>
                </a:solidFill>
                <a:effectLst/>
                <a:latin typeface="Times New Roman" pitchFamily="18" charset="0"/>
              </a:rPr>
              <a:t>In </a:t>
            </a:r>
            <a:r>
              <a:rPr lang="en-US" sz="2800" b="1" dirty="0" err="1" smtClean="0">
                <a:solidFill>
                  <a:srgbClr val="000000"/>
                </a:solidFill>
                <a:effectLst/>
                <a:latin typeface="Times New Roman" pitchFamily="18" charset="0"/>
              </a:rPr>
              <a:t>IPV4</a:t>
            </a:r>
            <a:r>
              <a:rPr lang="en-US" sz="2800" b="1" dirty="0" smtClean="0">
                <a:solidFill>
                  <a:srgbClr val="000000"/>
                </a:solidFill>
                <a:effectLst/>
                <a:latin typeface="Times New Roman" pitchFamily="18" charset="0"/>
              </a:rPr>
              <a:t>, a source or router is responsible to fragment the datagram if necessary.</a:t>
            </a:r>
          </a:p>
          <a:p>
            <a:pPr eaLnBrk="1" hangingPunct="1">
              <a:lnSpc>
                <a:spcPct val="80000"/>
              </a:lnSpc>
            </a:pPr>
            <a:endParaRPr lang="en-US" sz="1000" b="1" dirty="0" smtClean="0">
              <a:solidFill>
                <a:srgbClr val="000000"/>
              </a:solidFill>
              <a:effectLst/>
              <a:latin typeface="Times New Roman" pitchFamily="18" charset="0"/>
            </a:endParaRPr>
          </a:p>
          <a:p>
            <a:pPr eaLnBrk="1" hangingPunct="1">
              <a:lnSpc>
                <a:spcPct val="80000"/>
              </a:lnSpc>
            </a:pPr>
            <a:r>
              <a:rPr lang="en-US" sz="2800" b="1" dirty="0" smtClean="0">
                <a:solidFill>
                  <a:srgbClr val="000000"/>
                </a:solidFill>
                <a:effectLst/>
                <a:latin typeface="Times New Roman" pitchFamily="18" charset="0"/>
              </a:rPr>
              <a:t>In </a:t>
            </a:r>
            <a:r>
              <a:rPr lang="en-US" sz="2800" b="1" dirty="0" err="1" smtClean="0">
                <a:solidFill>
                  <a:srgbClr val="000000"/>
                </a:solidFill>
                <a:effectLst/>
                <a:latin typeface="Times New Roman" pitchFamily="18" charset="0"/>
              </a:rPr>
              <a:t>IPV6</a:t>
            </a:r>
            <a:r>
              <a:rPr lang="en-US" sz="2800" b="1" dirty="0" smtClean="0">
                <a:solidFill>
                  <a:srgbClr val="000000"/>
                </a:solidFill>
                <a:effectLst/>
                <a:latin typeface="Times New Roman" pitchFamily="18" charset="0"/>
              </a:rPr>
              <a:t>, </a:t>
            </a:r>
            <a:r>
              <a:rPr lang="en-US" sz="2800" b="1" u="sng" dirty="0" smtClean="0">
                <a:solidFill>
                  <a:srgbClr val="000000"/>
                </a:solidFill>
                <a:effectLst/>
                <a:latin typeface="Times New Roman" pitchFamily="18" charset="0"/>
              </a:rPr>
              <a:t>only the source </a:t>
            </a:r>
            <a:r>
              <a:rPr lang="en-US" sz="2800" b="1" dirty="0" smtClean="0">
                <a:solidFill>
                  <a:srgbClr val="000000"/>
                </a:solidFill>
                <a:effectLst/>
                <a:latin typeface="Times New Roman" pitchFamily="18" charset="0"/>
              </a:rPr>
              <a:t>is responsible to fragment the datagram.</a:t>
            </a:r>
          </a:p>
          <a:p>
            <a:pPr eaLnBrk="1" hangingPunct="1">
              <a:lnSpc>
                <a:spcPct val="80000"/>
              </a:lnSpc>
            </a:pPr>
            <a:endParaRPr lang="en-US" sz="1200" b="1" dirty="0" smtClean="0">
              <a:solidFill>
                <a:srgbClr val="000000"/>
              </a:solidFill>
              <a:effectLst/>
              <a:latin typeface="Times New Roman" pitchFamily="18" charset="0"/>
            </a:endParaRPr>
          </a:p>
          <a:p>
            <a:pPr eaLnBrk="1" hangingPunct="1">
              <a:lnSpc>
                <a:spcPct val="80000"/>
              </a:lnSpc>
            </a:pPr>
            <a:r>
              <a:rPr lang="en-US" sz="2800" b="1" dirty="0" smtClean="0">
                <a:solidFill>
                  <a:srgbClr val="000000"/>
                </a:solidFill>
                <a:effectLst/>
                <a:latin typeface="Times New Roman" pitchFamily="18" charset="0"/>
              </a:rPr>
              <a:t>A source uses a path </a:t>
            </a:r>
            <a:r>
              <a:rPr lang="en-US" sz="2800" b="1" dirty="0" err="1" smtClean="0">
                <a:solidFill>
                  <a:srgbClr val="000000"/>
                </a:solidFill>
                <a:effectLst/>
                <a:latin typeface="Times New Roman" pitchFamily="18" charset="0"/>
              </a:rPr>
              <a:t>MTU</a:t>
            </a:r>
            <a:r>
              <a:rPr lang="en-US" sz="2800" b="1" dirty="0" smtClean="0">
                <a:solidFill>
                  <a:srgbClr val="000000"/>
                </a:solidFill>
                <a:effectLst/>
                <a:latin typeface="Times New Roman" pitchFamily="18" charset="0"/>
              </a:rPr>
              <a:t> discovery technique to find the smallest </a:t>
            </a:r>
            <a:r>
              <a:rPr lang="en-US" sz="2800" b="1" dirty="0" err="1" smtClean="0">
                <a:solidFill>
                  <a:srgbClr val="000000"/>
                </a:solidFill>
                <a:effectLst/>
                <a:latin typeface="Times New Roman" pitchFamily="18" charset="0"/>
              </a:rPr>
              <a:t>MTU</a:t>
            </a:r>
            <a:r>
              <a:rPr lang="en-US" sz="2800" b="1" dirty="0" smtClean="0">
                <a:solidFill>
                  <a:srgbClr val="000000"/>
                </a:solidFill>
                <a:effectLst/>
                <a:latin typeface="Times New Roman" pitchFamily="18" charset="0"/>
              </a:rPr>
              <a:t> supported by any network on the path.</a:t>
            </a:r>
          </a:p>
          <a:p>
            <a:pPr eaLnBrk="1" hangingPunct="1">
              <a:lnSpc>
                <a:spcPct val="80000"/>
              </a:lnSpc>
            </a:pPr>
            <a:endParaRPr lang="en-US" sz="1200" b="1" dirty="0" smtClean="0">
              <a:solidFill>
                <a:srgbClr val="000000"/>
              </a:solidFill>
              <a:effectLst/>
              <a:latin typeface="Times New Roman" pitchFamily="18" charset="0"/>
            </a:endParaRPr>
          </a:p>
          <a:p>
            <a:pPr eaLnBrk="1" hangingPunct="1">
              <a:lnSpc>
                <a:spcPct val="80000"/>
              </a:lnSpc>
            </a:pPr>
            <a:r>
              <a:rPr lang="en-US" sz="2800" b="1" dirty="0" smtClean="0">
                <a:solidFill>
                  <a:srgbClr val="000000"/>
                </a:solidFill>
                <a:effectLst/>
                <a:latin typeface="Times New Roman" pitchFamily="18" charset="0"/>
              </a:rPr>
              <a:t>If path </a:t>
            </a:r>
            <a:r>
              <a:rPr lang="en-US" sz="2800" b="1" dirty="0" err="1" smtClean="0">
                <a:solidFill>
                  <a:srgbClr val="000000"/>
                </a:solidFill>
                <a:effectLst/>
                <a:latin typeface="Times New Roman" pitchFamily="18" charset="0"/>
              </a:rPr>
              <a:t>MTU</a:t>
            </a:r>
            <a:r>
              <a:rPr lang="en-US" sz="2800" b="1" dirty="0" smtClean="0">
                <a:solidFill>
                  <a:srgbClr val="000000"/>
                </a:solidFill>
                <a:effectLst/>
                <a:latin typeface="Times New Roman" pitchFamily="18" charset="0"/>
              </a:rPr>
              <a:t> discovery technique is not used, the source must fragment the datagram to a size of </a:t>
            </a:r>
            <a:r>
              <a:rPr lang="en-US" sz="2800" b="1" u="sng" dirty="0" smtClean="0">
                <a:solidFill>
                  <a:srgbClr val="000000"/>
                </a:solidFill>
                <a:effectLst/>
                <a:latin typeface="Times New Roman" pitchFamily="18" charset="0"/>
              </a:rPr>
              <a:t>576 bytes or smaller.</a:t>
            </a:r>
          </a:p>
        </p:txBody>
      </p:sp>
      <p:sp>
        <p:nvSpPr>
          <p:cNvPr id="4" name="Slide Number Placeholder 3"/>
          <p:cNvSpPr>
            <a:spLocks noGrp="1"/>
          </p:cNvSpPr>
          <p:nvPr>
            <p:ph type="sldNum" sz="quarter" idx="12"/>
          </p:nvPr>
        </p:nvSpPr>
        <p:spPr/>
        <p:txBody>
          <a:bodyPr/>
          <a:lstStyle/>
          <a:p>
            <a:pPr>
              <a:defRPr/>
            </a:pPr>
            <a:fld id="{4B84B30C-80AB-47F0-AE89-913EA939A980}" type="slidenum">
              <a:rPr lang="en-US" smtClean="0"/>
              <a:pPr>
                <a:defRPr/>
              </a:pPr>
              <a:t>44</a:t>
            </a:fld>
            <a:endParaRPr lang="en-US"/>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990600" y="90488"/>
            <a:ext cx="81534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Comparison </a:t>
            </a:r>
            <a:r>
              <a:rPr lang="en-US" altLang="en-US" b="1" dirty="0">
                <a:solidFill>
                  <a:srgbClr val="000000"/>
                </a:solidFill>
                <a:latin typeface="Times New Roman" pitchFamily="18" charset="0"/>
              </a:rPr>
              <a:t>of network layers in version 4 and version 6</a:t>
            </a:r>
          </a:p>
        </p:txBody>
      </p:sp>
      <p:sp>
        <p:nvSpPr>
          <p:cNvPr id="7373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37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373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37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37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373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37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3738" name="Picture 10"/>
          <p:cNvPicPr>
            <a:picLocks noChangeAspect="1" noChangeArrowheads="1"/>
          </p:cNvPicPr>
          <p:nvPr/>
        </p:nvPicPr>
        <p:blipFill>
          <a:blip r:embed="rId2" cstate="print"/>
          <a:srcRect/>
          <a:stretch>
            <a:fillRect/>
          </a:stretch>
        </p:blipFill>
        <p:spPr bwMode="auto">
          <a:xfrm>
            <a:off x="474663" y="2908300"/>
            <a:ext cx="8364537" cy="1511300"/>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45</a:t>
            </a:fld>
            <a:endParaRPr lang="en-US"/>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990600" y="90488"/>
            <a:ext cx="73152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Three </a:t>
            </a:r>
            <a:r>
              <a:rPr lang="en-US" altLang="en-US" b="1" dirty="0">
                <a:solidFill>
                  <a:srgbClr val="000000"/>
                </a:solidFill>
                <a:latin typeface="Times New Roman" pitchFamily="18" charset="0"/>
              </a:rPr>
              <a:t>transition strategies from </a:t>
            </a:r>
            <a:r>
              <a:rPr lang="en-US" altLang="en-US" b="1" dirty="0" err="1">
                <a:solidFill>
                  <a:srgbClr val="000000"/>
                </a:solidFill>
                <a:latin typeface="Times New Roman" pitchFamily="18" charset="0"/>
              </a:rPr>
              <a:t>IPv4</a:t>
            </a:r>
            <a:r>
              <a:rPr lang="en-US" altLang="en-US" b="1" dirty="0">
                <a:solidFill>
                  <a:srgbClr val="000000"/>
                </a:solidFill>
                <a:latin typeface="Times New Roman" pitchFamily="18" charset="0"/>
              </a:rPr>
              <a:t> to </a:t>
            </a:r>
            <a:r>
              <a:rPr lang="en-US" altLang="en-US" b="1" dirty="0" err="1">
                <a:solidFill>
                  <a:srgbClr val="000000"/>
                </a:solidFill>
                <a:latin typeface="Times New Roman" pitchFamily="18" charset="0"/>
              </a:rPr>
              <a:t>IPv6</a:t>
            </a:r>
            <a:endParaRPr lang="en-US" altLang="en-US" b="1" dirty="0">
              <a:solidFill>
                <a:srgbClr val="000000"/>
              </a:solidFill>
              <a:latin typeface="Times New Roman" pitchFamily="18" charset="0"/>
            </a:endParaRPr>
          </a:p>
        </p:txBody>
      </p:sp>
      <p:sp>
        <p:nvSpPr>
          <p:cNvPr id="7475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475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475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475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475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476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476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4762" name="Picture 10"/>
          <p:cNvPicPr>
            <a:picLocks noChangeAspect="1" noChangeArrowheads="1"/>
          </p:cNvPicPr>
          <p:nvPr/>
        </p:nvPicPr>
        <p:blipFill>
          <a:blip r:embed="rId2" cstate="print"/>
          <a:srcRect/>
          <a:stretch>
            <a:fillRect/>
          </a:stretch>
        </p:blipFill>
        <p:spPr bwMode="auto">
          <a:xfrm>
            <a:off x="1349375" y="2325688"/>
            <a:ext cx="6443663" cy="2201862"/>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pPr>
              <a:defRPr/>
            </a:pPr>
            <a:fld id="{8D51F359-4732-4AB7-8DD8-2F1DC4B37DD7}" type="slidenum">
              <a:rPr lang="en-US" smtClean="0"/>
              <a:pPr>
                <a:defRPr/>
              </a:pPr>
              <a:t>46</a:t>
            </a:fld>
            <a:endParaRPr lang="en-US"/>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Three </a:t>
            </a:r>
            <a:r>
              <a:rPr lang="en-US" altLang="en-US" b="1" dirty="0">
                <a:solidFill>
                  <a:srgbClr val="000000"/>
                </a:solidFill>
                <a:latin typeface="Times New Roman" pitchFamily="18" charset="0"/>
              </a:rPr>
              <a:t>transition strategies</a:t>
            </a:r>
          </a:p>
        </p:txBody>
      </p:sp>
      <p:sp>
        <p:nvSpPr>
          <p:cNvPr id="7577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578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578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578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578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578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578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5786" name="Picture 10"/>
          <p:cNvPicPr>
            <a:picLocks noChangeAspect="1" noChangeArrowheads="1"/>
          </p:cNvPicPr>
          <p:nvPr/>
        </p:nvPicPr>
        <p:blipFill>
          <a:blip r:embed="rId2" cstate="print"/>
          <a:srcRect/>
          <a:stretch>
            <a:fillRect/>
          </a:stretch>
        </p:blipFill>
        <p:spPr bwMode="auto">
          <a:xfrm>
            <a:off x="1600200" y="2743200"/>
            <a:ext cx="3484563" cy="3733800"/>
          </a:xfrm>
          <a:prstGeom prst="rect">
            <a:avLst/>
          </a:prstGeom>
          <a:noFill/>
          <a:ln w="9525">
            <a:noFill/>
            <a:miter lim="800000"/>
            <a:headEnd/>
            <a:tailEnd/>
          </a:ln>
        </p:spPr>
      </p:pic>
      <p:sp>
        <p:nvSpPr>
          <p:cNvPr id="75787" name="Rectangle 11"/>
          <p:cNvSpPr>
            <a:spLocks noChangeArrowheads="1"/>
          </p:cNvSpPr>
          <p:nvPr/>
        </p:nvSpPr>
        <p:spPr bwMode="auto">
          <a:xfrm>
            <a:off x="457200" y="869950"/>
            <a:ext cx="8197850" cy="1739900"/>
          </a:xfrm>
          <a:prstGeom prst="rect">
            <a:avLst/>
          </a:prstGeom>
          <a:noFill/>
          <a:ln w="9525">
            <a:noFill/>
            <a:miter lim="800000"/>
            <a:headEnd/>
            <a:tailEnd/>
          </a:ln>
        </p:spPr>
        <p:txBody>
          <a:bodyPr wrap="none" anchor="ctr">
            <a:spAutoFit/>
          </a:bodyPr>
          <a:lstStyle/>
          <a:p>
            <a:pPr>
              <a:tabLst>
                <a:tab pos="457200" algn="l"/>
                <a:tab pos="1038225" algn="l"/>
              </a:tabLst>
            </a:pPr>
            <a:r>
              <a:rPr lang="en-US" b="1">
                <a:solidFill>
                  <a:srgbClr val="000000"/>
                </a:solidFill>
                <a:latin typeface="Times New Roman" pitchFamily="18" charset="0"/>
              </a:rPr>
              <a:t>Dual stack:</a:t>
            </a:r>
          </a:p>
          <a:p>
            <a:pPr>
              <a:tabLst>
                <a:tab pos="457200" algn="l"/>
                <a:tab pos="1038225" algn="l"/>
              </a:tabLst>
            </a:pPr>
            <a:r>
              <a:rPr lang="en-US" b="1">
                <a:solidFill>
                  <a:srgbClr val="000000"/>
                </a:solidFill>
                <a:latin typeface="Times New Roman" pitchFamily="18" charset="0"/>
              </a:rPr>
              <a:t>A station should run IPV4 and IPV6 simultaneously until all the systems in the </a:t>
            </a:r>
          </a:p>
          <a:p>
            <a:pPr>
              <a:tabLst>
                <a:tab pos="457200" algn="l"/>
                <a:tab pos="1038225" algn="l"/>
              </a:tabLst>
            </a:pPr>
            <a:r>
              <a:rPr lang="en-US" b="1">
                <a:solidFill>
                  <a:srgbClr val="000000"/>
                </a:solidFill>
                <a:latin typeface="Times New Roman" pitchFamily="18" charset="0"/>
              </a:rPr>
              <a:t>internet use IPV6.</a:t>
            </a:r>
          </a:p>
          <a:p>
            <a:pPr>
              <a:tabLst>
                <a:tab pos="457200" algn="l"/>
                <a:tab pos="1038225" algn="l"/>
              </a:tabLst>
            </a:pPr>
            <a:r>
              <a:rPr lang="en-US" b="1">
                <a:solidFill>
                  <a:srgbClr val="000000"/>
                </a:solidFill>
                <a:latin typeface="Times New Roman" pitchFamily="18" charset="0"/>
              </a:rPr>
              <a:t>When it is necessary to send a packet to a destination, the source host queries </a:t>
            </a:r>
          </a:p>
          <a:p>
            <a:pPr>
              <a:tabLst>
                <a:tab pos="457200" algn="l"/>
                <a:tab pos="1038225" algn="l"/>
              </a:tabLst>
            </a:pPr>
            <a:r>
              <a:rPr lang="en-US" b="1">
                <a:solidFill>
                  <a:srgbClr val="000000"/>
                </a:solidFill>
                <a:latin typeface="Times New Roman" pitchFamily="18" charset="0"/>
              </a:rPr>
              <a:t>the DNS (Domain name system). If the DNS returns and IPV4 address, the source </a:t>
            </a:r>
          </a:p>
          <a:p>
            <a:pPr>
              <a:tabLst>
                <a:tab pos="457200" algn="l"/>
                <a:tab pos="1038225" algn="l"/>
              </a:tabLst>
            </a:pPr>
            <a:r>
              <a:rPr lang="en-US" b="1">
                <a:solidFill>
                  <a:srgbClr val="000000"/>
                </a:solidFill>
                <a:latin typeface="Times New Roman" pitchFamily="18" charset="0"/>
              </a:rPr>
              <a:t>sends an IPV4 packet, else if IPV6 address then it sends IPV6 packet.</a:t>
            </a: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47</a:t>
            </a:fld>
            <a:endParaRPr lang="en-US"/>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Tunneling</a:t>
            </a:r>
            <a:endParaRPr lang="en-US" altLang="en-US" b="1" dirty="0">
              <a:solidFill>
                <a:srgbClr val="000000"/>
              </a:solidFill>
              <a:latin typeface="Times New Roman" pitchFamily="18" charset="0"/>
            </a:endParaRPr>
          </a:p>
        </p:txBody>
      </p:sp>
      <p:sp>
        <p:nvSpPr>
          <p:cNvPr id="7680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680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680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680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680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680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680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6810" name="Picture 10"/>
          <p:cNvPicPr>
            <a:picLocks noChangeAspect="1" noChangeArrowheads="1"/>
          </p:cNvPicPr>
          <p:nvPr/>
        </p:nvPicPr>
        <p:blipFill>
          <a:blip r:embed="rId2" cstate="print"/>
          <a:srcRect/>
          <a:stretch>
            <a:fillRect/>
          </a:stretch>
        </p:blipFill>
        <p:spPr bwMode="auto">
          <a:xfrm>
            <a:off x="1447800" y="4191000"/>
            <a:ext cx="6289675" cy="2111375"/>
          </a:xfrm>
          <a:prstGeom prst="rect">
            <a:avLst/>
          </a:prstGeom>
          <a:noFill/>
          <a:ln w="9525">
            <a:noFill/>
            <a:miter lim="800000"/>
            <a:headEnd/>
            <a:tailEnd/>
          </a:ln>
        </p:spPr>
      </p:pic>
      <p:sp>
        <p:nvSpPr>
          <p:cNvPr id="76811" name="Rectangle 11"/>
          <p:cNvSpPr>
            <a:spLocks noChangeArrowheads="1"/>
          </p:cNvSpPr>
          <p:nvPr/>
        </p:nvSpPr>
        <p:spPr bwMode="auto">
          <a:xfrm>
            <a:off x="381000" y="1003300"/>
            <a:ext cx="8413750" cy="1739900"/>
          </a:xfrm>
          <a:prstGeom prst="rect">
            <a:avLst/>
          </a:prstGeom>
          <a:noFill/>
          <a:ln w="9525">
            <a:noFill/>
            <a:miter lim="800000"/>
            <a:headEnd/>
            <a:tailEnd/>
          </a:ln>
        </p:spPr>
        <p:txBody>
          <a:bodyPr wrap="none" anchor="ctr">
            <a:spAutoFit/>
          </a:bodyPr>
          <a:lstStyle/>
          <a:p>
            <a:pPr>
              <a:buFont typeface="Wingdings" pitchFamily="2" charset="2"/>
              <a:buChar char="v"/>
              <a:tabLst>
                <a:tab pos="457200" algn="l"/>
                <a:tab pos="619125" algn="l"/>
              </a:tabLst>
            </a:pPr>
            <a:r>
              <a:rPr lang="en-US" b="1">
                <a:solidFill>
                  <a:srgbClr val="000000"/>
                </a:solidFill>
                <a:latin typeface="Times New Roman" pitchFamily="18" charset="0"/>
              </a:rPr>
              <a:t>When two IPV6 host computers want to communicate with each other, and must </a:t>
            </a:r>
          </a:p>
          <a:p>
            <a:pPr>
              <a:buFont typeface="Wingdings" pitchFamily="2" charset="2"/>
              <a:buNone/>
              <a:tabLst>
                <a:tab pos="457200" algn="l"/>
                <a:tab pos="619125" algn="l"/>
              </a:tabLst>
            </a:pPr>
            <a:r>
              <a:rPr lang="en-US" b="1">
                <a:solidFill>
                  <a:srgbClr val="000000"/>
                </a:solidFill>
                <a:latin typeface="Times New Roman" pitchFamily="18" charset="0"/>
              </a:rPr>
              <a:t>    pass through a network that uses IPV4 protocol, it is used.</a:t>
            </a:r>
          </a:p>
          <a:p>
            <a:pPr>
              <a:buFont typeface="Wingdings" pitchFamily="2" charset="2"/>
              <a:buChar char="v"/>
              <a:tabLst>
                <a:tab pos="457200" algn="l"/>
                <a:tab pos="619125" algn="l"/>
              </a:tabLst>
            </a:pPr>
            <a:r>
              <a:rPr lang="en-US" b="1">
                <a:solidFill>
                  <a:srgbClr val="000000"/>
                </a:solidFill>
                <a:latin typeface="Times New Roman" pitchFamily="18" charset="0"/>
              </a:rPr>
              <a:t>To pass through the IPV4 protocol region, the packet must have an IPV4 address. </a:t>
            </a:r>
          </a:p>
          <a:p>
            <a:pPr>
              <a:buFont typeface="Wingdings" pitchFamily="2" charset="2"/>
              <a:buChar char="v"/>
              <a:tabLst>
                <a:tab pos="457200" algn="l"/>
                <a:tab pos="619125" algn="l"/>
              </a:tabLst>
            </a:pPr>
            <a:r>
              <a:rPr lang="en-US" b="1">
                <a:solidFill>
                  <a:srgbClr val="000000"/>
                </a:solidFill>
                <a:latin typeface="Times New Roman" pitchFamily="18" charset="0"/>
              </a:rPr>
              <a:t>So IPV6 packet must be encapsulated into IPV4 packet, when the packet enters </a:t>
            </a:r>
          </a:p>
          <a:p>
            <a:pPr>
              <a:buFont typeface="Wingdings" pitchFamily="2" charset="2"/>
              <a:buNone/>
              <a:tabLst>
                <a:tab pos="457200" algn="l"/>
                <a:tab pos="619125" algn="l"/>
              </a:tabLst>
            </a:pPr>
            <a:r>
              <a:rPr lang="en-US" b="1">
                <a:solidFill>
                  <a:srgbClr val="000000"/>
                </a:solidFill>
                <a:latin typeface="Times New Roman" pitchFamily="18" charset="0"/>
              </a:rPr>
              <a:t>    into the region and the protocol value is set to 41, and leaves IPV4 header when </a:t>
            </a:r>
          </a:p>
          <a:p>
            <a:pPr>
              <a:buFont typeface="Wingdings" pitchFamily="2" charset="2"/>
              <a:buNone/>
              <a:tabLst>
                <a:tab pos="457200" algn="l"/>
                <a:tab pos="619125" algn="l"/>
              </a:tabLst>
            </a:pPr>
            <a:r>
              <a:rPr lang="en-US" b="1">
                <a:solidFill>
                  <a:srgbClr val="000000"/>
                </a:solidFill>
                <a:latin typeface="Times New Roman" pitchFamily="18" charset="0"/>
              </a:rPr>
              <a:t>    it exits the region.</a:t>
            </a: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48</a:t>
            </a:fld>
            <a:endParaRPr lang="en-US"/>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990600" y="90488"/>
            <a:ext cx="5715000" cy="366712"/>
          </a:xfrm>
          <a:prstGeom prst="rect">
            <a:avLst/>
          </a:prstGeom>
          <a:noFill/>
          <a:ln w="9525">
            <a:noFill/>
            <a:miter lim="800000"/>
            <a:headEnd/>
            <a:tailEnd/>
          </a:ln>
        </p:spPr>
        <p:txBody>
          <a:bodyPr>
            <a:spAutoFit/>
          </a:bodyPr>
          <a:lstStyle/>
          <a:p>
            <a:r>
              <a:rPr lang="en-US" altLang="en-US" b="1" dirty="0" smtClean="0">
                <a:solidFill>
                  <a:srgbClr val="000000"/>
                </a:solidFill>
                <a:latin typeface="Times New Roman" pitchFamily="18" charset="0"/>
              </a:rPr>
              <a:t>Header </a:t>
            </a:r>
            <a:r>
              <a:rPr lang="en-US" altLang="en-US" b="1" dirty="0">
                <a:solidFill>
                  <a:srgbClr val="000000"/>
                </a:solidFill>
                <a:latin typeface="Times New Roman" pitchFamily="18" charset="0"/>
              </a:rPr>
              <a:t>translation</a:t>
            </a:r>
          </a:p>
        </p:txBody>
      </p:sp>
      <p:sp>
        <p:nvSpPr>
          <p:cNvPr id="7782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eaLnBrk="1" hangingPunct="1"/>
            <a:endParaRPr kumimoji="1" lang="en-US" sz="2400"/>
          </a:p>
        </p:txBody>
      </p:sp>
      <p:sp>
        <p:nvSpPr>
          <p:cNvPr id="7782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782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eaLnBrk="1" hangingPunct="1"/>
            <a:endParaRPr kumimoji="1" lang="en-US" sz="2400"/>
          </a:p>
        </p:txBody>
      </p:sp>
      <p:sp>
        <p:nvSpPr>
          <p:cNvPr id="7783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eaLnBrk="1" hangingPunct="1"/>
            <a:endParaRPr kumimoji="1" lang="en-US" sz="2400"/>
          </a:p>
        </p:txBody>
      </p:sp>
      <p:sp>
        <p:nvSpPr>
          <p:cNvPr id="7783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eaLnBrk="1" hangingPunct="1"/>
            <a:endParaRPr kumimoji="1" lang="en-US" sz="2400"/>
          </a:p>
        </p:txBody>
      </p:sp>
      <p:sp>
        <p:nvSpPr>
          <p:cNvPr id="7783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eaLnBrk="1" hangingPunct="1"/>
            <a:endParaRPr kumimoji="1" lang="en-US" sz="2400"/>
          </a:p>
        </p:txBody>
      </p:sp>
      <p:sp>
        <p:nvSpPr>
          <p:cNvPr id="7783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eaLnBrk="1" hangingPunct="1"/>
            <a:endParaRPr kumimoji="1" lang="en-US" sz="2400"/>
          </a:p>
        </p:txBody>
      </p:sp>
      <p:pic>
        <p:nvPicPr>
          <p:cNvPr id="77834" name="Picture 10"/>
          <p:cNvPicPr>
            <a:picLocks noChangeAspect="1" noChangeArrowheads="1"/>
          </p:cNvPicPr>
          <p:nvPr/>
        </p:nvPicPr>
        <p:blipFill>
          <a:blip r:embed="rId2" cstate="print"/>
          <a:srcRect/>
          <a:stretch>
            <a:fillRect/>
          </a:stretch>
        </p:blipFill>
        <p:spPr bwMode="auto">
          <a:xfrm>
            <a:off x="609600" y="2971800"/>
            <a:ext cx="7331075" cy="2439988"/>
          </a:xfrm>
          <a:prstGeom prst="rect">
            <a:avLst/>
          </a:prstGeom>
          <a:noFill/>
          <a:ln w="9525">
            <a:noFill/>
            <a:miter lim="800000"/>
            <a:headEnd/>
            <a:tailEnd/>
          </a:ln>
        </p:spPr>
      </p:pic>
      <p:sp>
        <p:nvSpPr>
          <p:cNvPr id="77835" name="Rectangle 11"/>
          <p:cNvSpPr>
            <a:spLocks noChangeArrowheads="1"/>
          </p:cNvSpPr>
          <p:nvPr/>
        </p:nvSpPr>
        <p:spPr bwMode="auto">
          <a:xfrm>
            <a:off x="457200" y="1143000"/>
            <a:ext cx="8191500" cy="1465263"/>
          </a:xfrm>
          <a:prstGeom prst="rect">
            <a:avLst/>
          </a:prstGeom>
          <a:noFill/>
          <a:ln w="9525">
            <a:noFill/>
            <a:miter lim="800000"/>
            <a:headEnd/>
            <a:tailEnd/>
          </a:ln>
        </p:spPr>
        <p:txBody>
          <a:bodyPr wrap="none" anchor="ctr">
            <a:spAutoFit/>
          </a:bodyPr>
          <a:lstStyle/>
          <a:p>
            <a:pPr>
              <a:tabLst>
                <a:tab pos="457200" algn="l"/>
                <a:tab pos="619125" algn="l"/>
              </a:tabLst>
            </a:pPr>
            <a:r>
              <a:rPr lang="en-US" b="1">
                <a:solidFill>
                  <a:srgbClr val="000000"/>
                </a:solidFill>
                <a:latin typeface="Times New Roman" pitchFamily="18" charset="0"/>
              </a:rPr>
              <a:t>It is necessary when majority of the internet has moved to IPV6, but some systems</a:t>
            </a:r>
          </a:p>
          <a:p>
            <a:pPr>
              <a:tabLst>
                <a:tab pos="457200" algn="l"/>
                <a:tab pos="619125" algn="l"/>
              </a:tabLst>
            </a:pPr>
            <a:r>
              <a:rPr lang="en-US" b="1">
                <a:solidFill>
                  <a:srgbClr val="000000"/>
                </a:solidFill>
                <a:latin typeface="Times New Roman" pitchFamily="18" charset="0"/>
              </a:rPr>
              <a:t> still use IPV4.</a:t>
            </a:r>
          </a:p>
          <a:p>
            <a:pPr>
              <a:tabLst>
                <a:tab pos="457200" algn="l"/>
                <a:tab pos="619125" algn="l"/>
              </a:tabLst>
            </a:pPr>
            <a:r>
              <a:rPr lang="en-US" b="1">
                <a:solidFill>
                  <a:srgbClr val="000000"/>
                </a:solidFill>
                <a:latin typeface="Times New Roman" pitchFamily="18" charset="0"/>
              </a:rPr>
              <a:t>Here source may want to use IPV6, but the receiver does not understand IPV6. </a:t>
            </a:r>
          </a:p>
          <a:p>
            <a:pPr>
              <a:tabLst>
                <a:tab pos="457200" algn="l"/>
                <a:tab pos="619125" algn="l"/>
              </a:tabLst>
            </a:pPr>
            <a:r>
              <a:rPr lang="en-US" b="1">
                <a:solidFill>
                  <a:srgbClr val="000000"/>
                </a:solidFill>
                <a:latin typeface="Times New Roman" pitchFamily="18" charset="0"/>
              </a:rPr>
              <a:t>Tunneling is not a solution here.</a:t>
            </a:r>
          </a:p>
          <a:p>
            <a:pPr>
              <a:tabLst>
                <a:tab pos="457200" algn="l"/>
                <a:tab pos="619125" algn="l"/>
              </a:tabLst>
            </a:pPr>
            <a:r>
              <a:rPr lang="en-US" b="1">
                <a:solidFill>
                  <a:srgbClr val="000000"/>
                </a:solidFill>
                <a:latin typeface="Times New Roman" pitchFamily="18" charset="0"/>
              </a:rPr>
              <a:t>Here header format must be changed totally through header translation</a:t>
            </a:r>
            <a:r>
              <a:rPr lang="en-US" b="1">
                <a:latin typeface="Times New Roman" pitchFamily="18" charset="0"/>
              </a:rPr>
              <a:t>.</a:t>
            </a:r>
          </a:p>
        </p:txBody>
      </p:sp>
      <p:sp>
        <p:nvSpPr>
          <p:cNvPr id="12" name="Slide Number Placeholder 11"/>
          <p:cNvSpPr>
            <a:spLocks noGrp="1"/>
          </p:cNvSpPr>
          <p:nvPr>
            <p:ph type="sldNum" sz="quarter" idx="12"/>
          </p:nvPr>
        </p:nvSpPr>
        <p:spPr/>
        <p:txBody>
          <a:bodyPr/>
          <a:lstStyle/>
          <a:p>
            <a:pPr>
              <a:defRPr/>
            </a:pPr>
            <a:fld id="{8D51F359-4732-4AB7-8DD8-2F1DC4B37DD7}" type="slidenum">
              <a:rPr lang="en-US" smtClean="0"/>
              <a:pPr>
                <a:defRPr/>
              </a:pPr>
              <a:t>49</a:t>
            </a:fld>
            <a:endParaRPr 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 name="Slide Number Placeholder 2"/>
          <p:cNvSpPr>
            <a:spLocks noGrp="1"/>
          </p:cNvSpPr>
          <p:nvPr>
            <p:ph type="sldNum" sz="quarter" idx="12"/>
          </p:nvPr>
        </p:nvSpPr>
        <p:spPr/>
        <p:txBody>
          <a:bodyPr/>
          <a:lstStyle/>
          <a:p>
            <a:fld id="{120543E7-25A5-4C45-972A-B8C42E80EF40}" type="slidenum">
              <a:rPr lang="en-US"/>
              <a:pPr/>
              <a:t>50</a:t>
            </a:fld>
            <a:endParaRPr lang="en-US"/>
          </a:p>
        </p:txBody>
      </p:sp>
      <p:sp>
        <p:nvSpPr>
          <p:cNvPr id="562179" name="Text Box 3"/>
          <p:cNvSpPr txBox="1">
            <a:spLocks noChangeArrowheads="1"/>
          </p:cNvSpPr>
          <p:nvPr/>
        </p:nvSpPr>
        <p:spPr bwMode="auto">
          <a:xfrm>
            <a:off x="533400" y="2438400"/>
            <a:ext cx="3108543" cy="646331"/>
          </a:xfrm>
          <a:prstGeom prst="rect">
            <a:avLst/>
          </a:prstGeom>
          <a:solidFill>
            <a:schemeClr val="folHlink"/>
          </a:solidFill>
          <a:ln w="9525">
            <a:solidFill>
              <a:schemeClr val="folHlink"/>
            </a:solidFill>
            <a:miter lim="800000"/>
            <a:headEnd/>
            <a:tailEnd/>
          </a:ln>
          <a:effectLst/>
        </p:spPr>
        <p:txBody>
          <a:bodyPr wrap="none">
            <a:spAutoFit/>
          </a:bodyPr>
          <a:lstStyle/>
          <a:p>
            <a:r>
              <a:rPr lang="en-US" sz="3600" dirty="0" smtClean="0">
                <a:solidFill>
                  <a:schemeClr val="bg1"/>
                </a:solidFill>
                <a:latin typeface="Times" pitchFamily="18" charset="0"/>
              </a:rPr>
              <a:t>ADDRESSING</a:t>
            </a:r>
            <a:endParaRPr lang="en-US" sz="3600" dirty="0">
              <a:solidFill>
                <a:schemeClr val="bg1"/>
              </a:solidFill>
              <a:latin typeface="Times" pitchFamily="18" charset="0"/>
            </a:endParaRPr>
          </a:p>
        </p:txBody>
      </p:sp>
      <p:sp>
        <p:nvSpPr>
          <p:cNvPr id="56218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a:latin typeface="Times New Roman" pitchFamily="18" charset="0"/>
            </a:endParaRPr>
          </a:p>
        </p:txBody>
      </p:sp>
      <p:sp>
        <p:nvSpPr>
          <p:cNvPr id="562181" name="Rectangle 5"/>
          <p:cNvSpPr>
            <a:spLocks noChangeArrowheads="1"/>
          </p:cNvSpPr>
          <p:nvPr/>
        </p:nvSpPr>
        <p:spPr bwMode="auto">
          <a:xfrm>
            <a:off x="457200" y="3429000"/>
            <a:ext cx="8534400" cy="1800225"/>
          </a:xfrm>
          <a:prstGeom prst="rect">
            <a:avLst/>
          </a:prstGeom>
          <a:noFill/>
          <a:ln w="9525">
            <a:noFill/>
            <a:miter lim="800000"/>
            <a:headEnd/>
            <a:tailEnd/>
          </a:ln>
          <a:effectLst/>
        </p:spPr>
        <p:txBody>
          <a:bodyPr>
            <a:spAutoFit/>
          </a:bodyPr>
          <a:lstStyle/>
          <a:p>
            <a:pPr algn="just"/>
            <a:r>
              <a:rPr lang="en-US" sz="2800">
                <a:latin typeface="Arial Unicode MS" pitchFamily="34" charset="-128"/>
              </a:rPr>
              <a:t>The main problem that must be solved in providing mobile communication using the IP protocol is addressing.</a:t>
            </a:r>
          </a:p>
          <a:p>
            <a:pPr algn="just"/>
            <a:r>
              <a:rPr lang="en-US" sz="2800">
                <a:latin typeface="Arial Unicode MS" pitchFamily="34" charset="-128"/>
              </a:rPr>
              <a:t>      </a:t>
            </a:r>
          </a:p>
        </p:txBody>
      </p:sp>
      <p:sp>
        <p:nvSpPr>
          <p:cNvPr id="8" name="TextBox 7"/>
          <p:cNvSpPr txBox="1"/>
          <p:nvPr/>
        </p:nvSpPr>
        <p:spPr>
          <a:xfrm>
            <a:off x="2895600" y="838200"/>
            <a:ext cx="3124573" cy="830997"/>
          </a:xfrm>
          <a:prstGeom prst="rect">
            <a:avLst/>
          </a:prstGeom>
          <a:noFill/>
        </p:spPr>
        <p:txBody>
          <a:bodyPr wrap="none" rtlCol="0">
            <a:spAutoFit/>
          </a:bodyPr>
          <a:lstStyle/>
          <a:p>
            <a:r>
              <a:rPr lang="en-US" sz="4800" b="1" dirty="0" smtClean="0"/>
              <a:t>Mobile IP</a:t>
            </a:r>
            <a:endParaRPr lang="en-US" sz="4800"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A37E4B43-2E1A-4D1F-A9B5-89855B9EFE6F}" type="slidenum">
              <a:rPr lang="en-US"/>
              <a:pPr/>
              <a:t>51</a:t>
            </a:fld>
            <a:endParaRPr lang="en-US"/>
          </a:p>
        </p:txBody>
      </p:sp>
      <p:sp>
        <p:nvSpPr>
          <p:cNvPr id="56832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6832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832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6832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832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6832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6832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8329" name="Line 9"/>
          <p:cNvSpPr>
            <a:spLocks noChangeShapeType="1"/>
          </p:cNvSpPr>
          <p:nvPr/>
        </p:nvSpPr>
        <p:spPr bwMode="auto">
          <a:xfrm>
            <a:off x="609600" y="2624138"/>
            <a:ext cx="8153400" cy="0"/>
          </a:xfrm>
          <a:prstGeom prst="line">
            <a:avLst/>
          </a:prstGeom>
          <a:noFill/>
          <a:ln w="76200">
            <a:solidFill>
              <a:schemeClr val="folHlink"/>
            </a:solidFill>
            <a:round/>
            <a:headEnd/>
            <a:tailEnd/>
          </a:ln>
          <a:effectLst/>
        </p:spPr>
        <p:txBody>
          <a:bodyPr/>
          <a:lstStyle/>
          <a:p>
            <a:endParaRPr lang="en-US"/>
          </a:p>
        </p:txBody>
      </p:sp>
      <p:sp>
        <p:nvSpPr>
          <p:cNvPr id="568330" name="Line 10"/>
          <p:cNvSpPr>
            <a:spLocks noChangeShapeType="1"/>
          </p:cNvSpPr>
          <p:nvPr/>
        </p:nvSpPr>
        <p:spPr bwMode="auto">
          <a:xfrm>
            <a:off x="609600" y="4876800"/>
            <a:ext cx="8153400" cy="0"/>
          </a:xfrm>
          <a:prstGeom prst="line">
            <a:avLst/>
          </a:prstGeom>
          <a:noFill/>
          <a:ln w="76200">
            <a:solidFill>
              <a:schemeClr val="folHlink"/>
            </a:solidFill>
            <a:round/>
            <a:headEnd/>
            <a:tailEnd/>
          </a:ln>
          <a:effectLst/>
        </p:spPr>
        <p:txBody>
          <a:bodyPr/>
          <a:lstStyle/>
          <a:p>
            <a:endParaRPr lang="en-US"/>
          </a:p>
        </p:txBody>
      </p:sp>
      <p:sp>
        <p:nvSpPr>
          <p:cNvPr id="568331" name="Rectangle 11"/>
          <p:cNvSpPr>
            <a:spLocks noChangeArrowheads="1"/>
          </p:cNvSpPr>
          <p:nvPr/>
        </p:nvSpPr>
        <p:spPr bwMode="auto">
          <a:xfrm>
            <a:off x="647700" y="2716213"/>
            <a:ext cx="8077200" cy="2041525"/>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The IP addresses are designed to work with stationary hosts because part </a:t>
            </a:r>
            <a:br>
              <a:rPr lang="en-US" sz="3200" i="1">
                <a:solidFill>
                  <a:schemeClr val="bg1"/>
                </a:solidFill>
                <a:latin typeface="Arial" pitchFamily="34" charset="0"/>
              </a:rPr>
            </a:br>
            <a:r>
              <a:rPr lang="en-US" sz="3200" i="1">
                <a:solidFill>
                  <a:schemeClr val="bg1"/>
                </a:solidFill>
                <a:latin typeface="Arial" pitchFamily="34" charset="0"/>
              </a:rPr>
              <a:t>of the address defines the network to which the host is attached.</a:t>
            </a:r>
          </a:p>
        </p:txBody>
      </p:sp>
      <p:grpSp>
        <p:nvGrpSpPr>
          <p:cNvPr id="2" name="Group 12"/>
          <p:cNvGrpSpPr>
            <a:grpSpLocks/>
          </p:cNvGrpSpPr>
          <p:nvPr/>
        </p:nvGrpSpPr>
        <p:grpSpPr bwMode="auto">
          <a:xfrm>
            <a:off x="609600" y="1981200"/>
            <a:ext cx="1143000" cy="566738"/>
            <a:chOff x="1200" y="1248"/>
            <a:chExt cx="720" cy="357"/>
          </a:xfrm>
        </p:grpSpPr>
        <p:pic>
          <p:nvPicPr>
            <p:cNvPr id="568333"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68334"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lide Number Placeholder 2"/>
          <p:cNvSpPr>
            <a:spLocks noGrp="1"/>
          </p:cNvSpPr>
          <p:nvPr>
            <p:ph type="sldNum" sz="quarter" idx="12"/>
          </p:nvPr>
        </p:nvSpPr>
        <p:spPr/>
        <p:txBody>
          <a:bodyPr/>
          <a:lstStyle/>
          <a:p>
            <a:fld id="{68A9602D-83B8-4A24-A71E-FB631EF7F7AD}" type="slidenum">
              <a:rPr lang="en-US"/>
              <a:pPr/>
              <a:t>52</a:t>
            </a:fld>
            <a:endParaRPr lang="en-US"/>
          </a:p>
        </p:txBody>
      </p:sp>
      <p:sp>
        <p:nvSpPr>
          <p:cNvPr id="566274"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Home </a:t>
            </a:r>
            <a:r>
              <a:rPr lang="en-US" altLang="en-US" i="1" dirty="0">
                <a:latin typeface="Times New Roman" pitchFamily="18" charset="0"/>
              </a:rPr>
              <a:t>address and care-of address</a:t>
            </a:r>
          </a:p>
        </p:txBody>
      </p:sp>
      <p:sp>
        <p:nvSpPr>
          <p:cNvPr id="56627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6627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627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6627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627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6628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6628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66282" name="Picture 10"/>
          <p:cNvPicPr>
            <a:picLocks noChangeAspect="1" noChangeArrowheads="1"/>
          </p:cNvPicPr>
          <p:nvPr/>
        </p:nvPicPr>
        <p:blipFill>
          <a:blip r:embed="rId3" cstate="print"/>
          <a:srcRect/>
          <a:stretch>
            <a:fillRect/>
          </a:stretch>
        </p:blipFill>
        <p:spPr bwMode="auto">
          <a:xfrm>
            <a:off x="334963" y="2032000"/>
            <a:ext cx="8428037" cy="30114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8154AD0C-9BDA-428A-BB86-9B8F08369A6B}" type="slidenum">
              <a:rPr lang="en-US"/>
              <a:pPr/>
              <a:t>53</a:t>
            </a:fld>
            <a:endParaRPr lang="en-US"/>
          </a:p>
        </p:txBody>
      </p:sp>
      <p:sp>
        <p:nvSpPr>
          <p:cNvPr id="57241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7241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242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7242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242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7242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7242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2425" name="Line 9"/>
          <p:cNvSpPr>
            <a:spLocks noChangeShapeType="1"/>
          </p:cNvSpPr>
          <p:nvPr/>
        </p:nvSpPr>
        <p:spPr bwMode="auto">
          <a:xfrm>
            <a:off x="609600" y="1633538"/>
            <a:ext cx="8153400" cy="0"/>
          </a:xfrm>
          <a:prstGeom prst="line">
            <a:avLst/>
          </a:prstGeom>
          <a:noFill/>
          <a:ln w="76200">
            <a:solidFill>
              <a:schemeClr val="folHlink"/>
            </a:solidFill>
            <a:round/>
            <a:headEnd/>
            <a:tailEnd/>
          </a:ln>
          <a:effectLst/>
        </p:spPr>
        <p:txBody>
          <a:bodyPr/>
          <a:lstStyle/>
          <a:p>
            <a:endParaRPr lang="en-US"/>
          </a:p>
        </p:txBody>
      </p:sp>
      <p:sp>
        <p:nvSpPr>
          <p:cNvPr id="572426" name="Line 10"/>
          <p:cNvSpPr>
            <a:spLocks noChangeShapeType="1"/>
          </p:cNvSpPr>
          <p:nvPr/>
        </p:nvSpPr>
        <p:spPr bwMode="auto">
          <a:xfrm>
            <a:off x="609600" y="3886200"/>
            <a:ext cx="8153400" cy="0"/>
          </a:xfrm>
          <a:prstGeom prst="line">
            <a:avLst/>
          </a:prstGeom>
          <a:noFill/>
          <a:ln w="76200">
            <a:solidFill>
              <a:schemeClr val="folHlink"/>
            </a:solidFill>
            <a:round/>
            <a:headEnd/>
            <a:tailEnd/>
          </a:ln>
          <a:effectLst/>
        </p:spPr>
        <p:txBody>
          <a:bodyPr/>
          <a:lstStyle/>
          <a:p>
            <a:endParaRPr lang="en-US"/>
          </a:p>
        </p:txBody>
      </p:sp>
      <p:sp>
        <p:nvSpPr>
          <p:cNvPr id="572427" name="Rectangle 11"/>
          <p:cNvSpPr>
            <a:spLocks noChangeArrowheads="1"/>
          </p:cNvSpPr>
          <p:nvPr/>
        </p:nvSpPr>
        <p:spPr bwMode="auto">
          <a:xfrm>
            <a:off x="647700" y="1725613"/>
            <a:ext cx="8077200" cy="3990975"/>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Mobile IP has two addresses for a mobile host: one home address and </a:t>
            </a:r>
            <a:br>
              <a:rPr lang="en-US" sz="3200" i="1">
                <a:solidFill>
                  <a:schemeClr val="bg1"/>
                </a:solidFill>
                <a:latin typeface="Arial" pitchFamily="34" charset="0"/>
              </a:rPr>
            </a:br>
            <a:r>
              <a:rPr lang="en-US" sz="3200" i="1">
                <a:solidFill>
                  <a:schemeClr val="bg1"/>
                </a:solidFill>
                <a:latin typeface="Arial" pitchFamily="34" charset="0"/>
              </a:rPr>
              <a:t>one care-of address. </a:t>
            </a:r>
            <a:br>
              <a:rPr lang="en-US" sz="3200" i="1">
                <a:solidFill>
                  <a:schemeClr val="bg1"/>
                </a:solidFill>
                <a:latin typeface="Arial" pitchFamily="34" charset="0"/>
              </a:rPr>
            </a:br>
            <a:r>
              <a:rPr lang="en-US" sz="3200" i="1">
                <a:solidFill>
                  <a:schemeClr val="bg1"/>
                </a:solidFill>
                <a:latin typeface="Arial" pitchFamily="34" charset="0"/>
              </a:rPr>
              <a:t/>
            </a:r>
            <a:br>
              <a:rPr lang="en-US" sz="3200" i="1">
                <a:solidFill>
                  <a:schemeClr val="bg1"/>
                </a:solidFill>
                <a:latin typeface="Arial" pitchFamily="34" charset="0"/>
              </a:rPr>
            </a:br>
            <a:r>
              <a:rPr lang="en-US" sz="3200" i="1">
                <a:solidFill>
                  <a:schemeClr val="bg1"/>
                </a:solidFill>
                <a:latin typeface="Arial" pitchFamily="34" charset="0"/>
              </a:rPr>
              <a:t>The home address is permanent; </a:t>
            </a:r>
            <a:br>
              <a:rPr lang="en-US" sz="3200" i="1">
                <a:solidFill>
                  <a:schemeClr val="bg1"/>
                </a:solidFill>
                <a:latin typeface="Arial" pitchFamily="34" charset="0"/>
              </a:rPr>
            </a:br>
            <a:r>
              <a:rPr lang="en-US" sz="3200" i="1">
                <a:solidFill>
                  <a:schemeClr val="bg1"/>
                </a:solidFill>
                <a:latin typeface="Arial" pitchFamily="34" charset="0"/>
              </a:rPr>
              <a:t>the care-of address changes as the</a:t>
            </a:r>
          </a:p>
          <a:p>
            <a:pPr algn="ctr"/>
            <a:r>
              <a:rPr lang="en-US" sz="3200" i="1">
                <a:solidFill>
                  <a:schemeClr val="bg1"/>
                </a:solidFill>
                <a:latin typeface="Arial" pitchFamily="34" charset="0"/>
              </a:rPr>
              <a:t>mobile host moves from one </a:t>
            </a:r>
            <a:br>
              <a:rPr lang="en-US" sz="3200" i="1">
                <a:solidFill>
                  <a:schemeClr val="bg1"/>
                </a:solidFill>
                <a:latin typeface="Arial" pitchFamily="34" charset="0"/>
              </a:rPr>
            </a:br>
            <a:r>
              <a:rPr lang="en-US" sz="3200" i="1">
                <a:solidFill>
                  <a:schemeClr val="bg1"/>
                </a:solidFill>
                <a:latin typeface="Arial" pitchFamily="34" charset="0"/>
              </a:rPr>
              <a:t>network to another.</a:t>
            </a:r>
          </a:p>
        </p:txBody>
      </p:sp>
      <p:grpSp>
        <p:nvGrpSpPr>
          <p:cNvPr id="2" name="Group 12"/>
          <p:cNvGrpSpPr>
            <a:grpSpLocks/>
          </p:cNvGrpSpPr>
          <p:nvPr/>
        </p:nvGrpSpPr>
        <p:grpSpPr bwMode="auto">
          <a:xfrm>
            <a:off x="609600" y="990600"/>
            <a:ext cx="1143000" cy="566738"/>
            <a:chOff x="1200" y="1248"/>
            <a:chExt cx="720" cy="357"/>
          </a:xfrm>
        </p:grpSpPr>
        <p:pic>
          <p:nvPicPr>
            <p:cNvPr id="572429"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72430"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 name="Slide Number Placeholder 2"/>
          <p:cNvSpPr>
            <a:spLocks noGrp="1"/>
          </p:cNvSpPr>
          <p:nvPr>
            <p:ph type="sldNum" sz="quarter" idx="12"/>
          </p:nvPr>
        </p:nvSpPr>
        <p:spPr/>
        <p:txBody>
          <a:bodyPr/>
          <a:lstStyle/>
          <a:p>
            <a:fld id="{CFE454B2-DC1A-46B2-B860-9C5BBF7A1409}" type="slidenum">
              <a:rPr lang="en-US"/>
              <a:pPr/>
              <a:t>54</a:t>
            </a:fld>
            <a:endParaRPr lang="en-US"/>
          </a:p>
        </p:txBody>
      </p:sp>
      <p:sp>
        <p:nvSpPr>
          <p:cNvPr id="57446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sz="3200">
              <a:effectLst>
                <a:outerShdw blurRad="38100" dist="38100" dir="2700000" algn="tl">
                  <a:srgbClr val="FFFFFF"/>
                </a:outerShdw>
              </a:effectLst>
              <a:latin typeface="Times New Roman" pitchFamily="18" charset="0"/>
            </a:endParaRPr>
          </a:p>
        </p:txBody>
      </p:sp>
      <p:sp>
        <p:nvSpPr>
          <p:cNvPr id="574467" name="Text Box 3"/>
          <p:cNvSpPr txBox="1">
            <a:spLocks noChangeArrowheads="1"/>
          </p:cNvSpPr>
          <p:nvPr/>
        </p:nvSpPr>
        <p:spPr bwMode="auto">
          <a:xfrm>
            <a:off x="228600" y="355600"/>
            <a:ext cx="2005677" cy="646331"/>
          </a:xfrm>
          <a:prstGeom prst="rect">
            <a:avLst/>
          </a:prstGeom>
          <a:solidFill>
            <a:schemeClr val="folHlink"/>
          </a:solidFill>
          <a:ln w="9525">
            <a:solidFill>
              <a:schemeClr val="folHlink"/>
            </a:solidFill>
            <a:miter lim="800000"/>
            <a:headEnd/>
            <a:tailEnd/>
          </a:ln>
          <a:effectLst/>
        </p:spPr>
        <p:txBody>
          <a:bodyPr wrap="none">
            <a:spAutoFit/>
          </a:bodyPr>
          <a:lstStyle/>
          <a:p>
            <a:r>
              <a:rPr lang="en-US" sz="3600" dirty="0" smtClean="0">
                <a:solidFill>
                  <a:schemeClr val="bg1"/>
                </a:solidFill>
                <a:latin typeface="Times" pitchFamily="18" charset="0"/>
              </a:rPr>
              <a:t>AGENTS</a:t>
            </a:r>
            <a:endParaRPr lang="en-US" sz="3600" dirty="0">
              <a:solidFill>
                <a:schemeClr val="bg1"/>
              </a:solidFill>
              <a:latin typeface="Times" pitchFamily="18" charset="0"/>
            </a:endParaRPr>
          </a:p>
        </p:txBody>
      </p:sp>
      <p:sp>
        <p:nvSpPr>
          <p:cNvPr id="574468"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a:latin typeface="Times New Roman" pitchFamily="18" charset="0"/>
            </a:endParaRPr>
          </a:p>
        </p:txBody>
      </p:sp>
      <p:sp>
        <p:nvSpPr>
          <p:cNvPr id="574469" name="Rectangle 5"/>
          <p:cNvSpPr>
            <a:spLocks noChangeArrowheads="1"/>
          </p:cNvSpPr>
          <p:nvPr/>
        </p:nvSpPr>
        <p:spPr bwMode="auto">
          <a:xfrm>
            <a:off x="381000" y="1524000"/>
            <a:ext cx="8534400" cy="1373188"/>
          </a:xfrm>
          <a:prstGeom prst="rect">
            <a:avLst/>
          </a:prstGeom>
          <a:noFill/>
          <a:ln w="9525">
            <a:noFill/>
            <a:miter lim="800000"/>
            <a:headEnd/>
            <a:tailEnd/>
          </a:ln>
          <a:effectLst/>
        </p:spPr>
        <p:txBody>
          <a:bodyPr>
            <a:spAutoFit/>
          </a:bodyPr>
          <a:lstStyle/>
          <a:p>
            <a:pPr algn="just"/>
            <a:r>
              <a:rPr lang="en-US" sz="2800">
                <a:latin typeface="Arial Unicode MS" pitchFamily="34" charset="-128"/>
              </a:rPr>
              <a:t>To make the change of address transparent to the rest of the Internet requires a home agent and a foreign agent.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lide Number Placeholder 2"/>
          <p:cNvSpPr>
            <a:spLocks noGrp="1"/>
          </p:cNvSpPr>
          <p:nvPr>
            <p:ph type="sldNum" sz="quarter" idx="12"/>
          </p:nvPr>
        </p:nvSpPr>
        <p:spPr/>
        <p:txBody>
          <a:bodyPr/>
          <a:lstStyle/>
          <a:p>
            <a:fld id="{3C23DA41-D389-4A24-85C6-F851595CF6E4}" type="slidenum">
              <a:rPr lang="en-US"/>
              <a:pPr/>
              <a:t>55</a:t>
            </a:fld>
            <a:endParaRPr lang="en-US"/>
          </a:p>
        </p:txBody>
      </p:sp>
      <p:sp>
        <p:nvSpPr>
          <p:cNvPr id="523266"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Home </a:t>
            </a:r>
            <a:r>
              <a:rPr lang="en-US" altLang="en-US" i="1" dirty="0">
                <a:latin typeface="Times New Roman" pitchFamily="18" charset="0"/>
              </a:rPr>
              <a:t>agent and foreign agent</a:t>
            </a:r>
          </a:p>
        </p:txBody>
      </p:sp>
      <p:sp>
        <p:nvSpPr>
          <p:cNvPr id="52326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2326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326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2327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327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2327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2327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23274" name="Picture 10"/>
          <p:cNvPicPr>
            <a:picLocks noChangeAspect="1" noChangeArrowheads="1"/>
          </p:cNvPicPr>
          <p:nvPr/>
        </p:nvPicPr>
        <p:blipFill>
          <a:blip r:embed="rId3" cstate="print"/>
          <a:srcRect/>
          <a:stretch>
            <a:fillRect/>
          </a:stretch>
        </p:blipFill>
        <p:spPr bwMode="auto">
          <a:xfrm>
            <a:off x="725488" y="2092325"/>
            <a:ext cx="7732712" cy="2251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DB212AE5-BA59-47C7-8745-7F44FF288974}" type="slidenum">
              <a:rPr lang="en-US"/>
              <a:pPr/>
              <a:t>56</a:t>
            </a:fld>
            <a:endParaRPr lang="en-US"/>
          </a:p>
        </p:txBody>
      </p:sp>
      <p:sp>
        <p:nvSpPr>
          <p:cNvPr id="57856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7856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856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7856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856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7856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7856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78569" name="Line 9"/>
          <p:cNvSpPr>
            <a:spLocks noChangeShapeType="1"/>
          </p:cNvSpPr>
          <p:nvPr/>
        </p:nvSpPr>
        <p:spPr bwMode="auto">
          <a:xfrm>
            <a:off x="609600" y="2286000"/>
            <a:ext cx="8153400" cy="0"/>
          </a:xfrm>
          <a:prstGeom prst="line">
            <a:avLst/>
          </a:prstGeom>
          <a:noFill/>
          <a:ln w="76200">
            <a:solidFill>
              <a:schemeClr val="folHlink"/>
            </a:solidFill>
            <a:round/>
            <a:headEnd/>
            <a:tailEnd/>
          </a:ln>
          <a:effectLst/>
        </p:spPr>
        <p:txBody>
          <a:bodyPr/>
          <a:lstStyle/>
          <a:p>
            <a:endParaRPr lang="en-US"/>
          </a:p>
        </p:txBody>
      </p:sp>
      <p:sp>
        <p:nvSpPr>
          <p:cNvPr id="578570" name="Line 10"/>
          <p:cNvSpPr>
            <a:spLocks noChangeShapeType="1"/>
          </p:cNvSpPr>
          <p:nvPr/>
        </p:nvSpPr>
        <p:spPr bwMode="auto">
          <a:xfrm>
            <a:off x="609600" y="4495800"/>
            <a:ext cx="8153400" cy="0"/>
          </a:xfrm>
          <a:prstGeom prst="line">
            <a:avLst/>
          </a:prstGeom>
          <a:noFill/>
          <a:ln w="76200">
            <a:solidFill>
              <a:schemeClr val="folHlink"/>
            </a:solidFill>
            <a:round/>
            <a:headEnd/>
            <a:tailEnd/>
          </a:ln>
          <a:effectLst/>
        </p:spPr>
        <p:txBody>
          <a:bodyPr/>
          <a:lstStyle/>
          <a:p>
            <a:endParaRPr lang="en-US"/>
          </a:p>
        </p:txBody>
      </p:sp>
      <p:sp>
        <p:nvSpPr>
          <p:cNvPr id="578571" name="Rectangle 11"/>
          <p:cNvSpPr>
            <a:spLocks noChangeArrowheads="1"/>
          </p:cNvSpPr>
          <p:nvPr/>
        </p:nvSpPr>
        <p:spPr bwMode="auto">
          <a:xfrm>
            <a:off x="647700" y="2378075"/>
            <a:ext cx="8077200" cy="2041525"/>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When the mobile host and the foreign agent are the same, the care-of </a:t>
            </a:r>
            <a:br>
              <a:rPr lang="en-US" sz="3200" i="1">
                <a:solidFill>
                  <a:schemeClr val="bg1"/>
                </a:solidFill>
                <a:latin typeface="Arial" pitchFamily="34" charset="0"/>
              </a:rPr>
            </a:br>
            <a:r>
              <a:rPr lang="en-US" sz="3200" i="1">
                <a:solidFill>
                  <a:schemeClr val="bg1"/>
                </a:solidFill>
                <a:latin typeface="Arial" pitchFamily="34" charset="0"/>
              </a:rPr>
              <a:t>address is called a colocated </a:t>
            </a:r>
            <a:br>
              <a:rPr lang="en-US" sz="3200" i="1">
                <a:solidFill>
                  <a:schemeClr val="bg1"/>
                </a:solidFill>
                <a:latin typeface="Arial" pitchFamily="34" charset="0"/>
              </a:rPr>
            </a:br>
            <a:r>
              <a:rPr lang="en-US" sz="3200" i="1">
                <a:solidFill>
                  <a:schemeClr val="bg1"/>
                </a:solidFill>
                <a:latin typeface="Arial" pitchFamily="34" charset="0"/>
              </a:rPr>
              <a:t>care-of address.</a:t>
            </a:r>
          </a:p>
        </p:txBody>
      </p:sp>
      <p:grpSp>
        <p:nvGrpSpPr>
          <p:cNvPr id="2" name="Group 12"/>
          <p:cNvGrpSpPr>
            <a:grpSpLocks/>
          </p:cNvGrpSpPr>
          <p:nvPr/>
        </p:nvGrpSpPr>
        <p:grpSpPr bwMode="auto">
          <a:xfrm>
            <a:off x="609600" y="1643063"/>
            <a:ext cx="1143000" cy="566737"/>
            <a:chOff x="1200" y="1248"/>
            <a:chExt cx="720" cy="357"/>
          </a:xfrm>
        </p:grpSpPr>
        <p:pic>
          <p:nvPicPr>
            <p:cNvPr id="578573"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78574"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 name="Slide Number Placeholder 2"/>
          <p:cNvSpPr>
            <a:spLocks noGrp="1"/>
          </p:cNvSpPr>
          <p:nvPr>
            <p:ph type="sldNum" sz="quarter" idx="12"/>
          </p:nvPr>
        </p:nvSpPr>
        <p:spPr/>
        <p:txBody>
          <a:bodyPr/>
          <a:lstStyle/>
          <a:p>
            <a:fld id="{7E9EB862-C575-4F3D-8AAC-703F4192BF1E}" type="slidenum">
              <a:rPr lang="en-US"/>
              <a:pPr/>
              <a:t>57</a:t>
            </a:fld>
            <a:endParaRPr lang="en-US"/>
          </a:p>
        </p:txBody>
      </p:sp>
      <p:sp>
        <p:nvSpPr>
          <p:cNvPr id="58061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sz="3200">
              <a:effectLst>
                <a:outerShdw blurRad="38100" dist="38100" dir="2700000" algn="tl">
                  <a:srgbClr val="FFFFFF"/>
                </a:outerShdw>
              </a:effectLst>
              <a:latin typeface="Times New Roman" pitchFamily="18" charset="0"/>
            </a:endParaRPr>
          </a:p>
        </p:txBody>
      </p:sp>
      <p:sp>
        <p:nvSpPr>
          <p:cNvPr id="580611" name="Text Box 3"/>
          <p:cNvSpPr txBox="1">
            <a:spLocks noChangeArrowheads="1"/>
          </p:cNvSpPr>
          <p:nvPr/>
        </p:nvSpPr>
        <p:spPr bwMode="auto">
          <a:xfrm>
            <a:off x="228600" y="355600"/>
            <a:ext cx="3506088" cy="646331"/>
          </a:xfrm>
          <a:prstGeom prst="rect">
            <a:avLst/>
          </a:prstGeom>
          <a:solidFill>
            <a:schemeClr val="folHlink"/>
          </a:solidFill>
          <a:ln w="9525">
            <a:solidFill>
              <a:schemeClr val="folHlink"/>
            </a:solidFill>
            <a:miter lim="800000"/>
            <a:headEnd/>
            <a:tailEnd/>
          </a:ln>
          <a:effectLst/>
        </p:spPr>
        <p:txBody>
          <a:bodyPr wrap="none">
            <a:spAutoFit/>
          </a:bodyPr>
          <a:lstStyle/>
          <a:p>
            <a:r>
              <a:rPr lang="en-US" sz="3600" dirty="0" smtClean="0">
                <a:solidFill>
                  <a:schemeClr val="bg1"/>
                </a:solidFill>
                <a:latin typeface="Times" pitchFamily="18" charset="0"/>
              </a:rPr>
              <a:t>THREE </a:t>
            </a:r>
            <a:r>
              <a:rPr lang="en-US" sz="3600" dirty="0">
                <a:solidFill>
                  <a:schemeClr val="bg1"/>
                </a:solidFill>
                <a:latin typeface="Times" pitchFamily="18" charset="0"/>
              </a:rPr>
              <a:t>PHASES</a:t>
            </a:r>
          </a:p>
        </p:txBody>
      </p:sp>
      <p:sp>
        <p:nvSpPr>
          <p:cNvPr id="580612"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a:latin typeface="Times New Roman" pitchFamily="18" charset="0"/>
            </a:endParaRPr>
          </a:p>
        </p:txBody>
      </p:sp>
      <p:sp>
        <p:nvSpPr>
          <p:cNvPr id="580613" name="Rectangle 5"/>
          <p:cNvSpPr>
            <a:spLocks noChangeArrowheads="1"/>
          </p:cNvSpPr>
          <p:nvPr/>
        </p:nvSpPr>
        <p:spPr bwMode="auto">
          <a:xfrm>
            <a:off x="381000" y="1524000"/>
            <a:ext cx="8534400" cy="4362450"/>
          </a:xfrm>
          <a:prstGeom prst="rect">
            <a:avLst/>
          </a:prstGeom>
          <a:noFill/>
          <a:ln w="9525">
            <a:noFill/>
            <a:miter lim="800000"/>
            <a:headEnd/>
            <a:tailEnd/>
          </a:ln>
          <a:effectLst/>
        </p:spPr>
        <p:txBody>
          <a:bodyPr>
            <a:spAutoFit/>
          </a:bodyPr>
          <a:lstStyle/>
          <a:p>
            <a:pPr algn="just"/>
            <a:r>
              <a:rPr lang="en-US" sz="2800">
                <a:latin typeface="Arial Unicode MS" pitchFamily="34" charset="-128"/>
              </a:rPr>
              <a:t>To communicate with a remote host, a mobile host goes through three phases: agent discovery, registration, and data transfer.  </a:t>
            </a:r>
          </a:p>
          <a:p>
            <a:pPr algn="just"/>
            <a:r>
              <a:rPr lang="en-US" sz="2800">
                <a:latin typeface="Arial Unicode MS" pitchFamily="34" charset="-128"/>
              </a:rPr>
              <a:t>   The first phase, agent discovery, involves the mobile host, the foreign agent, and the home agent. The second phase, registration, also involves the mobile host and the two agents. Finally, in the third phase, the remote host is also involved. We discuss each phase separately.</a:t>
            </a:r>
          </a:p>
          <a:p>
            <a:pPr algn="just"/>
            <a:r>
              <a:rPr lang="en-US" sz="2800">
                <a:latin typeface="Arial Unicode MS" pitchFamily="34" charset="-128"/>
              </a:rPr>
              <a:t>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Slide Number Placeholder 2"/>
          <p:cNvSpPr>
            <a:spLocks noGrp="1"/>
          </p:cNvSpPr>
          <p:nvPr>
            <p:ph type="sldNum" sz="quarter" idx="12"/>
          </p:nvPr>
        </p:nvSpPr>
        <p:spPr/>
        <p:txBody>
          <a:bodyPr/>
          <a:lstStyle/>
          <a:p>
            <a:fld id="{F9568B2E-5B50-4C8F-A6B3-000D0B356923}" type="slidenum">
              <a:rPr lang="en-US"/>
              <a:pPr/>
              <a:t>58</a:t>
            </a:fld>
            <a:endParaRPr lang="en-US"/>
          </a:p>
        </p:txBody>
      </p:sp>
      <p:pic>
        <p:nvPicPr>
          <p:cNvPr id="525323" name="Picture 11"/>
          <p:cNvPicPr>
            <a:picLocks noChangeAspect="1" noChangeArrowheads="1"/>
          </p:cNvPicPr>
          <p:nvPr/>
        </p:nvPicPr>
        <p:blipFill>
          <a:blip r:embed="rId3" cstate="print"/>
          <a:srcRect/>
          <a:stretch>
            <a:fillRect/>
          </a:stretch>
        </p:blipFill>
        <p:spPr bwMode="auto">
          <a:xfrm>
            <a:off x="1219200" y="914400"/>
            <a:ext cx="6783388" cy="5472113"/>
          </a:xfrm>
          <a:prstGeom prst="rect">
            <a:avLst/>
          </a:prstGeom>
          <a:noFill/>
          <a:ln w="9525">
            <a:noFill/>
            <a:miter lim="800000"/>
            <a:headEnd/>
            <a:tailEnd/>
          </a:ln>
          <a:effectLst/>
        </p:spPr>
      </p:pic>
      <p:sp>
        <p:nvSpPr>
          <p:cNvPr id="525314"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Remote </a:t>
            </a:r>
            <a:r>
              <a:rPr lang="en-US" altLang="en-US" i="1" dirty="0">
                <a:latin typeface="Times New Roman" pitchFamily="18" charset="0"/>
              </a:rPr>
              <a:t>host and mobile host configuration</a:t>
            </a:r>
          </a:p>
        </p:txBody>
      </p:sp>
      <p:sp>
        <p:nvSpPr>
          <p:cNvPr id="52531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2531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531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25318" name="Rectangle 6"/>
          <p:cNvSpPr>
            <a:spLocks noChangeArrowheads="1"/>
          </p:cNvSpPr>
          <p:nvPr/>
        </p:nvSpPr>
        <p:spPr bwMode="ltGray">
          <a:xfrm>
            <a:off x="838200" y="533400"/>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531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2532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2532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25325" name="Picture 13"/>
          <p:cNvPicPr>
            <a:picLocks noChangeAspect="1" noChangeArrowheads="1"/>
          </p:cNvPicPr>
          <p:nvPr/>
        </p:nvPicPr>
        <p:blipFill>
          <a:blip r:embed="rId4" cstate="print"/>
          <a:srcRect/>
          <a:stretch>
            <a:fillRect/>
          </a:stretch>
        </p:blipFill>
        <p:spPr bwMode="auto">
          <a:xfrm>
            <a:off x="1741488" y="1800225"/>
            <a:ext cx="1458912" cy="409575"/>
          </a:xfrm>
          <a:prstGeom prst="rect">
            <a:avLst/>
          </a:prstGeom>
          <a:noFill/>
          <a:ln w="9525">
            <a:noFill/>
            <a:miter lim="800000"/>
            <a:headEnd/>
            <a:tailEnd/>
          </a:ln>
          <a:effectLst/>
        </p:spPr>
      </p:pic>
      <p:pic>
        <p:nvPicPr>
          <p:cNvPr id="525326" name="Picture 14"/>
          <p:cNvPicPr>
            <a:picLocks noChangeAspect="1" noChangeArrowheads="1"/>
          </p:cNvPicPr>
          <p:nvPr/>
        </p:nvPicPr>
        <p:blipFill>
          <a:blip r:embed="rId5" cstate="print"/>
          <a:srcRect/>
          <a:stretch>
            <a:fillRect/>
          </a:stretch>
        </p:blipFill>
        <p:spPr bwMode="auto">
          <a:xfrm>
            <a:off x="1758950" y="2286000"/>
            <a:ext cx="1441450" cy="454025"/>
          </a:xfrm>
          <a:prstGeom prst="rect">
            <a:avLst/>
          </a:prstGeom>
          <a:noFill/>
          <a:ln w="9525">
            <a:noFill/>
            <a:miter lim="800000"/>
            <a:headEnd/>
            <a:tailEnd/>
          </a:ln>
          <a:effectLst/>
        </p:spPr>
      </p:pic>
      <p:pic>
        <p:nvPicPr>
          <p:cNvPr id="525327" name="Picture 15"/>
          <p:cNvPicPr>
            <a:picLocks noChangeAspect="1" noChangeArrowheads="1"/>
          </p:cNvPicPr>
          <p:nvPr/>
        </p:nvPicPr>
        <p:blipFill>
          <a:blip r:embed="rId6" cstate="print"/>
          <a:srcRect/>
          <a:stretch>
            <a:fillRect/>
          </a:stretch>
        </p:blipFill>
        <p:spPr bwMode="auto">
          <a:xfrm>
            <a:off x="4800600" y="2667000"/>
            <a:ext cx="1441450" cy="409575"/>
          </a:xfrm>
          <a:prstGeom prst="rect">
            <a:avLst/>
          </a:prstGeom>
          <a:noFill/>
          <a:ln w="9525">
            <a:noFill/>
            <a:miter lim="800000"/>
            <a:headEnd/>
            <a:tailEnd/>
          </a:ln>
          <a:effectLst/>
        </p:spPr>
      </p:pic>
      <p:pic>
        <p:nvPicPr>
          <p:cNvPr id="525328" name="Picture 16"/>
          <p:cNvPicPr>
            <a:picLocks noChangeAspect="1" noChangeArrowheads="1"/>
          </p:cNvPicPr>
          <p:nvPr/>
        </p:nvPicPr>
        <p:blipFill>
          <a:blip r:embed="rId7" cstate="print"/>
          <a:srcRect/>
          <a:stretch>
            <a:fillRect/>
          </a:stretch>
        </p:blipFill>
        <p:spPr bwMode="auto">
          <a:xfrm>
            <a:off x="4776788" y="3124200"/>
            <a:ext cx="1471612" cy="392113"/>
          </a:xfrm>
          <a:prstGeom prst="rect">
            <a:avLst/>
          </a:prstGeom>
          <a:noFill/>
          <a:ln w="9525">
            <a:noFill/>
            <a:miter lim="800000"/>
            <a:headEnd/>
            <a:tailEnd/>
          </a:ln>
          <a:effectLst/>
        </p:spPr>
      </p:pic>
      <p:pic>
        <p:nvPicPr>
          <p:cNvPr id="525329" name="Picture 17"/>
          <p:cNvPicPr>
            <a:picLocks noChangeAspect="1" noChangeArrowheads="1"/>
          </p:cNvPicPr>
          <p:nvPr/>
        </p:nvPicPr>
        <p:blipFill>
          <a:blip r:embed="rId8" cstate="print"/>
          <a:srcRect/>
          <a:stretch>
            <a:fillRect/>
          </a:stretch>
        </p:blipFill>
        <p:spPr bwMode="auto">
          <a:xfrm>
            <a:off x="4789488" y="3733800"/>
            <a:ext cx="1458912" cy="414338"/>
          </a:xfrm>
          <a:prstGeom prst="rect">
            <a:avLst/>
          </a:prstGeom>
          <a:noFill/>
          <a:ln w="9525">
            <a:noFill/>
            <a:miter lim="800000"/>
            <a:headEnd/>
            <a:tailEnd/>
          </a:ln>
          <a:effectLst/>
        </p:spPr>
      </p:pic>
      <p:pic>
        <p:nvPicPr>
          <p:cNvPr id="525330" name="Picture 18"/>
          <p:cNvPicPr>
            <a:picLocks noChangeAspect="1" noChangeArrowheads="1"/>
          </p:cNvPicPr>
          <p:nvPr/>
        </p:nvPicPr>
        <p:blipFill>
          <a:blip r:embed="rId9" cstate="print"/>
          <a:srcRect/>
          <a:stretch>
            <a:fillRect/>
          </a:stretch>
        </p:blipFill>
        <p:spPr bwMode="auto">
          <a:xfrm>
            <a:off x="3276600" y="4191000"/>
            <a:ext cx="1458913" cy="404813"/>
          </a:xfrm>
          <a:prstGeom prst="rect">
            <a:avLst/>
          </a:prstGeom>
          <a:noFill/>
          <a:ln w="9525">
            <a:noFill/>
            <a:miter lim="800000"/>
            <a:headEnd/>
            <a:tailEnd/>
          </a:ln>
          <a:effectLst/>
        </p:spPr>
      </p:pic>
      <p:pic>
        <p:nvPicPr>
          <p:cNvPr id="525331" name="Picture 19"/>
          <p:cNvPicPr>
            <a:picLocks noChangeAspect="1" noChangeArrowheads="1"/>
          </p:cNvPicPr>
          <p:nvPr/>
        </p:nvPicPr>
        <p:blipFill>
          <a:blip r:embed="rId10" cstate="print"/>
          <a:srcRect/>
          <a:stretch>
            <a:fillRect/>
          </a:stretch>
        </p:blipFill>
        <p:spPr bwMode="auto">
          <a:xfrm>
            <a:off x="3276600" y="4648200"/>
            <a:ext cx="1447800" cy="404813"/>
          </a:xfrm>
          <a:prstGeom prst="rect">
            <a:avLst/>
          </a:prstGeom>
          <a:noFill/>
          <a:ln w="9525">
            <a:noFill/>
            <a:miter lim="800000"/>
            <a:headEnd/>
            <a:tailEnd/>
          </a:ln>
          <a:effectLst/>
        </p:spPr>
      </p:pic>
      <p:pic>
        <p:nvPicPr>
          <p:cNvPr id="525332" name="Picture 20"/>
          <p:cNvPicPr>
            <a:picLocks noChangeAspect="1" noChangeArrowheads="1"/>
          </p:cNvPicPr>
          <p:nvPr/>
        </p:nvPicPr>
        <p:blipFill>
          <a:blip r:embed="rId11" cstate="print"/>
          <a:srcRect/>
          <a:stretch>
            <a:fillRect/>
          </a:stretch>
        </p:blipFill>
        <p:spPr bwMode="auto">
          <a:xfrm>
            <a:off x="4800600" y="5029200"/>
            <a:ext cx="1447800" cy="409575"/>
          </a:xfrm>
          <a:prstGeom prst="rect">
            <a:avLst/>
          </a:prstGeom>
          <a:noFill/>
          <a:ln w="9525">
            <a:noFill/>
            <a:miter lim="800000"/>
            <a:headEnd/>
            <a:tailEnd/>
          </a:ln>
          <a:effectLst/>
        </p:spPr>
      </p:pic>
      <p:pic>
        <p:nvPicPr>
          <p:cNvPr id="525333" name="Picture 21"/>
          <p:cNvPicPr>
            <a:picLocks noChangeAspect="1" noChangeArrowheads="1"/>
          </p:cNvPicPr>
          <p:nvPr/>
        </p:nvPicPr>
        <p:blipFill>
          <a:blip r:embed="rId12" cstate="print"/>
          <a:srcRect/>
          <a:stretch>
            <a:fillRect/>
          </a:stretch>
        </p:blipFill>
        <p:spPr bwMode="auto">
          <a:xfrm>
            <a:off x="6324600" y="5486400"/>
            <a:ext cx="1382713" cy="566738"/>
          </a:xfrm>
          <a:prstGeom prst="rect">
            <a:avLst/>
          </a:prstGeom>
          <a:noFill/>
          <a:ln w="9525">
            <a:noFill/>
            <a:miter lim="800000"/>
            <a:headEnd/>
            <a:tailEnd/>
          </a:ln>
          <a:effectLst/>
        </p:spPr>
      </p:pic>
      <p:pic>
        <p:nvPicPr>
          <p:cNvPr id="525335" name="Picture 23"/>
          <p:cNvPicPr>
            <a:picLocks noChangeAspect="1" noChangeArrowheads="1"/>
          </p:cNvPicPr>
          <p:nvPr/>
        </p:nvPicPr>
        <p:blipFill>
          <a:blip r:embed="rId13" cstate="print"/>
          <a:srcRect/>
          <a:stretch>
            <a:fillRect/>
          </a:stretch>
        </p:blipFill>
        <p:spPr bwMode="auto">
          <a:xfrm>
            <a:off x="7848600" y="1828800"/>
            <a:ext cx="776288" cy="1620838"/>
          </a:xfrm>
          <a:prstGeom prst="rect">
            <a:avLst/>
          </a:prstGeom>
          <a:noFill/>
          <a:ln w="9525">
            <a:noFill/>
            <a:miter lim="800000"/>
            <a:headEnd/>
            <a:tailEnd/>
          </a:ln>
          <a:effectLst/>
        </p:spPr>
      </p:pic>
      <p:pic>
        <p:nvPicPr>
          <p:cNvPr id="525336" name="Picture 24"/>
          <p:cNvPicPr>
            <a:picLocks noChangeAspect="1" noChangeArrowheads="1"/>
          </p:cNvPicPr>
          <p:nvPr/>
        </p:nvPicPr>
        <p:blipFill>
          <a:blip r:embed="rId14" cstate="print"/>
          <a:srcRect/>
          <a:stretch>
            <a:fillRect/>
          </a:stretch>
        </p:blipFill>
        <p:spPr bwMode="auto">
          <a:xfrm>
            <a:off x="7848600" y="3505200"/>
            <a:ext cx="895350" cy="1836738"/>
          </a:xfrm>
          <a:prstGeom prst="rect">
            <a:avLst/>
          </a:prstGeom>
          <a:noFill/>
          <a:ln w="9525">
            <a:noFill/>
            <a:miter lim="800000"/>
            <a:headEnd/>
            <a:tailEnd/>
          </a:ln>
          <a:effectLst/>
        </p:spPr>
      </p:pic>
      <p:pic>
        <p:nvPicPr>
          <p:cNvPr id="525337" name="Picture 25"/>
          <p:cNvPicPr>
            <a:picLocks noChangeAspect="1" noChangeArrowheads="1"/>
          </p:cNvPicPr>
          <p:nvPr/>
        </p:nvPicPr>
        <p:blipFill>
          <a:blip r:embed="rId15" cstate="print"/>
          <a:srcRect/>
          <a:stretch>
            <a:fillRect/>
          </a:stretch>
        </p:blipFill>
        <p:spPr bwMode="auto">
          <a:xfrm>
            <a:off x="7848600" y="5562600"/>
            <a:ext cx="960438" cy="568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E73E5EB4-A2FA-4B3B-8A0E-777339E339DA}" type="slidenum">
              <a:rPr lang="en-US"/>
              <a:pPr/>
              <a:t>59</a:t>
            </a:fld>
            <a:endParaRPr lang="en-US"/>
          </a:p>
        </p:txBody>
      </p:sp>
      <p:sp>
        <p:nvSpPr>
          <p:cNvPr id="58470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8470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470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8470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471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8471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8471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4713" name="Line 9"/>
          <p:cNvSpPr>
            <a:spLocks noChangeShapeType="1"/>
          </p:cNvSpPr>
          <p:nvPr/>
        </p:nvSpPr>
        <p:spPr bwMode="auto">
          <a:xfrm>
            <a:off x="609600" y="2286000"/>
            <a:ext cx="8153400" cy="0"/>
          </a:xfrm>
          <a:prstGeom prst="line">
            <a:avLst/>
          </a:prstGeom>
          <a:noFill/>
          <a:ln w="76200">
            <a:solidFill>
              <a:schemeClr val="folHlink"/>
            </a:solidFill>
            <a:round/>
            <a:headEnd/>
            <a:tailEnd/>
          </a:ln>
          <a:effectLst/>
        </p:spPr>
        <p:txBody>
          <a:bodyPr/>
          <a:lstStyle/>
          <a:p>
            <a:endParaRPr lang="en-US"/>
          </a:p>
        </p:txBody>
      </p:sp>
      <p:sp>
        <p:nvSpPr>
          <p:cNvPr id="584714" name="Line 10"/>
          <p:cNvSpPr>
            <a:spLocks noChangeShapeType="1"/>
          </p:cNvSpPr>
          <p:nvPr/>
        </p:nvSpPr>
        <p:spPr bwMode="auto">
          <a:xfrm>
            <a:off x="609600" y="5029200"/>
            <a:ext cx="8153400" cy="0"/>
          </a:xfrm>
          <a:prstGeom prst="line">
            <a:avLst/>
          </a:prstGeom>
          <a:noFill/>
          <a:ln w="76200">
            <a:solidFill>
              <a:schemeClr val="folHlink"/>
            </a:solidFill>
            <a:round/>
            <a:headEnd/>
            <a:tailEnd/>
          </a:ln>
          <a:effectLst/>
        </p:spPr>
        <p:txBody>
          <a:bodyPr/>
          <a:lstStyle/>
          <a:p>
            <a:endParaRPr lang="en-US"/>
          </a:p>
        </p:txBody>
      </p:sp>
      <p:sp>
        <p:nvSpPr>
          <p:cNvPr id="584715" name="Rectangle 11"/>
          <p:cNvSpPr>
            <a:spLocks noChangeArrowheads="1"/>
          </p:cNvSpPr>
          <p:nvPr/>
        </p:nvSpPr>
        <p:spPr bwMode="auto">
          <a:xfrm>
            <a:off x="647700" y="2378075"/>
            <a:ext cx="8077200" cy="2528888"/>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Mobile IP does not use a new packet type for agent advertisement; it uses </a:t>
            </a:r>
            <a:br>
              <a:rPr lang="en-US" sz="3200" i="1">
                <a:solidFill>
                  <a:schemeClr val="bg1"/>
                </a:solidFill>
                <a:latin typeface="Arial" pitchFamily="34" charset="0"/>
              </a:rPr>
            </a:br>
            <a:r>
              <a:rPr lang="en-US" sz="3200" i="1">
                <a:solidFill>
                  <a:schemeClr val="bg1"/>
                </a:solidFill>
                <a:latin typeface="Arial" pitchFamily="34" charset="0"/>
              </a:rPr>
              <a:t>the router advertisement packet </a:t>
            </a:r>
            <a:br>
              <a:rPr lang="en-US" sz="3200" i="1">
                <a:solidFill>
                  <a:schemeClr val="bg1"/>
                </a:solidFill>
                <a:latin typeface="Arial" pitchFamily="34" charset="0"/>
              </a:rPr>
            </a:br>
            <a:r>
              <a:rPr lang="en-US" sz="3200" i="1">
                <a:solidFill>
                  <a:schemeClr val="bg1"/>
                </a:solidFill>
                <a:latin typeface="Arial" pitchFamily="34" charset="0"/>
              </a:rPr>
              <a:t>of ICMP, and appends an agent advertisement message.</a:t>
            </a:r>
          </a:p>
        </p:txBody>
      </p:sp>
      <p:grpSp>
        <p:nvGrpSpPr>
          <p:cNvPr id="2" name="Group 12"/>
          <p:cNvGrpSpPr>
            <a:grpSpLocks/>
          </p:cNvGrpSpPr>
          <p:nvPr/>
        </p:nvGrpSpPr>
        <p:grpSpPr bwMode="auto">
          <a:xfrm>
            <a:off x="609600" y="1643063"/>
            <a:ext cx="1143000" cy="566737"/>
            <a:chOff x="1200" y="1248"/>
            <a:chExt cx="720" cy="357"/>
          </a:xfrm>
        </p:grpSpPr>
        <p:pic>
          <p:nvPicPr>
            <p:cNvPr id="584717"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84718"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lide Number Placeholder 2"/>
          <p:cNvSpPr>
            <a:spLocks noGrp="1"/>
          </p:cNvSpPr>
          <p:nvPr>
            <p:ph type="sldNum" sz="quarter" idx="12"/>
          </p:nvPr>
        </p:nvSpPr>
        <p:spPr/>
        <p:txBody>
          <a:bodyPr/>
          <a:lstStyle/>
          <a:p>
            <a:fld id="{A7FD4FC8-67C6-45C3-8808-48234AF0E0DE}" type="slidenum">
              <a:rPr lang="en-US"/>
              <a:pPr/>
              <a:t>60</a:t>
            </a:fld>
            <a:endParaRPr lang="en-US"/>
          </a:p>
        </p:txBody>
      </p:sp>
      <p:sp>
        <p:nvSpPr>
          <p:cNvPr id="527362"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Agent </a:t>
            </a:r>
            <a:r>
              <a:rPr lang="en-US" altLang="en-US" i="1" dirty="0">
                <a:latin typeface="Times New Roman" pitchFamily="18" charset="0"/>
              </a:rPr>
              <a:t>advertisement</a:t>
            </a:r>
          </a:p>
        </p:txBody>
      </p:sp>
      <p:sp>
        <p:nvSpPr>
          <p:cNvPr id="52736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273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736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273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73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2736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273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27370" name="Picture 10"/>
          <p:cNvPicPr>
            <a:picLocks noChangeAspect="1" noChangeArrowheads="1"/>
          </p:cNvPicPr>
          <p:nvPr/>
        </p:nvPicPr>
        <p:blipFill>
          <a:blip r:embed="rId3" cstate="print"/>
          <a:srcRect/>
          <a:stretch>
            <a:fillRect/>
          </a:stretch>
        </p:blipFill>
        <p:spPr bwMode="auto">
          <a:xfrm>
            <a:off x="179388" y="1900238"/>
            <a:ext cx="8812212" cy="3028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Slide Number Placeholder 2"/>
          <p:cNvSpPr>
            <a:spLocks noGrp="1"/>
          </p:cNvSpPr>
          <p:nvPr>
            <p:ph type="sldNum" sz="quarter" idx="12"/>
          </p:nvPr>
        </p:nvSpPr>
        <p:spPr/>
        <p:txBody>
          <a:bodyPr/>
          <a:lstStyle/>
          <a:p>
            <a:fld id="{DA0216C8-9673-4B82-90F6-DA2BC7B49FB1}" type="slidenum">
              <a:rPr lang="en-US"/>
              <a:pPr/>
              <a:t>61</a:t>
            </a:fld>
            <a:endParaRPr lang="en-US"/>
          </a:p>
        </p:txBody>
      </p:sp>
      <p:pic>
        <p:nvPicPr>
          <p:cNvPr id="586778" name="Picture 26"/>
          <p:cNvPicPr>
            <a:picLocks noChangeAspect="1" noChangeArrowheads="1"/>
          </p:cNvPicPr>
          <p:nvPr/>
        </p:nvPicPr>
        <p:blipFill>
          <a:blip r:embed="rId3" cstate="print"/>
          <a:srcRect/>
          <a:stretch>
            <a:fillRect/>
          </a:stretch>
        </p:blipFill>
        <p:spPr bwMode="auto">
          <a:xfrm>
            <a:off x="35147" y="1447800"/>
            <a:ext cx="9108853"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10A09649-ABAF-4264-B137-E8C0C0709A53}" type="slidenum">
              <a:rPr lang="en-US"/>
              <a:pPr/>
              <a:t>62</a:t>
            </a:fld>
            <a:endParaRPr lang="en-US"/>
          </a:p>
        </p:txBody>
      </p:sp>
      <p:sp>
        <p:nvSpPr>
          <p:cNvPr id="58880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8880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880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8880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880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8880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8880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88809" name="Line 9"/>
          <p:cNvSpPr>
            <a:spLocks noChangeShapeType="1"/>
          </p:cNvSpPr>
          <p:nvPr/>
        </p:nvSpPr>
        <p:spPr bwMode="auto">
          <a:xfrm>
            <a:off x="609600" y="2286000"/>
            <a:ext cx="8153400" cy="0"/>
          </a:xfrm>
          <a:prstGeom prst="line">
            <a:avLst/>
          </a:prstGeom>
          <a:noFill/>
          <a:ln w="76200">
            <a:solidFill>
              <a:schemeClr val="folHlink"/>
            </a:solidFill>
            <a:round/>
            <a:headEnd/>
            <a:tailEnd/>
          </a:ln>
          <a:effectLst/>
        </p:spPr>
        <p:txBody>
          <a:bodyPr/>
          <a:lstStyle/>
          <a:p>
            <a:endParaRPr lang="en-US"/>
          </a:p>
        </p:txBody>
      </p:sp>
      <p:sp>
        <p:nvSpPr>
          <p:cNvPr id="588810" name="Line 10"/>
          <p:cNvSpPr>
            <a:spLocks noChangeShapeType="1"/>
          </p:cNvSpPr>
          <p:nvPr/>
        </p:nvSpPr>
        <p:spPr bwMode="auto">
          <a:xfrm>
            <a:off x="609600" y="4495800"/>
            <a:ext cx="8153400" cy="0"/>
          </a:xfrm>
          <a:prstGeom prst="line">
            <a:avLst/>
          </a:prstGeom>
          <a:noFill/>
          <a:ln w="76200">
            <a:solidFill>
              <a:schemeClr val="folHlink"/>
            </a:solidFill>
            <a:round/>
            <a:headEnd/>
            <a:tailEnd/>
          </a:ln>
          <a:effectLst/>
        </p:spPr>
        <p:txBody>
          <a:bodyPr/>
          <a:lstStyle/>
          <a:p>
            <a:endParaRPr lang="en-US"/>
          </a:p>
        </p:txBody>
      </p:sp>
      <p:sp>
        <p:nvSpPr>
          <p:cNvPr id="588811" name="Rectangle 11"/>
          <p:cNvSpPr>
            <a:spLocks noChangeArrowheads="1"/>
          </p:cNvSpPr>
          <p:nvPr/>
        </p:nvSpPr>
        <p:spPr bwMode="auto">
          <a:xfrm>
            <a:off x="647700" y="2378075"/>
            <a:ext cx="8077200" cy="2041525"/>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Mobile IP does not use a new packet type for agent solicitation;</a:t>
            </a:r>
          </a:p>
          <a:p>
            <a:pPr algn="ctr"/>
            <a:r>
              <a:rPr lang="en-US" sz="3200" i="1">
                <a:solidFill>
                  <a:schemeClr val="bg1"/>
                </a:solidFill>
                <a:latin typeface="Arial" pitchFamily="34" charset="0"/>
              </a:rPr>
              <a:t>it uses the router solicitation </a:t>
            </a:r>
            <a:br>
              <a:rPr lang="en-US" sz="3200" i="1">
                <a:solidFill>
                  <a:schemeClr val="bg1"/>
                </a:solidFill>
                <a:latin typeface="Arial" pitchFamily="34" charset="0"/>
              </a:rPr>
            </a:br>
            <a:r>
              <a:rPr lang="en-US" sz="3200" i="1">
                <a:solidFill>
                  <a:schemeClr val="bg1"/>
                </a:solidFill>
                <a:latin typeface="Arial" pitchFamily="34" charset="0"/>
              </a:rPr>
              <a:t>packet of ICMP.</a:t>
            </a:r>
          </a:p>
        </p:txBody>
      </p:sp>
      <p:grpSp>
        <p:nvGrpSpPr>
          <p:cNvPr id="2" name="Group 12"/>
          <p:cNvGrpSpPr>
            <a:grpSpLocks/>
          </p:cNvGrpSpPr>
          <p:nvPr/>
        </p:nvGrpSpPr>
        <p:grpSpPr bwMode="auto">
          <a:xfrm>
            <a:off x="609600" y="1643063"/>
            <a:ext cx="1143000" cy="566737"/>
            <a:chOff x="1200" y="1248"/>
            <a:chExt cx="720" cy="357"/>
          </a:xfrm>
        </p:grpSpPr>
        <p:pic>
          <p:nvPicPr>
            <p:cNvPr id="588813"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88814"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lide Number Placeholder 2"/>
          <p:cNvSpPr>
            <a:spLocks noGrp="1"/>
          </p:cNvSpPr>
          <p:nvPr>
            <p:ph type="sldNum" sz="quarter" idx="12"/>
          </p:nvPr>
        </p:nvSpPr>
        <p:spPr/>
        <p:txBody>
          <a:bodyPr/>
          <a:lstStyle/>
          <a:p>
            <a:fld id="{2849C7C7-57B2-41BF-8F92-0F3614829E47}" type="slidenum">
              <a:rPr lang="en-US"/>
              <a:pPr/>
              <a:t>63</a:t>
            </a:fld>
            <a:endParaRPr lang="en-US"/>
          </a:p>
        </p:txBody>
      </p:sp>
      <p:sp>
        <p:nvSpPr>
          <p:cNvPr id="529410"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Registration </a:t>
            </a:r>
            <a:r>
              <a:rPr lang="en-US" altLang="en-US" i="1" dirty="0">
                <a:latin typeface="Times New Roman" pitchFamily="18" charset="0"/>
              </a:rPr>
              <a:t>request format</a:t>
            </a:r>
          </a:p>
        </p:txBody>
      </p:sp>
      <p:sp>
        <p:nvSpPr>
          <p:cNvPr id="52941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2941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941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2941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2941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2941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2941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29418" name="Picture 10"/>
          <p:cNvPicPr>
            <a:picLocks noChangeAspect="1" noChangeArrowheads="1"/>
          </p:cNvPicPr>
          <p:nvPr/>
        </p:nvPicPr>
        <p:blipFill>
          <a:blip r:embed="rId3" cstate="print"/>
          <a:srcRect/>
          <a:stretch>
            <a:fillRect/>
          </a:stretch>
        </p:blipFill>
        <p:spPr bwMode="auto">
          <a:xfrm>
            <a:off x="179388" y="1963738"/>
            <a:ext cx="8812212" cy="28368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Slide Number Placeholder 2"/>
          <p:cNvSpPr>
            <a:spLocks noGrp="1"/>
          </p:cNvSpPr>
          <p:nvPr>
            <p:ph type="sldNum" sz="quarter" idx="12"/>
          </p:nvPr>
        </p:nvSpPr>
        <p:spPr/>
        <p:txBody>
          <a:bodyPr/>
          <a:lstStyle/>
          <a:p>
            <a:fld id="{84E637B9-7CF0-49FA-A2BE-77A57C96E920}" type="slidenum">
              <a:rPr lang="en-US"/>
              <a:pPr/>
              <a:t>64</a:t>
            </a:fld>
            <a:endParaRPr lang="en-US"/>
          </a:p>
        </p:txBody>
      </p:sp>
      <p:grpSp>
        <p:nvGrpSpPr>
          <p:cNvPr id="2" name="Group 2"/>
          <p:cNvGrpSpPr>
            <a:grpSpLocks/>
          </p:cNvGrpSpPr>
          <p:nvPr/>
        </p:nvGrpSpPr>
        <p:grpSpPr bwMode="auto">
          <a:xfrm>
            <a:off x="228600" y="228600"/>
            <a:ext cx="8458200" cy="5791200"/>
            <a:chOff x="144" y="144"/>
            <a:chExt cx="5328" cy="3648"/>
          </a:xfrm>
        </p:grpSpPr>
        <p:grpSp>
          <p:nvGrpSpPr>
            <p:cNvPr id="3" name="Group 3"/>
            <p:cNvGrpSpPr>
              <a:grpSpLocks/>
            </p:cNvGrpSpPr>
            <p:nvPr/>
          </p:nvGrpSpPr>
          <p:grpSpPr bwMode="auto">
            <a:xfrm>
              <a:off x="144" y="144"/>
              <a:ext cx="432" cy="3648"/>
              <a:chOff x="48" y="48"/>
              <a:chExt cx="576" cy="3984"/>
            </a:xfrm>
          </p:grpSpPr>
          <p:sp>
            <p:nvSpPr>
              <p:cNvPr id="592900" name="Rectangle 4"/>
              <p:cNvSpPr>
                <a:spLocks noChangeArrowheads="1"/>
              </p:cNvSpPr>
              <p:nvPr/>
            </p:nvSpPr>
            <p:spPr bwMode="auto">
              <a:xfrm>
                <a:off x="240" y="48"/>
                <a:ext cx="192" cy="3984"/>
              </a:xfrm>
              <a:prstGeom prst="rect">
                <a:avLst/>
              </a:prstGeom>
              <a:solidFill>
                <a:srgbClr val="DDDDDD"/>
              </a:solidFill>
              <a:ln w="19050">
                <a:solidFill>
                  <a:srgbClr val="DDDDDD"/>
                </a:solidFill>
                <a:miter lim="800000"/>
                <a:headEnd/>
                <a:tailEnd/>
              </a:ln>
              <a:effectLst/>
            </p:spPr>
            <p:txBody>
              <a:bodyPr wrap="none" anchor="ctr"/>
              <a:lstStyle/>
              <a:p>
                <a:endParaRPr lang="en-US"/>
              </a:p>
            </p:txBody>
          </p:sp>
          <p:sp>
            <p:nvSpPr>
              <p:cNvPr id="592901" name="Rectangle 5"/>
              <p:cNvSpPr>
                <a:spLocks noChangeArrowheads="1"/>
              </p:cNvSpPr>
              <p:nvPr/>
            </p:nvSpPr>
            <p:spPr bwMode="auto">
              <a:xfrm>
                <a:off x="48" y="48"/>
                <a:ext cx="192" cy="3984"/>
              </a:xfrm>
              <a:prstGeom prst="rect">
                <a:avLst/>
              </a:prstGeom>
              <a:solidFill>
                <a:srgbClr val="DDDDDD"/>
              </a:solidFill>
              <a:ln w="19050">
                <a:solidFill>
                  <a:srgbClr val="DDDDDD"/>
                </a:solidFill>
                <a:miter lim="800000"/>
                <a:headEnd/>
                <a:tailEnd/>
              </a:ln>
              <a:effectLst/>
            </p:spPr>
            <p:txBody>
              <a:bodyPr wrap="none" anchor="ctr"/>
              <a:lstStyle/>
              <a:p>
                <a:endParaRPr lang="en-US"/>
              </a:p>
            </p:txBody>
          </p:sp>
          <p:sp>
            <p:nvSpPr>
              <p:cNvPr id="592902" name="Rectangle 6"/>
              <p:cNvSpPr>
                <a:spLocks noChangeArrowheads="1"/>
              </p:cNvSpPr>
              <p:nvPr/>
            </p:nvSpPr>
            <p:spPr bwMode="auto">
              <a:xfrm>
                <a:off x="432" y="48"/>
                <a:ext cx="192" cy="3984"/>
              </a:xfrm>
              <a:prstGeom prst="rect">
                <a:avLst/>
              </a:prstGeom>
              <a:solidFill>
                <a:srgbClr val="DDDDDD"/>
              </a:solidFill>
              <a:ln w="19050">
                <a:solidFill>
                  <a:srgbClr val="DDDDDD"/>
                </a:solidFill>
                <a:miter lim="800000"/>
                <a:headEnd/>
                <a:tailEnd/>
              </a:ln>
              <a:effectLst/>
            </p:spPr>
            <p:txBody>
              <a:bodyPr wrap="none" anchor="ctr"/>
              <a:lstStyle/>
              <a:p>
                <a:endParaRPr lang="en-US"/>
              </a:p>
            </p:txBody>
          </p:sp>
        </p:grpSp>
        <p:grpSp>
          <p:nvGrpSpPr>
            <p:cNvPr id="4" name="Group 7"/>
            <p:cNvGrpSpPr>
              <a:grpSpLocks/>
            </p:cNvGrpSpPr>
            <p:nvPr/>
          </p:nvGrpSpPr>
          <p:grpSpPr bwMode="auto">
            <a:xfrm>
              <a:off x="144" y="144"/>
              <a:ext cx="5328" cy="336"/>
              <a:chOff x="0" y="144"/>
              <a:chExt cx="5760" cy="432"/>
            </a:xfrm>
          </p:grpSpPr>
          <p:sp>
            <p:nvSpPr>
              <p:cNvPr id="592904" name="Rectangle 8"/>
              <p:cNvSpPr>
                <a:spLocks noChangeArrowheads="1"/>
              </p:cNvSpPr>
              <p:nvPr/>
            </p:nvSpPr>
            <p:spPr bwMode="auto">
              <a:xfrm>
                <a:off x="0" y="144"/>
                <a:ext cx="5760" cy="144"/>
              </a:xfrm>
              <a:prstGeom prst="rect">
                <a:avLst/>
              </a:prstGeom>
              <a:solidFill>
                <a:srgbClr val="DDDDDD"/>
              </a:solidFill>
              <a:ln w="19050">
                <a:pattFill prst="pct25">
                  <a:fgClr>
                    <a:schemeClr val="folHlink"/>
                  </a:fgClr>
                  <a:bgClr>
                    <a:srgbClr val="FFFFFF"/>
                  </a:bgClr>
                </a:pattFill>
                <a:miter lim="800000"/>
                <a:headEnd/>
                <a:tailEnd/>
              </a:ln>
              <a:effectLst/>
            </p:spPr>
            <p:txBody>
              <a:bodyPr wrap="none" anchor="ctr"/>
              <a:lstStyle/>
              <a:p>
                <a:endParaRPr lang="en-US"/>
              </a:p>
            </p:txBody>
          </p:sp>
          <p:sp>
            <p:nvSpPr>
              <p:cNvPr id="592905" name="Rectangle 9"/>
              <p:cNvSpPr>
                <a:spLocks noChangeArrowheads="1"/>
              </p:cNvSpPr>
              <p:nvPr/>
            </p:nvSpPr>
            <p:spPr bwMode="auto">
              <a:xfrm>
                <a:off x="0" y="288"/>
                <a:ext cx="5760" cy="144"/>
              </a:xfrm>
              <a:prstGeom prst="rect">
                <a:avLst/>
              </a:prstGeom>
              <a:solidFill>
                <a:srgbClr val="DDDDDD"/>
              </a:solidFill>
              <a:ln w="19050">
                <a:pattFill prst="pct25">
                  <a:fgClr>
                    <a:schemeClr val="folHlink"/>
                  </a:fgClr>
                  <a:bgClr>
                    <a:srgbClr val="FFFFFF"/>
                  </a:bgClr>
                </a:pattFill>
                <a:miter lim="800000"/>
                <a:headEnd/>
                <a:tailEnd/>
              </a:ln>
              <a:effectLst/>
            </p:spPr>
            <p:txBody>
              <a:bodyPr wrap="none" anchor="ctr"/>
              <a:lstStyle/>
              <a:p>
                <a:endParaRPr lang="en-US"/>
              </a:p>
            </p:txBody>
          </p:sp>
          <p:sp>
            <p:nvSpPr>
              <p:cNvPr id="592906" name="Rectangle 10"/>
              <p:cNvSpPr>
                <a:spLocks noChangeArrowheads="1"/>
              </p:cNvSpPr>
              <p:nvPr/>
            </p:nvSpPr>
            <p:spPr bwMode="auto">
              <a:xfrm>
                <a:off x="0" y="432"/>
                <a:ext cx="5760" cy="144"/>
              </a:xfrm>
              <a:prstGeom prst="rect">
                <a:avLst/>
              </a:prstGeom>
              <a:solidFill>
                <a:srgbClr val="DDDDDD"/>
              </a:solidFill>
              <a:ln w="19050">
                <a:pattFill prst="pct25">
                  <a:fgClr>
                    <a:schemeClr val="folHlink"/>
                  </a:fgClr>
                  <a:bgClr>
                    <a:srgbClr val="FFFFFF"/>
                  </a:bgClr>
                </a:pattFill>
                <a:miter lim="800000"/>
                <a:headEnd/>
                <a:tailEnd/>
              </a:ln>
              <a:effectLst/>
            </p:spPr>
            <p:txBody>
              <a:bodyPr wrap="none" anchor="ctr"/>
              <a:lstStyle/>
              <a:p>
                <a:endParaRPr lang="en-US"/>
              </a:p>
            </p:txBody>
          </p:sp>
        </p:grpSp>
        <p:grpSp>
          <p:nvGrpSpPr>
            <p:cNvPr id="5" name="Group 11"/>
            <p:cNvGrpSpPr>
              <a:grpSpLocks/>
            </p:cNvGrpSpPr>
            <p:nvPr/>
          </p:nvGrpSpPr>
          <p:grpSpPr bwMode="auto">
            <a:xfrm>
              <a:off x="144" y="144"/>
              <a:ext cx="432" cy="336"/>
              <a:chOff x="144" y="144"/>
              <a:chExt cx="432" cy="336"/>
            </a:xfrm>
          </p:grpSpPr>
          <p:grpSp>
            <p:nvGrpSpPr>
              <p:cNvPr id="6" name="Group 12"/>
              <p:cNvGrpSpPr>
                <a:grpSpLocks/>
              </p:cNvGrpSpPr>
              <p:nvPr/>
            </p:nvGrpSpPr>
            <p:grpSpPr bwMode="auto">
              <a:xfrm>
                <a:off x="144" y="256"/>
                <a:ext cx="432" cy="112"/>
                <a:chOff x="288" y="256"/>
                <a:chExt cx="432" cy="112"/>
              </a:xfrm>
            </p:grpSpPr>
            <p:sp>
              <p:nvSpPr>
                <p:cNvPr id="592909" name="Rectangle 13"/>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10" name="Rectangle 14"/>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11" name="Rectangle 15"/>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grpSp>
          <p:grpSp>
            <p:nvGrpSpPr>
              <p:cNvPr id="7" name="Group 16"/>
              <p:cNvGrpSpPr>
                <a:grpSpLocks/>
              </p:cNvGrpSpPr>
              <p:nvPr/>
            </p:nvGrpSpPr>
            <p:grpSpPr bwMode="auto">
              <a:xfrm>
                <a:off x="144" y="144"/>
                <a:ext cx="432" cy="336"/>
                <a:chOff x="144" y="144"/>
                <a:chExt cx="432" cy="336"/>
              </a:xfrm>
            </p:grpSpPr>
            <p:grpSp>
              <p:nvGrpSpPr>
                <p:cNvPr id="8" name="Group 17"/>
                <p:cNvGrpSpPr>
                  <a:grpSpLocks/>
                </p:cNvGrpSpPr>
                <p:nvPr/>
              </p:nvGrpSpPr>
              <p:grpSpPr bwMode="auto">
                <a:xfrm>
                  <a:off x="144" y="144"/>
                  <a:ext cx="432" cy="112"/>
                  <a:chOff x="288" y="256"/>
                  <a:chExt cx="432" cy="112"/>
                </a:xfrm>
              </p:grpSpPr>
              <p:sp>
                <p:nvSpPr>
                  <p:cNvPr id="592914" name="Rectangle 18"/>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15" name="Rectangle 19"/>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16" name="Rectangle 20"/>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grpSp>
            <p:grpSp>
              <p:nvGrpSpPr>
                <p:cNvPr id="9" name="Group 21"/>
                <p:cNvGrpSpPr>
                  <a:grpSpLocks/>
                </p:cNvGrpSpPr>
                <p:nvPr/>
              </p:nvGrpSpPr>
              <p:grpSpPr bwMode="auto">
                <a:xfrm>
                  <a:off x="144" y="368"/>
                  <a:ext cx="432" cy="112"/>
                  <a:chOff x="288" y="256"/>
                  <a:chExt cx="432" cy="112"/>
                </a:xfrm>
              </p:grpSpPr>
              <p:sp>
                <p:nvSpPr>
                  <p:cNvPr id="592918" name="Rectangle 22"/>
                  <p:cNvSpPr>
                    <a:spLocks noChangeArrowheads="1"/>
                  </p:cNvSpPr>
                  <p:nvPr/>
                </p:nvSpPr>
                <p:spPr bwMode="auto">
                  <a:xfrm>
                    <a:off x="288"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19" name="Rectangle 23"/>
                  <p:cNvSpPr>
                    <a:spLocks noChangeArrowheads="1"/>
                  </p:cNvSpPr>
                  <p:nvPr/>
                </p:nvSpPr>
                <p:spPr bwMode="auto">
                  <a:xfrm>
                    <a:off x="576"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sp>
                <p:nvSpPr>
                  <p:cNvPr id="592920" name="Rectangle 24"/>
                  <p:cNvSpPr>
                    <a:spLocks noChangeArrowheads="1"/>
                  </p:cNvSpPr>
                  <p:nvPr/>
                </p:nvSpPr>
                <p:spPr bwMode="auto">
                  <a:xfrm>
                    <a:off x="432" y="256"/>
                    <a:ext cx="144" cy="112"/>
                  </a:xfrm>
                  <a:prstGeom prst="rect">
                    <a:avLst/>
                  </a:prstGeom>
                  <a:gradFill rotWithShape="1">
                    <a:gsLst>
                      <a:gs pos="0">
                        <a:schemeClr val="hlink">
                          <a:gamma/>
                          <a:shade val="46275"/>
                          <a:invGamma/>
                        </a:schemeClr>
                      </a:gs>
                      <a:gs pos="100000">
                        <a:schemeClr val="hlink"/>
                      </a:gs>
                    </a:gsLst>
                    <a:lin ang="18900000" scaled="1"/>
                  </a:gradFill>
                  <a:ln w="19050">
                    <a:solidFill>
                      <a:schemeClr val="tx1"/>
                    </a:solidFill>
                    <a:miter lim="800000"/>
                    <a:headEnd/>
                    <a:tailEnd/>
                  </a:ln>
                  <a:effectLst/>
                </p:spPr>
                <p:txBody>
                  <a:bodyPr wrap="none" anchor="ctr"/>
                  <a:lstStyle/>
                  <a:p>
                    <a:endParaRPr lang="en-US"/>
                  </a:p>
                </p:txBody>
              </p:sp>
            </p:grpSp>
          </p:grpSp>
        </p:grpSp>
      </p:grpSp>
      <p:pic>
        <p:nvPicPr>
          <p:cNvPr id="592921" name="Picture 25"/>
          <p:cNvPicPr>
            <a:picLocks noChangeAspect="1" noChangeArrowheads="1"/>
          </p:cNvPicPr>
          <p:nvPr/>
        </p:nvPicPr>
        <p:blipFill>
          <a:blip r:embed="rId3" cstate="print"/>
          <a:srcRect/>
          <a:stretch>
            <a:fillRect/>
          </a:stretch>
        </p:blipFill>
        <p:spPr bwMode="auto">
          <a:xfrm>
            <a:off x="1036638" y="2117725"/>
            <a:ext cx="7953375" cy="26336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lide Number Placeholder 2"/>
          <p:cNvSpPr>
            <a:spLocks noGrp="1"/>
          </p:cNvSpPr>
          <p:nvPr>
            <p:ph type="sldNum" sz="quarter" idx="12"/>
          </p:nvPr>
        </p:nvSpPr>
        <p:spPr/>
        <p:txBody>
          <a:bodyPr/>
          <a:lstStyle/>
          <a:p>
            <a:fld id="{8372BAE0-1A62-47C0-BF93-3E18FB5DB78E}" type="slidenum">
              <a:rPr lang="en-US"/>
              <a:pPr/>
              <a:t>65</a:t>
            </a:fld>
            <a:endParaRPr lang="en-US"/>
          </a:p>
        </p:txBody>
      </p:sp>
      <p:sp>
        <p:nvSpPr>
          <p:cNvPr id="531458"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Registration </a:t>
            </a:r>
            <a:r>
              <a:rPr lang="en-US" altLang="en-US" i="1" dirty="0">
                <a:latin typeface="Times New Roman" pitchFamily="18" charset="0"/>
              </a:rPr>
              <a:t>reply format</a:t>
            </a:r>
          </a:p>
        </p:txBody>
      </p:sp>
      <p:sp>
        <p:nvSpPr>
          <p:cNvPr id="53145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3146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146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3146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146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3146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3146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31466" name="Picture 10"/>
          <p:cNvPicPr>
            <a:picLocks noChangeAspect="1" noChangeArrowheads="1"/>
          </p:cNvPicPr>
          <p:nvPr/>
        </p:nvPicPr>
        <p:blipFill>
          <a:blip r:embed="rId3" cstate="print"/>
          <a:srcRect/>
          <a:stretch>
            <a:fillRect/>
          </a:stretch>
        </p:blipFill>
        <p:spPr bwMode="auto">
          <a:xfrm>
            <a:off x="179388" y="2065338"/>
            <a:ext cx="8812212" cy="2430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86BCFBD2-55E4-480C-BEE6-199BCB836D47}" type="slidenum">
              <a:rPr lang="en-US"/>
              <a:pPr/>
              <a:t>66</a:t>
            </a:fld>
            <a:endParaRPr lang="en-US"/>
          </a:p>
        </p:txBody>
      </p:sp>
      <p:sp>
        <p:nvSpPr>
          <p:cNvPr id="59494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9494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494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9494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495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9495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9495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4953" name="Line 9"/>
          <p:cNvSpPr>
            <a:spLocks noChangeShapeType="1"/>
          </p:cNvSpPr>
          <p:nvPr/>
        </p:nvSpPr>
        <p:spPr bwMode="auto">
          <a:xfrm>
            <a:off x="609600" y="3200400"/>
            <a:ext cx="8153400" cy="0"/>
          </a:xfrm>
          <a:prstGeom prst="line">
            <a:avLst/>
          </a:prstGeom>
          <a:noFill/>
          <a:ln w="76200">
            <a:solidFill>
              <a:schemeClr val="folHlink"/>
            </a:solidFill>
            <a:round/>
            <a:headEnd/>
            <a:tailEnd/>
          </a:ln>
          <a:effectLst/>
        </p:spPr>
        <p:txBody>
          <a:bodyPr/>
          <a:lstStyle/>
          <a:p>
            <a:endParaRPr lang="en-US"/>
          </a:p>
        </p:txBody>
      </p:sp>
      <p:sp>
        <p:nvSpPr>
          <p:cNvPr id="594954" name="Line 10"/>
          <p:cNvSpPr>
            <a:spLocks noChangeShapeType="1"/>
          </p:cNvSpPr>
          <p:nvPr/>
        </p:nvSpPr>
        <p:spPr bwMode="auto">
          <a:xfrm>
            <a:off x="609600" y="4419600"/>
            <a:ext cx="8153400" cy="0"/>
          </a:xfrm>
          <a:prstGeom prst="line">
            <a:avLst/>
          </a:prstGeom>
          <a:noFill/>
          <a:ln w="76200">
            <a:solidFill>
              <a:schemeClr val="folHlink"/>
            </a:solidFill>
            <a:round/>
            <a:headEnd/>
            <a:tailEnd/>
          </a:ln>
          <a:effectLst/>
        </p:spPr>
        <p:txBody>
          <a:bodyPr/>
          <a:lstStyle/>
          <a:p>
            <a:endParaRPr lang="en-US"/>
          </a:p>
        </p:txBody>
      </p:sp>
      <p:sp>
        <p:nvSpPr>
          <p:cNvPr id="594955" name="Rectangle 11"/>
          <p:cNvSpPr>
            <a:spLocks noChangeArrowheads="1"/>
          </p:cNvSpPr>
          <p:nvPr/>
        </p:nvSpPr>
        <p:spPr bwMode="auto">
          <a:xfrm>
            <a:off x="647700" y="3292475"/>
            <a:ext cx="8077200" cy="1066800"/>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A registration request or reply is sent by UDP using the well-known port 434.</a:t>
            </a:r>
          </a:p>
        </p:txBody>
      </p:sp>
      <p:grpSp>
        <p:nvGrpSpPr>
          <p:cNvPr id="2" name="Group 12"/>
          <p:cNvGrpSpPr>
            <a:grpSpLocks/>
          </p:cNvGrpSpPr>
          <p:nvPr/>
        </p:nvGrpSpPr>
        <p:grpSpPr bwMode="auto">
          <a:xfrm>
            <a:off x="609600" y="2557463"/>
            <a:ext cx="1143000" cy="566737"/>
            <a:chOff x="1200" y="1248"/>
            <a:chExt cx="720" cy="357"/>
          </a:xfrm>
        </p:grpSpPr>
        <p:pic>
          <p:nvPicPr>
            <p:cNvPr id="594957"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94958"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80086E6E-A27E-41C9-AA58-022025CF8BE5}" type="slidenum">
              <a:rPr lang="en-US"/>
              <a:pPr/>
              <a:t>67</a:t>
            </a:fld>
            <a:endParaRPr lang="en-US"/>
          </a:p>
        </p:txBody>
      </p:sp>
      <p:sp>
        <p:nvSpPr>
          <p:cNvPr id="533506"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10.7</a:t>
            </a:r>
            <a:r>
              <a:rPr lang="en-US" altLang="en-US">
                <a:solidFill>
                  <a:schemeClr val="accent2"/>
                </a:solidFill>
                <a:latin typeface="Times New Roman" pitchFamily="18" charset="0"/>
              </a:rPr>
              <a:t>    </a:t>
            </a:r>
            <a:r>
              <a:rPr lang="en-US" altLang="en-US" i="1">
                <a:latin typeface="Times New Roman" pitchFamily="18" charset="0"/>
              </a:rPr>
              <a:t>Data transfer</a:t>
            </a:r>
          </a:p>
        </p:txBody>
      </p:sp>
      <p:sp>
        <p:nvSpPr>
          <p:cNvPr id="53350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3350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350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3351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351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3351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3351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33515" name="Picture 11"/>
          <p:cNvPicPr>
            <a:picLocks noChangeAspect="1" noChangeArrowheads="1"/>
          </p:cNvPicPr>
          <p:nvPr/>
        </p:nvPicPr>
        <p:blipFill>
          <a:blip r:embed="rId3" cstate="print"/>
          <a:srcRect/>
          <a:stretch>
            <a:fillRect/>
          </a:stretch>
        </p:blipFill>
        <p:spPr bwMode="auto">
          <a:xfrm>
            <a:off x="238125" y="1214438"/>
            <a:ext cx="8601075" cy="4957762"/>
          </a:xfrm>
          <a:prstGeom prst="rect">
            <a:avLst/>
          </a:prstGeom>
          <a:noFill/>
          <a:ln w="9525">
            <a:noFill/>
            <a:miter lim="800000"/>
            <a:headEnd/>
            <a:tailEnd/>
          </a:ln>
          <a:effectLst/>
        </p:spPr>
      </p:pic>
      <p:pic>
        <p:nvPicPr>
          <p:cNvPr id="533517" name="Picture 13"/>
          <p:cNvPicPr>
            <a:picLocks noChangeAspect="1" noChangeArrowheads="1"/>
          </p:cNvPicPr>
          <p:nvPr/>
        </p:nvPicPr>
        <p:blipFill>
          <a:blip r:embed="rId4" cstate="print"/>
          <a:srcRect/>
          <a:stretch>
            <a:fillRect/>
          </a:stretch>
        </p:blipFill>
        <p:spPr bwMode="auto">
          <a:xfrm>
            <a:off x="1828800" y="3240088"/>
            <a:ext cx="3317875" cy="1560512"/>
          </a:xfrm>
          <a:prstGeom prst="rect">
            <a:avLst/>
          </a:prstGeom>
          <a:noFill/>
          <a:ln w="9525">
            <a:noFill/>
            <a:miter lim="800000"/>
            <a:headEnd/>
            <a:tailEnd/>
          </a:ln>
          <a:effectLst/>
        </p:spPr>
      </p:pic>
      <p:pic>
        <p:nvPicPr>
          <p:cNvPr id="533518" name="Picture 14"/>
          <p:cNvPicPr>
            <a:picLocks noChangeAspect="1" noChangeArrowheads="1"/>
          </p:cNvPicPr>
          <p:nvPr/>
        </p:nvPicPr>
        <p:blipFill>
          <a:blip r:embed="rId5" cstate="print"/>
          <a:srcRect/>
          <a:stretch>
            <a:fillRect/>
          </a:stretch>
        </p:blipFill>
        <p:spPr bwMode="auto">
          <a:xfrm>
            <a:off x="2667000" y="2255838"/>
            <a:ext cx="5064125" cy="944562"/>
          </a:xfrm>
          <a:prstGeom prst="rect">
            <a:avLst/>
          </a:prstGeom>
          <a:noFill/>
          <a:ln w="9525">
            <a:noFill/>
            <a:miter lim="800000"/>
            <a:headEnd/>
            <a:tailEnd/>
          </a:ln>
          <a:effectLst/>
        </p:spPr>
      </p:pic>
      <p:pic>
        <p:nvPicPr>
          <p:cNvPr id="533520" name="Picture 16"/>
          <p:cNvPicPr>
            <a:picLocks noChangeAspect="1" noChangeArrowheads="1"/>
          </p:cNvPicPr>
          <p:nvPr/>
        </p:nvPicPr>
        <p:blipFill>
          <a:blip r:embed="rId6" cstate="print"/>
          <a:srcRect/>
          <a:stretch>
            <a:fillRect/>
          </a:stretch>
        </p:blipFill>
        <p:spPr bwMode="auto">
          <a:xfrm>
            <a:off x="6045200" y="5143500"/>
            <a:ext cx="1955800" cy="647700"/>
          </a:xfrm>
          <a:prstGeom prst="rect">
            <a:avLst/>
          </a:prstGeom>
          <a:noFill/>
          <a:ln w="9525">
            <a:noFill/>
            <a:miter lim="800000"/>
            <a:headEnd/>
            <a:tailEnd/>
          </a:ln>
          <a:effectLst/>
        </p:spPr>
      </p:pic>
      <p:pic>
        <p:nvPicPr>
          <p:cNvPr id="533521" name="Picture 17"/>
          <p:cNvPicPr>
            <a:picLocks noChangeAspect="1" noChangeArrowheads="1"/>
          </p:cNvPicPr>
          <p:nvPr/>
        </p:nvPicPr>
        <p:blipFill>
          <a:blip r:embed="rId7" cstate="print"/>
          <a:srcRect/>
          <a:stretch>
            <a:fillRect/>
          </a:stretch>
        </p:blipFill>
        <p:spPr bwMode="auto">
          <a:xfrm>
            <a:off x="5853113" y="2976563"/>
            <a:ext cx="2376487" cy="151923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33518"/>
                                        </p:tgtEl>
                                        <p:attrNameLst>
                                          <p:attrName>style.visibility</p:attrName>
                                        </p:attrNameLst>
                                      </p:cBhvr>
                                      <p:to>
                                        <p:strVal val="visible"/>
                                      </p:to>
                                    </p:set>
                                    <p:animEffect transition="in" filter="wipe(right)">
                                      <p:cBhvr>
                                        <p:cTn id="7" dur="2000"/>
                                        <p:tgtEl>
                                          <p:spTgt spid="5335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33517"/>
                                        </p:tgtEl>
                                        <p:attrNameLst>
                                          <p:attrName>style.visibility</p:attrName>
                                        </p:attrNameLst>
                                      </p:cBhvr>
                                      <p:to>
                                        <p:strVal val="visible"/>
                                      </p:to>
                                    </p:set>
                                    <p:animEffect transition="in" filter="wipe(up)">
                                      <p:cBhvr>
                                        <p:cTn id="12" dur="2000"/>
                                        <p:tgtEl>
                                          <p:spTgt spid="5335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33520"/>
                                        </p:tgtEl>
                                        <p:attrNameLst>
                                          <p:attrName>style.visibility</p:attrName>
                                        </p:attrNameLst>
                                      </p:cBhvr>
                                      <p:to>
                                        <p:strVal val="visible"/>
                                      </p:to>
                                    </p:set>
                                    <p:animEffect transition="in" filter="wipe(left)">
                                      <p:cBhvr>
                                        <p:cTn id="17" dur="2000"/>
                                        <p:tgtEl>
                                          <p:spTgt spid="5335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33521"/>
                                        </p:tgtEl>
                                        <p:attrNameLst>
                                          <p:attrName>style.visibility</p:attrName>
                                        </p:attrNameLst>
                                      </p:cBhvr>
                                      <p:to>
                                        <p:strVal val="visible"/>
                                      </p:to>
                                    </p:set>
                                    <p:animEffect transition="in" filter="wipe(down)">
                                      <p:cBhvr>
                                        <p:cTn id="22" dur="2000"/>
                                        <p:tgtEl>
                                          <p:spTgt spid="533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Slide Number Placeholder 2"/>
          <p:cNvSpPr>
            <a:spLocks noGrp="1"/>
          </p:cNvSpPr>
          <p:nvPr>
            <p:ph type="sldNum" sz="quarter" idx="12"/>
          </p:nvPr>
        </p:nvSpPr>
        <p:spPr/>
        <p:txBody>
          <a:bodyPr/>
          <a:lstStyle/>
          <a:p>
            <a:fld id="{0BC37B66-45F0-4BC7-8D79-E24FCA7C9526}" type="slidenum">
              <a:rPr lang="en-US"/>
              <a:pPr/>
              <a:t>68</a:t>
            </a:fld>
            <a:endParaRPr lang="en-US"/>
          </a:p>
        </p:txBody>
      </p:sp>
      <p:sp>
        <p:nvSpPr>
          <p:cNvPr id="59699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9699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699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9699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699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9699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9700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97001" name="Line 9"/>
          <p:cNvSpPr>
            <a:spLocks noChangeShapeType="1"/>
          </p:cNvSpPr>
          <p:nvPr/>
        </p:nvSpPr>
        <p:spPr bwMode="auto">
          <a:xfrm>
            <a:off x="609600" y="3200400"/>
            <a:ext cx="8153400" cy="0"/>
          </a:xfrm>
          <a:prstGeom prst="line">
            <a:avLst/>
          </a:prstGeom>
          <a:noFill/>
          <a:ln w="76200">
            <a:solidFill>
              <a:schemeClr val="folHlink"/>
            </a:solidFill>
            <a:round/>
            <a:headEnd/>
            <a:tailEnd/>
          </a:ln>
          <a:effectLst/>
        </p:spPr>
        <p:txBody>
          <a:bodyPr/>
          <a:lstStyle/>
          <a:p>
            <a:endParaRPr lang="en-US"/>
          </a:p>
        </p:txBody>
      </p:sp>
      <p:sp>
        <p:nvSpPr>
          <p:cNvPr id="597002" name="Line 10"/>
          <p:cNvSpPr>
            <a:spLocks noChangeShapeType="1"/>
          </p:cNvSpPr>
          <p:nvPr/>
        </p:nvSpPr>
        <p:spPr bwMode="auto">
          <a:xfrm>
            <a:off x="609600" y="4419600"/>
            <a:ext cx="8153400" cy="0"/>
          </a:xfrm>
          <a:prstGeom prst="line">
            <a:avLst/>
          </a:prstGeom>
          <a:noFill/>
          <a:ln w="76200">
            <a:solidFill>
              <a:schemeClr val="folHlink"/>
            </a:solidFill>
            <a:round/>
            <a:headEnd/>
            <a:tailEnd/>
          </a:ln>
          <a:effectLst/>
        </p:spPr>
        <p:txBody>
          <a:bodyPr/>
          <a:lstStyle/>
          <a:p>
            <a:endParaRPr lang="en-US"/>
          </a:p>
        </p:txBody>
      </p:sp>
      <p:sp>
        <p:nvSpPr>
          <p:cNvPr id="597003" name="Rectangle 11"/>
          <p:cNvSpPr>
            <a:spLocks noChangeArrowheads="1"/>
          </p:cNvSpPr>
          <p:nvPr/>
        </p:nvSpPr>
        <p:spPr bwMode="auto">
          <a:xfrm>
            <a:off x="647700" y="3292475"/>
            <a:ext cx="8077200" cy="1066800"/>
          </a:xfrm>
          <a:prstGeom prst="rect">
            <a:avLst/>
          </a:prstGeom>
          <a:solidFill>
            <a:srgbClr val="3333CC"/>
          </a:solidFill>
          <a:ln w="76200" algn="ctr">
            <a:noFill/>
            <a:miter lim="800000"/>
            <a:headEnd/>
            <a:tailEnd/>
          </a:ln>
          <a:effectLst/>
        </p:spPr>
        <p:txBody>
          <a:bodyPr>
            <a:spAutoFit/>
          </a:bodyPr>
          <a:lstStyle/>
          <a:p>
            <a:pPr algn="ctr"/>
            <a:r>
              <a:rPr lang="en-US" sz="3200" i="1">
                <a:solidFill>
                  <a:schemeClr val="bg1"/>
                </a:solidFill>
                <a:latin typeface="Arial" pitchFamily="34" charset="0"/>
              </a:rPr>
              <a:t>The movement of the mobile host is transparent to the rest of the Internet.</a:t>
            </a:r>
          </a:p>
        </p:txBody>
      </p:sp>
      <p:grpSp>
        <p:nvGrpSpPr>
          <p:cNvPr id="2" name="Group 12"/>
          <p:cNvGrpSpPr>
            <a:grpSpLocks/>
          </p:cNvGrpSpPr>
          <p:nvPr/>
        </p:nvGrpSpPr>
        <p:grpSpPr bwMode="auto">
          <a:xfrm>
            <a:off x="609600" y="2557463"/>
            <a:ext cx="1143000" cy="566737"/>
            <a:chOff x="1200" y="1248"/>
            <a:chExt cx="720" cy="357"/>
          </a:xfrm>
        </p:grpSpPr>
        <p:pic>
          <p:nvPicPr>
            <p:cNvPr id="597005" name="Picture 13"/>
            <p:cNvPicPr>
              <a:picLocks noChangeAspect="1" noChangeArrowheads="1"/>
            </p:cNvPicPr>
            <p:nvPr/>
          </p:nvPicPr>
          <p:blipFill>
            <a:blip r:embed="rId3" cstate="print"/>
            <a:srcRect/>
            <a:stretch>
              <a:fillRect/>
            </a:stretch>
          </p:blipFill>
          <p:spPr bwMode="auto">
            <a:xfrm>
              <a:off x="1200" y="1248"/>
              <a:ext cx="720" cy="357"/>
            </a:xfrm>
            <a:prstGeom prst="rect">
              <a:avLst/>
            </a:prstGeom>
            <a:noFill/>
            <a:ln w="9525">
              <a:noFill/>
              <a:miter lim="800000"/>
              <a:headEnd/>
              <a:tailEnd/>
            </a:ln>
            <a:effectLst/>
          </p:spPr>
        </p:pic>
        <p:sp>
          <p:nvSpPr>
            <p:cNvPr id="597006"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 name="Slide Number Placeholder 2"/>
          <p:cNvSpPr>
            <a:spLocks noGrp="1"/>
          </p:cNvSpPr>
          <p:nvPr>
            <p:ph type="sldNum" sz="quarter" idx="12"/>
          </p:nvPr>
        </p:nvSpPr>
        <p:spPr/>
        <p:txBody>
          <a:bodyPr/>
          <a:lstStyle/>
          <a:p>
            <a:fld id="{1F2F9A04-6733-4ABC-93C3-C818E4395A62}" type="slidenum">
              <a:rPr lang="en-US"/>
              <a:pPr/>
              <a:t>69</a:t>
            </a:fld>
            <a:endParaRPr lang="en-US"/>
          </a:p>
        </p:txBody>
      </p:sp>
      <p:sp>
        <p:nvSpPr>
          <p:cNvPr id="599042"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sz="3200">
              <a:effectLst>
                <a:outerShdw blurRad="38100" dist="38100" dir="2700000" algn="tl">
                  <a:srgbClr val="FFFFFF"/>
                </a:outerShdw>
              </a:effectLst>
              <a:latin typeface="Times New Roman" pitchFamily="18" charset="0"/>
            </a:endParaRPr>
          </a:p>
        </p:txBody>
      </p:sp>
      <p:sp>
        <p:nvSpPr>
          <p:cNvPr id="599043" name="Text Box 3"/>
          <p:cNvSpPr txBox="1">
            <a:spLocks noChangeArrowheads="1"/>
          </p:cNvSpPr>
          <p:nvPr/>
        </p:nvSpPr>
        <p:spPr bwMode="auto">
          <a:xfrm>
            <a:off x="228600" y="355600"/>
            <a:ext cx="7800975" cy="650875"/>
          </a:xfrm>
          <a:prstGeom prst="rect">
            <a:avLst/>
          </a:prstGeom>
          <a:solidFill>
            <a:schemeClr val="folHlink"/>
          </a:solidFill>
          <a:ln w="9525">
            <a:solidFill>
              <a:schemeClr val="folHlink"/>
            </a:solidFill>
            <a:miter lim="800000"/>
            <a:headEnd/>
            <a:tailEnd/>
          </a:ln>
          <a:effectLst/>
        </p:spPr>
        <p:txBody>
          <a:bodyPr wrap="none">
            <a:spAutoFit/>
          </a:bodyPr>
          <a:lstStyle/>
          <a:p>
            <a:r>
              <a:rPr lang="en-US" sz="3600">
                <a:solidFill>
                  <a:schemeClr val="bg1"/>
                </a:solidFill>
                <a:latin typeface="Times" pitchFamily="18" charset="0"/>
              </a:rPr>
              <a:t>10-4  INEFFICIENCY IN MOBILE IP</a:t>
            </a:r>
          </a:p>
        </p:txBody>
      </p:sp>
      <p:sp>
        <p:nvSpPr>
          <p:cNvPr id="599044"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a:latin typeface="Times New Roman" pitchFamily="18" charset="0"/>
            </a:endParaRPr>
          </a:p>
        </p:txBody>
      </p:sp>
      <p:sp>
        <p:nvSpPr>
          <p:cNvPr id="599045" name="Rectangle 5"/>
          <p:cNvSpPr>
            <a:spLocks noChangeArrowheads="1"/>
          </p:cNvSpPr>
          <p:nvPr/>
        </p:nvSpPr>
        <p:spPr bwMode="auto">
          <a:xfrm>
            <a:off x="381000" y="1524000"/>
            <a:ext cx="8534400" cy="2227263"/>
          </a:xfrm>
          <a:prstGeom prst="rect">
            <a:avLst/>
          </a:prstGeom>
          <a:noFill/>
          <a:ln w="9525">
            <a:noFill/>
            <a:miter lim="800000"/>
            <a:headEnd/>
            <a:tailEnd/>
          </a:ln>
          <a:effectLst/>
        </p:spPr>
        <p:txBody>
          <a:bodyPr>
            <a:spAutoFit/>
          </a:bodyPr>
          <a:lstStyle/>
          <a:p>
            <a:pPr algn="just"/>
            <a:r>
              <a:rPr lang="en-US" sz="2800">
                <a:latin typeface="Arial Unicode MS" pitchFamily="34" charset="-128"/>
              </a:rPr>
              <a:t>Communication involving mobile IP can be inefficient. The inefficiency can be severe or moderate. The severe case is called </a:t>
            </a:r>
            <a:r>
              <a:rPr lang="en-US" sz="2800" i="1">
                <a:latin typeface="Arial Unicode MS" pitchFamily="34" charset="-128"/>
              </a:rPr>
              <a:t>double crossing</a:t>
            </a:r>
            <a:r>
              <a:rPr lang="en-US" sz="2800">
                <a:latin typeface="Arial Unicode MS" pitchFamily="34" charset="-128"/>
              </a:rPr>
              <a:t> or 2X . The moderate case is called </a:t>
            </a:r>
            <a:r>
              <a:rPr lang="en-US" sz="2800" i="1">
                <a:latin typeface="Arial Unicode MS" pitchFamily="34" charset="-128"/>
              </a:rPr>
              <a:t>triangle routing</a:t>
            </a:r>
            <a:r>
              <a:rPr lang="en-US" sz="2800">
                <a:latin typeface="Arial Unicode MS" pitchFamily="34" charset="-128"/>
              </a:rPr>
              <a:t> or </a:t>
            </a:r>
            <a:r>
              <a:rPr lang="en-US" sz="2800" i="1">
                <a:latin typeface="Arial Unicode MS" pitchFamily="34" charset="-128"/>
              </a:rPr>
              <a:t>dog-leg routing</a:t>
            </a:r>
            <a:r>
              <a:rPr lang="en-US" sz="2800">
                <a:latin typeface="Arial Unicode MS" pitchFamily="34" charset="-128"/>
              </a:rPr>
              <a:t>.      </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Slide Number Placeholder 2"/>
          <p:cNvSpPr>
            <a:spLocks noGrp="1"/>
          </p:cNvSpPr>
          <p:nvPr>
            <p:ph type="sldNum" sz="quarter" idx="12"/>
          </p:nvPr>
        </p:nvSpPr>
        <p:spPr/>
        <p:txBody>
          <a:bodyPr/>
          <a:lstStyle/>
          <a:p>
            <a:fld id="{97D64A2F-9301-4671-8BA0-2E42A9FA601A}" type="slidenum">
              <a:rPr lang="en-US"/>
              <a:pPr/>
              <a:t>70</a:t>
            </a:fld>
            <a:endParaRPr lang="en-US"/>
          </a:p>
        </p:txBody>
      </p:sp>
      <p:sp>
        <p:nvSpPr>
          <p:cNvPr id="535554"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Double </a:t>
            </a:r>
            <a:r>
              <a:rPr lang="en-US" altLang="en-US" i="1" dirty="0">
                <a:latin typeface="Times New Roman" pitchFamily="18" charset="0"/>
              </a:rPr>
              <a:t>crossing</a:t>
            </a:r>
          </a:p>
        </p:txBody>
      </p:sp>
      <p:sp>
        <p:nvSpPr>
          <p:cNvPr id="53555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3555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555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3555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555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3556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3556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35564" name="Picture 12"/>
          <p:cNvPicPr>
            <a:picLocks noChangeAspect="1" noChangeArrowheads="1"/>
          </p:cNvPicPr>
          <p:nvPr/>
        </p:nvPicPr>
        <p:blipFill>
          <a:blip r:embed="rId3" cstate="print"/>
          <a:srcRect/>
          <a:stretch>
            <a:fillRect/>
          </a:stretch>
        </p:blipFill>
        <p:spPr bwMode="auto">
          <a:xfrm>
            <a:off x="152400" y="1892300"/>
            <a:ext cx="8775700" cy="2374900"/>
          </a:xfrm>
          <a:prstGeom prst="rect">
            <a:avLst/>
          </a:prstGeom>
          <a:noFill/>
          <a:ln w="9525">
            <a:noFill/>
            <a:miter lim="800000"/>
            <a:headEnd/>
            <a:tailEnd/>
          </a:ln>
          <a:effectLst/>
        </p:spPr>
      </p:pic>
      <p:sp>
        <p:nvSpPr>
          <p:cNvPr id="535565" name="Rectangle 13"/>
          <p:cNvSpPr>
            <a:spLocks noChangeArrowheads="1"/>
          </p:cNvSpPr>
          <p:nvPr/>
        </p:nvSpPr>
        <p:spPr bwMode="auto">
          <a:xfrm>
            <a:off x="1066800" y="2743200"/>
            <a:ext cx="152400" cy="228600"/>
          </a:xfrm>
          <a:prstGeom prst="rect">
            <a:avLst/>
          </a:prstGeom>
          <a:solidFill>
            <a:schemeClr val="bg1"/>
          </a:solidFill>
          <a:ln w="9525">
            <a:noFill/>
            <a:miter lim="800000"/>
            <a:headEnd/>
            <a:tailEnd/>
          </a:ln>
          <a:effectLst/>
        </p:spPr>
        <p:txBody>
          <a:bodyPr wrap="none" anchor="ctr"/>
          <a:lstStyle/>
          <a:p>
            <a:endParaRPr lang="en-US"/>
          </a:p>
        </p:txBody>
      </p:sp>
      <p:pic>
        <p:nvPicPr>
          <p:cNvPr id="535566" name="Picture 14"/>
          <p:cNvPicPr>
            <a:picLocks noChangeAspect="1" noChangeArrowheads="1"/>
          </p:cNvPicPr>
          <p:nvPr/>
        </p:nvPicPr>
        <p:blipFill>
          <a:blip r:embed="rId4" cstate="print"/>
          <a:srcRect/>
          <a:stretch>
            <a:fillRect/>
          </a:stretch>
        </p:blipFill>
        <p:spPr bwMode="auto">
          <a:xfrm>
            <a:off x="1909763" y="2865438"/>
            <a:ext cx="4643437" cy="411162"/>
          </a:xfrm>
          <a:prstGeom prst="rect">
            <a:avLst/>
          </a:prstGeom>
          <a:noFill/>
          <a:ln w="9525">
            <a:noFill/>
            <a:miter lim="800000"/>
            <a:headEnd/>
            <a:tailEnd/>
          </a:ln>
          <a:effectLst/>
        </p:spPr>
      </p:pic>
      <p:pic>
        <p:nvPicPr>
          <p:cNvPr id="535568" name="Picture 16"/>
          <p:cNvPicPr>
            <a:picLocks noChangeAspect="1" noChangeArrowheads="1"/>
          </p:cNvPicPr>
          <p:nvPr/>
        </p:nvPicPr>
        <p:blipFill>
          <a:blip r:embed="rId5" cstate="print"/>
          <a:srcRect/>
          <a:stretch>
            <a:fillRect/>
          </a:stretch>
        </p:blipFill>
        <p:spPr bwMode="auto">
          <a:xfrm>
            <a:off x="2211388" y="3352800"/>
            <a:ext cx="6170612" cy="112871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35566"/>
                                        </p:tgtEl>
                                        <p:attrNameLst>
                                          <p:attrName>style.visibility</p:attrName>
                                        </p:attrNameLst>
                                      </p:cBhvr>
                                      <p:to>
                                        <p:strVal val="visible"/>
                                      </p:to>
                                    </p:set>
                                    <p:animEffect transition="in" filter="wipe(right)">
                                      <p:cBhvr>
                                        <p:cTn id="7" dur="2000"/>
                                        <p:tgtEl>
                                          <p:spTgt spid="5355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5568"/>
                                        </p:tgtEl>
                                        <p:attrNameLst>
                                          <p:attrName>style.visibility</p:attrName>
                                        </p:attrNameLst>
                                      </p:cBhvr>
                                      <p:to>
                                        <p:strVal val="visible"/>
                                      </p:to>
                                    </p:set>
                                    <p:animEffect transition="in" filter="wipe(left)">
                                      <p:cBhvr>
                                        <p:cTn id="12" dur="2000"/>
                                        <p:tgtEl>
                                          <p:spTgt spid="535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Slide Number Placeholder 2"/>
          <p:cNvSpPr>
            <a:spLocks noGrp="1"/>
          </p:cNvSpPr>
          <p:nvPr>
            <p:ph type="sldNum" sz="quarter" idx="12"/>
          </p:nvPr>
        </p:nvSpPr>
        <p:spPr/>
        <p:txBody>
          <a:bodyPr/>
          <a:lstStyle/>
          <a:p>
            <a:fld id="{BD6173DD-A95E-464F-9A9C-2304105C75AE}" type="slidenum">
              <a:rPr lang="en-US"/>
              <a:pPr/>
              <a:t>71</a:t>
            </a:fld>
            <a:endParaRPr lang="en-US"/>
          </a:p>
        </p:txBody>
      </p:sp>
      <p:sp>
        <p:nvSpPr>
          <p:cNvPr id="537602"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i="1" dirty="0" smtClean="0">
                <a:latin typeface="Times New Roman" pitchFamily="18" charset="0"/>
              </a:rPr>
              <a:t>Triangle </a:t>
            </a:r>
            <a:r>
              <a:rPr lang="en-US" altLang="en-US" i="1" dirty="0">
                <a:latin typeface="Times New Roman" pitchFamily="18" charset="0"/>
              </a:rPr>
              <a:t>routing</a:t>
            </a:r>
          </a:p>
        </p:txBody>
      </p:sp>
      <p:sp>
        <p:nvSpPr>
          <p:cNvPr id="53760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3760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760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3760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3760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3760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3760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grpSp>
        <p:nvGrpSpPr>
          <p:cNvPr id="2" name="Group 14"/>
          <p:cNvGrpSpPr>
            <a:grpSpLocks/>
          </p:cNvGrpSpPr>
          <p:nvPr/>
        </p:nvGrpSpPr>
        <p:grpSpPr bwMode="auto">
          <a:xfrm>
            <a:off x="517525" y="1995488"/>
            <a:ext cx="7788275" cy="3186112"/>
            <a:chOff x="326" y="1257"/>
            <a:chExt cx="4906" cy="2007"/>
          </a:xfrm>
        </p:grpSpPr>
        <p:pic>
          <p:nvPicPr>
            <p:cNvPr id="537611" name="Picture 11"/>
            <p:cNvPicPr>
              <a:picLocks noChangeAspect="1" noChangeArrowheads="1"/>
            </p:cNvPicPr>
            <p:nvPr/>
          </p:nvPicPr>
          <p:blipFill>
            <a:blip r:embed="rId3" cstate="print"/>
            <a:srcRect/>
            <a:stretch>
              <a:fillRect/>
            </a:stretch>
          </p:blipFill>
          <p:spPr bwMode="auto">
            <a:xfrm>
              <a:off x="326" y="1257"/>
              <a:ext cx="4906" cy="2007"/>
            </a:xfrm>
            <a:prstGeom prst="rect">
              <a:avLst/>
            </a:prstGeom>
            <a:noFill/>
            <a:ln w="9525">
              <a:noFill/>
              <a:miter lim="800000"/>
              <a:headEnd/>
              <a:tailEnd/>
            </a:ln>
            <a:effectLst/>
          </p:spPr>
        </p:pic>
        <p:sp>
          <p:nvSpPr>
            <p:cNvPr id="537613" name="Rectangle 13"/>
            <p:cNvSpPr>
              <a:spLocks noChangeArrowheads="1"/>
            </p:cNvSpPr>
            <p:nvPr/>
          </p:nvSpPr>
          <p:spPr bwMode="auto">
            <a:xfrm>
              <a:off x="864" y="1392"/>
              <a:ext cx="96" cy="144"/>
            </a:xfrm>
            <a:prstGeom prst="rect">
              <a:avLst/>
            </a:prstGeom>
            <a:solidFill>
              <a:schemeClr val="bg1"/>
            </a:solidFill>
            <a:ln w="9525">
              <a:noFill/>
              <a:miter lim="800000"/>
              <a:headEnd/>
              <a:tailEnd/>
            </a:ln>
            <a:effectLst/>
          </p:spPr>
          <p:txBody>
            <a:bodyPr wrap="none" anchor="ctr"/>
            <a:lstStyle/>
            <a:p>
              <a:endParaRPr lang="en-US"/>
            </a:p>
          </p:txBody>
        </p:sp>
      </p:grpSp>
      <p:pic>
        <p:nvPicPr>
          <p:cNvPr id="537615" name="Picture 15"/>
          <p:cNvPicPr>
            <a:picLocks noChangeAspect="1" noChangeArrowheads="1"/>
          </p:cNvPicPr>
          <p:nvPr/>
        </p:nvPicPr>
        <p:blipFill>
          <a:blip r:embed="rId4" cstate="print"/>
          <a:srcRect/>
          <a:stretch>
            <a:fillRect/>
          </a:stretch>
        </p:blipFill>
        <p:spPr bwMode="auto">
          <a:xfrm>
            <a:off x="2590800" y="2392363"/>
            <a:ext cx="4251325" cy="655637"/>
          </a:xfrm>
          <a:prstGeom prst="rect">
            <a:avLst/>
          </a:prstGeom>
          <a:noFill/>
          <a:ln w="9525">
            <a:noFill/>
            <a:miter lim="800000"/>
            <a:headEnd/>
            <a:tailEnd/>
          </a:ln>
          <a:effectLst/>
        </p:spPr>
      </p:pic>
      <p:pic>
        <p:nvPicPr>
          <p:cNvPr id="537616" name="Picture 16"/>
          <p:cNvPicPr>
            <a:picLocks noChangeAspect="1" noChangeArrowheads="1"/>
          </p:cNvPicPr>
          <p:nvPr/>
        </p:nvPicPr>
        <p:blipFill>
          <a:blip r:embed="rId5" cstate="print"/>
          <a:srcRect/>
          <a:stretch>
            <a:fillRect/>
          </a:stretch>
        </p:blipFill>
        <p:spPr bwMode="auto">
          <a:xfrm>
            <a:off x="2362200" y="3429000"/>
            <a:ext cx="1196975" cy="398463"/>
          </a:xfrm>
          <a:prstGeom prst="rect">
            <a:avLst/>
          </a:prstGeom>
          <a:noFill/>
          <a:ln w="9525">
            <a:noFill/>
            <a:miter lim="800000"/>
            <a:headEnd/>
            <a:tailEnd/>
          </a:ln>
          <a:effectLst/>
        </p:spPr>
      </p:pic>
      <p:pic>
        <p:nvPicPr>
          <p:cNvPr id="537618" name="Picture 18"/>
          <p:cNvPicPr>
            <a:picLocks noChangeAspect="1" noChangeArrowheads="1"/>
          </p:cNvPicPr>
          <p:nvPr/>
        </p:nvPicPr>
        <p:blipFill>
          <a:blip r:embed="rId6" cstate="print"/>
          <a:srcRect/>
          <a:stretch>
            <a:fillRect/>
          </a:stretch>
        </p:blipFill>
        <p:spPr bwMode="auto">
          <a:xfrm>
            <a:off x="4038600" y="3944938"/>
            <a:ext cx="1196975" cy="39846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37615"/>
                                        </p:tgtEl>
                                        <p:attrNameLst>
                                          <p:attrName>style.visibility</p:attrName>
                                        </p:attrNameLst>
                                      </p:cBhvr>
                                      <p:to>
                                        <p:strVal val="visible"/>
                                      </p:to>
                                    </p:set>
                                    <p:animEffect transition="in" filter="wipe(right)">
                                      <p:cBhvr>
                                        <p:cTn id="7" dur="2000"/>
                                        <p:tgtEl>
                                          <p:spTgt spid="5376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7616"/>
                                        </p:tgtEl>
                                        <p:attrNameLst>
                                          <p:attrName>style.visibility</p:attrName>
                                        </p:attrNameLst>
                                      </p:cBhvr>
                                      <p:to>
                                        <p:strVal val="visible"/>
                                      </p:to>
                                    </p:set>
                                    <p:animEffect transition="in" filter="wipe(left)">
                                      <p:cBhvr>
                                        <p:cTn id="12" dur="2000"/>
                                        <p:tgtEl>
                                          <p:spTgt spid="5376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37618"/>
                                        </p:tgtEl>
                                        <p:attrNameLst>
                                          <p:attrName>style.visibility</p:attrName>
                                        </p:attrNameLst>
                                      </p:cBhvr>
                                      <p:to>
                                        <p:strVal val="visible"/>
                                      </p:to>
                                    </p:set>
                                    <p:animEffect transition="in" filter="wipe(left)">
                                      <p:cBhvr>
                                        <p:cTn id="17" dur="2000"/>
                                        <p:tgtEl>
                                          <p:spTgt spid="537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5837</TotalTime>
  <Words>2735</Words>
  <Application>Microsoft Office PowerPoint</Application>
  <PresentationFormat>On-screen Show (4:3)</PresentationFormat>
  <Paragraphs>374</Paragraphs>
  <Slides>71</Slides>
  <Notes>22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73" baseType="lpstr">
      <vt:lpstr>Office Theme</vt:lpstr>
      <vt:lpstr>Bitmap Image</vt:lpstr>
      <vt:lpstr>Slide 1</vt:lpstr>
      <vt:lpstr>Slide 2</vt:lpstr>
      <vt:lpstr>IP criteria:</vt:lpstr>
      <vt:lpstr>Slide 4</vt:lpstr>
      <vt:lpstr>Slide 5</vt:lpstr>
      <vt:lpstr>ARP (Address Resolution Protocol): </vt:lpstr>
      <vt:lpstr>Mapping </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DHCP (Dynamic Host Configuration Protocol): </vt:lpstr>
      <vt:lpstr>DHCP  Transition:</vt:lpstr>
      <vt:lpstr>Slide 22</vt:lpstr>
      <vt:lpstr>Slide 23</vt:lpstr>
      <vt:lpstr>Slide 24</vt:lpstr>
      <vt:lpstr>Slide 25</vt:lpstr>
      <vt:lpstr>Characteristics:</vt:lpstr>
      <vt:lpstr>Continue……</vt:lpstr>
      <vt:lpstr>Slide 28</vt:lpstr>
      <vt:lpstr>Slide 29</vt:lpstr>
      <vt:lpstr>Slide 30</vt:lpstr>
      <vt:lpstr>Version:  IPV4</vt:lpstr>
      <vt:lpstr>Slide 32</vt:lpstr>
      <vt:lpstr>Protocols</vt:lpstr>
      <vt:lpstr>Slide 34</vt:lpstr>
      <vt:lpstr>Slide 35</vt:lpstr>
      <vt:lpstr>Fields related to fragmentation: </vt:lpstr>
      <vt:lpstr>Slide 37</vt:lpstr>
      <vt:lpstr>Slide 38</vt:lpstr>
      <vt:lpstr>Demerit of IPV4:</vt:lpstr>
      <vt:lpstr>Merit of IPV6 over IPV4:</vt:lpstr>
      <vt:lpstr>Slide 41</vt:lpstr>
      <vt:lpstr>IPv6 Categories of addresses: </vt:lpstr>
      <vt:lpstr>Slide 43</vt:lpstr>
      <vt:lpstr>Fragmentation in IPv6:</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shahidul</cp:lastModifiedBy>
  <cp:revision>246</cp:revision>
  <dcterms:created xsi:type="dcterms:W3CDTF">2000-01-15T04:50:39Z</dcterms:created>
  <dcterms:modified xsi:type="dcterms:W3CDTF">2015-04-10T16:29:47Z</dcterms:modified>
</cp:coreProperties>
</file>