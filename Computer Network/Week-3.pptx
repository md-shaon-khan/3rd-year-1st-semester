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43"/>
  </p:notesMasterIdLst>
  <p:handoutMasterIdLst>
    <p:handoutMasterId r:id="rId44"/>
  </p:handoutMasterIdLst>
  <p:sldIdLst>
    <p:sldId id="397" r:id="rId2"/>
    <p:sldId id="304" r:id="rId3"/>
    <p:sldId id="432" r:id="rId4"/>
    <p:sldId id="305" r:id="rId5"/>
    <p:sldId id="306" r:id="rId6"/>
    <p:sldId id="308" r:id="rId7"/>
    <p:sldId id="434" r:id="rId8"/>
    <p:sldId id="310" r:id="rId9"/>
    <p:sldId id="311" r:id="rId10"/>
    <p:sldId id="313" r:id="rId11"/>
    <p:sldId id="336" r:id="rId12"/>
    <p:sldId id="381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382" r:id="rId21"/>
    <p:sldId id="315" r:id="rId22"/>
    <p:sldId id="316" r:id="rId23"/>
    <p:sldId id="317" r:id="rId24"/>
    <p:sldId id="337" r:id="rId25"/>
    <p:sldId id="338" r:id="rId26"/>
    <p:sldId id="339" r:id="rId27"/>
    <p:sldId id="435" r:id="rId28"/>
    <p:sldId id="436" r:id="rId29"/>
    <p:sldId id="437" r:id="rId30"/>
    <p:sldId id="438" r:id="rId31"/>
    <p:sldId id="451" r:id="rId32"/>
    <p:sldId id="439" r:id="rId33"/>
    <p:sldId id="440" r:id="rId34"/>
    <p:sldId id="441" r:id="rId35"/>
    <p:sldId id="442" r:id="rId36"/>
    <p:sldId id="443" r:id="rId37"/>
    <p:sldId id="444" r:id="rId38"/>
    <p:sldId id="445" r:id="rId39"/>
    <p:sldId id="446" r:id="rId40"/>
    <p:sldId id="452" r:id="rId41"/>
    <p:sldId id="453" r:id="rId42"/>
  </p:sldIdLst>
  <p:sldSz cx="9144000" cy="6858000" type="screen4x3"/>
  <p:notesSz cx="6761163" cy="99425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FFFF00"/>
    <a:srgbClr val="DDDDDD"/>
    <a:srgbClr val="FFCCFF"/>
    <a:srgbClr val="CCFFFF"/>
    <a:srgbClr val="FF0000"/>
    <a:srgbClr val="6699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8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6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9" d="100"/>
          <a:sy n="39" d="100"/>
        </p:scale>
        <p:origin x="-2371" y="-67"/>
      </p:cViewPr>
      <p:guideLst>
        <p:guide orient="horz" pos="3132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23789" cy="489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00767" y="1"/>
            <a:ext cx="2923789" cy="489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53356"/>
            <a:ext cx="2923789" cy="489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altLang="en-US"/>
              <a:t>MSI</a:t>
            </a:r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00767" y="9453356"/>
            <a:ext cx="2923789" cy="489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35F5024-8A21-4FA6-9ACE-CECE850AE1F2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30156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t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1008" y="0"/>
            <a:ext cx="2930155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t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5350" y="746125"/>
            <a:ext cx="4970463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852" y="4722695"/>
            <a:ext cx="4959459" cy="4474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text styles</a:t>
            </a:r>
          </a:p>
          <a:p>
            <a:pPr lvl="1"/>
            <a:r>
              <a:rPr lang="en-US" altLang="he-IL"/>
              <a:t>Second level</a:t>
            </a:r>
          </a:p>
          <a:p>
            <a:pPr lvl="2"/>
            <a:r>
              <a:rPr lang="en-US" altLang="he-IL"/>
              <a:t>Third level</a:t>
            </a:r>
          </a:p>
          <a:p>
            <a:pPr lvl="3"/>
            <a:r>
              <a:rPr lang="en-US" altLang="he-IL"/>
              <a:t>Fourth level</a:t>
            </a:r>
          </a:p>
          <a:p>
            <a:pPr lvl="4"/>
            <a:r>
              <a:rPr lang="en-US" altLang="he-IL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5388"/>
            <a:ext cx="2930156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b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Times New Roman" pitchFamily="18" charset="0"/>
              </a:defRPr>
            </a:lvl1pPr>
          </a:lstStyle>
          <a:p>
            <a:r>
              <a:rPr lang="en-US" altLang="en-US"/>
              <a:t>MSI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1008" y="9445388"/>
            <a:ext cx="2930155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97" tIns="46698" rIns="93397" bIns="46698" numCol="1" anchor="b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A812833C-043E-4674-84DC-DD51D2FE9E80}" type="slidenum">
              <a:rPr lang="he-IL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12833C-043E-4674-84DC-DD51D2FE9E80}" type="slidenum">
              <a:rPr lang="he-IL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12833C-043E-4674-84DC-DD51D2FE9E80}" type="slidenum">
              <a:rPr lang="he-IL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2833C-043E-4674-84DC-DD51D2FE9E80}" type="slidenum">
              <a:rPr lang="he-IL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12833C-043E-4674-84DC-DD51D2FE9E80}" type="slidenum">
              <a:rPr lang="he-IL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12833C-043E-4674-84DC-DD51D2FE9E80}" type="slidenum">
              <a:rPr lang="he-IL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BA35F8-D5AB-4DB1-BC97-D447C0890DAE}" type="slidenum">
              <a:rPr lang="he-IL" altLang="en-US"/>
              <a:pPr/>
              <a:t>12</a:t>
            </a:fld>
            <a:endParaRPr lang="en-US" altLang="en-US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613150" y="874713"/>
            <a:ext cx="1273175" cy="955675"/>
          </a:xfrm>
          <a:solidFill>
            <a:srgbClr val="FFFFFF"/>
          </a:solidFill>
          <a:ln/>
        </p:spPr>
      </p:sp>
      <p:sp>
        <p:nvSpPr>
          <p:cNvPr id="29491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63703" y="3519714"/>
            <a:ext cx="7692255" cy="184666"/>
          </a:xfrm>
          <a:ln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F0D770-807D-4E8B-A945-2BDD67458D1A}" type="slidenum">
              <a:rPr lang="he-IL" altLang="en-US"/>
              <a:pPr/>
              <a:t>13</a:t>
            </a:fld>
            <a:endParaRPr lang="en-US" altLang="en-US"/>
          </a:p>
        </p:txBody>
      </p:sp>
      <p:sp>
        <p:nvSpPr>
          <p:cNvPr id="391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8525" y="746125"/>
            <a:ext cx="4965700" cy="3725863"/>
          </a:xfrm>
          <a:ln/>
        </p:spPr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2444" y="4722695"/>
            <a:ext cx="4956276" cy="447413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1F7747-BB73-4004-9529-D819877FE471}" type="slidenum">
              <a:rPr lang="he-IL" altLang="en-US"/>
              <a:pPr/>
              <a:t>14</a:t>
            </a:fld>
            <a:endParaRPr lang="en-US" altLang="en-US"/>
          </a:p>
        </p:txBody>
      </p:sp>
      <p:sp>
        <p:nvSpPr>
          <p:cNvPr id="393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8525" y="746125"/>
            <a:ext cx="4965700" cy="3725863"/>
          </a:xfrm>
          <a:ln/>
        </p:spPr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2444" y="4722695"/>
            <a:ext cx="4956276" cy="447413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A085D9-2B5A-412C-86C2-1C0C7C992E1F}" type="slidenum">
              <a:rPr lang="he-IL" altLang="en-US"/>
              <a:pPr/>
              <a:t>15</a:t>
            </a:fld>
            <a:endParaRPr lang="en-US" altLang="en-US"/>
          </a:p>
        </p:txBody>
      </p:sp>
      <p:sp>
        <p:nvSpPr>
          <p:cNvPr id="395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8525" y="746125"/>
            <a:ext cx="4965700" cy="3725863"/>
          </a:xfrm>
          <a:ln/>
        </p:spPr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2444" y="4722695"/>
            <a:ext cx="4956276" cy="447413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9ABD52-E250-4E9E-92C8-D111E57E1E43}" type="slidenum">
              <a:rPr lang="he-IL" altLang="en-US"/>
              <a:pPr/>
              <a:t>16</a:t>
            </a:fld>
            <a:endParaRPr lang="en-US" altLang="en-US"/>
          </a:p>
        </p:txBody>
      </p:sp>
      <p:sp>
        <p:nvSpPr>
          <p:cNvPr id="397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8525" y="746125"/>
            <a:ext cx="4965700" cy="3725863"/>
          </a:xfrm>
          <a:ln/>
        </p:spPr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2444" y="4722695"/>
            <a:ext cx="4956276" cy="447413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4F1EF9-18ED-4E40-9FAA-DC0E8CB13434}" type="slidenum">
              <a:rPr lang="he-IL" altLang="en-US"/>
              <a:pPr/>
              <a:t>17</a:t>
            </a:fld>
            <a:endParaRPr lang="en-US" altLang="en-US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8525" y="746125"/>
            <a:ext cx="4965700" cy="3725863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2444" y="4722695"/>
            <a:ext cx="4956276" cy="447413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FF51F6-20E4-4153-955A-1AD9C4E10989}" type="slidenum">
              <a:rPr lang="he-IL" altLang="en-US"/>
              <a:pPr/>
              <a:t>18</a:t>
            </a:fld>
            <a:endParaRPr lang="en-US" altLang="en-US"/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8525" y="746125"/>
            <a:ext cx="4965700" cy="3725863"/>
          </a:xfrm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2444" y="4722695"/>
            <a:ext cx="4956276" cy="447413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64965E-7DA8-413B-B434-504ADF1454CE}" type="slidenum">
              <a:rPr lang="he-IL" altLang="en-US"/>
              <a:pPr/>
              <a:t>20</a:t>
            </a:fld>
            <a:endParaRPr lang="en-US" altLang="en-US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613150" y="874713"/>
            <a:ext cx="1273175" cy="955675"/>
          </a:xfrm>
          <a:solidFill>
            <a:srgbClr val="FFFFFF"/>
          </a:solidFill>
          <a:ln/>
        </p:spPr>
      </p:sp>
      <p:sp>
        <p:nvSpPr>
          <p:cNvPr id="29696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63703" y="3519714"/>
            <a:ext cx="7692255" cy="184666"/>
          </a:xfrm>
          <a:ln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MSI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12833C-043E-4674-84DC-DD51D2FE9E80}" type="slidenum">
              <a:rPr lang="he-IL" altLang="en-US" smtClean="0"/>
              <a:pPr/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4F39FD85-3574-4CBA-8A1A-504E25F605E8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779351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34504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EF191820-9AEE-4F9E-A693-3C7D612B46C2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39076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0AE95028-D902-46CC-852B-654E59E85831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727186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EB44EE7-CEF6-4211-9F67-E32146E71908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83721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2E1482F-6394-49E2-B3E3-20248910C5CA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401839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67A2E754-ECC9-49BF-8C81-900FB81F1598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9017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2A2E110-55DA-4E6B-B05F-427ABD1B4375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413657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D04F392C-E578-4A0D-85A9-2303D863BF75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48778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D48C67A-70AC-413E-8F12-1ECBD23BE8F7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415430435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D48C67A-70AC-413E-8F12-1ECBD23BE8F7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43662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D48C67A-70AC-413E-8F12-1ECBD23BE8F7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1571892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D48C67A-70AC-413E-8F12-1ECBD23BE8F7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390358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D48C67A-70AC-413E-8F12-1ECBD23BE8F7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4237788449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8A8A43AD-A214-4A10-B07C-19A1203C6C03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89184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C48BB788-FB36-492A-9637-6C70EA30974A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06431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 altLang="he-IL"/>
              <a:t>#</a:t>
            </a:r>
            <a:fld id="{7D48C67A-70AC-413E-8F12-1ECBD23BE8F7}" type="slidenum">
              <a:rPr lang="en-US" altLang="he-IL" smtClean="0">
                <a:cs typeface="Times New Roman" pitchFamily="18" charset="0"/>
              </a:rPr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70454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en-US" dirty="0"/>
              <a:t>Hubs, Bridges and Switches (4.7.5) </a:t>
            </a:r>
            <a:endParaRPr lang="en-US" altLang="he-IL" dirty="0"/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he-IL" dirty="0"/>
              <a:t>WEEK 3</a:t>
            </a:r>
          </a:p>
          <a:p>
            <a:endParaRPr lang="en-US" altLang="he-IL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B13156E9-3AF1-4DE7-B6CD-87D24C47E032}" type="slidenum">
              <a:rPr lang="en-US" altLang="he-IL">
                <a:cs typeface="Times New Roman" pitchFamily="18" charset="0"/>
              </a:rPr>
              <a:pPr/>
              <a:t>1</a:t>
            </a:fld>
            <a:endParaRPr lang="en-US" altLang="he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69275" cy="1143000"/>
          </a:xfrm>
        </p:spPr>
        <p:txBody>
          <a:bodyPr/>
          <a:lstStyle/>
          <a:p>
            <a:r>
              <a:rPr lang="en-US" altLang="he-IL" sz="3600"/>
              <a:t>Interconnecting LANs</a:t>
            </a:r>
            <a:endParaRPr lang="en-US" altLang="he-IL"/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itchFamily="2" charset="2"/>
              <a:buNone/>
            </a:pPr>
            <a:r>
              <a:rPr lang="en-US" altLang="he-IL" u="sng" dirty="0">
                <a:solidFill>
                  <a:srgbClr val="FF0000"/>
                </a:solidFill>
              </a:rPr>
              <a:t>Q:</a:t>
            </a:r>
            <a:r>
              <a:rPr lang="en-US" altLang="he-IL" dirty="0"/>
              <a:t> Why not just one big LAN? </a:t>
            </a:r>
          </a:p>
          <a:p>
            <a:r>
              <a:rPr lang="en-US" altLang="he-IL" sz="2400" dirty="0"/>
              <a:t>Limited amount of supportable traffic: on single LAN, all stations must share bandwidth </a:t>
            </a:r>
          </a:p>
          <a:p>
            <a:r>
              <a:rPr lang="en-US" altLang="he-IL" sz="2400" dirty="0"/>
              <a:t>limited length: 802.3 (Ethernet) specifies maximum cable length </a:t>
            </a:r>
          </a:p>
          <a:p>
            <a:r>
              <a:rPr lang="en-US" altLang="he-IL" sz="2400" dirty="0"/>
              <a:t>large “collision domain” (can collide with many stations)</a:t>
            </a:r>
          </a:p>
          <a:p>
            <a:r>
              <a:rPr lang="en-US" altLang="he-IL" sz="2400" dirty="0"/>
              <a:t>limited number of stations: 802.5 (token ring) have token passing delays at each station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A44F3892-FB16-49A5-8E7A-17FD54D147FF}" type="slidenum">
              <a:rPr lang="en-US" altLang="he-IL">
                <a:cs typeface="Times New Roman" pitchFamily="18" charset="0"/>
              </a:rPr>
              <a:pPr/>
              <a:t>2</a:t>
            </a:fld>
            <a:endParaRPr lang="en-US" altLang="he-IL"/>
          </a:p>
        </p:txBody>
      </p:sp>
      <p:sp>
        <p:nvSpPr>
          <p:cNvPr id="6" name="TextBox 5"/>
          <p:cNvSpPr txBox="1"/>
          <p:nvPr/>
        </p:nvSpPr>
        <p:spPr>
          <a:xfrm>
            <a:off x="7438084" y="2113613"/>
            <a:ext cx="1875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(A t in a hostel)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4223" y="5486400"/>
            <a:ext cx="372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 postman for the whole country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9382"/>
            <a:ext cx="7772400" cy="5999018"/>
          </a:xfrm>
        </p:spPr>
        <p:txBody>
          <a:bodyPr/>
          <a:lstStyle/>
          <a:p>
            <a:pPr algn="just"/>
            <a:r>
              <a:rPr lang="en-US" dirty="0"/>
              <a:t>Many devices are available for LAN’s interconnection.</a:t>
            </a:r>
          </a:p>
          <a:p>
            <a:pPr algn="just"/>
            <a:r>
              <a:rPr lang="en-US" dirty="0"/>
              <a:t>They work on different layers.</a:t>
            </a:r>
          </a:p>
          <a:p>
            <a:pPr algn="just"/>
            <a:r>
              <a:rPr lang="en-US" dirty="0"/>
              <a:t>The layer matters because different devices use different pieces of information to decide how to switch.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 dirty="0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</a:t>
            </a:fld>
            <a:endParaRPr lang="en-US" altLang="he-IL"/>
          </a:p>
        </p:txBody>
      </p:sp>
      <p:pic>
        <p:nvPicPr>
          <p:cNvPr id="458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825" y="3556284"/>
            <a:ext cx="9020175" cy="28765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439433" y="6292334"/>
            <a:ext cx="3539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cyclic redundancy check</a:t>
            </a:r>
            <a:r>
              <a:rPr lang="en-US" dirty="0"/>
              <a:t> (</a:t>
            </a:r>
            <a:r>
              <a:rPr lang="en-US" b="1" dirty="0" err="1"/>
              <a:t>CRC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Repeater/Hub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1"/>
          </p:nvPr>
        </p:nvSpPr>
        <p:spPr>
          <a:xfrm>
            <a:off x="481013" y="1136073"/>
            <a:ext cx="7772400" cy="2521527"/>
          </a:xfrm>
        </p:spPr>
        <p:txBody>
          <a:bodyPr>
            <a:normAutofit fontScale="92500" lnSpcReduction="10000"/>
          </a:bodyPr>
          <a:lstStyle/>
          <a:p>
            <a:r>
              <a:rPr lang="en-US" altLang="he-IL" sz="2400" dirty="0"/>
              <a:t>Repeaters do not understand frames, packets, or headers. They understand Volts</a:t>
            </a:r>
          </a:p>
          <a:p>
            <a:r>
              <a:rPr lang="en-US" altLang="he-IL" sz="2400" dirty="0"/>
              <a:t>Classic Ethernet, for example, was designed to allow four repeaters, in order to extend the maximum cable length from 500 meters to 2500 meters.</a:t>
            </a:r>
          </a:p>
          <a:p>
            <a:r>
              <a:rPr lang="en-US" altLang="he-IL" sz="2400" dirty="0"/>
              <a:t>Hubs can be arranged in a </a:t>
            </a:r>
            <a:r>
              <a:rPr lang="en-US" altLang="he-IL" sz="2400" dirty="0">
                <a:solidFill>
                  <a:schemeClr val="accent2"/>
                </a:solidFill>
              </a:rPr>
              <a:t>hierarchy</a:t>
            </a:r>
            <a:r>
              <a:rPr lang="en-US" altLang="he-IL" sz="2400" dirty="0"/>
              <a:t> (or multi-tier design), with </a:t>
            </a:r>
            <a:r>
              <a:rPr lang="en-US" altLang="he-IL" sz="2400" dirty="0">
                <a:solidFill>
                  <a:schemeClr val="accent2"/>
                </a:solidFill>
              </a:rPr>
              <a:t>backbone</a:t>
            </a:r>
            <a:r>
              <a:rPr lang="en-US" altLang="he-IL" sz="2400" dirty="0"/>
              <a:t> hub at its top</a:t>
            </a:r>
          </a:p>
          <a:p>
            <a:endParaRPr lang="en-US" alt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0CD6440B-5C29-470C-9E23-9F50D6F5F73E}" type="slidenum">
              <a:rPr lang="en-US" altLang="he-IL">
                <a:cs typeface="Times New Roman" pitchFamily="18" charset="0"/>
              </a:rPr>
              <a:pPr/>
              <a:t>4</a:t>
            </a:fld>
            <a:endParaRPr lang="en-US" altLang="he-IL"/>
          </a:p>
        </p:txBody>
      </p:sp>
      <p:pic>
        <p:nvPicPr>
          <p:cNvPr id="216068" name="Picture 4" descr="561 hubTi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362450"/>
            <a:ext cx="6402387" cy="2495550"/>
          </a:xfrm>
          <a:prstGeom prst="rect">
            <a:avLst/>
          </a:prstGeom>
          <a:noFill/>
        </p:spPr>
      </p:pic>
      <p:pic>
        <p:nvPicPr>
          <p:cNvPr id="21607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16555" y="4641273"/>
            <a:ext cx="1973263" cy="1477963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1122058" y="210189"/>
            <a:ext cx="3751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Amplify		/ do not amplify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/>
              <a:t>Hubs (more)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8210550" cy="4648200"/>
          </a:xfrm>
        </p:spPr>
        <p:txBody>
          <a:bodyPr/>
          <a:lstStyle/>
          <a:p>
            <a:r>
              <a:rPr lang="en-US" altLang="he-IL" sz="2400" dirty="0"/>
              <a:t>Each connected LAN referred to as </a:t>
            </a:r>
            <a:r>
              <a:rPr lang="en-US" altLang="he-IL" sz="2400" u="sng" dirty="0"/>
              <a:t>LAN </a:t>
            </a:r>
            <a:r>
              <a:rPr lang="en-US" altLang="he-IL" sz="2400" b="1" u="sng" dirty="0"/>
              <a:t>segment</a:t>
            </a:r>
          </a:p>
          <a:p>
            <a:r>
              <a:rPr lang="en-US" altLang="he-IL" sz="2400" dirty="0"/>
              <a:t>Hubs </a:t>
            </a:r>
            <a:r>
              <a:rPr lang="en-US" altLang="he-IL" sz="2400" u="sng" dirty="0">
                <a:solidFill>
                  <a:srgbClr val="FF0000"/>
                </a:solidFill>
              </a:rPr>
              <a:t>do not isolate</a:t>
            </a:r>
            <a:r>
              <a:rPr lang="en-US" altLang="he-IL" sz="2400" u="sng" dirty="0"/>
              <a:t> </a:t>
            </a:r>
            <a:r>
              <a:rPr lang="en-US" altLang="he-IL" sz="2400" dirty="0"/>
              <a:t>collision domains: node may collide with any node residing at any segment in LAN </a:t>
            </a:r>
          </a:p>
          <a:p>
            <a:r>
              <a:rPr lang="en-US" altLang="he-IL" sz="2400" dirty="0"/>
              <a:t>Hub Advantages:</a:t>
            </a:r>
          </a:p>
          <a:p>
            <a:pPr lvl="1"/>
            <a:r>
              <a:rPr lang="en-US" altLang="he-IL" u="sng" dirty="0"/>
              <a:t>simple, inexpensive device</a:t>
            </a:r>
          </a:p>
          <a:p>
            <a:pPr lvl="1"/>
            <a:r>
              <a:rPr lang="en-US" altLang="he-IL" dirty="0"/>
              <a:t>Multi-tier provides graceful degradation: portions of the </a:t>
            </a:r>
            <a:r>
              <a:rPr lang="en-US" altLang="he-IL" u="sng" dirty="0"/>
              <a:t>LAN continue to operate if one hub malfunctions</a:t>
            </a:r>
          </a:p>
          <a:p>
            <a:pPr lvl="1"/>
            <a:r>
              <a:rPr lang="en-US" altLang="he-IL" dirty="0"/>
              <a:t>extends maximum distance between node pairs (</a:t>
            </a:r>
            <a:r>
              <a:rPr lang="en-US" altLang="he-IL" u="sng" dirty="0" err="1"/>
              <a:t>100m</a:t>
            </a:r>
            <a:r>
              <a:rPr lang="en-US" altLang="he-IL" u="sng" dirty="0"/>
              <a:t> per Hu</a:t>
            </a:r>
            <a:r>
              <a:rPr lang="en-US" altLang="he-IL" dirty="0"/>
              <a:t>b)</a:t>
            </a:r>
          </a:p>
          <a:p>
            <a:pPr lvl="1">
              <a:buFont typeface="ZapfDingbats" pitchFamily="82" charset="2"/>
              <a:buNone/>
            </a:pPr>
            <a:r>
              <a:rPr lang="en-US" altLang="he-IL" dirty="0"/>
              <a:t>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EA2732D-9966-4D33-AF13-EF62CF692B6F}" type="slidenum">
              <a:rPr lang="en-US" altLang="he-IL">
                <a:cs typeface="Times New Roman" pitchFamily="18" charset="0"/>
              </a:rPr>
              <a:pPr/>
              <a:t>5</a:t>
            </a:fld>
            <a:endParaRPr lang="en-US" altLang="he-I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/>
              <a:t>Bridges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he-IL">
                <a:solidFill>
                  <a:srgbClr val="FF0000"/>
                </a:solidFill>
              </a:rPr>
              <a:t>Link Layer devices:</a:t>
            </a:r>
            <a:r>
              <a:rPr lang="en-US" altLang="he-IL"/>
              <a:t> operate on Ethernet frames, examining frame header and selectively forwarding frame based on its destination</a:t>
            </a:r>
          </a:p>
          <a:p>
            <a:r>
              <a:rPr lang="en-US" altLang="he-IL"/>
              <a:t>Bridge </a:t>
            </a:r>
            <a:r>
              <a:rPr lang="en-US" altLang="he-IL">
                <a:solidFill>
                  <a:srgbClr val="FF0000"/>
                </a:solidFill>
              </a:rPr>
              <a:t>isolates collision</a:t>
            </a:r>
            <a:r>
              <a:rPr lang="en-US" altLang="he-IL"/>
              <a:t> domains since it buffers frames</a:t>
            </a:r>
          </a:p>
          <a:p>
            <a:r>
              <a:rPr lang="en-US" altLang="he-IL"/>
              <a:t>When frame is to be forwarded on segment, bridge uses CSMA/CD to access segment and transmit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CEE97734-3AF6-496B-8725-019C51F04EA3}" type="slidenum">
              <a:rPr lang="en-US" altLang="he-IL">
                <a:cs typeface="Times New Roman" pitchFamily="18" charset="0"/>
              </a:rPr>
              <a:pPr/>
              <a:t>6</a:t>
            </a:fld>
            <a:endParaRPr lang="en-US" altLang="he-I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3964"/>
            <a:ext cx="7772400" cy="6054436"/>
          </a:xfrm>
        </p:spPr>
        <p:txBody>
          <a:bodyPr/>
          <a:lstStyle/>
          <a:p>
            <a:r>
              <a:rPr lang="en-US" dirty="0"/>
              <a:t>Like a hub, a modern bridge has line cards, usually for four or eight input lines of a certain type. </a:t>
            </a:r>
          </a:p>
          <a:p>
            <a:r>
              <a:rPr lang="en-US" dirty="0"/>
              <a:t>A line card for Ethernet cannot handle, say, token ring frames, because it does not know where to find the destination address in the frame header. </a:t>
            </a:r>
          </a:p>
          <a:p>
            <a:r>
              <a:rPr lang="en-US" dirty="0"/>
              <a:t>However, a bridge may have line cards for different network types and different speeds. </a:t>
            </a:r>
          </a:p>
          <a:p>
            <a:r>
              <a:rPr lang="en-US" dirty="0"/>
              <a:t>With a bridge, each line is its own collision domain, in contrast to a hub.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7</a:t>
            </a:fld>
            <a:endParaRPr lang="en-US" altLang="he-I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/>
              <a:t>Backbone Bridge</a:t>
            </a:r>
          </a:p>
        </p:txBody>
      </p:sp>
      <p:pic>
        <p:nvPicPr>
          <p:cNvPr id="221187" name="Picture 3" descr="562 Bridge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09600" y="2882638"/>
            <a:ext cx="6348413" cy="2437337"/>
          </a:xfr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8DFEDAAB-B560-49D5-8A18-CFE0EDD145C7}" type="slidenum">
              <a:rPr lang="en-US" altLang="he-IL">
                <a:cs typeface="Times New Roman" pitchFamily="18" charset="0"/>
              </a:rPr>
              <a:pPr/>
              <a:t>8</a:t>
            </a:fld>
            <a:endParaRPr lang="en-US" altLang="he-I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3600"/>
              <a:t>Interconnection Without Backbone</a:t>
            </a:r>
            <a:endParaRPr lang="en-US" altLang="he-IL"/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4103688"/>
            <a:ext cx="7772400" cy="1216025"/>
          </a:xfrm>
        </p:spPr>
        <p:txBody>
          <a:bodyPr/>
          <a:lstStyle/>
          <a:p>
            <a:r>
              <a:rPr lang="en-US" altLang="he-IL"/>
              <a:t>Not recommended for two reasons:</a:t>
            </a:r>
          </a:p>
          <a:p>
            <a:pPr lvl="1">
              <a:buFont typeface="ZapfDingbats" pitchFamily="82" charset="2"/>
              <a:buNone/>
            </a:pPr>
            <a:r>
              <a:rPr lang="en-US" altLang="he-IL"/>
              <a:t>- single point of failure at Computer Science hub</a:t>
            </a:r>
          </a:p>
          <a:p>
            <a:pPr lvl="1">
              <a:buFont typeface="ZapfDingbats" pitchFamily="82" charset="2"/>
              <a:buNone/>
            </a:pPr>
            <a:r>
              <a:rPr lang="en-US" altLang="he-IL"/>
              <a:t>- all traffic between EE and SE must path over CS segment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107DECCC-A9A5-4E04-8988-927B9EC8C5BB}" type="slidenum">
              <a:rPr lang="en-US" altLang="he-IL">
                <a:cs typeface="Times New Roman" pitchFamily="18" charset="0"/>
              </a:rPr>
              <a:pPr/>
              <a:t>9</a:t>
            </a:fld>
            <a:endParaRPr lang="en-US" altLang="he-IL"/>
          </a:p>
        </p:txBody>
      </p:sp>
      <p:pic>
        <p:nvPicPr>
          <p:cNvPr id="222212" name="Picture 4" descr="567 noBackbo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676400"/>
            <a:ext cx="6402388" cy="15525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3600"/>
              <a:t>Bridge Learning: example</a:t>
            </a:r>
            <a:endParaRPr lang="en-US" altLang="he-IL"/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>
          <a:xfrm>
            <a:off x="563563" y="1306513"/>
            <a:ext cx="7772400" cy="4648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he-IL" sz="2400"/>
              <a:t>Suppose C sends frame to D and D replies back with frame to C</a:t>
            </a:r>
            <a:endParaRPr lang="en-US" altLang="he-IL"/>
          </a:p>
          <a:p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4375EFE8-CAAC-4A0F-8F91-7738E6350140}" type="slidenum">
              <a:rPr lang="en-US" altLang="he-IL">
                <a:cs typeface="Times New Roman" pitchFamily="18" charset="0"/>
              </a:rPr>
              <a:pPr/>
              <a:t>10</a:t>
            </a:fld>
            <a:endParaRPr lang="en-US" altLang="he-IL"/>
          </a:p>
        </p:txBody>
      </p:sp>
      <p:pic>
        <p:nvPicPr>
          <p:cNvPr id="224260" name="Picture 4" descr="IMG0008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130425"/>
            <a:ext cx="5057775" cy="2305050"/>
          </a:xfrm>
          <a:prstGeom prst="rect">
            <a:avLst/>
          </a:prstGeom>
          <a:noFill/>
        </p:spPr>
      </p:pic>
      <p:sp>
        <p:nvSpPr>
          <p:cNvPr id="224261" name="Rectangle 5"/>
          <p:cNvSpPr>
            <a:spLocks noChangeArrowheads="1"/>
          </p:cNvSpPr>
          <p:nvPr/>
        </p:nvSpPr>
        <p:spPr bwMode="auto">
          <a:xfrm>
            <a:off x="715963" y="4649788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q"/>
            </a:pPr>
            <a:r>
              <a:rPr lang="en-US" altLang="he-IL" sz="2400"/>
              <a:t>C sends frame, bridge has no info about D, so floods to both LANs</a:t>
            </a:r>
            <a:r>
              <a:rPr lang="en-US" altLang="he-IL" sz="2000"/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he-IL" sz="2000"/>
              <a:t>bridge notes that C is on port 1 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he-IL" sz="2000"/>
              <a:t>frame ignored on upper LAN 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he-IL" sz="2000"/>
              <a:t>frame received by D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3600"/>
              <a:t>Bridge Learning: example</a:t>
            </a:r>
            <a:endParaRPr lang="en-US" altLang="he-I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4F04D79-E7B2-4997-93AE-CE75772B5ED4}" type="slidenum">
              <a:rPr lang="en-US" altLang="he-IL">
                <a:cs typeface="Times New Roman" pitchFamily="18" charset="0"/>
              </a:rPr>
              <a:pPr/>
              <a:t>11</a:t>
            </a:fld>
            <a:endParaRPr lang="en-US" altLang="he-IL"/>
          </a:p>
        </p:txBody>
      </p:sp>
      <p:pic>
        <p:nvPicPr>
          <p:cNvPr id="247812" name="Picture 4" descr="IMG0008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6588" y="1293813"/>
            <a:ext cx="5057775" cy="2305050"/>
          </a:xfrm>
          <a:prstGeom prst="rect">
            <a:avLst/>
          </a:prstGeom>
          <a:noFill/>
        </p:spPr>
      </p:pic>
      <p:sp>
        <p:nvSpPr>
          <p:cNvPr id="247813" name="Rectangle 5"/>
          <p:cNvSpPr>
            <a:spLocks noChangeArrowheads="1"/>
          </p:cNvSpPr>
          <p:nvPr/>
        </p:nvSpPr>
        <p:spPr bwMode="auto">
          <a:xfrm>
            <a:off x="757238" y="3908425"/>
            <a:ext cx="7772400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q"/>
            </a:pPr>
            <a:r>
              <a:rPr lang="en-US" altLang="he-IL" sz="2400"/>
              <a:t>D generates reply to C, sends 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he-IL" sz="2400"/>
              <a:t>bridge sees frame from D 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he-IL" sz="2400"/>
              <a:t>bridge notes that D is on interface 2 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he-IL" sz="2400"/>
              <a:t>bridge knows C on interface 1, so </a:t>
            </a:r>
            <a:r>
              <a:rPr lang="en-US" altLang="he-IL" sz="2400" i="1">
                <a:solidFill>
                  <a:srgbClr val="FF0000"/>
                </a:solidFill>
              </a:rPr>
              <a:t>selectively</a:t>
            </a:r>
            <a:r>
              <a:rPr lang="en-US" altLang="he-IL" sz="2400"/>
              <a:t> forwards frame out via interface 1 </a:t>
            </a:r>
          </a:p>
        </p:txBody>
      </p:sp>
      <p:sp>
        <p:nvSpPr>
          <p:cNvPr id="247814" name="Text Box 6"/>
          <p:cNvSpPr txBox="1">
            <a:spLocks noChangeArrowheads="1"/>
          </p:cNvSpPr>
          <p:nvPr/>
        </p:nvSpPr>
        <p:spPr bwMode="auto">
          <a:xfrm>
            <a:off x="5961063" y="3500438"/>
            <a:ext cx="736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A50021"/>
                </a:solidFill>
              </a:rPr>
              <a:t>C      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474663"/>
            <a:ext cx="7772400" cy="1143000"/>
          </a:xfrm>
          <a:ln/>
        </p:spPr>
        <p:txBody>
          <a:bodyPr lIns="92160" tIns="46080" rIns="92160" bIns="46080" anchor="b">
            <a:normAutofit fontScale="90000"/>
          </a:bodyPr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he-IL"/>
              <a:t>What will happen with loops?</a:t>
            </a:r>
            <a:br>
              <a:rPr lang="en-GB" altLang="he-IL"/>
            </a:br>
            <a:r>
              <a:rPr lang="en-GB" altLang="he-IL"/>
              <a:t>Incorrect learning</a:t>
            </a:r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F20B4621-76CC-45B3-8434-8AB88A51DCE3}" type="slidenum">
              <a:rPr lang="en-US" altLang="he-IL">
                <a:cs typeface="Times New Roman" pitchFamily="18" charset="0"/>
              </a:rPr>
              <a:pPr/>
              <a:t>12</a:t>
            </a:fld>
            <a:endParaRPr lang="en-US" altLang="he-IL"/>
          </a:p>
        </p:txBody>
      </p:sp>
      <p:grpSp>
        <p:nvGrpSpPr>
          <p:cNvPr id="293913" name="Group 25"/>
          <p:cNvGrpSpPr>
            <a:grpSpLocks/>
          </p:cNvGrpSpPr>
          <p:nvPr/>
        </p:nvGrpSpPr>
        <p:grpSpPr bwMode="auto">
          <a:xfrm>
            <a:off x="1846263" y="2525713"/>
            <a:ext cx="4470400" cy="3460750"/>
            <a:chOff x="1163" y="1591"/>
            <a:chExt cx="2816" cy="2180"/>
          </a:xfrm>
        </p:grpSpPr>
        <p:sp>
          <p:nvSpPr>
            <p:cNvPr id="293894" name="Line 6"/>
            <p:cNvSpPr>
              <a:spLocks noChangeShapeType="1"/>
            </p:cNvSpPr>
            <p:nvPr/>
          </p:nvSpPr>
          <p:spPr bwMode="auto">
            <a:xfrm>
              <a:off x="1167" y="2145"/>
              <a:ext cx="28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895" name="Line 7"/>
            <p:cNvSpPr>
              <a:spLocks noChangeShapeType="1"/>
            </p:cNvSpPr>
            <p:nvPr/>
          </p:nvSpPr>
          <p:spPr bwMode="auto">
            <a:xfrm>
              <a:off x="1163" y="3330"/>
              <a:ext cx="28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896" name="Rectangle 8"/>
            <p:cNvSpPr>
              <a:spLocks noChangeArrowheads="1"/>
            </p:cNvSpPr>
            <p:nvPr/>
          </p:nvSpPr>
          <p:spPr bwMode="auto">
            <a:xfrm>
              <a:off x="1489" y="2533"/>
              <a:ext cx="756" cy="423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897" name="Rectangle 9"/>
            <p:cNvSpPr>
              <a:spLocks noChangeArrowheads="1"/>
            </p:cNvSpPr>
            <p:nvPr/>
          </p:nvSpPr>
          <p:spPr bwMode="auto">
            <a:xfrm>
              <a:off x="2752" y="2518"/>
              <a:ext cx="756" cy="423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898" name="Line 10"/>
            <p:cNvSpPr>
              <a:spLocks noChangeShapeType="1"/>
            </p:cNvSpPr>
            <p:nvPr/>
          </p:nvSpPr>
          <p:spPr bwMode="auto">
            <a:xfrm>
              <a:off x="1789" y="2967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899" name="Line 11"/>
            <p:cNvSpPr>
              <a:spLocks noChangeShapeType="1"/>
            </p:cNvSpPr>
            <p:nvPr/>
          </p:nvSpPr>
          <p:spPr bwMode="auto">
            <a:xfrm>
              <a:off x="3097" y="2941"/>
              <a:ext cx="0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0" name="Line 12"/>
            <p:cNvSpPr>
              <a:spLocks noChangeShapeType="1"/>
            </p:cNvSpPr>
            <p:nvPr/>
          </p:nvSpPr>
          <p:spPr bwMode="auto">
            <a:xfrm>
              <a:off x="3104" y="2148"/>
              <a:ext cx="0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1" name="Line 13"/>
            <p:cNvSpPr>
              <a:spLocks noChangeShapeType="1"/>
            </p:cNvSpPr>
            <p:nvPr/>
          </p:nvSpPr>
          <p:spPr bwMode="auto">
            <a:xfrm>
              <a:off x="1804" y="2170"/>
              <a:ext cx="0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2" name="Text Box 14"/>
            <p:cNvSpPr txBox="1">
              <a:spLocks noChangeArrowheads="1"/>
            </p:cNvSpPr>
            <p:nvPr/>
          </p:nvSpPr>
          <p:spPr bwMode="auto">
            <a:xfrm>
              <a:off x="2286" y="3406"/>
              <a:ext cx="45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he-IL" sz="3200" b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293903" name="Oval 15"/>
            <p:cNvSpPr>
              <a:spLocks noChangeArrowheads="1"/>
            </p:cNvSpPr>
            <p:nvPr/>
          </p:nvSpPr>
          <p:spPr bwMode="auto">
            <a:xfrm>
              <a:off x="2378" y="3244"/>
              <a:ext cx="100" cy="1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4" name="Text Box 16"/>
            <p:cNvSpPr txBox="1">
              <a:spLocks noChangeArrowheads="1"/>
            </p:cNvSpPr>
            <p:nvPr/>
          </p:nvSpPr>
          <p:spPr bwMode="auto">
            <a:xfrm>
              <a:off x="2215" y="1591"/>
              <a:ext cx="4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he-IL" sz="3200" b="1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293905" name="Oval 17"/>
            <p:cNvSpPr>
              <a:spLocks noChangeArrowheads="1"/>
            </p:cNvSpPr>
            <p:nvPr/>
          </p:nvSpPr>
          <p:spPr bwMode="auto">
            <a:xfrm>
              <a:off x="2318" y="2062"/>
              <a:ext cx="100" cy="1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6" name="Text Box 18"/>
            <p:cNvSpPr txBox="1">
              <a:spLocks noChangeArrowheads="1"/>
            </p:cNvSpPr>
            <p:nvPr/>
          </p:nvSpPr>
          <p:spPr bwMode="auto">
            <a:xfrm>
              <a:off x="1498" y="2978"/>
              <a:ext cx="26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/>
                <a:t>1</a:t>
              </a:r>
            </a:p>
          </p:txBody>
        </p:sp>
        <p:sp>
          <p:nvSpPr>
            <p:cNvPr id="293907" name="Text Box 19"/>
            <p:cNvSpPr txBox="1">
              <a:spLocks noChangeArrowheads="1"/>
            </p:cNvSpPr>
            <p:nvPr/>
          </p:nvSpPr>
          <p:spPr bwMode="auto">
            <a:xfrm>
              <a:off x="3150" y="2963"/>
              <a:ext cx="26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/>
                <a:t>1</a:t>
              </a:r>
            </a:p>
          </p:txBody>
        </p:sp>
        <p:sp>
          <p:nvSpPr>
            <p:cNvPr id="293908" name="Text Box 20"/>
            <p:cNvSpPr txBox="1">
              <a:spLocks noChangeArrowheads="1"/>
            </p:cNvSpPr>
            <p:nvPr/>
          </p:nvSpPr>
          <p:spPr bwMode="auto">
            <a:xfrm>
              <a:off x="3191" y="2270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/>
                <a:t>2</a:t>
              </a:r>
            </a:p>
          </p:txBody>
        </p:sp>
        <p:sp>
          <p:nvSpPr>
            <p:cNvPr id="293909" name="Text Box 21"/>
            <p:cNvSpPr txBox="1">
              <a:spLocks noChangeArrowheads="1"/>
            </p:cNvSpPr>
            <p:nvPr/>
          </p:nvSpPr>
          <p:spPr bwMode="auto">
            <a:xfrm>
              <a:off x="1453" y="2221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/>
                <a:t>2</a:t>
              </a:r>
            </a:p>
          </p:txBody>
        </p:sp>
      </p:grpSp>
      <p:grpSp>
        <p:nvGrpSpPr>
          <p:cNvPr id="293921" name="Group 33"/>
          <p:cNvGrpSpPr>
            <a:grpSpLocks/>
          </p:cNvGrpSpPr>
          <p:nvPr/>
        </p:nvGrpSpPr>
        <p:grpSpPr bwMode="auto">
          <a:xfrm>
            <a:off x="1200150" y="4108450"/>
            <a:ext cx="5378450" cy="1376363"/>
            <a:chOff x="756" y="2588"/>
            <a:chExt cx="3388" cy="867"/>
          </a:xfrm>
        </p:grpSpPr>
        <p:sp>
          <p:nvSpPr>
            <p:cNvPr id="293910" name="Line 22"/>
            <p:cNvSpPr>
              <a:spLocks noChangeShapeType="1"/>
            </p:cNvSpPr>
            <p:nvPr/>
          </p:nvSpPr>
          <p:spPr bwMode="auto">
            <a:xfrm flipH="1">
              <a:off x="1766" y="3455"/>
              <a:ext cx="52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11" name="Line 23"/>
            <p:cNvSpPr>
              <a:spLocks noChangeShapeType="1"/>
            </p:cNvSpPr>
            <p:nvPr/>
          </p:nvSpPr>
          <p:spPr bwMode="auto">
            <a:xfrm flipH="1">
              <a:off x="2530" y="3429"/>
              <a:ext cx="52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15" name="Line 27"/>
            <p:cNvSpPr>
              <a:spLocks noChangeShapeType="1"/>
            </p:cNvSpPr>
            <p:nvPr/>
          </p:nvSpPr>
          <p:spPr bwMode="auto">
            <a:xfrm flipV="1">
              <a:off x="1734" y="2889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16" name="Line 28"/>
            <p:cNvSpPr>
              <a:spLocks noChangeShapeType="1"/>
            </p:cNvSpPr>
            <p:nvPr/>
          </p:nvSpPr>
          <p:spPr bwMode="auto">
            <a:xfrm flipV="1">
              <a:off x="3041" y="2896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18" name="Text Box 30"/>
            <p:cNvSpPr txBox="1">
              <a:spLocks noChangeArrowheads="1"/>
            </p:cNvSpPr>
            <p:nvPr/>
          </p:nvSpPr>
          <p:spPr bwMode="auto">
            <a:xfrm>
              <a:off x="756" y="2588"/>
              <a:ext cx="503" cy="23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accent2"/>
                  </a:solidFill>
                </a:rPr>
                <a:t>A , 1</a:t>
              </a:r>
              <a:endParaRPr lang="en-US" altLang="he-IL">
                <a:solidFill>
                  <a:schemeClr val="accent2"/>
                </a:solidFill>
              </a:endParaRPr>
            </a:p>
          </p:txBody>
        </p:sp>
        <p:sp>
          <p:nvSpPr>
            <p:cNvPr id="293920" name="Text Box 32"/>
            <p:cNvSpPr txBox="1">
              <a:spLocks noChangeArrowheads="1"/>
            </p:cNvSpPr>
            <p:nvPr/>
          </p:nvSpPr>
          <p:spPr bwMode="auto">
            <a:xfrm>
              <a:off x="3641" y="2595"/>
              <a:ext cx="503" cy="23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accent2"/>
                  </a:solidFill>
                </a:rPr>
                <a:t>A , 1</a:t>
              </a:r>
              <a:endParaRPr lang="en-US" altLang="he-IL">
                <a:solidFill>
                  <a:schemeClr val="accent2"/>
                </a:solidFill>
              </a:endParaRPr>
            </a:p>
          </p:txBody>
        </p:sp>
      </p:grpSp>
      <p:grpSp>
        <p:nvGrpSpPr>
          <p:cNvPr id="293925" name="Group 37"/>
          <p:cNvGrpSpPr>
            <a:grpSpLocks/>
          </p:cNvGrpSpPr>
          <p:nvPr/>
        </p:nvGrpSpPr>
        <p:grpSpPr bwMode="auto">
          <a:xfrm>
            <a:off x="2663825" y="3227388"/>
            <a:ext cx="2435225" cy="793750"/>
            <a:chOff x="1678" y="2033"/>
            <a:chExt cx="1534" cy="500"/>
          </a:xfrm>
        </p:grpSpPr>
        <p:sp>
          <p:nvSpPr>
            <p:cNvPr id="293922" name="Line 34"/>
            <p:cNvSpPr>
              <a:spLocks noChangeShapeType="1"/>
            </p:cNvSpPr>
            <p:nvPr/>
          </p:nvSpPr>
          <p:spPr bwMode="auto">
            <a:xfrm flipV="1">
              <a:off x="1678" y="2033"/>
              <a:ext cx="0" cy="467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23" name="Line 35"/>
            <p:cNvSpPr>
              <a:spLocks noChangeShapeType="1"/>
            </p:cNvSpPr>
            <p:nvPr/>
          </p:nvSpPr>
          <p:spPr bwMode="auto">
            <a:xfrm flipV="1">
              <a:off x="1678" y="2055"/>
              <a:ext cx="1522" cy="11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24" name="Line 36"/>
            <p:cNvSpPr>
              <a:spLocks noChangeShapeType="1"/>
            </p:cNvSpPr>
            <p:nvPr/>
          </p:nvSpPr>
          <p:spPr bwMode="auto">
            <a:xfrm>
              <a:off x="3212" y="2044"/>
              <a:ext cx="0" cy="489"/>
            </a:xfrm>
            <a:prstGeom prst="line">
              <a:avLst/>
            </a:prstGeom>
            <a:noFill/>
            <a:ln w="38100">
              <a:solidFill>
                <a:srgbClr val="FF33CC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3929" name="Group 41"/>
          <p:cNvGrpSpPr>
            <a:grpSpLocks/>
          </p:cNvGrpSpPr>
          <p:nvPr/>
        </p:nvGrpSpPr>
        <p:grpSpPr bwMode="auto">
          <a:xfrm>
            <a:off x="6173788" y="4146550"/>
            <a:ext cx="561975" cy="366713"/>
            <a:chOff x="3889" y="2612"/>
            <a:chExt cx="354" cy="231"/>
          </a:xfrm>
        </p:grpSpPr>
        <p:sp>
          <p:nvSpPr>
            <p:cNvPr id="293927" name="Text Box 39"/>
            <p:cNvSpPr txBox="1">
              <a:spLocks noChangeArrowheads="1"/>
            </p:cNvSpPr>
            <p:nvPr/>
          </p:nvSpPr>
          <p:spPr bwMode="auto">
            <a:xfrm>
              <a:off x="3954" y="2612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93928" name="Line 40"/>
            <p:cNvSpPr>
              <a:spLocks noChangeShapeType="1"/>
            </p:cNvSpPr>
            <p:nvPr/>
          </p:nvSpPr>
          <p:spPr bwMode="auto">
            <a:xfrm>
              <a:off x="3889" y="2622"/>
              <a:ext cx="112" cy="167"/>
            </a:xfrm>
            <a:prstGeom prst="line">
              <a:avLst/>
            </a:prstGeom>
            <a:noFill/>
            <a:ln w="57150">
              <a:solidFill>
                <a:srgbClr val="FF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93931" name="Group 43"/>
          <p:cNvGrpSpPr>
            <a:grpSpLocks/>
          </p:cNvGrpSpPr>
          <p:nvPr/>
        </p:nvGrpSpPr>
        <p:grpSpPr bwMode="auto">
          <a:xfrm>
            <a:off x="1616075" y="4140200"/>
            <a:ext cx="561975" cy="366713"/>
            <a:chOff x="3889" y="2612"/>
            <a:chExt cx="354" cy="231"/>
          </a:xfrm>
        </p:grpSpPr>
        <p:sp>
          <p:nvSpPr>
            <p:cNvPr id="293932" name="Text Box 44"/>
            <p:cNvSpPr txBox="1">
              <a:spLocks noChangeArrowheads="1"/>
            </p:cNvSpPr>
            <p:nvPr/>
          </p:nvSpPr>
          <p:spPr bwMode="auto">
            <a:xfrm>
              <a:off x="3954" y="2612"/>
              <a:ext cx="28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93933" name="Line 45"/>
            <p:cNvSpPr>
              <a:spLocks noChangeShapeType="1"/>
            </p:cNvSpPr>
            <p:nvPr/>
          </p:nvSpPr>
          <p:spPr bwMode="auto">
            <a:xfrm>
              <a:off x="3889" y="2622"/>
              <a:ext cx="112" cy="167"/>
            </a:xfrm>
            <a:prstGeom prst="line">
              <a:avLst/>
            </a:prstGeom>
            <a:noFill/>
            <a:ln w="57150">
              <a:solidFill>
                <a:srgbClr val="FF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Loop-free: tree</a:t>
            </a:r>
          </a:p>
        </p:txBody>
      </p:sp>
      <p:sp>
        <p:nvSpPr>
          <p:cNvPr id="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B8E3993-A465-448C-BB11-217C074D5EE5}" type="slidenum">
              <a:rPr lang="en-US" altLang="he-IL">
                <a:cs typeface="Times New Roman" pitchFamily="18" charset="0"/>
              </a:rPr>
              <a:pPr/>
              <a:t>13</a:t>
            </a:fld>
            <a:endParaRPr lang="en-US" altLang="he-IL"/>
          </a:p>
        </p:txBody>
      </p:sp>
      <p:sp>
        <p:nvSpPr>
          <p:cNvPr id="390147" name="Oval 3"/>
          <p:cNvSpPr>
            <a:spLocks noChangeArrowheads="1"/>
          </p:cNvSpPr>
          <p:nvPr/>
        </p:nvSpPr>
        <p:spPr bwMode="auto">
          <a:xfrm>
            <a:off x="4000500" y="30480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0148" name="Line 4"/>
          <p:cNvSpPr>
            <a:spLocks noChangeShapeType="1"/>
          </p:cNvSpPr>
          <p:nvPr/>
        </p:nvSpPr>
        <p:spPr bwMode="auto">
          <a:xfrm>
            <a:off x="3479800" y="25146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49" name="Line 5"/>
          <p:cNvSpPr>
            <a:spLocks noChangeShapeType="1"/>
          </p:cNvSpPr>
          <p:nvPr/>
        </p:nvSpPr>
        <p:spPr bwMode="auto">
          <a:xfrm>
            <a:off x="3479800" y="3225800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0150" name="Group 6"/>
          <p:cNvGrpSpPr>
            <a:grpSpLocks/>
          </p:cNvGrpSpPr>
          <p:nvPr/>
        </p:nvGrpSpPr>
        <p:grpSpPr bwMode="auto">
          <a:xfrm>
            <a:off x="1993900" y="2667000"/>
            <a:ext cx="1460500" cy="381000"/>
            <a:chOff x="1256" y="2176"/>
            <a:chExt cx="920" cy="240"/>
          </a:xfrm>
        </p:grpSpPr>
        <p:grpSp>
          <p:nvGrpSpPr>
            <p:cNvPr id="390151" name="Group 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0152" name="Oval 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153" name="Line 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0154" name="Line 1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0155" name="Line 11"/>
          <p:cNvSpPr>
            <a:spLocks noChangeShapeType="1"/>
          </p:cNvSpPr>
          <p:nvPr/>
        </p:nvSpPr>
        <p:spPr bwMode="auto">
          <a:xfrm>
            <a:off x="2006600" y="24257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56" name="Line 12"/>
          <p:cNvSpPr>
            <a:spLocks noChangeShapeType="1"/>
          </p:cNvSpPr>
          <p:nvPr/>
        </p:nvSpPr>
        <p:spPr bwMode="auto">
          <a:xfrm>
            <a:off x="4178300" y="3429000"/>
            <a:ext cx="0" cy="69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57" name="Line 13"/>
          <p:cNvSpPr>
            <a:spLocks noChangeShapeType="1"/>
          </p:cNvSpPr>
          <p:nvPr/>
        </p:nvSpPr>
        <p:spPr bwMode="auto">
          <a:xfrm>
            <a:off x="3454400" y="41275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58" name="Line 14"/>
          <p:cNvSpPr>
            <a:spLocks noChangeShapeType="1"/>
          </p:cNvSpPr>
          <p:nvPr/>
        </p:nvSpPr>
        <p:spPr bwMode="auto">
          <a:xfrm>
            <a:off x="4419600" y="3225800"/>
            <a:ext cx="148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59" name="Line 15"/>
          <p:cNvSpPr>
            <a:spLocks noChangeShapeType="1"/>
          </p:cNvSpPr>
          <p:nvPr/>
        </p:nvSpPr>
        <p:spPr bwMode="auto">
          <a:xfrm>
            <a:off x="5905500" y="2514600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0160" name="Group 16"/>
          <p:cNvGrpSpPr>
            <a:grpSpLocks/>
          </p:cNvGrpSpPr>
          <p:nvPr/>
        </p:nvGrpSpPr>
        <p:grpSpPr bwMode="auto">
          <a:xfrm>
            <a:off x="5905500" y="2654300"/>
            <a:ext cx="1460500" cy="381000"/>
            <a:chOff x="1256" y="2176"/>
            <a:chExt cx="920" cy="240"/>
          </a:xfrm>
        </p:grpSpPr>
        <p:grpSp>
          <p:nvGrpSpPr>
            <p:cNvPr id="390161" name="Group 1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0162" name="Oval 1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163" name="Line 1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0164" name="Line 2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0165" name="Group 21"/>
          <p:cNvGrpSpPr>
            <a:grpSpLocks/>
          </p:cNvGrpSpPr>
          <p:nvPr/>
        </p:nvGrpSpPr>
        <p:grpSpPr bwMode="auto">
          <a:xfrm>
            <a:off x="5911850" y="3670300"/>
            <a:ext cx="1460500" cy="381000"/>
            <a:chOff x="1256" y="2176"/>
            <a:chExt cx="920" cy="240"/>
          </a:xfrm>
        </p:grpSpPr>
        <p:grpSp>
          <p:nvGrpSpPr>
            <p:cNvPr id="390166" name="Group 22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0167" name="Oval 23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168" name="Line 24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0169" name="Line 25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0170" name="Line 26"/>
          <p:cNvSpPr>
            <a:spLocks noChangeShapeType="1"/>
          </p:cNvSpPr>
          <p:nvPr/>
        </p:nvSpPr>
        <p:spPr bwMode="auto">
          <a:xfrm>
            <a:off x="7366000" y="35052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71" name="Line 27"/>
          <p:cNvSpPr>
            <a:spLocks noChangeShapeType="1"/>
          </p:cNvSpPr>
          <p:nvPr/>
        </p:nvSpPr>
        <p:spPr bwMode="auto">
          <a:xfrm>
            <a:off x="7385050" y="20320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72" name="Oval 28"/>
          <p:cNvSpPr>
            <a:spLocks noChangeArrowheads="1"/>
          </p:cNvSpPr>
          <p:nvPr/>
        </p:nvSpPr>
        <p:spPr bwMode="auto">
          <a:xfrm>
            <a:off x="3581400" y="45593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0173" name="Line 29"/>
          <p:cNvSpPr>
            <a:spLocks noChangeShapeType="1"/>
          </p:cNvSpPr>
          <p:nvPr/>
        </p:nvSpPr>
        <p:spPr bwMode="auto">
          <a:xfrm>
            <a:off x="3797300" y="41275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74" name="Line 30"/>
          <p:cNvSpPr>
            <a:spLocks noChangeShapeType="1"/>
          </p:cNvSpPr>
          <p:nvPr/>
        </p:nvSpPr>
        <p:spPr bwMode="auto">
          <a:xfrm>
            <a:off x="3232150" y="52197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75" name="Line 31"/>
          <p:cNvSpPr>
            <a:spLocks noChangeShapeType="1"/>
          </p:cNvSpPr>
          <p:nvPr/>
        </p:nvSpPr>
        <p:spPr bwMode="auto">
          <a:xfrm>
            <a:off x="3797300" y="4940300"/>
            <a:ext cx="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76" name="Rectangle 32"/>
          <p:cNvSpPr>
            <a:spLocks noChangeArrowheads="1"/>
          </p:cNvSpPr>
          <p:nvPr/>
        </p:nvSpPr>
        <p:spPr bwMode="auto">
          <a:xfrm>
            <a:off x="3371850" y="56007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390177" name="Line 33"/>
          <p:cNvSpPr>
            <a:spLocks noChangeShapeType="1"/>
          </p:cNvSpPr>
          <p:nvPr/>
        </p:nvSpPr>
        <p:spPr bwMode="auto">
          <a:xfrm>
            <a:off x="3587750" y="5245100"/>
            <a:ext cx="0" cy="35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78" name="Rectangle 34"/>
          <p:cNvSpPr>
            <a:spLocks noChangeArrowheads="1"/>
          </p:cNvSpPr>
          <p:nvPr/>
        </p:nvSpPr>
        <p:spPr bwMode="auto">
          <a:xfrm>
            <a:off x="1117600" y="30099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390179" name="Line 35"/>
          <p:cNvSpPr>
            <a:spLocks noChangeShapeType="1"/>
          </p:cNvSpPr>
          <p:nvPr/>
        </p:nvSpPr>
        <p:spPr bwMode="auto">
          <a:xfrm>
            <a:off x="1536700" y="3276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80" name="Rectangle 36"/>
          <p:cNvSpPr>
            <a:spLocks noChangeArrowheads="1"/>
          </p:cNvSpPr>
          <p:nvPr/>
        </p:nvSpPr>
        <p:spPr bwMode="auto">
          <a:xfrm>
            <a:off x="8039100" y="25146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390181" name="Line 37"/>
          <p:cNvSpPr>
            <a:spLocks noChangeShapeType="1"/>
          </p:cNvSpPr>
          <p:nvPr/>
        </p:nvSpPr>
        <p:spPr bwMode="auto">
          <a:xfrm>
            <a:off x="7385050" y="2667000"/>
            <a:ext cx="654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0182" name="Text Box 38"/>
          <p:cNvSpPr txBox="1">
            <a:spLocks noChangeArrowheads="1"/>
          </p:cNvSpPr>
          <p:nvPr/>
        </p:nvSpPr>
        <p:spPr bwMode="auto">
          <a:xfrm>
            <a:off x="4768850" y="5245100"/>
            <a:ext cx="3225800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rtl="1"/>
            <a:r>
              <a:rPr lang="en-US" sz="2400"/>
              <a:t>A message from A</a:t>
            </a:r>
            <a:br>
              <a:rPr lang="en-US" sz="2400"/>
            </a:br>
            <a:r>
              <a:rPr lang="en-US" sz="2400"/>
              <a:t>will mark A’s location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Loop-free: tree</a:t>
            </a:r>
          </a:p>
        </p:txBody>
      </p:sp>
      <p:sp>
        <p:nvSpPr>
          <p:cNvPr id="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E60D21C4-041D-49D2-9E3D-B0D7BEF7987E}" type="slidenum">
              <a:rPr lang="en-US" altLang="he-IL">
                <a:cs typeface="Times New Roman" pitchFamily="18" charset="0"/>
              </a:rPr>
              <a:pPr/>
              <a:t>14</a:t>
            </a:fld>
            <a:endParaRPr lang="en-US" altLang="he-IL"/>
          </a:p>
        </p:txBody>
      </p:sp>
      <p:sp>
        <p:nvSpPr>
          <p:cNvPr id="392195" name="Oval 3"/>
          <p:cNvSpPr>
            <a:spLocks noChangeArrowheads="1"/>
          </p:cNvSpPr>
          <p:nvPr/>
        </p:nvSpPr>
        <p:spPr bwMode="auto">
          <a:xfrm>
            <a:off x="4000500" y="30480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2196" name="Line 4"/>
          <p:cNvSpPr>
            <a:spLocks noChangeShapeType="1"/>
          </p:cNvSpPr>
          <p:nvPr/>
        </p:nvSpPr>
        <p:spPr bwMode="auto">
          <a:xfrm>
            <a:off x="3479800" y="25146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197" name="Line 5"/>
          <p:cNvSpPr>
            <a:spLocks noChangeShapeType="1"/>
          </p:cNvSpPr>
          <p:nvPr/>
        </p:nvSpPr>
        <p:spPr bwMode="auto">
          <a:xfrm>
            <a:off x="3479800" y="3225800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2198" name="Group 6"/>
          <p:cNvGrpSpPr>
            <a:grpSpLocks/>
          </p:cNvGrpSpPr>
          <p:nvPr/>
        </p:nvGrpSpPr>
        <p:grpSpPr bwMode="auto">
          <a:xfrm>
            <a:off x="1993900" y="2667000"/>
            <a:ext cx="1460500" cy="381000"/>
            <a:chOff x="1256" y="2176"/>
            <a:chExt cx="920" cy="240"/>
          </a:xfrm>
        </p:grpSpPr>
        <p:grpSp>
          <p:nvGrpSpPr>
            <p:cNvPr id="392199" name="Group 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2200" name="Oval 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2201" name="Line 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2202" name="Line 1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2203" name="Line 11"/>
          <p:cNvSpPr>
            <a:spLocks noChangeShapeType="1"/>
          </p:cNvSpPr>
          <p:nvPr/>
        </p:nvSpPr>
        <p:spPr bwMode="auto">
          <a:xfrm>
            <a:off x="2006600" y="24257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04" name="Line 12"/>
          <p:cNvSpPr>
            <a:spLocks noChangeShapeType="1"/>
          </p:cNvSpPr>
          <p:nvPr/>
        </p:nvSpPr>
        <p:spPr bwMode="auto">
          <a:xfrm>
            <a:off x="4178300" y="3429000"/>
            <a:ext cx="0" cy="69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05" name="Line 13"/>
          <p:cNvSpPr>
            <a:spLocks noChangeShapeType="1"/>
          </p:cNvSpPr>
          <p:nvPr/>
        </p:nvSpPr>
        <p:spPr bwMode="auto">
          <a:xfrm>
            <a:off x="3454400" y="41275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06" name="Line 14"/>
          <p:cNvSpPr>
            <a:spLocks noChangeShapeType="1"/>
          </p:cNvSpPr>
          <p:nvPr/>
        </p:nvSpPr>
        <p:spPr bwMode="auto">
          <a:xfrm>
            <a:off x="4419600" y="3225800"/>
            <a:ext cx="148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07" name="Line 15"/>
          <p:cNvSpPr>
            <a:spLocks noChangeShapeType="1"/>
          </p:cNvSpPr>
          <p:nvPr/>
        </p:nvSpPr>
        <p:spPr bwMode="auto">
          <a:xfrm>
            <a:off x="5905500" y="2514600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2208" name="Group 16"/>
          <p:cNvGrpSpPr>
            <a:grpSpLocks/>
          </p:cNvGrpSpPr>
          <p:nvPr/>
        </p:nvGrpSpPr>
        <p:grpSpPr bwMode="auto">
          <a:xfrm>
            <a:off x="5905500" y="2654300"/>
            <a:ext cx="1460500" cy="381000"/>
            <a:chOff x="1256" y="2176"/>
            <a:chExt cx="920" cy="240"/>
          </a:xfrm>
        </p:grpSpPr>
        <p:grpSp>
          <p:nvGrpSpPr>
            <p:cNvPr id="392209" name="Group 1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2210" name="Oval 1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2211" name="Line 1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2212" name="Line 2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2213" name="Group 21"/>
          <p:cNvGrpSpPr>
            <a:grpSpLocks/>
          </p:cNvGrpSpPr>
          <p:nvPr/>
        </p:nvGrpSpPr>
        <p:grpSpPr bwMode="auto">
          <a:xfrm>
            <a:off x="5911850" y="3670300"/>
            <a:ext cx="1460500" cy="381000"/>
            <a:chOff x="1256" y="2176"/>
            <a:chExt cx="920" cy="240"/>
          </a:xfrm>
        </p:grpSpPr>
        <p:grpSp>
          <p:nvGrpSpPr>
            <p:cNvPr id="392214" name="Group 22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2215" name="Oval 23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2216" name="Line 24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2217" name="Line 25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2218" name="Line 26"/>
          <p:cNvSpPr>
            <a:spLocks noChangeShapeType="1"/>
          </p:cNvSpPr>
          <p:nvPr/>
        </p:nvSpPr>
        <p:spPr bwMode="auto">
          <a:xfrm>
            <a:off x="7366000" y="35052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19" name="Line 27"/>
          <p:cNvSpPr>
            <a:spLocks noChangeShapeType="1"/>
          </p:cNvSpPr>
          <p:nvPr/>
        </p:nvSpPr>
        <p:spPr bwMode="auto">
          <a:xfrm>
            <a:off x="7385050" y="20320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20" name="Oval 28"/>
          <p:cNvSpPr>
            <a:spLocks noChangeArrowheads="1"/>
          </p:cNvSpPr>
          <p:nvPr/>
        </p:nvSpPr>
        <p:spPr bwMode="auto">
          <a:xfrm>
            <a:off x="3581400" y="45593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2221" name="Line 29"/>
          <p:cNvSpPr>
            <a:spLocks noChangeShapeType="1"/>
          </p:cNvSpPr>
          <p:nvPr/>
        </p:nvSpPr>
        <p:spPr bwMode="auto">
          <a:xfrm>
            <a:off x="3797300" y="41275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22" name="Line 30"/>
          <p:cNvSpPr>
            <a:spLocks noChangeShapeType="1"/>
          </p:cNvSpPr>
          <p:nvPr/>
        </p:nvSpPr>
        <p:spPr bwMode="auto">
          <a:xfrm>
            <a:off x="3232150" y="52197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23" name="Line 31"/>
          <p:cNvSpPr>
            <a:spLocks noChangeShapeType="1"/>
          </p:cNvSpPr>
          <p:nvPr/>
        </p:nvSpPr>
        <p:spPr bwMode="auto">
          <a:xfrm>
            <a:off x="3797300" y="4940300"/>
            <a:ext cx="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24" name="Rectangle 32"/>
          <p:cNvSpPr>
            <a:spLocks noChangeArrowheads="1"/>
          </p:cNvSpPr>
          <p:nvPr/>
        </p:nvSpPr>
        <p:spPr bwMode="auto">
          <a:xfrm>
            <a:off x="3371850" y="56007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392225" name="Line 33"/>
          <p:cNvSpPr>
            <a:spLocks noChangeShapeType="1"/>
          </p:cNvSpPr>
          <p:nvPr/>
        </p:nvSpPr>
        <p:spPr bwMode="auto">
          <a:xfrm>
            <a:off x="3587750" y="5245100"/>
            <a:ext cx="0" cy="35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26" name="Rectangle 34"/>
          <p:cNvSpPr>
            <a:spLocks noChangeArrowheads="1"/>
          </p:cNvSpPr>
          <p:nvPr/>
        </p:nvSpPr>
        <p:spPr bwMode="auto">
          <a:xfrm>
            <a:off x="1117600" y="30099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392227" name="Line 35"/>
          <p:cNvSpPr>
            <a:spLocks noChangeShapeType="1"/>
          </p:cNvSpPr>
          <p:nvPr/>
        </p:nvSpPr>
        <p:spPr bwMode="auto">
          <a:xfrm>
            <a:off x="1536700" y="3276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28" name="Rectangle 36"/>
          <p:cNvSpPr>
            <a:spLocks noChangeArrowheads="1"/>
          </p:cNvSpPr>
          <p:nvPr/>
        </p:nvSpPr>
        <p:spPr bwMode="auto">
          <a:xfrm>
            <a:off x="8039100" y="25146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392229" name="Line 37"/>
          <p:cNvSpPr>
            <a:spLocks noChangeShapeType="1"/>
          </p:cNvSpPr>
          <p:nvPr/>
        </p:nvSpPr>
        <p:spPr bwMode="auto">
          <a:xfrm>
            <a:off x="7385050" y="2667000"/>
            <a:ext cx="654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30" name="Freeform 38"/>
          <p:cNvSpPr>
            <a:spLocks/>
          </p:cNvSpPr>
          <p:nvPr/>
        </p:nvSpPr>
        <p:spPr bwMode="auto">
          <a:xfrm>
            <a:off x="3644900" y="5003800"/>
            <a:ext cx="228600" cy="520700"/>
          </a:xfrm>
          <a:custGeom>
            <a:avLst/>
            <a:gdLst/>
            <a:ahLst/>
            <a:cxnLst>
              <a:cxn ang="0">
                <a:pos x="8" y="328"/>
              </a:cxn>
              <a:cxn ang="0">
                <a:pos x="0" y="192"/>
              </a:cxn>
              <a:cxn ang="0">
                <a:pos x="144" y="192"/>
              </a:cxn>
              <a:cxn ang="0">
                <a:pos x="144" y="0"/>
              </a:cxn>
            </a:cxnLst>
            <a:rect l="0" t="0" r="r" b="b"/>
            <a:pathLst>
              <a:path w="144" h="328">
                <a:moveTo>
                  <a:pt x="8" y="328"/>
                </a:moveTo>
                <a:lnTo>
                  <a:pt x="0" y="192"/>
                </a:lnTo>
                <a:lnTo>
                  <a:pt x="144" y="192"/>
                </a:lnTo>
                <a:lnTo>
                  <a:pt x="144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2231" name="Text Box 39"/>
          <p:cNvSpPr txBox="1">
            <a:spLocks noChangeArrowheads="1"/>
          </p:cNvSpPr>
          <p:nvPr/>
        </p:nvSpPr>
        <p:spPr bwMode="auto">
          <a:xfrm>
            <a:off x="4768850" y="5245100"/>
            <a:ext cx="3225800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rtl="1"/>
            <a:r>
              <a:rPr lang="en-US" sz="2400"/>
              <a:t>A message from A</a:t>
            </a:r>
            <a:br>
              <a:rPr lang="en-US" sz="2400"/>
            </a:br>
            <a:r>
              <a:rPr lang="en-US" sz="2400"/>
              <a:t>will mark A’s location</a:t>
            </a:r>
          </a:p>
        </p:txBody>
      </p:sp>
      <p:sp>
        <p:nvSpPr>
          <p:cNvPr id="392232" name="Text Box 40"/>
          <p:cNvSpPr txBox="1">
            <a:spLocks noChangeArrowheads="1"/>
          </p:cNvSpPr>
          <p:nvPr/>
        </p:nvSpPr>
        <p:spPr bwMode="auto">
          <a:xfrm>
            <a:off x="4019550" y="4514850"/>
            <a:ext cx="749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Loop-free: tree</a:t>
            </a:r>
          </a:p>
        </p:txBody>
      </p:sp>
      <p:sp>
        <p:nvSpPr>
          <p:cNvPr id="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15D20EA-A24B-4C3F-8733-3D4A568D7D9F}" type="slidenum">
              <a:rPr lang="en-US" altLang="he-IL">
                <a:cs typeface="Times New Roman" pitchFamily="18" charset="0"/>
              </a:rPr>
              <a:pPr/>
              <a:t>15</a:t>
            </a:fld>
            <a:endParaRPr lang="en-US" altLang="he-IL"/>
          </a:p>
        </p:txBody>
      </p:sp>
      <p:sp>
        <p:nvSpPr>
          <p:cNvPr id="394243" name="Oval 3"/>
          <p:cNvSpPr>
            <a:spLocks noChangeArrowheads="1"/>
          </p:cNvSpPr>
          <p:nvPr/>
        </p:nvSpPr>
        <p:spPr bwMode="auto">
          <a:xfrm>
            <a:off x="4000500" y="30480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4244" name="Line 4"/>
          <p:cNvSpPr>
            <a:spLocks noChangeShapeType="1"/>
          </p:cNvSpPr>
          <p:nvPr/>
        </p:nvSpPr>
        <p:spPr bwMode="auto">
          <a:xfrm>
            <a:off x="3479800" y="25146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45" name="Line 5"/>
          <p:cNvSpPr>
            <a:spLocks noChangeShapeType="1"/>
          </p:cNvSpPr>
          <p:nvPr/>
        </p:nvSpPr>
        <p:spPr bwMode="auto">
          <a:xfrm>
            <a:off x="3479800" y="3225800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4246" name="Group 6"/>
          <p:cNvGrpSpPr>
            <a:grpSpLocks/>
          </p:cNvGrpSpPr>
          <p:nvPr/>
        </p:nvGrpSpPr>
        <p:grpSpPr bwMode="auto">
          <a:xfrm>
            <a:off x="1993900" y="2667000"/>
            <a:ext cx="1460500" cy="381000"/>
            <a:chOff x="1256" y="2176"/>
            <a:chExt cx="920" cy="240"/>
          </a:xfrm>
        </p:grpSpPr>
        <p:grpSp>
          <p:nvGrpSpPr>
            <p:cNvPr id="394247" name="Group 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4248" name="Oval 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4249" name="Line 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4250" name="Line 1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4251" name="Line 11"/>
          <p:cNvSpPr>
            <a:spLocks noChangeShapeType="1"/>
          </p:cNvSpPr>
          <p:nvPr/>
        </p:nvSpPr>
        <p:spPr bwMode="auto">
          <a:xfrm>
            <a:off x="2006600" y="24257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52" name="Line 12"/>
          <p:cNvSpPr>
            <a:spLocks noChangeShapeType="1"/>
          </p:cNvSpPr>
          <p:nvPr/>
        </p:nvSpPr>
        <p:spPr bwMode="auto">
          <a:xfrm>
            <a:off x="4178300" y="3429000"/>
            <a:ext cx="0" cy="69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53" name="Line 13"/>
          <p:cNvSpPr>
            <a:spLocks noChangeShapeType="1"/>
          </p:cNvSpPr>
          <p:nvPr/>
        </p:nvSpPr>
        <p:spPr bwMode="auto">
          <a:xfrm>
            <a:off x="3454400" y="41275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54" name="Line 14"/>
          <p:cNvSpPr>
            <a:spLocks noChangeShapeType="1"/>
          </p:cNvSpPr>
          <p:nvPr/>
        </p:nvSpPr>
        <p:spPr bwMode="auto">
          <a:xfrm>
            <a:off x="4419600" y="3225800"/>
            <a:ext cx="148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55" name="Line 15"/>
          <p:cNvSpPr>
            <a:spLocks noChangeShapeType="1"/>
          </p:cNvSpPr>
          <p:nvPr/>
        </p:nvSpPr>
        <p:spPr bwMode="auto">
          <a:xfrm>
            <a:off x="5905500" y="2514600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4256" name="Group 16"/>
          <p:cNvGrpSpPr>
            <a:grpSpLocks/>
          </p:cNvGrpSpPr>
          <p:nvPr/>
        </p:nvGrpSpPr>
        <p:grpSpPr bwMode="auto">
          <a:xfrm>
            <a:off x="5905500" y="2654300"/>
            <a:ext cx="1460500" cy="381000"/>
            <a:chOff x="1256" y="2176"/>
            <a:chExt cx="920" cy="240"/>
          </a:xfrm>
        </p:grpSpPr>
        <p:grpSp>
          <p:nvGrpSpPr>
            <p:cNvPr id="394257" name="Group 1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4258" name="Oval 1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4259" name="Line 1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4260" name="Line 2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4261" name="Group 21"/>
          <p:cNvGrpSpPr>
            <a:grpSpLocks/>
          </p:cNvGrpSpPr>
          <p:nvPr/>
        </p:nvGrpSpPr>
        <p:grpSpPr bwMode="auto">
          <a:xfrm>
            <a:off x="5911850" y="3670300"/>
            <a:ext cx="1460500" cy="381000"/>
            <a:chOff x="1256" y="2176"/>
            <a:chExt cx="920" cy="240"/>
          </a:xfrm>
        </p:grpSpPr>
        <p:grpSp>
          <p:nvGrpSpPr>
            <p:cNvPr id="394262" name="Group 22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4263" name="Oval 23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4264" name="Line 24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4265" name="Line 25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4266" name="Line 26"/>
          <p:cNvSpPr>
            <a:spLocks noChangeShapeType="1"/>
          </p:cNvSpPr>
          <p:nvPr/>
        </p:nvSpPr>
        <p:spPr bwMode="auto">
          <a:xfrm>
            <a:off x="7366000" y="35052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67" name="Line 27"/>
          <p:cNvSpPr>
            <a:spLocks noChangeShapeType="1"/>
          </p:cNvSpPr>
          <p:nvPr/>
        </p:nvSpPr>
        <p:spPr bwMode="auto">
          <a:xfrm>
            <a:off x="7385050" y="20320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68" name="Oval 28"/>
          <p:cNvSpPr>
            <a:spLocks noChangeArrowheads="1"/>
          </p:cNvSpPr>
          <p:nvPr/>
        </p:nvSpPr>
        <p:spPr bwMode="auto">
          <a:xfrm>
            <a:off x="3581400" y="45593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4269" name="Line 29"/>
          <p:cNvSpPr>
            <a:spLocks noChangeShapeType="1"/>
          </p:cNvSpPr>
          <p:nvPr/>
        </p:nvSpPr>
        <p:spPr bwMode="auto">
          <a:xfrm>
            <a:off x="3797300" y="41275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70" name="Line 30"/>
          <p:cNvSpPr>
            <a:spLocks noChangeShapeType="1"/>
          </p:cNvSpPr>
          <p:nvPr/>
        </p:nvSpPr>
        <p:spPr bwMode="auto">
          <a:xfrm>
            <a:off x="3232150" y="52197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71" name="Line 31"/>
          <p:cNvSpPr>
            <a:spLocks noChangeShapeType="1"/>
          </p:cNvSpPr>
          <p:nvPr/>
        </p:nvSpPr>
        <p:spPr bwMode="auto">
          <a:xfrm>
            <a:off x="3797300" y="4940300"/>
            <a:ext cx="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72" name="Rectangle 32"/>
          <p:cNvSpPr>
            <a:spLocks noChangeArrowheads="1"/>
          </p:cNvSpPr>
          <p:nvPr/>
        </p:nvSpPr>
        <p:spPr bwMode="auto">
          <a:xfrm>
            <a:off x="3371850" y="56007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394273" name="Line 33"/>
          <p:cNvSpPr>
            <a:spLocks noChangeShapeType="1"/>
          </p:cNvSpPr>
          <p:nvPr/>
        </p:nvSpPr>
        <p:spPr bwMode="auto">
          <a:xfrm>
            <a:off x="3587750" y="5245100"/>
            <a:ext cx="0" cy="35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74" name="Rectangle 34"/>
          <p:cNvSpPr>
            <a:spLocks noChangeArrowheads="1"/>
          </p:cNvSpPr>
          <p:nvPr/>
        </p:nvSpPr>
        <p:spPr bwMode="auto">
          <a:xfrm>
            <a:off x="1117600" y="30099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394275" name="Line 35"/>
          <p:cNvSpPr>
            <a:spLocks noChangeShapeType="1"/>
          </p:cNvSpPr>
          <p:nvPr/>
        </p:nvSpPr>
        <p:spPr bwMode="auto">
          <a:xfrm>
            <a:off x="1536700" y="3276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76" name="Rectangle 36"/>
          <p:cNvSpPr>
            <a:spLocks noChangeArrowheads="1"/>
          </p:cNvSpPr>
          <p:nvPr/>
        </p:nvSpPr>
        <p:spPr bwMode="auto">
          <a:xfrm>
            <a:off x="8039100" y="25146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394277" name="Line 37"/>
          <p:cNvSpPr>
            <a:spLocks noChangeShapeType="1"/>
          </p:cNvSpPr>
          <p:nvPr/>
        </p:nvSpPr>
        <p:spPr bwMode="auto">
          <a:xfrm>
            <a:off x="7385050" y="2667000"/>
            <a:ext cx="654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78" name="Freeform 38"/>
          <p:cNvSpPr>
            <a:spLocks/>
          </p:cNvSpPr>
          <p:nvPr/>
        </p:nvSpPr>
        <p:spPr bwMode="auto">
          <a:xfrm>
            <a:off x="3644900" y="5003800"/>
            <a:ext cx="228600" cy="520700"/>
          </a:xfrm>
          <a:custGeom>
            <a:avLst/>
            <a:gdLst/>
            <a:ahLst/>
            <a:cxnLst>
              <a:cxn ang="0">
                <a:pos x="8" y="328"/>
              </a:cxn>
              <a:cxn ang="0">
                <a:pos x="0" y="192"/>
              </a:cxn>
              <a:cxn ang="0">
                <a:pos x="144" y="192"/>
              </a:cxn>
              <a:cxn ang="0">
                <a:pos x="144" y="0"/>
              </a:cxn>
            </a:cxnLst>
            <a:rect l="0" t="0" r="r" b="b"/>
            <a:pathLst>
              <a:path w="144" h="328">
                <a:moveTo>
                  <a:pt x="8" y="328"/>
                </a:moveTo>
                <a:lnTo>
                  <a:pt x="0" y="192"/>
                </a:lnTo>
                <a:lnTo>
                  <a:pt x="144" y="192"/>
                </a:lnTo>
                <a:lnTo>
                  <a:pt x="144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79" name="Freeform 39"/>
          <p:cNvSpPr>
            <a:spLocks/>
          </p:cNvSpPr>
          <p:nvPr/>
        </p:nvSpPr>
        <p:spPr bwMode="auto">
          <a:xfrm>
            <a:off x="3873500" y="3479800"/>
            <a:ext cx="241300" cy="1016000"/>
          </a:xfrm>
          <a:custGeom>
            <a:avLst/>
            <a:gdLst/>
            <a:ahLst/>
            <a:cxnLst>
              <a:cxn ang="0">
                <a:pos x="0" y="640"/>
              </a:cxn>
              <a:cxn ang="0">
                <a:pos x="0" y="456"/>
              </a:cxn>
              <a:cxn ang="0">
                <a:pos x="152" y="456"/>
              </a:cxn>
              <a:cxn ang="0">
                <a:pos x="152" y="0"/>
              </a:cxn>
            </a:cxnLst>
            <a:rect l="0" t="0" r="r" b="b"/>
            <a:pathLst>
              <a:path w="152" h="640">
                <a:moveTo>
                  <a:pt x="0" y="640"/>
                </a:moveTo>
                <a:lnTo>
                  <a:pt x="0" y="456"/>
                </a:lnTo>
                <a:lnTo>
                  <a:pt x="152" y="456"/>
                </a:lnTo>
                <a:lnTo>
                  <a:pt x="152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4280" name="Text Box 40"/>
          <p:cNvSpPr txBox="1">
            <a:spLocks noChangeArrowheads="1"/>
          </p:cNvSpPr>
          <p:nvPr/>
        </p:nvSpPr>
        <p:spPr bwMode="auto">
          <a:xfrm>
            <a:off x="4019550" y="2514600"/>
            <a:ext cx="749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</a:t>
            </a:r>
          </a:p>
        </p:txBody>
      </p:sp>
      <p:sp>
        <p:nvSpPr>
          <p:cNvPr id="394281" name="Text Box 41"/>
          <p:cNvSpPr txBox="1">
            <a:spLocks noChangeArrowheads="1"/>
          </p:cNvSpPr>
          <p:nvPr/>
        </p:nvSpPr>
        <p:spPr bwMode="auto">
          <a:xfrm>
            <a:off x="4019550" y="4514850"/>
            <a:ext cx="749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</a:t>
            </a:r>
          </a:p>
        </p:txBody>
      </p:sp>
      <p:sp>
        <p:nvSpPr>
          <p:cNvPr id="394282" name="Text Box 42"/>
          <p:cNvSpPr txBox="1">
            <a:spLocks noChangeArrowheads="1"/>
          </p:cNvSpPr>
          <p:nvPr/>
        </p:nvSpPr>
        <p:spPr bwMode="auto">
          <a:xfrm>
            <a:off x="4768850" y="5245100"/>
            <a:ext cx="3225800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rtl="1"/>
            <a:r>
              <a:rPr lang="en-US" sz="2400"/>
              <a:t>A message from A</a:t>
            </a:r>
            <a:br>
              <a:rPr lang="en-US" sz="2400"/>
            </a:br>
            <a:r>
              <a:rPr lang="en-US" sz="2400"/>
              <a:t>will mark A’s location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Loop-free: tree</a:t>
            </a:r>
          </a:p>
        </p:txBody>
      </p:sp>
      <p:sp>
        <p:nvSpPr>
          <p:cNvPr id="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3BB1DE6-621E-4FE4-89F8-8AD249BBDC97}" type="slidenum">
              <a:rPr lang="en-US" altLang="he-IL">
                <a:cs typeface="Times New Roman" pitchFamily="18" charset="0"/>
              </a:rPr>
              <a:pPr/>
              <a:t>16</a:t>
            </a:fld>
            <a:endParaRPr lang="en-US" altLang="he-IL"/>
          </a:p>
        </p:txBody>
      </p:sp>
      <p:sp>
        <p:nvSpPr>
          <p:cNvPr id="396291" name="Oval 3"/>
          <p:cNvSpPr>
            <a:spLocks noChangeArrowheads="1"/>
          </p:cNvSpPr>
          <p:nvPr/>
        </p:nvSpPr>
        <p:spPr bwMode="auto">
          <a:xfrm>
            <a:off x="4000500" y="30480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6292" name="Line 4"/>
          <p:cNvSpPr>
            <a:spLocks noChangeShapeType="1"/>
          </p:cNvSpPr>
          <p:nvPr/>
        </p:nvSpPr>
        <p:spPr bwMode="auto">
          <a:xfrm>
            <a:off x="3479800" y="25146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293" name="Line 5"/>
          <p:cNvSpPr>
            <a:spLocks noChangeShapeType="1"/>
          </p:cNvSpPr>
          <p:nvPr/>
        </p:nvSpPr>
        <p:spPr bwMode="auto">
          <a:xfrm>
            <a:off x="3479800" y="3225800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6294" name="Group 6"/>
          <p:cNvGrpSpPr>
            <a:grpSpLocks/>
          </p:cNvGrpSpPr>
          <p:nvPr/>
        </p:nvGrpSpPr>
        <p:grpSpPr bwMode="auto">
          <a:xfrm>
            <a:off x="1993900" y="2667000"/>
            <a:ext cx="1460500" cy="381000"/>
            <a:chOff x="1256" y="2176"/>
            <a:chExt cx="920" cy="240"/>
          </a:xfrm>
        </p:grpSpPr>
        <p:grpSp>
          <p:nvGrpSpPr>
            <p:cNvPr id="396295" name="Group 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6296" name="Oval 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6297" name="Line 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6298" name="Line 1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6299" name="Line 11"/>
          <p:cNvSpPr>
            <a:spLocks noChangeShapeType="1"/>
          </p:cNvSpPr>
          <p:nvPr/>
        </p:nvSpPr>
        <p:spPr bwMode="auto">
          <a:xfrm>
            <a:off x="2006600" y="24257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00" name="Line 12"/>
          <p:cNvSpPr>
            <a:spLocks noChangeShapeType="1"/>
          </p:cNvSpPr>
          <p:nvPr/>
        </p:nvSpPr>
        <p:spPr bwMode="auto">
          <a:xfrm>
            <a:off x="4178300" y="3429000"/>
            <a:ext cx="0" cy="69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01" name="Line 13"/>
          <p:cNvSpPr>
            <a:spLocks noChangeShapeType="1"/>
          </p:cNvSpPr>
          <p:nvPr/>
        </p:nvSpPr>
        <p:spPr bwMode="auto">
          <a:xfrm>
            <a:off x="3454400" y="41275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02" name="Line 14"/>
          <p:cNvSpPr>
            <a:spLocks noChangeShapeType="1"/>
          </p:cNvSpPr>
          <p:nvPr/>
        </p:nvSpPr>
        <p:spPr bwMode="auto">
          <a:xfrm>
            <a:off x="4419600" y="3225800"/>
            <a:ext cx="148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03" name="Line 15"/>
          <p:cNvSpPr>
            <a:spLocks noChangeShapeType="1"/>
          </p:cNvSpPr>
          <p:nvPr/>
        </p:nvSpPr>
        <p:spPr bwMode="auto">
          <a:xfrm>
            <a:off x="5905500" y="2514600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6304" name="Group 16"/>
          <p:cNvGrpSpPr>
            <a:grpSpLocks/>
          </p:cNvGrpSpPr>
          <p:nvPr/>
        </p:nvGrpSpPr>
        <p:grpSpPr bwMode="auto">
          <a:xfrm>
            <a:off x="5905500" y="2654300"/>
            <a:ext cx="1460500" cy="381000"/>
            <a:chOff x="1256" y="2176"/>
            <a:chExt cx="920" cy="240"/>
          </a:xfrm>
        </p:grpSpPr>
        <p:grpSp>
          <p:nvGrpSpPr>
            <p:cNvPr id="396305" name="Group 1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6306" name="Oval 1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6307" name="Line 1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6308" name="Line 2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6309" name="Group 21"/>
          <p:cNvGrpSpPr>
            <a:grpSpLocks/>
          </p:cNvGrpSpPr>
          <p:nvPr/>
        </p:nvGrpSpPr>
        <p:grpSpPr bwMode="auto">
          <a:xfrm>
            <a:off x="5911850" y="3670300"/>
            <a:ext cx="1460500" cy="381000"/>
            <a:chOff x="1256" y="2176"/>
            <a:chExt cx="920" cy="240"/>
          </a:xfrm>
        </p:grpSpPr>
        <p:grpSp>
          <p:nvGrpSpPr>
            <p:cNvPr id="396310" name="Group 22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6311" name="Oval 23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6312" name="Line 24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6313" name="Line 25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6314" name="Line 26"/>
          <p:cNvSpPr>
            <a:spLocks noChangeShapeType="1"/>
          </p:cNvSpPr>
          <p:nvPr/>
        </p:nvSpPr>
        <p:spPr bwMode="auto">
          <a:xfrm>
            <a:off x="7366000" y="35052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15" name="Line 27"/>
          <p:cNvSpPr>
            <a:spLocks noChangeShapeType="1"/>
          </p:cNvSpPr>
          <p:nvPr/>
        </p:nvSpPr>
        <p:spPr bwMode="auto">
          <a:xfrm>
            <a:off x="7385050" y="20320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16" name="Oval 28"/>
          <p:cNvSpPr>
            <a:spLocks noChangeArrowheads="1"/>
          </p:cNvSpPr>
          <p:nvPr/>
        </p:nvSpPr>
        <p:spPr bwMode="auto">
          <a:xfrm>
            <a:off x="3581400" y="45593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6317" name="Line 29"/>
          <p:cNvSpPr>
            <a:spLocks noChangeShapeType="1"/>
          </p:cNvSpPr>
          <p:nvPr/>
        </p:nvSpPr>
        <p:spPr bwMode="auto">
          <a:xfrm>
            <a:off x="3797300" y="41275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18" name="Line 30"/>
          <p:cNvSpPr>
            <a:spLocks noChangeShapeType="1"/>
          </p:cNvSpPr>
          <p:nvPr/>
        </p:nvSpPr>
        <p:spPr bwMode="auto">
          <a:xfrm>
            <a:off x="3232150" y="52197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19" name="Line 31"/>
          <p:cNvSpPr>
            <a:spLocks noChangeShapeType="1"/>
          </p:cNvSpPr>
          <p:nvPr/>
        </p:nvSpPr>
        <p:spPr bwMode="auto">
          <a:xfrm>
            <a:off x="3797300" y="4940300"/>
            <a:ext cx="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0" name="Rectangle 32"/>
          <p:cNvSpPr>
            <a:spLocks noChangeArrowheads="1"/>
          </p:cNvSpPr>
          <p:nvPr/>
        </p:nvSpPr>
        <p:spPr bwMode="auto">
          <a:xfrm>
            <a:off x="3371850" y="56007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396321" name="Line 33"/>
          <p:cNvSpPr>
            <a:spLocks noChangeShapeType="1"/>
          </p:cNvSpPr>
          <p:nvPr/>
        </p:nvSpPr>
        <p:spPr bwMode="auto">
          <a:xfrm>
            <a:off x="3587750" y="5245100"/>
            <a:ext cx="0" cy="35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2" name="Rectangle 34"/>
          <p:cNvSpPr>
            <a:spLocks noChangeArrowheads="1"/>
          </p:cNvSpPr>
          <p:nvPr/>
        </p:nvSpPr>
        <p:spPr bwMode="auto">
          <a:xfrm>
            <a:off x="1117600" y="30099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396323" name="Line 35"/>
          <p:cNvSpPr>
            <a:spLocks noChangeShapeType="1"/>
          </p:cNvSpPr>
          <p:nvPr/>
        </p:nvSpPr>
        <p:spPr bwMode="auto">
          <a:xfrm>
            <a:off x="1536700" y="3276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4" name="Rectangle 36"/>
          <p:cNvSpPr>
            <a:spLocks noChangeArrowheads="1"/>
          </p:cNvSpPr>
          <p:nvPr/>
        </p:nvSpPr>
        <p:spPr bwMode="auto">
          <a:xfrm>
            <a:off x="8039100" y="25146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396325" name="Line 37"/>
          <p:cNvSpPr>
            <a:spLocks noChangeShapeType="1"/>
          </p:cNvSpPr>
          <p:nvPr/>
        </p:nvSpPr>
        <p:spPr bwMode="auto">
          <a:xfrm>
            <a:off x="7385050" y="2667000"/>
            <a:ext cx="654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6" name="Freeform 38"/>
          <p:cNvSpPr>
            <a:spLocks/>
          </p:cNvSpPr>
          <p:nvPr/>
        </p:nvSpPr>
        <p:spPr bwMode="auto">
          <a:xfrm>
            <a:off x="3644900" y="5003800"/>
            <a:ext cx="228600" cy="520700"/>
          </a:xfrm>
          <a:custGeom>
            <a:avLst/>
            <a:gdLst/>
            <a:ahLst/>
            <a:cxnLst>
              <a:cxn ang="0">
                <a:pos x="8" y="328"/>
              </a:cxn>
              <a:cxn ang="0">
                <a:pos x="0" y="192"/>
              </a:cxn>
              <a:cxn ang="0">
                <a:pos x="144" y="192"/>
              </a:cxn>
              <a:cxn ang="0">
                <a:pos x="144" y="0"/>
              </a:cxn>
            </a:cxnLst>
            <a:rect l="0" t="0" r="r" b="b"/>
            <a:pathLst>
              <a:path w="144" h="328">
                <a:moveTo>
                  <a:pt x="8" y="328"/>
                </a:moveTo>
                <a:lnTo>
                  <a:pt x="0" y="192"/>
                </a:lnTo>
                <a:lnTo>
                  <a:pt x="144" y="192"/>
                </a:lnTo>
                <a:lnTo>
                  <a:pt x="144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7" name="Freeform 39"/>
          <p:cNvSpPr>
            <a:spLocks/>
          </p:cNvSpPr>
          <p:nvPr/>
        </p:nvSpPr>
        <p:spPr bwMode="auto">
          <a:xfrm>
            <a:off x="3873500" y="3479800"/>
            <a:ext cx="241300" cy="1016000"/>
          </a:xfrm>
          <a:custGeom>
            <a:avLst/>
            <a:gdLst/>
            <a:ahLst/>
            <a:cxnLst>
              <a:cxn ang="0">
                <a:pos x="0" y="640"/>
              </a:cxn>
              <a:cxn ang="0">
                <a:pos x="0" y="456"/>
              </a:cxn>
              <a:cxn ang="0">
                <a:pos x="152" y="456"/>
              </a:cxn>
              <a:cxn ang="0">
                <a:pos x="152" y="0"/>
              </a:cxn>
            </a:cxnLst>
            <a:rect l="0" t="0" r="r" b="b"/>
            <a:pathLst>
              <a:path w="152" h="640">
                <a:moveTo>
                  <a:pt x="0" y="640"/>
                </a:moveTo>
                <a:lnTo>
                  <a:pt x="0" y="456"/>
                </a:lnTo>
                <a:lnTo>
                  <a:pt x="152" y="456"/>
                </a:lnTo>
                <a:lnTo>
                  <a:pt x="152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8" name="Freeform 40"/>
          <p:cNvSpPr>
            <a:spLocks/>
          </p:cNvSpPr>
          <p:nvPr/>
        </p:nvSpPr>
        <p:spPr bwMode="auto">
          <a:xfrm>
            <a:off x="2971800" y="2768600"/>
            <a:ext cx="939800" cy="546100"/>
          </a:xfrm>
          <a:custGeom>
            <a:avLst/>
            <a:gdLst/>
            <a:ahLst/>
            <a:cxnLst>
              <a:cxn ang="0">
                <a:pos x="592" y="344"/>
              </a:cxn>
              <a:cxn ang="0">
                <a:pos x="224" y="344"/>
              </a:cxn>
              <a:cxn ang="0">
                <a:pos x="216" y="0"/>
              </a:cxn>
              <a:cxn ang="0">
                <a:pos x="0" y="0"/>
              </a:cxn>
            </a:cxnLst>
            <a:rect l="0" t="0" r="r" b="b"/>
            <a:pathLst>
              <a:path w="592" h="344">
                <a:moveTo>
                  <a:pt x="592" y="344"/>
                </a:moveTo>
                <a:lnTo>
                  <a:pt x="224" y="344"/>
                </a:lnTo>
                <a:lnTo>
                  <a:pt x="216" y="0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9" name="Freeform 41"/>
          <p:cNvSpPr>
            <a:spLocks/>
          </p:cNvSpPr>
          <p:nvPr/>
        </p:nvSpPr>
        <p:spPr bwMode="auto">
          <a:xfrm>
            <a:off x="4457700" y="2908300"/>
            <a:ext cx="1905000" cy="406400"/>
          </a:xfrm>
          <a:custGeom>
            <a:avLst/>
            <a:gdLst/>
            <a:ahLst/>
            <a:cxnLst>
              <a:cxn ang="0">
                <a:pos x="0" y="256"/>
              </a:cxn>
              <a:cxn ang="0">
                <a:pos x="976" y="256"/>
              </a:cxn>
              <a:cxn ang="0">
                <a:pos x="976" y="0"/>
              </a:cxn>
              <a:cxn ang="0">
                <a:pos x="1200" y="0"/>
              </a:cxn>
            </a:cxnLst>
            <a:rect l="0" t="0" r="r" b="b"/>
            <a:pathLst>
              <a:path w="1200" h="256">
                <a:moveTo>
                  <a:pt x="0" y="256"/>
                </a:moveTo>
                <a:lnTo>
                  <a:pt x="976" y="256"/>
                </a:lnTo>
                <a:lnTo>
                  <a:pt x="976" y="0"/>
                </a:lnTo>
                <a:lnTo>
                  <a:pt x="1200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30" name="Freeform 42"/>
          <p:cNvSpPr>
            <a:spLocks/>
          </p:cNvSpPr>
          <p:nvPr/>
        </p:nvSpPr>
        <p:spPr bwMode="auto">
          <a:xfrm>
            <a:off x="5994400" y="3327400"/>
            <a:ext cx="355600" cy="609600"/>
          </a:xfrm>
          <a:custGeom>
            <a:avLst/>
            <a:gdLst/>
            <a:ahLst/>
            <a:cxnLst>
              <a:cxn ang="0">
                <a:pos x="8" y="0"/>
              </a:cxn>
              <a:cxn ang="0">
                <a:pos x="0" y="376"/>
              </a:cxn>
              <a:cxn ang="0">
                <a:pos x="264" y="376"/>
              </a:cxn>
            </a:cxnLst>
            <a:rect l="0" t="0" r="r" b="b"/>
            <a:pathLst>
              <a:path w="264" h="376">
                <a:moveTo>
                  <a:pt x="8" y="0"/>
                </a:moveTo>
                <a:lnTo>
                  <a:pt x="0" y="376"/>
                </a:lnTo>
                <a:lnTo>
                  <a:pt x="264" y="376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31" name="Text Box 43"/>
          <p:cNvSpPr txBox="1">
            <a:spLocks noChangeArrowheads="1"/>
          </p:cNvSpPr>
          <p:nvPr/>
        </p:nvSpPr>
        <p:spPr bwMode="auto">
          <a:xfrm>
            <a:off x="4019550" y="2514600"/>
            <a:ext cx="749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</a:t>
            </a:r>
          </a:p>
        </p:txBody>
      </p:sp>
      <p:sp>
        <p:nvSpPr>
          <p:cNvPr id="396332" name="Text Box 44"/>
          <p:cNvSpPr txBox="1">
            <a:spLocks noChangeArrowheads="1"/>
          </p:cNvSpPr>
          <p:nvPr/>
        </p:nvSpPr>
        <p:spPr bwMode="auto">
          <a:xfrm>
            <a:off x="2339975" y="2222500"/>
            <a:ext cx="865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</a:t>
            </a:r>
          </a:p>
        </p:txBody>
      </p:sp>
      <p:sp>
        <p:nvSpPr>
          <p:cNvPr id="396333" name="Text Box 45"/>
          <p:cNvSpPr txBox="1">
            <a:spLocks noChangeArrowheads="1"/>
          </p:cNvSpPr>
          <p:nvPr/>
        </p:nvSpPr>
        <p:spPr bwMode="auto">
          <a:xfrm>
            <a:off x="6350000" y="4102100"/>
            <a:ext cx="865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</a:t>
            </a:r>
          </a:p>
        </p:txBody>
      </p:sp>
      <p:sp>
        <p:nvSpPr>
          <p:cNvPr id="396334" name="Text Box 46"/>
          <p:cNvSpPr txBox="1">
            <a:spLocks noChangeArrowheads="1"/>
          </p:cNvSpPr>
          <p:nvPr/>
        </p:nvSpPr>
        <p:spPr bwMode="auto">
          <a:xfrm>
            <a:off x="6350000" y="2197100"/>
            <a:ext cx="865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</a:t>
            </a:r>
          </a:p>
        </p:txBody>
      </p:sp>
      <p:sp>
        <p:nvSpPr>
          <p:cNvPr id="396335" name="Text Box 47"/>
          <p:cNvSpPr txBox="1">
            <a:spLocks noChangeArrowheads="1"/>
          </p:cNvSpPr>
          <p:nvPr/>
        </p:nvSpPr>
        <p:spPr bwMode="auto">
          <a:xfrm>
            <a:off x="4019550" y="4514850"/>
            <a:ext cx="749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</a:t>
            </a:r>
          </a:p>
        </p:txBody>
      </p:sp>
      <p:sp>
        <p:nvSpPr>
          <p:cNvPr id="396336" name="Text Box 48"/>
          <p:cNvSpPr txBox="1">
            <a:spLocks noChangeArrowheads="1"/>
          </p:cNvSpPr>
          <p:nvPr/>
        </p:nvSpPr>
        <p:spPr bwMode="auto">
          <a:xfrm>
            <a:off x="4768850" y="5245100"/>
            <a:ext cx="3225800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rtl="1"/>
            <a:r>
              <a:rPr lang="en-US" sz="2400"/>
              <a:t>A message from A</a:t>
            </a:r>
            <a:br>
              <a:rPr lang="en-US" sz="2400"/>
            </a:br>
            <a:r>
              <a:rPr lang="en-US" sz="2400"/>
              <a:t>will mark A’s location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Loop-free: tree</a:t>
            </a:r>
          </a:p>
        </p:txBody>
      </p:sp>
      <p:sp>
        <p:nvSpPr>
          <p:cNvPr id="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D69288F9-3E1F-48C5-9A61-9072DA905D4C}" type="slidenum">
              <a:rPr lang="en-US" altLang="he-IL">
                <a:cs typeface="Times New Roman" pitchFamily="18" charset="0"/>
              </a:rPr>
              <a:pPr/>
              <a:t>17</a:t>
            </a:fld>
            <a:endParaRPr lang="en-US" altLang="he-IL"/>
          </a:p>
        </p:txBody>
      </p:sp>
      <p:sp>
        <p:nvSpPr>
          <p:cNvPr id="398339" name="Oval 3"/>
          <p:cNvSpPr>
            <a:spLocks noChangeArrowheads="1"/>
          </p:cNvSpPr>
          <p:nvPr/>
        </p:nvSpPr>
        <p:spPr bwMode="auto">
          <a:xfrm>
            <a:off x="4000500" y="30480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8340" name="Line 4"/>
          <p:cNvSpPr>
            <a:spLocks noChangeShapeType="1"/>
          </p:cNvSpPr>
          <p:nvPr/>
        </p:nvSpPr>
        <p:spPr bwMode="auto">
          <a:xfrm>
            <a:off x="3479800" y="25146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41" name="Line 5"/>
          <p:cNvSpPr>
            <a:spLocks noChangeShapeType="1"/>
          </p:cNvSpPr>
          <p:nvPr/>
        </p:nvSpPr>
        <p:spPr bwMode="auto">
          <a:xfrm>
            <a:off x="3479800" y="3225800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8342" name="Group 6"/>
          <p:cNvGrpSpPr>
            <a:grpSpLocks/>
          </p:cNvGrpSpPr>
          <p:nvPr/>
        </p:nvGrpSpPr>
        <p:grpSpPr bwMode="auto">
          <a:xfrm>
            <a:off x="1993900" y="2667000"/>
            <a:ext cx="1460500" cy="381000"/>
            <a:chOff x="1256" y="2176"/>
            <a:chExt cx="920" cy="240"/>
          </a:xfrm>
        </p:grpSpPr>
        <p:grpSp>
          <p:nvGrpSpPr>
            <p:cNvPr id="398343" name="Group 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8344" name="Oval 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8345" name="Line 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8346" name="Line 1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8347" name="Line 11"/>
          <p:cNvSpPr>
            <a:spLocks noChangeShapeType="1"/>
          </p:cNvSpPr>
          <p:nvPr/>
        </p:nvSpPr>
        <p:spPr bwMode="auto">
          <a:xfrm>
            <a:off x="2006600" y="24257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48" name="Line 12"/>
          <p:cNvSpPr>
            <a:spLocks noChangeShapeType="1"/>
          </p:cNvSpPr>
          <p:nvPr/>
        </p:nvSpPr>
        <p:spPr bwMode="auto">
          <a:xfrm>
            <a:off x="4178300" y="3429000"/>
            <a:ext cx="0" cy="69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49" name="Line 13"/>
          <p:cNvSpPr>
            <a:spLocks noChangeShapeType="1"/>
          </p:cNvSpPr>
          <p:nvPr/>
        </p:nvSpPr>
        <p:spPr bwMode="auto">
          <a:xfrm>
            <a:off x="3454400" y="41275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50" name="Line 14"/>
          <p:cNvSpPr>
            <a:spLocks noChangeShapeType="1"/>
          </p:cNvSpPr>
          <p:nvPr/>
        </p:nvSpPr>
        <p:spPr bwMode="auto">
          <a:xfrm>
            <a:off x="4419600" y="3225800"/>
            <a:ext cx="148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51" name="Line 15"/>
          <p:cNvSpPr>
            <a:spLocks noChangeShapeType="1"/>
          </p:cNvSpPr>
          <p:nvPr/>
        </p:nvSpPr>
        <p:spPr bwMode="auto">
          <a:xfrm>
            <a:off x="5905500" y="2514600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8352" name="Group 16"/>
          <p:cNvGrpSpPr>
            <a:grpSpLocks/>
          </p:cNvGrpSpPr>
          <p:nvPr/>
        </p:nvGrpSpPr>
        <p:grpSpPr bwMode="auto">
          <a:xfrm>
            <a:off x="5905500" y="2654300"/>
            <a:ext cx="1460500" cy="381000"/>
            <a:chOff x="1256" y="2176"/>
            <a:chExt cx="920" cy="240"/>
          </a:xfrm>
        </p:grpSpPr>
        <p:grpSp>
          <p:nvGrpSpPr>
            <p:cNvPr id="398353" name="Group 1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8354" name="Oval 1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8355" name="Line 1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8356" name="Line 2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8357" name="Group 21"/>
          <p:cNvGrpSpPr>
            <a:grpSpLocks/>
          </p:cNvGrpSpPr>
          <p:nvPr/>
        </p:nvGrpSpPr>
        <p:grpSpPr bwMode="auto">
          <a:xfrm>
            <a:off x="5911850" y="3670300"/>
            <a:ext cx="1460500" cy="381000"/>
            <a:chOff x="1256" y="2176"/>
            <a:chExt cx="920" cy="240"/>
          </a:xfrm>
        </p:grpSpPr>
        <p:grpSp>
          <p:nvGrpSpPr>
            <p:cNvPr id="398358" name="Group 22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398359" name="Oval 23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8360" name="Line 24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8361" name="Line 25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8362" name="Line 26"/>
          <p:cNvSpPr>
            <a:spLocks noChangeShapeType="1"/>
          </p:cNvSpPr>
          <p:nvPr/>
        </p:nvSpPr>
        <p:spPr bwMode="auto">
          <a:xfrm>
            <a:off x="7366000" y="35052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63" name="Line 27"/>
          <p:cNvSpPr>
            <a:spLocks noChangeShapeType="1"/>
          </p:cNvSpPr>
          <p:nvPr/>
        </p:nvSpPr>
        <p:spPr bwMode="auto">
          <a:xfrm>
            <a:off x="7385050" y="20320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64" name="Oval 28"/>
          <p:cNvSpPr>
            <a:spLocks noChangeArrowheads="1"/>
          </p:cNvSpPr>
          <p:nvPr/>
        </p:nvSpPr>
        <p:spPr bwMode="auto">
          <a:xfrm>
            <a:off x="3581400" y="45593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8365" name="Line 29"/>
          <p:cNvSpPr>
            <a:spLocks noChangeShapeType="1"/>
          </p:cNvSpPr>
          <p:nvPr/>
        </p:nvSpPr>
        <p:spPr bwMode="auto">
          <a:xfrm>
            <a:off x="3797300" y="41275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66" name="Line 30"/>
          <p:cNvSpPr>
            <a:spLocks noChangeShapeType="1"/>
          </p:cNvSpPr>
          <p:nvPr/>
        </p:nvSpPr>
        <p:spPr bwMode="auto">
          <a:xfrm>
            <a:off x="3232150" y="52197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67" name="Line 31"/>
          <p:cNvSpPr>
            <a:spLocks noChangeShapeType="1"/>
          </p:cNvSpPr>
          <p:nvPr/>
        </p:nvSpPr>
        <p:spPr bwMode="auto">
          <a:xfrm>
            <a:off x="3797300" y="4940300"/>
            <a:ext cx="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68" name="Rectangle 32"/>
          <p:cNvSpPr>
            <a:spLocks noChangeArrowheads="1"/>
          </p:cNvSpPr>
          <p:nvPr/>
        </p:nvSpPr>
        <p:spPr bwMode="auto">
          <a:xfrm>
            <a:off x="3371850" y="56007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398369" name="Line 33"/>
          <p:cNvSpPr>
            <a:spLocks noChangeShapeType="1"/>
          </p:cNvSpPr>
          <p:nvPr/>
        </p:nvSpPr>
        <p:spPr bwMode="auto">
          <a:xfrm>
            <a:off x="3587750" y="5245100"/>
            <a:ext cx="0" cy="35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70" name="Rectangle 34"/>
          <p:cNvSpPr>
            <a:spLocks noChangeArrowheads="1"/>
          </p:cNvSpPr>
          <p:nvPr/>
        </p:nvSpPr>
        <p:spPr bwMode="auto">
          <a:xfrm>
            <a:off x="1117600" y="30099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398371" name="Line 35"/>
          <p:cNvSpPr>
            <a:spLocks noChangeShapeType="1"/>
          </p:cNvSpPr>
          <p:nvPr/>
        </p:nvSpPr>
        <p:spPr bwMode="auto">
          <a:xfrm>
            <a:off x="1536700" y="3276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72" name="Rectangle 36"/>
          <p:cNvSpPr>
            <a:spLocks noChangeArrowheads="1"/>
          </p:cNvSpPr>
          <p:nvPr/>
        </p:nvSpPr>
        <p:spPr bwMode="auto">
          <a:xfrm>
            <a:off x="8039100" y="25146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398373" name="Line 37"/>
          <p:cNvSpPr>
            <a:spLocks noChangeShapeType="1"/>
          </p:cNvSpPr>
          <p:nvPr/>
        </p:nvSpPr>
        <p:spPr bwMode="auto">
          <a:xfrm>
            <a:off x="7385050" y="2667000"/>
            <a:ext cx="654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74" name="Freeform 38"/>
          <p:cNvSpPr>
            <a:spLocks/>
          </p:cNvSpPr>
          <p:nvPr/>
        </p:nvSpPr>
        <p:spPr bwMode="auto">
          <a:xfrm>
            <a:off x="3644900" y="5003800"/>
            <a:ext cx="228600" cy="520700"/>
          </a:xfrm>
          <a:custGeom>
            <a:avLst/>
            <a:gdLst/>
            <a:ahLst/>
            <a:cxnLst>
              <a:cxn ang="0">
                <a:pos x="8" y="328"/>
              </a:cxn>
              <a:cxn ang="0">
                <a:pos x="0" y="192"/>
              </a:cxn>
              <a:cxn ang="0">
                <a:pos x="144" y="192"/>
              </a:cxn>
              <a:cxn ang="0">
                <a:pos x="144" y="0"/>
              </a:cxn>
            </a:cxnLst>
            <a:rect l="0" t="0" r="r" b="b"/>
            <a:pathLst>
              <a:path w="144" h="328">
                <a:moveTo>
                  <a:pt x="8" y="328"/>
                </a:moveTo>
                <a:lnTo>
                  <a:pt x="0" y="192"/>
                </a:lnTo>
                <a:lnTo>
                  <a:pt x="144" y="192"/>
                </a:lnTo>
                <a:lnTo>
                  <a:pt x="144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75" name="Freeform 39"/>
          <p:cNvSpPr>
            <a:spLocks/>
          </p:cNvSpPr>
          <p:nvPr/>
        </p:nvSpPr>
        <p:spPr bwMode="auto">
          <a:xfrm>
            <a:off x="3873500" y="3479800"/>
            <a:ext cx="241300" cy="1016000"/>
          </a:xfrm>
          <a:custGeom>
            <a:avLst/>
            <a:gdLst/>
            <a:ahLst/>
            <a:cxnLst>
              <a:cxn ang="0">
                <a:pos x="0" y="640"/>
              </a:cxn>
              <a:cxn ang="0">
                <a:pos x="0" y="456"/>
              </a:cxn>
              <a:cxn ang="0">
                <a:pos x="152" y="456"/>
              </a:cxn>
              <a:cxn ang="0">
                <a:pos x="152" y="0"/>
              </a:cxn>
            </a:cxnLst>
            <a:rect l="0" t="0" r="r" b="b"/>
            <a:pathLst>
              <a:path w="152" h="640">
                <a:moveTo>
                  <a:pt x="0" y="640"/>
                </a:moveTo>
                <a:lnTo>
                  <a:pt x="0" y="456"/>
                </a:lnTo>
                <a:lnTo>
                  <a:pt x="152" y="456"/>
                </a:lnTo>
                <a:lnTo>
                  <a:pt x="152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76" name="Freeform 40"/>
          <p:cNvSpPr>
            <a:spLocks/>
          </p:cNvSpPr>
          <p:nvPr/>
        </p:nvSpPr>
        <p:spPr bwMode="auto">
          <a:xfrm>
            <a:off x="2971800" y="2768600"/>
            <a:ext cx="939800" cy="546100"/>
          </a:xfrm>
          <a:custGeom>
            <a:avLst/>
            <a:gdLst/>
            <a:ahLst/>
            <a:cxnLst>
              <a:cxn ang="0">
                <a:pos x="592" y="344"/>
              </a:cxn>
              <a:cxn ang="0">
                <a:pos x="224" y="344"/>
              </a:cxn>
              <a:cxn ang="0">
                <a:pos x="216" y="0"/>
              </a:cxn>
              <a:cxn ang="0">
                <a:pos x="0" y="0"/>
              </a:cxn>
            </a:cxnLst>
            <a:rect l="0" t="0" r="r" b="b"/>
            <a:pathLst>
              <a:path w="592" h="344">
                <a:moveTo>
                  <a:pt x="592" y="344"/>
                </a:moveTo>
                <a:lnTo>
                  <a:pt x="224" y="344"/>
                </a:lnTo>
                <a:lnTo>
                  <a:pt x="216" y="0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77" name="Freeform 41"/>
          <p:cNvSpPr>
            <a:spLocks/>
          </p:cNvSpPr>
          <p:nvPr/>
        </p:nvSpPr>
        <p:spPr bwMode="auto">
          <a:xfrm>
            <a:off x="4457700" y="2908300"/>
            <a:ext cx="1905000" cy="406400"/>
          </a:xfrm>
          <a:custGeom>
            <a:avLst/>
            <a:gdLst/>
            <a:ahLst/>
            <a:cxnLst>
              <a:cxn ang="0">
                <a:pos x="0" y="256"/>
              </a:cxn>
              <a:cxn ang="0">
                <a:pos x="976" y="256"/>
              </a:cxn>
              <a:cxn ang="0">
                <a:pos x="976" y="0"/>
              </a:cxn>
              <a:cxn ang="0">
                <a:pos x="1200" y="0"/>
              </a:cxn>
            </a:cxnLst>
            <a:rect l="0" t="0" r="r" b="b"/>
            <a:pathLst>
              <a:path w="1200" h="256">
                <a:moveTo>
                  <a:pt x="0" y="256"/>
                </a:moveTo>
                <a:lnTo>
                  <a:pt x="976" y="256"/>
                </a:lnTo>
                <a:lnTo>
                  <a:pt x="976" y="0"/>
                </a:lnTo>
                <a:lnTo>
                  <a:pt x="1200" y="0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78" name="Freeform 42"/>
          <p:cNvSpPr>
            <a:spLocks/>
          </p:cNvSpPr>
          <p:nvPr/>
        </p:nvSpPr>
        <p:spPr bwMode="auto">
          <a:xfrm>
            <a:off x="5994400" y="3327400"/>
            <a:ext cx="355600" cy="609600"/>
          </a:xfrm>
          <a:custGeom>
            <a:avLst/>
            <a:gdLst/>
            <a:ahLst/>
            <a:cxnLst>
              <a:cxn ang="0">
                <a:pos x="8" y="0"/>
              </a:cxn>
              <a:cxn ang="0">
                <a:pos x="0" y="376"/>
              </a:cxn>
              <a:cxn ang="0">
                <a:pos x="264" y="376"/>
              </a:cxn>
            </a:cxnLst>
            <a:rect l="0" t="0" r="r" b="b"/>
            <a:pathLst>
              <a:path w="264" h="376">
                <a:moveTo>
                  <a:pt x="8" y="0"/>
                </a:moveTo>
                <a:lnTo>
                  <a:pt x="0" y="376"/>
                </a:lnTo>
                <a:lnTo>
                  <a:pt x="264" y="376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79" name="Line 43"/>
          <p:cNvSpPr>
            <a:spLocks noChangeShapeType="1"/>
          </p:cNvSpPr>
          <p:nvPr/>
        </p:nvSpPr>
        <p:spPr bwMode="auto">
          <a:xfrm flipH="1">
            <a:off x="2108200" y="2794000"/>
            <a:ext cx="330200" cy="1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80" name="Line 44"/>
          <p:cNvSpPr>
            <a:spLocks noChangeShapeType="1"/>
          </p:cNvSpPr>
          <p:nvPr/>
        </p:nvSpPr>
        <p:spPr bwMode="auto">
          <a:xfrm>
            <a:off x="6851650" y="2895600"/>
            <a:ext cx="514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81" name="Line 45"/>
          <p:cNvSpPr>
            <a:spLocks noChangeShapeType="1"/>
          </p:cNvSpPr>
          <p:nvPr/>
        </p:nvSpPr>
        <p:spPr bwMode="auto">
          <a:xfrm>
            <a:off x="6851650" y="3937000"/>
            <a:ext cx="514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8382" name="Text Box 46"/>
          <p:cNvSpPr txBox="1">
            <a:spLocks noChangeArrowheads="1"/>
          </p:cNvSpPr>
          <p:nvPr/>
        </p:nvSpPr>
        <p:spPr bwMode="auto">
          <a:xfrm>
            <a:off x="4019550" y="2514600"/>
            <a:ext cx="749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</a:t>
            </a:r>
          </a:p>
        </p:txBody>
      </p:sp>
      <p:sp>
        <p:nvSpPr>
          <p:cNvPr id="398383" name="Text Box 47"/>
          <p:cNvSpPr txBox="1">
            <a:spLocks noChangeArrowheads="1"/>
          </p:cNvSpPr>
          <p:nvPr/>
        </p:nvSpPr>
        <p:spPr bwMode="auto">
          <a:xfrm>
            <a:off x="2339975" y="2222500"/>
            <a:ext cx="865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</a:t>
            </a:r>
          </a:p>
        </p:txBody>
      </p:sp>
      <p:sp>
        <p:nvSpPr>
          <p:cNvPr id="398384" name="Text Box 48"/>
          <p:cNvSpPr txBox="1">
            <a:spLocks noChangeArrowheads="1"/>
          </p:cNvSpPr>
          <p:nvPr/>
        </p:nvSpPr>
        <p:spPr bwMode="auto">
          <a:xfrm>
            <a:off x="6350000" y="4102100"/>
            <a:ext cx="865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</a:t>
            </a:r>
          </a:p>
        </p:txBody>
      </p:sp>
      <p:sp>
        <p:nvSpPr>
          <p:cNvPr id="398385" name="Text Box 49"/>
          <p:cNvSpPr txBox="1">
            <a:spLocks noChangeArrowheads="1"/>
          </p:cNvSpPr>
          <p:nvPr/>
        </p:nvSpPr>
        <p:spPr bwMode="auto">
          <a:xfrm>
            <a:off x="6350000" y="2197100"/>
            <a:ext cx="865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</a:t>
            </a:r>
          </a:p>
        </p:txBody>
      </p:sp>
      <p:sp>
        <p:nvSpPr>
          <p:cNvPr id="398386" name="Text Box 50"/>
          <p:cNvSpPr txBox="1">
            <a:spLocks noChangeArrowheads="1"/>
          </p:cNvSpPr>
          <p:nvPr/>
        </p:nvSpPr>
        <p:spPr bwMode="auto">
          <a:xfrm>
            <a:off x="4019550" y="4514850"/>
            <a:ext cx="749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</a:t>
            </a:r>
          </a:p>
        </p:txBody>
      </p:sp>
      <p:sp>
        <p:nvSpPr>
          <p:cNvPr id="398387" name="Text Box 51"/>
          <p:cNvSpPr txBox="1">
            <a:spLocks noChangeArrowheads="1"/>
          </p:cNvSpPr>
          <p:nvPr/>
        </p:nvSpPr>
        <p:spPr bwMode="auto">
          <a:xfrm>
            <a:off x="4768850" y="5245100"/>
            <a:ext cx="3225800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rtl="1"/>
            <a:r>
              <a:rPr lang="en-US" sz="2400"/>
              <a:t>A message from A</a:t>
            </a:r>
            <a:br>
              <a:rPr lang="en-US" sz="2400"/>
            </a:br>
            <a:r>
              <a:rPr lang="en-US" sz="2400"/>
              <a:t>will mark A’s location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Loop-free: tree</a:t>
            </a:r>
          </a:p>
        </p:txBody>
      </p:sp>
      <p:sp>
        <p:nvSpPr>
          <p:cNvPr id="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45C08D29-BE85-4D22-8340-A7924C13F40D}" type="slidenum">
              <a:rPr lang="en-US" altLang="he-IL">
                <a:cs typeface="Times New Roman" pitchFamily="18" charset="0"/>
              </a:rPr>
              <a:pPr/>
              <a:t>18</a:t>
            </a:fld>
            <a:endParaRPr lang="en-US" altLang="he-IL"/>
          </a:p>
        </p:txBody>
      </p:sp>
      <p:sp>
        <p:nvSpPr>
          <p:cNvPr id="400387" name="Oval 3"/>
          <p:cNvSpPr>
            <a:spLocks noChangeArrowheads="1"/>
          </p:cNvSpPr>
          <p:nvPr/>
        </p:nvSpPr>
        <p:spPr bwMode="auto">
          <a:xfrm>
            <a:off x="4000500" y="30480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0388" name="Line 4"/>
          <p:cNvSpPr>
            <a:spLocks noChangeShapeType="1"/>
          </p:cNvSpPr>
          <p:nvPr/>
        </p:nvSpPr>
        <p:spPr bwMode="auto">
          <a:xfrm>
            <a:off x="3479800" y="25146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389" name="Line 5"/>
          <p:cNvSpPr>
            <a:spLocks noChangeShapeType="1"/>
          </p:cNvSpPr>
          <p:nvPr/>
        </p:nvSpPr>
        <p:spPr bwMode="auto">
          <a:xfrm>
            <a:off x="3479800" y="3225800"/>
            <a:ext cx="52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00390" name="Group 6"/>
          <p:cNvGrpSpPr>
            <a:grpSpLocks/>
          </p:cNvGrpSpPr>
          <p:nvPr/>
        </p:nvGrpSpPr>
        <p:grpSpPr bwMode="auto">
          <a:xfrm>
            <a:off x="1993900" y="2667000"/>
            <a:ext cx="1460500" cy="381000"/>
            <a:chOff x="1256" y="2176"/>
            <a:chExt cx="920" cy="240"/>
          </a:xfrm>
        </p:grpSpPr>
        <p:grpSp>
          <p:nvGrpSpPr>
            <p:cNvPr id="400391" name="Group 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400392" name="Oval 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393" name="Line 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00394" name="Line 1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0395" name="Line 11"/>
          <p:cNvSpPr>
            <a:spLocks noChangeShapeType="1"/>
          </p:cNvSpPr>
          <p:nvPr/>
        </p:nvSpPr>
        <p:spPr bwMode="auto">
          <a:xfrm>
            <a:off x="2006600" y="24257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396" name="Line 12"/>
          <p:cNvSpPr>
            <a:spLocks noChangeShapeType="1"/>
          </p:cNvSpPr>
          <p:nvPr/>
        </p:nvSpPr>
        <p:spPr bwMode="auto">
          <a:xfrm>
            <a:off x="4178300" y="3429000"/>
            <a:ext cx="0" cy="69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397" name="Line 13"/>
          <p:cNvSpPr>
            <a:spLocks noChangeShapeType="1"/>
          </p:cNvSpPr>
          <p:nvPr/>
        </p:nvSpPr>
        <p:spPr bwMode="auto">
          <a:xfrm>
            <a:off x="3454400" y="41275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398" name="Line 14"/>
          <p:cNvSpPr>
            <a:spLocks noChangeShapeType="1"/>
          </p:cNvSpPr>
          <p:nvPr/>
        </p:nvSpPr>
        <p:spPr bwMode="auto">
          <a:xfrm>
            <a:off x="4419600" y="3225800"/>
            <a:ext cx="148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399" name="Line 15"/>
          <p:cNvSpPr>
            <a:spLocks noChangeShapeType="1"/>
          </p:cNvSpPr>
          <p:nvPr/>
        </p:nvSpPr>
        <p:spPr bwMode="auto">
          <a:xfrm>
            <a:off x="5905500" y="2514600"/>
            <a:ext cx="0" cy="1612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00400" name="Group 16"/>
          <p:cNvGrpSpPr>
            <a:grpSpLocks/>
          </p:cNvGrpSpPr>
          <p:nvPr/>
        </p:nvGrpSpPr>
        <p:grpSpPr bwMode="auto">
          <a:xfrm>
            <a:off x="5905500" y="2654300"/>
            <a:ext cx="1460500" cy="381000"/>
            <a:chOff x="1256" y="2176"/>
            <a:chExt cx="920" cy="240"/>
          </a:xfrm>
        </p:grpSpPr>
        <p:grpSp>
          <p:nvGrpSpPr>
            <p:cNvPr id="400401" name="Group 17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400402" name="Oval 18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403" name="Line 19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00404" name="Line 20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0405" name="Group 21"/>
          <p:cNvGrpSpPr>
            <a:grpSpLocks/>
          </p:cNvGrpSpPr>
          <p:nvPr/>
        </p:nvGrpSpPr>
        <p:grpSpPr bwMode="auto">
          <a:xfrm>
            <a:off x="5911850" y="3670300"/>
            <a:ext cx="1460500" cy="381000"/>
            <a:chOff x="1256" y="2176"/>
            <a:chExt cx="920" cy="240"/>
          </a:xfrm>
        </p:grpSpPr>
        <p:grpSp>
          <p:nvGrpSpPr>
            <p:cNvPr id="400406" name="Group 22"/>
            <p:cNvGrpSpPr>
              <a:grpSpLocks/>
            </p:cNvGrpSpPr>
            <p:nvPr/>
          </p:nvGrpSpPr>
          <p:grpSpPr bwMode="auto">
            <a:xfrm flipH="1">
              <a:off x="1584" y="2176"/>
              <a:ext cx="592" cy="240"/>
              <a:chOff x="1320" y="2080"/>
              <a:chExt cx="592" cy="240"/>
            </a:xfrm>
          </p:grpSpPr>
          <p:sp>
            <p:nvSpPr>
              <p:cNvPr id="400407" name="Oval 23"/>
              <p:cNvSpPr>
                <a:spLocks noChangeArrowheads="1"/>
              </p:cNvSpPr>
              <p:nvPr/>
            </p:nvSpPr>
            <p:spPr bwMode="auto">
              <a:xfrm>
                <a:off x="1648" y="2080"/>
                <a:ext cx="264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408" name="Line 24"/>
              <p:cNvSpPr>
                <a:spLocks noChangeShapeType="1"/>
              </p:cNvSpPr>
              <p:nvPr/>
            </p:nvSpPr>
            <p:spPr bwMode="auto">
              <a:xfrm>
                <a:off x="1320" y="2192"/>
                <a:ext cx="3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00409" name="Line 25"/>
            <p:cNvSpPr>
              <a:spLocks noChangeShapeType="1"/>
            </p:cNvSpPr>
            <p:nvPr/>
          </p:nvSpPr>
          <p:spPr bwMode="auto">
            <a:xfrm>
              <a:off x="1256" y="22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0410" name="Line 26"/>
          <p:cNvSpPr>
            <a:spLocks noChangeShapeType="1"/>
          </p:cNvSpPr>
          <p:nvPr/>
        </p:nvSpPr>
        <p:spPr bwMode="auto">
          <a:xfrm>
            <a:off x="7366000" y="35052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411" name="Line 27"/>
          <p:cNvSpPr>
            <a:spLocks noChangeShapeType="1"/>
          </p:cNvSpPr>
          <p:nvPr/>
        </p:nvSpPr>
        <p:spPr bwMode="auto">
          <a:xfrm>
            <a:off x="7385050" y="2032000"/>
            <a:ext cx="0" cy="1244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412" name="Oval 28"/>
          <p:cNvSpPr>
            <a:spLocks noChangeArrowheads="1"/>
          </p:cNvSpPr>
          <p:nvPr/>
        </p:nvSpPr>
        <p:spPr bwMode="auto">
          <a:xfrm>
            <a:off x="3581400" y="4559300"/>
            <a:ext cx="4191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0413" name="Line 29"/>
          <p:cNvSpPr>
            <a:spLocks noChangeShapeType="1"/>
          </p:cNvSpPr>
          <p:nvPr/>
        </p:nvSpPr>
        <p:spPr bwMode="auto">
          <a:xfrm>
            <a:off x="3797300" y="41275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414" name="Line 30"/>
          <p:cNvSpPr>
            <a:spLocks noChangeShapeType="1"/>
          </p:cNvSpPr>
          <p:nvPr/>
        </p:nvSpPr>
        <p:spPr bwMode="auto">
          <a:xfrm>
            <a:off x="3232150" y="5219700"/>
            <a:ext cx="1536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415" name="Line 31"/>
          <p:cNvSpPr>
            <a:spLocks noChangeShapeType="1"/>
          </p:cNvSpPr>
          <p:nvPr/>
        </p:nvSpPr>
        <p:spPr bwMode="auto">
          <a:xfrm>
            <a:off x="3797300" y="4940300"/>
            <a:ext cx="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416" name="Rectangle 32"/>
          <p:cNvSpPr>
            <a:spLocks noChangeArrowheads="1"/>
          </p:cNvSpPr>
          <p:nvPr/>
        </p:nvSpPr>
        <p:spPr bwMode="auto">
          <a:xfrm>
            <a:off x="3371850" y="56007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A</a:t>
            </a:r>
          </a:p>
        </p:txBody>
      </p:sp>
      <p:sp>
        <p:nvSpPr>
          <p:cNvPr id="400417" name="Line 33"/>
          <p:cNvSpPr>
            <a:spLocks noChangeShapeType="1"/>
          </p:cNvSpPr>
          <p:nvPr/>
        </p:nvSpPr>
        <p:spPr bwMode="auto">
          <a:xfrm>
            <a:off x="3587750" y="5245100"/>
            <a:ext cx="0" cy="355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418" name="Rectangle 34"/>
          <p:cNvSpPr>
            <a:spLocks noChangeArrowheads="1"/>
          </p:cNvSpPr>
          <p:nvPr/>
        </p:nvSpPr>
        <p:spPr bwMode="auto">
          <a:xfrm>
            <a:off x="1117600" y="30099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B</a:t>
            </a:r>
          </a:p>
        </p:txBody>
      </p:sp>
      <p:sp>
        <p:nvSpPr>
          <p:cNvPr id="400419" name="Line 35"/>
          <p:cNvSpPr>
            <a:spLocks noChangeShapeType="1"/>
          </p:cNvSpPr>
          <p:nvPr/>
        </p:nvSpPr>
        <p:spPr bwMode="auto">
          <a:xfrm>
            <a:off x="1536700" y="32766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420" name="Rectangle 36"/>
          <p:cNvSpPr>
            <a:spLocks noChangeArrowheads="1"/>
          </p:cNvSpPr>
          <p:nvPr/>
        </p:nvSpPr>
        <p:spPr bwMode="auto">
          <a:xfrm>
            <a:off x="8039100" y="2514600"/>
            <a:ext cx="419100" cy="406400"/>
          </a:xfrm>
          <a:prstGeom prst="rect">
            <a:avLst/>
          </a:prstGeom>
          <a:solidFill>
            <a:srgbClr val="33CC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rtl="1"/>
            <a:r>
              <a:rPr lang="en-US" sz="2400">
                <a:latin typeface="Times New Roman" pitchFamily="18" charset="0"/>
              </a:rPr>
              <a:t>C</a:t>
            </a:r>
          </a:p>
        </p:txBody>
      </p:sp>
      <p:sp>
        <p:nvSpPr>
          <p:cNvPr id="400421" name="Line 37"/>
          <p:cNvSpPr>
            <a:spLocks noChangeShapeType="1"/>
          </p:cNvSpPr>
          <p:nvPr/>
        </p:nvSpPr>
        <p:spPr bwMode="auto">
          <a:xfrm>
            <a:off x="7385050" y="2667000"/>
            <a:ext cx="654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0422" name="Text Box 38"/>
          <p:cNvSpPr txBox="1">
            <a:spLocks noChangeArrowheads="1"/>
          </p:cNvSpPr>
          <p:nvPr/>
        </p:nvSpPr>
        <p:spPr bwMode="auto">
          <a:xfrm>
            <a:off x="4019550" y="4514850"/>
            <a:ext cx="749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</a:t>
            </a:r>
          </a:p>
        </p:txBody>
      </p:sp>
      <p:sp>
        <p:nvSpPr>
          <p:cNvPr id="400423" name="Text Box 39"/>
          <p:cNvSpPr txBox="1">
            <a:spLocks noChangeArrowheads="1"/>
          </p:cNvSpPr>
          <p:nvPr/>
        </p:nvSpPr>
        <p:spPr bwMode="auto">
          <a:xfrm>
            <a:off x="4019550" y="2514600"/>
            <a:ext cx="7493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</a:t>
            </a:r>
          </a:p>
        </p:txBody>
      </p:sp>
      <p:sp>
        <p:nvSpPr>
          <p:cNvPr id="400424" name="Text Box 40"/>
          <p:cNvSpPr txBox="1">
            <a:spLocks noChangeArrowheads="1"/>
          </p:cNvSpPr>
          <p:nvPr/>
        </p:nvSpPr>
        <p:spPr bwMode="auto">
          <a:xfrm>
            <a:off x="2339975" y="2222500"/>
            <a:ext cx="865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</a:t>
            </a:r>
          </a:p>
        </p:txBody>
      </p:sp>
      <p:sp>
        <p:nvSpPr>
          <p:cNvPr id="400425" name="Text Box 41"/>
          <p:cNvSpPr txBox="1">
            <a:spLocks noChangeArrowheads="1"/>
          </p:cNvSpPr>
          <p:nvPr/>
        </p:nvSpPr>
        <p:spPr bwMode="auto">
          <a:xfrm>
            <a:off x="6350000" y="4102100"/>
            <a:ext cx="865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</a:t>
            </a:r>
          </a:p>
        </p:txBody>
      </p:sp>
      <p:sp>
        <p:nvSpPr>
          <p:cNvPr id="400426" name="Text Box 42"/>
          <p:cNvSpPr txBox="1">
            <a:spLocks noChangeArrowheads="1"/>
          </p:cNvSpPr>
          <p:nvPr/>
        </p:nvSpPr>
        <p:spPr bwMode="auto">
          <a:xfrm>
            <a:off x="6350000" y="2197100"/>
            <a:ext cx="865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>
                <a:latin typeface="Times New Roman" pitchFamily="18" charset="0"/>
              </a:rPr>
              <a:t>A: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</a:t>
            </a:r>
          </a:p>
        </p:txBody>
      </p:sp>
      <p:sp>
        <p:nvSpPr>
          <p:cNvPr id="400427" name="Rectangle 43"/>
          <p:cNvSpPr>
            <a:spLocks noChangeArrowheads="1"/>
          </p:cNvSpPr>
          <p:nvPr/>
        </p:nvSpPr>
        <p:spPr bwMode="auto">
          <a:xfrm>
            <a:off x="7759700" y="2514600"/>
            <a:ext cx="266700" cy="152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0428" name="Text Box 44"/>
          <p:cNvSpPr txBox="1">
            <a:spLocks noChangeArrowheads="1"/>
          </p:cNvSpPr>
          <p:nvPr/>
        </p:nvSpPr>
        <p:spPr bwMode="auto">
          <a:xfrm>
            <a:off x="115888" y="5249863"/>
            <a:ext cx="2949575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rtl="1"/>
            <a:r>
              <a:rPr lang="en-US" sz="2400"/>
              <a:t>So a message to</a:t>
            </a:r>
            <a:br>
              <a:rPr lang="en-US" sz="2400"/>
            </a:br>
            <a:r>
              <a:rPr lang="en-US" sz="2400"/>
              <a:t>A will go by marks…</a:t>
            </a:r>
          </a:p>
        </p:txBody>
      </p:sp>
      <p:sp>
        <p:nvSpPr>
          <p:cNvPr id="400429" name="Text Box 45"/>
          <p:cNvSpPr txBox="1">
            <a:spLocks noChangeArrowheads="1"/>
          </p:cNvSpPr>
          <p:nvPr/>
        </p:nvSpPr>
        <p:spPr bwMode="auto">
          <a:xfrm>
            <a:off x="4768850" y="5245100"/>
            <a:ext cx="3225800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rtl="1"/>
            <a:r>
              <a:rPr lang="en-US" sz="2400"/>
              <a:t>A message from A</a:t>
            </a:r>
            <a:br>
              <a:rPr lang="en-US" sz="2400"/>
            </a:br>
            <a:r>
              <a:rPr lang="en-US" sz="2400"/>
              <a:t>will mark A’s location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59 0.01481 L -0.06875 0.01111 L -0.07013 0.03518 L -0.21875 0.03518 L -0.21875 0.09259 L -0.40625 0.09074 L -0.40625 0.22407 L -0.44791 0.22407 L -0.44791 0.38333 L -0.47291 0.38333 L -0.47152 0.45185 " pathEditMode="relative" ptsTypes="AAAAAAAAAAA">
                                      <p:cBhvr>
                                        <p:cTn id="6" dur="5000" fill="hold"/>
                                        <p:tgtEl>
                                          <p:spTgt spid="4004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4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Bridges Spanning Tree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49375"/>
            <a:ext cx="7772400" cy="2074863"/>
          </a:xfrm>
        </p:spPr>
        <p:txBody>
          <a:bodyPr>
            <a:normAutofit fontScale="92500" lnSpcReduction="20000"/>
          </a:bodyPr>
          <a:lstStyle/>
          <a:p>
            <a:r>
              <a:rPr lang="en-US" sz="2400"/>
              <a:t>for increased reliability, desirable to have redundant, alternative paths from source to dest</a:t>
            </a:r>
          </a:p>
          <a:p>
            <a:r>
              <a:rPr lang="en-US" sz="2400"/>
              <a:t>with multiple paths, cycles result - bridges may multiply and forward frame forever</a:t>
            </a:r>
          </a:p>
          <a:p>
            <a:r>
              <a:rPr lang="en-US" sz="2400"/>
              <a:t>solution: organize bridges in a spanning tree </a:t>
            </a:r>
            <a:r>
              <a:rPr lang="en-US" sz="2400" b="1">
                <a:solidFill>
                  <a:srgbClr val="FF0000"/>
                </a:solidFill>
              </a:rPr>
              <a:t>by</a:t>
            </a:r>
            <a:r>
              <a:rPr lang="en-US" sz="2400"/>
              <a:t> </a:t>
            </a:r>
            <a:r>
              <a:rPr lang="en-US" sz="2400" b="1">
                <a:solidFill>
                  <a:srgbClr val="FF0000"/>
                </a:solidFill>
              </a:rPr>
              <a:t>disabling subset of interfaces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BAA9915C-2136-4FC3-BACF-403E4CF24368}" type="slidenum">
              <a:rPr lang="en-US" altLang="he-IL">
                <a:cs typeface="Times New Roman" pitchFamily="18" charset="0"/>
              </a:rPr>
              <a:pPr/>
              <a:t>19</a:t>
            </a:fld>
            <a:endParaRPr lang="en-US" altLang="he-IL"/>
          </a:p>
        </p:txBody>
      </p:sp>
      <p:grpSp>
        <p:nvGrpSpPr>
          <p:cNvPr id="402436" name="Group 4"/>
          <p:cNvGrpSpPr>
            <a:grpSpLocks/>
          </p:cNvGrpSpPr>
          <p:nvPr/>
        </p:nvGrpSpPr>
        <p:grpSpPr bwMode="auto">
          <a:xfrm>
            <a:off x="784225" y="4043866"/>
            <a:ext cx="6402388" cy="2628900"/>
            <a:chOff x="576" y="2160"/>
            <a:chExt cx="4033" cy="1656"/>
          </a:xfrm>
        </p:grpSpPr>
        <p:pic>
          <p:nvPicPr>
            <p:cNvPr id="402437" name="Picture 5" descr="565 Bridges SpanningTree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76" y="2208"/>
              <a:ext cx="4033" cy="1608"/>
            </a:xfrm>
            <a:prstGeom prst="rect">
              <a:avLst/>
            </a:prstGeom>
            <a:noFill/>
          </p:spPr>
        </p:pic>
        <p:sp>
          <p:nvSpPr>
            <p:cNvPr id="402438" name="AutoShape 6"/>
            <p:cNvSpPr>
              <a:spLocks noChangeArrowheads="1"/>
            </p:cNvSpPr>
            <p:nvPr/>
          </p:nvSpPr>
          <p:spPr bwMode="auto">
            <a:xfrm>
              <a:off x="2064" y="2496"/>
              <a:ext cx="336" cy="240"/>
            </a:xfrm>
            <a:prstGeom prst="irregularSeal1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2439" name="AutoShape 7"/>
            <p:cNvSpPr>
              <a:spLocks noChangeArrowheads="1"/>
            </p:cNvSpPr>
            <p:nvPr/>
          </p:nvSpPr>
          <p:spPr bwMode="auto">
            <a:xfrm>
              <a:off x="3648" y="3264"/>
              <a:ext cx="336" cy="240"/>
            </a:xfrm>
            <a:prstGeom prst="irregularSeal1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2440" name="Line 8"/>
            <p:cNvSpPr>
              <a:spLocks noChangeShapeType="1"/>
            </p:cNvSpPr>
            <p:nvPr/>
          </p:nvSpPr>
          <p:spPr bwMode="auto">
            <a:xfrm>
              <a:off x="1632" y="2352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2441" name="Text Box 9"/>
            <p:cNvSpPr txBox="1">
              <a:spLocks noChangeArrowheads="1"/>
            </p:cNvSpPr>
            <p:nvPr/>
          </p:nvSpPr>
          <p:spPr bwMode="auto">
            <a:xfrm>
              <a:off x="1248" y="2160"/>
              <a:ext cx="6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Disabled</a:t>
              </a:r>
              <a:endParaRPr lang="en-US" sz="3200"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lIns="92160" tIns="46080" rIns="92160" bIns="46080" anchor="b"/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he-IL"/>
              <a:t>Introducing Spanning Tree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5950"/>
            <a:ext cx="8174038" cy="4514850"/>
          </a:xfrm>
          <a:ln/>
        </p:spPr>
        <p:txBody>
          <a:bodyPr lIns="92160" tIns="46080" rIns="92160" bIns="46080"/>
          <a:lstStyle/>
          <a:p>
            <a:pPr marL="338138" indent="-338138" defTabSz="45720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he-IL" dirty="0"/>
              <a:t>Allow a path between every LAN </a:t>
            </a:r>
            <a:r>
              <a:rPr lang="en-GB" altLang="he-IL" u="sng" dirty="0"/>
              <a:t>without causing loops</a:t>
            </a:r>
            <a:r>
              <a:rPr lang="en-GB" altLang="he-IL" dirty="0"/>
              <a:t> (</a:t>
            </a:r>
            <a:r>
              <a:rPr lang="en-GB" altLang="he-IL" i="1" dirty="0"/>
              <a:t>loop-free environment</a:t>
            </a:r>
            <a:r>
              <a:rPr lang="en-GB" altLang="he-IL" dirty="0"/>
              <a:t>)</a:t>
            </a:r>
          </a:p>
          <a:p>
            <a:pPr marL="338138" indent="-338138" defTabSz="45720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he-IL" dirty="0"/>
              <a:t>Bridges communicate with special configuration messages </a:t>
            </a:r>
            <a:r>
              <a:rPr lang="en-GB" altLang="he-IL" u="sng" dirty="0"/>
              <a:t>(</a:t>
            </a:r>
            <a:r>
              <a:rPr lang="en-GB" altLang="he-IL" i="1" u="sng" dirty="0" err="1"/>
              <a:t>BPDUs</a:t>
            </a:r>
            <a:r>
              <a:rPr lang="en-GB" altLang="he-IL" u="sng" dirty="0"/>
              <a:t>)</a:t>
            </a:r>
          </a:p>
          <a:p>
            <a:pPr marL="338138" indent="-338138" defTabSz="45720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he-IL" dirty="0"/>
              <a:t>Standardized by IEEE </a:t>
            </a:r>
            <a:r>
              <a:rPr lang="en-GB" altLang="he-IL" dirty="0" err="1"/>
              <a:t>802.1D</a:t>
            </a:r>
            <a:endParaRPr lang="en-GB" altLang="he-IL" dirty="0"/>
          </a:p>
          <a:p>
            <a:pPr marL="338138" indent="-338138" defTabSz="45720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altLang="he-IL" dirty="0"/>
          </a:p>
          <a:p>
            <a:pPr marL="338138" indent="-338138" defTabSz="457200">
              <a:spcBef>
                <a:spcPts val="538"/>
              </a:spcBef>
              <a:buClrTx/>
              <a:buFontTx/>
              <a:buChar char="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altLang="en-GB" sz="2000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1801A3F0-FB42-47FF-A44B-F8A8913B3A50}" type="slidenum">
              <a:rPr lang="en-US" altLang="he-IL">
                <a:cs typeface="Times New Roman" pitchFamily="18" charset="0"/>
              </a:rPr>
              <a:pPr/>
              <a:t>20</a:t>
            </a:fld>
            <a:endParaRPr lang="en-US" altLang="he-IL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155575"/>
            <a:ext cx="7772400" cy="1143000"/>
          </a:xfrm>
        </p:spPr>
        <p:txBody>
          <a:bodyPr/>
          <a:lstStyle/>
          <a:p>
            <a:r>
              <a:rPr lang="en-US" altLang="he-IL" sz="3600"/>
              <a:t>Bridges vs. Routers</a:t>
            </a:r>
            <a:endParaRPr lang="en-US" altLang="he-IL"/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1"/>
          </p:nvPr>
        </p:nvSpPr>
        <p:spPr>
          <a:xfrm>
            <a:off x="542925" y="1233488"/>
            <a:ext cx="7981950" cy="2287587"/>
          </a:xfrm>
        </p:spPr>
        <p:txBody>
          <a:bodyPr>
            <a:normAutofit fontScale="85000" lnSpcReduction="10000"/>
          </a:bodyPr>
          <a:lstStyle/>
          <a:p>
            <a:r>
              <a:rPr lang="en-US" altLang="he-IL" sz="2400" dirty="0"/>
              <a:t>both are store-and-forward devices</a:t>
            </a:r>
          </a:p>
          <a:p>
            <a:pPr lvl="1"/>
            <a:r>
              <a:rPr lang="en-US" altLang="he-IL" sz="2000" dirty="0"/>
              <a:t>routers: network layer devices (examine network layer headers)</a:t>
            </a:r>
          </a:p>
          <a:p>
            <a:pPr lvl="1"/>
            <a:r>
              <a:rPr lang="en-US" altLang="he-IL" sz="2000" dirty="0"/>
              <a:t>bridges are Link Layer devices</a:t>
            </a:r>
          </a:p>
          <a:p>
            <a:r>
              <a:rPr lang="en-US" altLang="he-IL" sz="2400" dirty="0"/>
              <a:t>routers maintain routing tables, implement routing algorithms</a:t>
            </a:r>
          </a:p>
          <a:p>
            <a:r>
              <a:rPr lang="en-US" altLang="he-IL" sz="2400" dirty="0"/>
              <a:t>bridges maintain filtering tables, implement filtering, learning and spanning tree algorithms</a:t>
            </a:r>
            <a:r>
              <a:rPr lang="en-US" altLang="he-IL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F3D8B732-680D-4F01-9418-45157FE24E5C}" type="slidenum">
              <a:rPr lang="en-US" altLang="he-IL">
                <a:cs typeface="Times New Roman" pitchFamily="18" charset="0"/>
              </a:rPr>
              <a:pPr/>
              <a:t>21</a:t>
            </a:fld>
            <a:endParaRPr lang="en-US" altLang="he-IL"/>
          </a:p>
        </p:txBody>
      </p:sp>
      <p:pic>
        <p:nvPicPr>
          <p:cNvPr id="226308" name="Picture 4" descr="566 Bridge and router stack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188" y="4418013"/>
            <a:ext cx="5456237" cy="21574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/>
              <a:t>Routers vs. Bridges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he-IL" sz="2400" dirty="0">
                <a:solidFill>
                  <a:srgbClr val="FF0000"/>
                </a:solidFill>
              </a:rPr>
              <a:t>Bridges + and -</a:t>
            </a:r>
            <a:r>
              <a:rPr lang="en-US" altLang="he-IL" sz="2400" dirty="0"/>
              <a:t>  </a:t>
            </a:r>
          </a:p>
          <a:p>
            <a:pPr>
              <a:buFont typeface="Wingdings" pitchFamily="2" charset="2"/>
              <a:buNone/>
            </a:pPr>
            <a:r>
              <a:rPr lang="en-US" altLang="he-IL" sz="2400" dirty="0"/>
              <a:t>+ Bridge operation is simpler requiring less processing</a:t>
            </a:r>
          </a:p>
          <a:p>
            <a:pPr>
              <a:buFont typeface="Wingdings" pitchFamily="2" charset="2"/>
              <a:buNone/>
            </a:pPr>
            <a:r>
              <a:rPr lang="en-US" altLang="he-IL" sz="2400" dirty="0"/>
              <a:t>-  Topologies are restricted with bridges: a spanning tree must be built to avoid cycles </a:t>
            </a:r>
          </a:p>
          <a:p>
            <a:pPr>
              <a:buFont typeface="Wingdings" pitchFamily="2" charset="2"/>
              <a:buNone/>
            </a:pPr>
            <a:r>
              <a:rPr lang="en-US" altLang="he-IL" sz="2400" dirty="0"/>
              <a:t>-  Bridges do not offer protection from broadcast storms (endless broadcasting by a host will be forwarded by a bridge)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75648ED4-56CD-41BC-9C0D-5747C7A24314}" type="slidenum">
              <a:rPr lang="en-US" altLang="he-IL">
                <a:cs typeface="Times New Roman" pitchFamily="18" charset="0"/>
              </a:rPr>
              <a:pPr/>
              <a:t>22</a:t>
            </a:fld>
            <a:endParaRPr lang="en-US" altLang="he-IL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/>
              <a:t>Routers vs. Bridges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60764"/>
            <a:ext cx="8170863" cy="4987636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he-IL" dirty="0">
                <a:solidFill>
                  <a:srgbClr val="FF0000"/>
                </a:solidFill>
              </a:rPr>
              <a:t>Routers + and -</a:t>
            </a:r>
            <a:endParaRPr lang="en-US" altLang="he-IL" dirty="0"/>
          </a:p>
          <a:p>
            <a:pPr>
              <a:buFont typeface="Wingdings" pitchFamily="2" charset="2"/>
              <a:buNone/>
            </a:pPr>
            <a:r>
              <a:rPr lang="en-US" altLang="he-IL" dirty="0"/>
              <a:t>+ </a:t>
            </a:r>
            <a:r>
              <a:rPr lang="en-US" altLang="he-IL" sz="2400" dirty="0"/>
              <a:t>arbitrary topologies can be supported, cycling is limited by </a:t>
            </a:r>
            <a:r>
              <a:rPr lang="en-US" altLang="he-IL" sz="2400" dirty="0" err="1"/>
              <a:t>TTL</a:t>
            </a:r>
            <a:r>
              <a:rPr lang="en-US" altLang="he-IL" sz="2400" dirty="0"/>
              <a:t> counters (and good routing protocols)</a:t>
            </a:r>
          </a:p>
          <a:p>
            <a:pPr>
              <a:buFont typeface="Wingdings" pitchFamily="2" charset="2"/>
              <a:buNone/>
            </a:pPr>
            <a:r>
              <a:rPr lang="en-US" altLang="he-IL" sz="2400" dirty="0"/>
              <a:t>+ provide firewall protection against broadcast storms</a:t>
            </a:r>
          </a:p>
          <a:p>
            <a:pPr>
              <a:buFont typeface="Wingdings" pitchFamily="2" charset="2"/>
              <a:buNone/>
            </a:pPr>
            <a:r>
              <a:rPr lang="en-US" altLang="he-IL" sz="2400" dirty="0"/>
              <a:t>-  require IP address configuration (not plug and play)</a:t>
            </a:r>
          </a:p>
          <a:p>
            <a:pPr>
              <a:buFont typeface="Wingdings" pitchFamily="2" charset="2"/>
              <a:buNone/>
            </a:pPr>
            <a:r>
              <a:rPr lang="en-US" altLang="he-IL" sz="2400" dirty="0"/>
              <a:t>-  require higher processing</a:t>
            </a:r>
          </a:p>
          <a:p>
            <a:r>
              <a:rPr lang="en-US" altLang="he-IL" sz="2400" dirty="0"/>
              <a:t>bridges do well in small (few hundred hosts) while routers used in large networks (thousands of hosts)</a:t>
            </a:r>
          </a:p>
          <a:p>
            <a:pPr>
              <a:buFont typeface="Wingdings" pitchFamily="2" charset="2"/>
              <a:buNone/>
            </a:pPr>
            <a:endParaRPr lang="en-US" altLang="he-IL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250267B-CB58-4570-9751-AA173258D96C}" type="slidenum">
              <a:rPr lang="en-US" altLang="he-IL">
                <a:cs typeface="Times New Roman" pitchFamily="18" charset="0"/>
              </a:rPr>
              <a:pPr/>
              <a:t>23</a:t>
            </a:fld>
            <a:endParaRPr lang="en-US" altLang="he-IL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/>
              <a:t>Ethernet Switches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4503738" cy="4576763"/>
          </a:xfrm>
        </p:spPr>
        <p:txBody>
          <a:bodyPr/>
          <a:lstStyle/>
          <a:p>
            <a:r>
              <a:rPr lang="en-US" altLang="he-IL" sz="2400"/>
              <a:t>layer 2 (frame) forwarding, filtering using LAN addresses</a:t>
            </a:r>
          </a:p>
          <a:p>
            <a:r>
              <a:rPr lang="en-US" altLang="he-IL" sz="2400">
                <a:solidFill>
                  <a:schemeClr val="accent2"/>
                </a:solidFill>
              </a:rPr>
              <a:t>Switching: </a:t>
            </a:r>
            <a:r>
              <a:rPr lang="en-US" altLang="he-IL" sz="2400"/>
              <a:t>A-to-B and A’-to-B’ simultaneously, no collisions</a:t>
            </a:r>
          </a:p>
          <a:p>
            <a:r>
              <a:rPr lang="en-US" altLang="he-IL" sz="2400"/>
              <a:t>large number of interfaces</a:t>
            </a:r>
          </a:p>
          <a:p>
            <a:r>
              <a:rPr lang="en-US" altLang="he-IL" sz="2400"/>
              <a:t>often: individual hosts, star-connected into switch</a:t>
            </a:r>
          </a:p>
          <a:p>
            <a:pPr lvl="1"/>
            <a:r>
              <a:rPr lang="en-US" altLang="he-IL"/>
              <a:t>Ethernet, but no collisions!</a:t>
            </a:r>
          </a:p>
          <a:p>
            <a:endParaRPr lang="en-US" altLang="en-US" sz="24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FB3D9012-5194-4FED-A15D-2F355612E94A}" type="slidenum">
              <a:rPr lang="en-US" altLang="he-IL">
                <a:cs typeface="Times New Roman" pitchFamily="18" charset="0"/>
              </a:rPr>
              <a:pPr/>
              <a:t>24</a:t>
            </a:fld>
            <a:endParaRPr lang="en-US" altLang="he-IL"/>
          </a:p>
        </p:txBody>
      </p:sp>
      <p:pic>
        <p:nvPicPr>
          <p:cNvPr id="248836" name="Picture 4" descr="05-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0300" y="1789113"/>
            <a:ext cx="3875088" cy="40274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/>
              <a:t>Ethernet Switches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he-IL">
                <a:solidFill>
                  <a:srgbClr val="FF0000"/>
                </a:solidFill>
              </a:rPr>
              <a:t>cut-through switching:</a:t>
            </a:r>
            <a:r>
              <a:rPr lang="en-US" altLang="he-IL"/>
              <a:t> frame forwarded from input to output port without awaiting for assembly of entire frame</a:t>
            </a:r>
          </a:p>
          <a:p>
            <a:pPr lvl="1"/>
            <a:r>
              <a:rPr lang="en-US" altLang="he-IL" sz="2800"/>
              <a:t>slight reduction in latency</a:t>
            </a:r>
          </a:p>
          <a:p>
            <a:r>
              <a:rPr lang="en-US" altLang="he-IL"/>
              <a:t>combinations of shared/dedicated, 10/100/1000 Mbps interfaces</a:t>
            </a:r>
          </a:p>
          <a:p>
            <a:pPr lvl="1"/>
            <a:endParaRPr lang="en-US" altLang="he-IL" sz="2800"/>
          </a:p>
          <a:p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13CDCDAB-1D2B-4499-A221-5478136AA2DC}" type="slidenum">
              <a:rPr lang="en-US" altLang="he-IL">
                <a:cs typeface="Times New Roman" pitchFamily="18" charset="0"/>
              </a:rPr>
              <a:pPr/>
              <a:t>25</a:t>
            </a:fld>
            <a:endParaRPr lang="en-US" altLang="he-IL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/>
              <a:t>Ethernet Switches (more)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D6BD1727-BBCF-4DE1-9037-6D2A72C588F2}" type="slidenum">
              <a:rPr lang="en-US" altLang="he-IL">
                <a:cs typeface="Times New Roman" pitchFamily="18" charset="0"/>
              </a:rPr>
              <a:pPr/>
              <a:t>26</a:t>
            </a:fld>
            <a:endParaRPr lang="en-US" altLang="he-IL"/>
          </a:p>
        </p:txBody>
      </p:sp>
      <p:sp>
        <p:nvSpPr>
          <p:cNvPr id="250883" name="Text Box 3"/>
          <p:cNvSpPr txBox="1">
            <a:spLocks noChangeArrowheads="1"/>
          </p:cNvSpPr>
          <p:nvPr/>
        </p:nvSpPr>
        <p:spPr bwMode="auto">
          <a:xfrm>
            <a:off x="5165725" y="1409700"/>
            <a:ext cx="1111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he-IL">
                <a:latin typeface="Times New Roman" pitchFamily="18" charset="0"/>
              </a:rPr>
              <a:t>Dedicated</a:t>
            </a:r>
            <a:endParaRPr lang="en-US" altLang="he-IL" sz="3200">
              <a:latin typeface="Times New Roman" pitchFamily="18" charset="0"/>
            </a:endParaRPr>
          </a:p>
        </p:txBody>
      </p:sp>
      <p:sp>
        <p:nvSpPr>
          <p:cNvPr id="250884" name="Line 4"/>
          <p:cNvSpPr>
            <a:spLocks noChangeShapeType="1"/>
          </p:cNvSpPr>
          <p:nvPr/>
        </p:nvSpPr>
        <p:spPr bwMode="auto">
          <a:xfrm flipH="1">
            <a:off x="4267200" y="1676400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0885" name="Text Box 5"/>
          <p:cNvSpPr txBox="1">
            <a:spLocks noChangeArrowheads="1"/>
          </p:cNvSpPr>
          <p:nvPr/>
        </p:nvSpPr>
        <p:spPr bwMode="auto">
          <a:xfrm>
            <a:off x="1889125" y="2705100"/>
            <a:ext cx="81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he-IL">
                <a:latin typeface="Times New Roman" pitchFamily="18" charset="0"/>
              </a:rPr>
              <a:t>Shared</a:t>
            </a:r>
            <a:endParaRPr lang="en-US" altLang="he-IL" sz="3200">
              <a:latin typeface="Times New Roman" pitchFamily="18" charset="0"/>
            </a:endParaRPr>
          </a:p>
        </p:txBody>
      </p:sp>
      <p:sp>
        <p:nvSpPr>
          <p:cNvPr id="250886" name="Line 6"/>
          <p:cNvSpPr>
            <a:spLocks noChangeShapeType="1"/>
          </p:cNvSpPr>
          <p:nvPr/>
        </p:nvSpPr>
        <p:spPr bwMode="auto">
          <a:xfrm>
            <a:off x="2667000" y="29718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50887" name="Picture 7" descr="05-3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0288" y="1317625"/>
            <a:ext cx="6910387" cy="49037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Switches are similar to bridges in that both route on frame addresses. </a:t>
            </a:r>
          </a:p>
          <a:p>
            <a:r>
              <a:rPr lang="en-US" dirty="0"/>
              <a:t>In fact, many people uses the terms interchangeably. </a:t>
            </a:r>
          </a:p>
          <a:p>
            <a:r>
              <a:rPr lang="en-US" dirty="0"/>
              <a:t>The main difference is that a switch is most often used to connect individual computers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27</a:t>
            </a:fld>
            <a:endParaRPr lang="en-US" altLang="he-IL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290945"/>
            <a:ext cx="8139545" cy="5957455"/>
          </a:xfrm>
        </p:spPr>
        <p:txBody>
          <a:bodyPr/>
          <a:lstStyle/>
          <a:p>
            <a:pPr algn="just"/>
            <a:r>
              <a:rPr lang="en-US" dirty="0"/>
              <a:t>when host A in Fig.(mid) wants to send a frame to host B, the bridge gets the frame but just discards it. </a:t>
            </a:r>
          </a:p>
          <a:p>
            <a:pPr algn="just"/>
            <a:r>
              <a:rPr lang="en-US" dirty="0"/>
              <a:t>In contrast, in Fig.(right), the switch must actively forward the frame from A to B because there is no other way for the frame to get there.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28</a:t>
            </a:fld>
            <a:endParaRPr lang="en-US" altLang="he-IL"/>
          </a:p>
        </p:txBody>
      </p:sp>
      <p:pic>
        <p:nvPicPr>
          <p:cNvPr id="4597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971925"/>
            <a:ext cx="9048750" cy="288607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221673"/>
            <a:ext cx="8375073" cy="6026727"/>
          </a:xfrm>
        </p:spPr>
        <p:txBody>
          <a:bodyPr/>
          <a:lstStyle/>
          <a:p>
            <a:r>
              <a:rPr lang="en-US" dirty="0"/>
              <a:t>Since each switch port usually goes to a single computer, switches must have space for many more line cards than do bridges intended to connect only LANs. </a:t>
            </a:r>
          </a:p>
          <a:p>
            <a:r>
              <a:rPr lang="en-US" dirty="0"/>
              <a:t>Each line card provides buffer space for frames arriving on its ports. </a:t>
            </a:r>
          </a:p>
          <a:p>
            <a:r>
              <a:rPr lang="en-US" dirty="0"/>
              <a:t>Since each port is its own collision domain, switches never lose frames to collisions.</a:t>
            </a:r>
          </a:p>
          <a:p>
            <a:r>
              <a:rPr lang="en-US" dirty="0"/>
              <a:t>However, if frames come in faster than they can be retransmitted, the switch may run out of buffer space and have to start discarding frames.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29</a:t>
            </a:fld>
            <a:endParaRPr lang="en-US" altLang="he-IL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FDDI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39091"/>
            <a:ext cx="7987145" cy="5209309"/>
          </a:xfrm>
        </p:spPr>
        <p:txBody>
          <a:bodyPr/>
          <a:lstStyle/>
          <a:p>
            <a:pPr algn="just"/>
            <a:r>
              <a:rPr lang="en-US" dirty="0"/>
              <a:t>Fiber Distributed Data Interface (</a:t>
            </a:r>
            <a:r>
              <a:rPr lang="en-US" dirty="0" err="1"/>
              <a:t>FDDI</a:t>
            </a:r>
            <a:r>
              <a:rPr lang="en-US" dirty="0"/>
              <a:t>) is a standard for data transmission in a local area network.</a:t>
            </a:r>
          </a:p>
          <a:p>
            <a:pPr algn="just"/>
            <a:endParaRPr lang="en-US" sz="1200" dirty="0"/>
          </a:p>
          <a:p>
            <a:pPr algn="just"/>
            <a:r>
              <a:rPr lang="en-US" dirty="0"/>
              <a:t>It uses optical fiber as its standard underlying physical medium, although it was also </a:t>
            </a:r>
            <a:r>
              <a:rPr lang="en-US" u="sng" dirty="0"/>
              <a:t>later specified to use copper cable</a:t>
            </a:r>
            <a:r>
              <a:rPr lang="en-US" dirty="0"/>
              <a:t>, in which case it may be called </a:t>
            </a:r>
            <a:r>
              <a:rPr lang="en-US" b="1" dirty="0" err="1"/>
              <a:t>CDDI</a:t>
            </a:r>
            <a:r>
              <a:rPr lang="en-US" dirty="0"/>
              <a:t> (Copper Distributed Data Interface), standardized as </a:t>
            </a:r>
            <a:r>
              <a:rPr lang="en-US" b="1" dirty="0" err="1"/>
              <a:t>TP-PMD</a:t>
            </a:r>
            <a:r>
              <a:rPr lang="en-US" dirty="0"/>
              <a:t> (Twisted-Pair Physical Medium-Dependent), also referred to as </a:t>
            </a:r>
            <a:r>
              <a:rPr lang="en-US" b="1" dirty="0" err="1"/>
              <a:t>TP-DDI</a:t>
            </a:r>
            <a:r>
              <a:rPr lang="en-US" dirty="0"/>
              <a:t> (Twisted-Pair Distributed Data Interface).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30</a:t>
            </a:fld>
            <a:endParaRPr lang="en-US" altLang="he-IL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31</a:t>
            </a:fld>
            <a:endParaRPr lang="en-US" altLang="he-IL"/>
          </a:p>
        </p:txBody>
      </p:sp>
      <p:pic>
        <p:nvPicPr>
          <p:cNvPr id="1026" name="Picture 2" descr="File:Sbus-das-fdd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8332" y="18720"/>
            <a:ext cx="4768641" cy="5329135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678873" y="5502717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Dual-attach </a:t>
            </a:r>
            <a:r>
              <a:rPr lang="en-US" dirty="0" err="1"/>
              <a:t>sbus</a:t>
            </a:r>
            <a:r>
              <a:rPr lang="en-US" dirty="0"/>
              <a:t> </a:t>
            </a:r>
            <a:r>
              <a:rPr lang="en-US" dirty="0" err="1"/>
              <a:t>FDDI</a:t>
            </a:r>
            <a:r>
              <a:rPr lang="en-US" dirty="0"/>
              <a:t> card with SC connectors and a DIN (DC power connector) for an external optical bypass unit.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147474"/>
            <a:ext cx="18288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623455" y="2482334"/>
            <a:ext cx="4371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SC connector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034146"/>
            <a:ext cx="2821588" cy="1920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04800"/>
            <a:ext cx="7772400" cy="5943600"/>
          </a:xfrm>
        </p:spPr>
        <p:txBody>
          <a:bodyPr/>
          <a:lstStyle/>
          <a:p>
            <a:pPr algn="just"/>
            <a:r>
              <a:rPr lang="en-US" dirty="0" err="1"/>
              <a:t>FDDI</a:t>
            </a:r>
            <a:r>
              <a:rPr lang="en-US" dirty="0"/>
              <a:t> provides a 100 </a:t>
            </a:r>
            <a:r>
              <a:rPr lang="en-US" dirty="0" err="1"/>
              <a:t>Mbit</a:t>
            </a:r>
            <a:r>
              <a:rPr lang="en-US" dirty="0"/>
              <a:t>/s optical standard for data transmission in local area network that can extend in range up to 200 kilometers (120 mi).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Although </a:t>
            </a:r>
            <a:r>
              <a:rPr lang="en-US" dirty="0" err="1"/>
              <a:t>FDDI</a:t>
            </a:r>
            <a:r>
              <a:rPr lang="en-US" dirty="0"/>
              <a:t> logical topology is a ring-based token network, it did not use the IEEE 802.5 token ring protocol as its basis;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instead, its protocol was derived from the IEEE 802.4 token bus timed token protocol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 dirty="0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32</a:t>
            </a:fld>
            <a:endParaRPr lang="en-US" altLang="he-IL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457201"/>
            <a:ext cx="8125691" cy="5791200"/>
          </a:xfrm>
        </p:spPr>
        <p:txBody>
          <a:bodyPr/>
          <a:lstStyle/>
          <a:p>
            <a:r>
              <a:rPr lang="en-US" u="sng" dirty="0"/>
              <a:t>In addition </a:t>
            </a:r>
            <a:r>
              <a:rPr lang="en-US" dirty="0"/>
              <a:t>to covering large geographical areas, </a:t>
            </a:r>
            <a:r>
              <a:rPr lang="en-US" dirty="0" err="1"/>
              <a:t>FDDI</a:t>
            </a:r>
            <a:r>
              <a:rPr lang="en-US" dirty="0"/>
              <a:t> local area networks </a:t>
            </a:r>
            <a:r>
              <a:rPr lang="en-US" b="1" dirty="0"/>
              <a:t>can support thousands of users. </a:t>
            </a:r>
          </a:p>
          <a:p>
            <a:endParaRPr lang="en-US" dirty="0"/>
          </a:p>
          <a:p>
            <a:r>
              <a:rPr lang="en-US" dirty="0" err="1"/>
              <a:t>FDDI</a:t>
            </a:r>
            <a:r>
              <a:rPr lang="en-US" dirty="0"/>
              <a:t> offers both a Dual-Attached Station </a:t>
            </a:r>
            <a:r>
              <a:rPr lang="en-US" b="1" dirty="0"/>
              <a:t>(DAS), </a:t>
            </a:r>
            <a:r>
              <a:rPr lang="en-US" dirty="0"/>
              <a:t>counter-rotating token ring topology and a Single-Attached Station </a:t>
            </a:r>
            <a:r>
              <a:rPr lang="en-US" b="1" dirty="0"/>
              <a:t>(SAS), </a:t>
            </a:r>
            <a:r>
              <a:rPr lang="en-US" dirty="0"/>
              <a:t>token bus passing ring topology.</a:t>
            </a:r>
          </a:p>
          <a:p>
            <a:endParaRPr lang="en-US" dirty="0"/>
          </a:p>
          <a:p>
            <a:r>
              <a:rPr lang="en-US" b="1" dirty="0"/>
              <a:t>DAS</a:t>
            </a:r>
            <a:r>
              <a:rPr lang="en-US" dirty="0"/>
              <a:t>-In Fiber Distributed Data Interface (</a:t>
            </a:r>
            <a:r>
              <a:rPr lang="en-US" dirty="0" err="1"/>
              <a:t>FDDI</a:t>
            </a:r>
            <a:r>
              <a:rPr lang="en-US" dirty="0"/>
              <a:t>), a device that is attached to both the primary and secondary rings.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33</a:t>
            </a:fld>
            <a:endParaRPr lang="en-US" altLang="he-IL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40327"/>
            <a:ext cx="7772400" cy="570807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FDDI</a:t>
            </a:r>
            <a:r>
              <a:rPr lang="en-US" dirty="0"/>
              <a:t> network contains two rings, one as a secondary backup in case the primary ring fails. </a:t>
            </a:r>
          </a:p>
          <a:p>
            <a:endParaRPr lang="en-US" dirty="0"/>
          </a:p>
          <a:p>
            <a:r>
              <a:rPr lang="en-US" dirty="0"/>
              <a:t>The primary ring offers up to 100 </a:t>
            </a:r>
            <a:r>
              <a:rPr lang="en-US" dirty="0" err="1"/>
              <a:t>Mbit</a:t>
            </a:r>
            <a:r>
              <a:rPr lang="en-US" dirty="0"/>
              <a:t>/s capacity. </a:t>
            </a:r>
          </a:p>
          <a:p>
            <a:endParaRPr lang="en-US" dirty="0"/>
          </a:p>
          <a:p>
            <a:r>
              <a:rPr lang="en-US" dirty="0"/>
              <a:t>When a network has no requirement for the secondary ring to do backup, it can also carry data, extending capacity to 200 </a:t>
            </a:r>
            <a:r>
              <a:rPr lang="en-US" dirty="0" err="1"/>
              <a:t>Mbit</a:t>
            </a:r>
            <a:r>
              <a:rPr lang="en-US" dirty="0"/>
              <a:t>/s.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34</a:t>
            </a:fld>
            <a:endParaRPr lang="en-US" altLang="he-IL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81891"/>
            <a:ext cx="8181110" cy="5666509"/>
          </a:xfrm>
        </p:spPr>
        <p:txBody>
          <a:bodyPr/>
          <a:lstStyle/>
          <a:p>
            <a:pPr algn="just"/>
            <a:r>
              <a:rPr lang="en-US" dirty="0"/>
              <a:t>The single ring can extend the maximum distance; a dual ring can extend 100 km (62 mi). 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FDDI</a:t>
            </a:r>
            <a:r>
              <a:rPr lang="en-US" dirty="0"/>
              <a:t> had a larger maximum-frame size (</a:t>
            </a:r>
            <a:r>
              <a:rPr lang="en-US" sz="2600" b="1" dirty="0"/>
              <a:t>4,352 bytes</a:t>
            </a:r>
            <a:r>
              <a:rPr lang="en-US" dirty="0"/>
              <a:t>) than the standard Ethernet family, which only supports a maximum-frame size of </a:t>
            </a:r>
            <a:r>
              <a:rPr lang="en-US" b="1" dirty="0"/>
              <a:t>1,500 bytes</a:t>
            </a:r>
            <a:r>
              <a:rPr lang="en-US" dirty="0"/>
              <a:t>, allowing better effective data rates in some cases.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35</a:t>
            </a:fld>
            <a:endParaRPr lang="en-US" altLang="he-IL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4426527" cy="4648200"/>
          </a:xfrm>
        </p:spPr>
        <p:txBody>
          <a:bodyPr/>
          <a:lstStyle/>
          <a:p>
            <a:r>
              <a:rPr lang="en-US" dirty="0"/>
              <a:t>Designers normally constructed </a:t>
            </a:r>
            <a:r>
              <a:rPr lang="en-US" dirty="0" err="1"/>
              <a:t>FDDI</a:t>
            </a:r>
            <a:r>
              <a:rPr lang="en-US" dirty="0"/>
              <a:t> rings in a network topology such as a "dual ring of trees".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36</a:t>
            </a:fld>
            <a:endParaRPr lang="en-US" altLang="he-IL"/>
          </a:p>
        </p:txBody>
      </p:sp>
      <p:sp>
        <p:nvSpPr>
          <p:cNvPr id="8" name="Rectangle 7"/>
          <p:cNvSpPr/>
          <p:nvPr/>
        </p:nvSpPr>
        <p:spPr>
          <a:xfrm>
            <a:off x="512619" y="4158873"/>
            <a:ext cx="785552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kern="0" dirty="0">
                <a:solidFill>
                  <a:srgbClr val="000000"/>
                </a:solidFill>
                <a:latin typeface="Verdana"/>
              </a:rPr>
              <a:t> A small number of devices, typically infrastructure devices such as routers rather than host computers, were "dual-attached" to both rings. </a:t>
            </a:r>
            <a:endParaRPr lang="en-US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76437" y="213013"/>
            <a:ext cx="4667563" cy="3874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0109"/>
            <a:ext cx="8208818" cy="6068291"/>
          </a:xfrm>
        </p:spPr>
        <p:txBody>
          <a:bodyPr/>
          <a:lstStyle/>
          <a:p>
            <a:r>
              <a:rPr lang="en-US" dirty="0"/>
              <a:t>Host computers then connected as single-attached devices to the routers or </a:t>
            </a:r>
            <a:r>
              <a:rPr lang="en-US" dirty="0" err="1"/>
              <a:t>FDDI</a:t>
            </a:r>
            <a:r>
              <a:rPr lang="en-US" dirty="0"/>
              <a:t> concentrators. </a:t>
            </a:r>
          </a:p>
          <a:p>
            <a:endParaRPr lang="en-US" dirty="0"/>
          </a:p>
          <a:p>
            <a:r>
              <a:rPr lang="en-US" dirty="0"/>
              <a:t>The dual ring in its most degenerate form simply collapses into a single device. </a:t>
            </a:r>
          </a:p>
          <a:p>
            <a:endParaRPr lang="en-US" dirty="0"/>
          </a:p>
          <a:p>
            <a:r>
              <a:rPr lang="en-US" dirty="0"/>
              <a:t>Typically, a computer-room contained the whole dual ring, </a:t>
            </a:r>
          </a:p>
          <a:p>
            <a:endParaRPr lang="en-US" dirty="0"/>
          </a:p>
          <a:p>
            <a:r>
              <a:rPr lang="en-US" dirty="0"/>
              <a:t>some implementations deployed </a:t>
            </a:r>
            <a:r>
              <a:rPr lang="en-US" dirty="0" err="1"/>
              <a:t>FDDI</a:t>
            </a:r>
            <a:r>
              <a:rPr lang="en-US" dirty="0"/>
              <a:t> as a metropolitan area network.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37</a:t>
            </a:fld>
            <a:endParaRPr lang="en-US" altLang="he-IL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457200"/>
            <a:ext cx="8208818" cy="5791200"/>
          </a:xfrm>
        </p:spPr>
        <p:txBody>
          <a:bodyPr/>
          <a:lstStyle/>
          <a:p>
            <a:r>
              <a:rPr lang="en-US" dirty="0"/>
              <a:t>the dual ring actually passes through each connected device and requires each such device to remain continuously operational</a:t>
            </a:r>
          </a:p>
          <a:p>
            <a:endParaRPr lang="en-US" dirty="0"/>
          </a:p>
          <a:p>
            <a:r>
              <a:rPr lang="en-US" dirty="0"/>
              <a:t>The standard actually allows for optical bypasses, but network engineers consider these unreliable</a:t>
            </a:r>
          </a:p>
          <a:p>
            <a:endParaRPr lang="en-US" dirty="0"/>
          </a:p>
          <a:p>
            <a:r>
              <a:rPr lang="en-US" dirty="0"/>
              <a:t>minicomputers are not suitable for connection to the dual ring (As they are not under the control of N/W engineers.).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38</a:t>
            </a:fld>
            <a:endParaRPr lang="en-US" altLang="he-IL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Where </a:t>
            </a:r>
            <a:r>
              <a:rPr lang="en-US" b="1" dirty="0"/>
              <a:t>PA</a:t>
            </a:r>
            <a:r>
              <a:rPr lang="en-US" dirty="0"/>
              <a:t> is the preamble, </a:t>
            </a:r>
            <a:r>
              <a:rPr lang="en-US" b="1" dirty="0"/>
              <a:t>SD</a:t>
            </a:r>
            <a:r>
              <a:rPr lang="en-US" dirty="0"/>
              <a:t> is a start delimiter, </a:t>
            </a:r>
            <a:r>
              <a:rPr lang="en-US" b="1" dirty="0"/>
              <a:t>FC</a:t>
            </a:r>
            <a:r>
              <a:rPr lang="en-US" dirty="0"/>
              <a:t> is frame control, </a:t>
            </a:r>
            <a:r>
              <a:rPr lang="en-US" b="1" dirty="0"/>
              <a:t>DA</a:t>
            </a:r>
            <a:r>
              <a:rPr lang="en-US" dirty="0"/>
              <a:t> is the destination address, </a:t>
            </a:r>
            <a:r>
              <a:rPr lang="en-US" b="1" dirty="0"/>
              <a:t>SA</a:t>
            </a:r>
            <a:r>
              <a:rPr lang="en-US" dirty="0"/>
              <a:t> is the source address, </a:t>
            </a:r>
            <a:r>
              <a:rPr lang="en-US" b="1" dirty="0" err="1"/>
              <a:t>PDU</a:t>
            </a:r>
            <a:r>
              <a:rPr lang="en-US" dirty="0"/>
              <a:t> is the protocol data unit(or packet data unit), </a:t>
            </a:r>
            <a:r>
              <a:rPr lang="en-US" b="1" dirty="0" err="1"/>
              <a:t>FCS</a:t>
            </a:r>
            <a:r>
              <a:rPr lang="en-US" dirty="0"/>
              <a:t> is the frame check Sequence (or checksum), </a:t>
            </a:r>
            <a:r>
              <a:rPr lang="en-US" dirty="0" err="1"/>
              <a:t>and</a:t>
            </a:r>
            <a:r>
              <a:rPr lang="en-US" b="1" dirty="0" err="1"/>
              <a:t>ED</a:t>
            </a:r>
            <a:r>
              <a:rPr lang="en-US" b="1" dirty="0"/>
              <a:t>/FS</a:t>
            </a:r>
            <a:r>
              <a:rPr lang="en-US" dirty="0"/>
              <a:t> are the end delimiter and frame status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he-IL"/>
              <a:t>Week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he-IL"/>
              <a:t>#</a:t>
            </a:r>
            <a:fld id="{9C31B965-9E31-470E-BD26-D218B6C932B9}" type="slidenum">
              <a:rPr lang="en-US" altLang="he-IL" smtClean="0">
                <a:cs typeface="Times New Roman" pitchFamily="18" charset="0"/>
              </a:rPr>
              <a:pPr/>
              <a:t>39</a:t>
            </a:fld>
            <a:endParaRPr lang="en-US" altLang="he-IL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453" y="1329604"/>
            <a:ext cx="77628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399" y="228600"/>
            <a:ext cx="8333509" cy="1143000"/>
          </a:xfrm>
        </p:spPr>
        <p:txBody>
          <a:bodyPr>
            <a:normAutofit fontScale="90000"/>
          </a:bodyPr>
          <a:lstStyle/>
          <a:p>
            <a:r>
              <a:rPr lang="en-US" sz="2200" i="1" dirty="0"/>
              <a:t>Ethernet vs. Token Ring: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Media Access Control Methods</a:t>
            </a:r>
          </a:p>
        </p:txBody>
      </p:sp>
      <p:sp>
        <p:nvSpPr>
          <p:cNvPr id="61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762000" y="1565564"/>
            <a:ext cx="8001000" cy="4606636"/>
          </a:xfrm>
        </p:spPr>
        <p:txBody>
          <a:bodyPr>
            <a:normAutofit lnSpcReduction="10000"/>
          </a:bodyPr>
          <a:lstStyle/>
          <a:p>
            <a:pPr marL="373063" indent="-373063" defTabSz="992188">
              <a:lnSpc>
                <a:spcPct val="90000"/>
              </a:lnSpc>
            </a:pPr>
            <a:r>
              <a:rPr lang="en-US" sz="2800" dirty="0">
                <a:solidFill>
                  <a:srgbClr val="CC0013"/>
                </a:solidFill>
              </a:rPr>
              <a:t>Contention (Ethernet</a:t>
            </a:r>
            <a:r>
              <a:rPr lang="en-US" sz="2800" dirty="0"/>
              <a:t>)</a:t>
            </a:r>
          </a:p>
          <a:p>
            <a:pPr marL="806450" lvl="1" indent="-309563" defTabSz="992188">
              <a:lnSpc>
                <a:spcPct val="90000"/>
              </a:lnSpc>
            </a:pPr>
            <a:r>
              <a:rPr lang="en-US" sz="2400" dirty="0"/>
              <a:t>performs better than token passing on low utilization LANs </a:t>
            </a:r>
          </a:p>
          <a:p>
            <a:pPr marL="806450" lvl="1" indent="-309563" defTabSz="992188">
              <a:lnSpc>
                <a:spcPct val="90000"/>
              </a:lnSpc>
            </a:pPr>
            <a:r>
              <a:rPr lang="en-US" sz="2400" dirty="0"/>
              <a:t>high utilization - collisions and retransmission when 2 stations try to communicate simultaneously  </a:t>
            </a:r>
            <a:endParaRPr lang="en-US" sz="2400" dirty="0">
              <a:solidFill>
                <a:schemeClr val="folHlink"/>
              </a:solidFill>
            </a:endParaRPr>
          </a:p>
          <a:p>
            <a:pPr marL="373063" indent="-373063" defTabSz="992188">
              <a:lnSpc>
                <a:spcPct val="90000"/>
              </a:lnSpc>
            </a:pPr>
            <a:r>
              <a:rPr lang="en-US" sz="2800" dirty="0">
                <a:solidFill>
                  <a:srgbClr val="CC0013"/>
                </a:solidFill>
              </a:rPr>
              <a:t>Token passing </a:t>
            </a:r>
          </a:p>
          <a:p>
            <a:pPr marL="806450" lvl="1" indent="-309563" defTabSz="992188">
              <a:lnSpc>
                <a:spcPct val="90000"/>
              </a:lnSpc>
            </a:pPr>
            <a:r>
              <a:rPr lang="en-US" sz="2400" dirty="0"/>
              <a:t>high utilization - superior performance, no collisions </a:t>
            </a:r>
          </a:p>
          <a:p>
            <a:pPr marL="806450" lvl="1" indent="-309563" defTabSz="992188">
              <a:lnSpc>
                <a:spcPct val="90000"/>
              </a:lnSpc>
            </a:pPr>
            <a:r>
              <a:rPr lang="en-US" sz="2400" dirty="0" err="1"/>
              <a:t>QoS</a:t>
            </a:r>
            <a:r>
              <a:rPr lang="en-US" sz="2400" dirty="0"/>
              <a:t> – multimedia preference to some applications</a:t>
            </a:r>
          </a:p>
          <a:p>
            <a:pPr marL="806450" lvl="1" indent="-309563" defTabSz="992188">
              <a:lnSpc>
                <a:spcPct val="90000"/>
              </a:lnSpc>
            </a:pPr>
            <a:r>
              <a:rPr lang="en-US" sz="2400" dirty="0"/>
              <a:t>used to control bus in USB, </a:t>
            </a:r>
            <a:r>
              <a:rPr lang="en-US" sz="2400" dirty="0" err="1"/>
              <a:t>Firewire</a:t>
            </a:r>
            <a:r>
              <a:rPr lang="en-US" sz="2400" dirty="0"/>
              <a:t>, and other emerging shared media technologies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04800"/>
            <a:ext cx="7793038" cy="1143000"/>
          </a:xfrm>
        </p:spPr>
        <p:txBody>
          <a:bodyPr/>
          <a:lstStyle/>
          <a:p>
            <a:r>
              <a:rPr lang="en-US" sz="2200" i="1"/>
              <a:t>Ethernet vs. Token Ring:</a:t>
            </a:r>
            <a:br>
              <a:rPr lang="en-US"/>
            </a:br>
            <a:r>
              <a:rPr lang="en-US"/>
              <a:t>Response Time vs. Load</a:t>
            </a:r>
          </a:p>
        </p:txBody>
      </p:sp>
      <p:pic>
        <p:nvPicPr>
          <p:cNvPr id="8195" name="Picture 3" descr="07-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89088"/>
            <a:ext cx="7772400" cy="4984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11046</TotalTime>
  <Words>2032</Words>
  <Application>Microsoft Office PowerPoint</Application>
  <PresentationFormat>On-screen Show (4:3)</PresentationFormat>
  <Paragraphs>319</Paragraphs>
  <Slides>41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Times New Roman</vt:lpstr>
      <vt:lpstr>Trebuchet MS</vt:lpstr>
      <vt:lpstr>Verdana</vt:lpstr>
      <vt:lpstr>Wingdings</vt:lpstr>
      <vt:lpstr>Wingdings 3</vt:lpstr>
      <vt:lpstr>ZapfDingbats</vt:lpstr>
      <vt:lpstr>Facet</vt:lpstr>
      <vt:lpstr>Hubs, Bridges and Switches (4.7.5) </vt:lpstr>
      <vt:lpstr>Interconnecting LANs</vt:lpstr>
      <vt:lpstr>PowerPoint Presentation</vt:lpstr>
      <vt:lpstr>Repeater/Hub</vt:lpstr>
      <vt:lpstr>Hubs (more)</vt:lpstr>
      <vt:lpstr>Bridges</vt:lpstr>
      <vt:lpstr>PowerPoint Presentation</vt:lpstr>
      <vt:lpstr>Backbone Bridge</vt:lpstr>
      <vt:lpstr>Interconnection Without Backbone</vt:lpstr>
      <vt:lpstr>Bridge Learning: example</vt:lpstr>
      <vt:lpstr>Bridge Learning: example</vt:lpstr>
      <vt:lpstr>What will happen with loops? Incorrect learning</vt:lpstr>
      <vt:lpstr>Loop-free: tree</vt:lpstr>
      <vt:lpstr>Loop-free: tree</vt:lpstr>
      <vt:lpstr>Loop-free: tree</vt:lpstr>
      <vt:lpstr>Loop-free: tree</vt:lpstr>
      <vt:lpstr>Loop-free: tree</vt:lpstr>
      <vt:lpstr>Loop-free: tree</vt:lpstr>
      <vt:lpstr>Bridges Spanning Tree</vt:lpstr>
      <vt:lpstr>Introducing Spanning Tree</vt:lpstr>
      <vt:lpstr>Bridges vs. Routers</vt:lpstr>
      <vt:lpstr>Routers vs. Bridges</vt:lpstr>
      <vt:lpstr>Routers vs. Bridges</vt:lpstr>
      <vt:lpstr>Ethernet Switches</vt:lpstr>
      <vt:lpstr>Ethernet Switches</vt:lpstr>
      <vt:lpstr>Ethernet Switches (more)</vt:lpstr>
      <vt:lpstr>PowerPoint Presentation</vt:lpstr>
      <vt:lpstr>PowerPoint Presentation</vt:lpstr>
      <vt:lpstr>PowerPoint Presentation</vt:lpstr>
      <vt:lpstr>FDDI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Topology</vt:lpstr>
      <vt:lpstr>PowerPoint Presentation</vt:lpstr>
      <vt:lpstr>PowerPoint Presentation</vt:lpstr>
      <vt:lpstr>Frame format</vt:lpstr>
      <vt:lpstr>Ethernet vs. Token Ring:  Media Access Control Methods</vt:lpstr>
      <vt:lpstr>Ethernet vs. Token Ring: Response Time vs. Load</vt:lpstr>
    </vt:vector>
  </TitlesOfParts>
  <Company>Tel Aviv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III: Hubs, Bridges and Switches</dc:title>
  <dc:creator>Yishay Mansour</dc:creator>
  <cp:lastModifiedBy>md islam</cp:lastModifiedBy>
  <cp:revision>317</cp:revision>
  <cp:lastPrinted>2000-10-23T11:49:35Z</cp:lastPrinted>
  <dcterms:created xsi:type="dcterms:W3CDTF">1999-10-08T19:08:27Z</dcterms:created>
  <dcterms:modified xsi:type="dcterms:W3CDTF">2023-01-27T03:39:45Z</dcterms:modified>
</cp:coreProperties>
</file>